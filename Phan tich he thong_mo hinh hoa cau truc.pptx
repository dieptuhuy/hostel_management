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1"/>
  </p:sldMasterIdLst>
  <p:notesMasterIdLst>
    <p:notesMasterId r:id="rId82"/>
  </p:notesMasterIdLst>
  <p:sldIdLst>
    <p:sldId id="256" r:id="rId2"/>
    <p:sldId id="394" r:id="rId3"/>
    <p:sldId id="508" r:id="rId4"/>
    <p:sldId id="503" r:id="rId5"/>
    <p:sldId id="506" r:id="rId6"/>
    <p:sldId id="395" r:id="rId7"/>
    <p:sldId id="492" r:id="rId8"/>
    <p:sldId id="494" r:id="rId9"/>
    <p:sldId id="498" r:id="rId10"/>
    <p:sldId id="501" r:id="rId11"/>
    <p:sldId id="499" r:id="rId12"/>
    <p:sldId id="502" r:id="rId13"/>
    <p:sldId id="497" r:id="rId14"/>
    <p:sldId id="493" r:id="rId15"/>
    <p:sldId id="396" r:id="rId16"/>
    <p:sldId id="504" r:id="rId17"/>
    <p:sldId id="398" r:id="rId18"/>
    <p:sldId id="399" r:id="rId19"/>
    <p:sldId id="480" r:id="rId20"/>
    <p:sldId id="400" r:id="rId21"/>
    <p:sldId id="401" r:id="rId22"/>
    <p:sldId id="482" r:id="rId23"/>
    <p:sldId id="407" r:id="rId24"/>
    <p:sldId id="409" r:id="rId25"/>
    <p:sldId id="410" r:id="rId26"/>
    <p:sldId id="411" r:id="rId27"/>
    <p:sldId id="412" r:id="rId28"/>
    <p:sldId id="413" r:id="rId29"/>
    <p:sldId id="414" r:id="rId30"/>
    <p:sldId id="415" r:id="rId31"/>
    <p:sldId id="416" r:id="rId32"/>
    <p:sldId id="417" r:id="rId33"/>
    <p:sldId id="418" r:id="rId34"/>
    <p:sldId id="419" r:id="rId35"/>
    <p:sldId id="420" r:id="rId36"/>
    <p:sldId id="421" r:id="rId37"/>
    <p:sldId id="422" r:id="rId38"/>
    <p:sldId id="423" r:id="rId39"/>
    <p:sldId id="424" r:id="rId40"/>
    <p:sldId id="425" r:id="rId41"/>
    <p:sldId id="426" r:id="rId42"/>
    <p:sldId id="427" r:id="rId43"/>
    <p:sldId id="428" r:id="rId44"/>
    <p:sldId id="429" r:id="rId45"/>
    <p:sldId id="430" r:id="rId46"/>
    <p:sldId id="431" r:id="rId47"/>
    <p:sldId id="432" r:id="rId48"/>
    <p:sldId id="433" r:id="rId49"/>
    <p:sldId id="434" r:id="rId50"/>
    <p:sldId id="436" r:id="rId51"/>
    <p:sldId id="507" r:id="rId52"/>
    <p:sldId id="437" r:id="rId53"/>
    <p:sldId id="488" r:id="rId54"/>
    <p:sldId id="438" r:id="rId55"/>
    <p:sldId id="439" r:id="rId56"/>
    <p:sldId id="442" r:id="rId57"/>
    <p:sldId id="444" r:id="rId58"/>
    <p:sldId id="445" r:id="rId59"/>
    <p:sldId id="446" r:id="rId60"/>
    <p:sldId id="447" r:id="rId61"/>
    <p:sldId id="448" r:id="rId62"/>
    <p:sldId id="449" r:id="rId63"/>
    <p:sldId id="450" r:id="rId64"/>
    <p:sldId id="451" r:id="rId65"/>
    <p:sldId id="452" r:id="rId66"/>
    <p:sldId id="453" r:id="rId67"/>
    <p:sldId id="454" r:id="rId68"/>
    <p:sldId id="455" r:id="rId69"/>
    <p:sldId id="458" r:id="rId70"/>
    <p:sldId id="460" r:id="rId71"/>
    <p:sldId id="461" r:id="rId72"/>
    <p:sldId id="462" r:id="rId73"/>
    <p:sldId id="463" r:id="rId74"/>
    <p:sldId id="465" r:id="rId75"/>
    <p:sldId id="466" r:id="rId76"/>
    <p:sldId id="467" r:id="rId77"/>
    <p:sldId id="469" r:id="rId78"/>
    <p:sldId id="470" r:id="rId79"/>
    <p:sldId id="471" r:id="rId80"/>
    <p:sldId id="472" r:id="rId81"/>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6448" autoAdjust="0"/>
  </p:normalViewPr>
  <p:slideViewPr>
    <p:cSldViewPr>
      <p:cViewPr varScale="1">
        <p:scale>
          <a:sx n="66" d="100"/>
          <a:sy n="66" d="100"/>
        </p:scale>
        <p:origin x="792" y="60"/>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40F5DC-0804-4686-8123-CBF152B60482}" type="datetimeFigureOut">
              <a:rPr lang="en-US" smtClean="0"/>
              <a:t>26/10/2025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89582B-3037-40FB-85A2-BEEE0D60E4EF}" type="slidenum">
              <a:rPr lang="en-US" smtClean="0"/>
              <a:t>‹#›</a:t>
            </a:fld>
            <a:endParaRPr lang="en-US"/>
          </a:p>
        </p:txBody>
      </p:sp>
    </p:spTree>
    <p:extLst>
      <p:ext uri="{BB962C8B-B14F-4D97-AF65-F5344CB8AC3E}">
        <p14:creationId xmlns:p14="http://schemas.microsoft.com/office/powerpoint/2010/main" val="3095907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289582B-3037-40FB-85A2-BEEE0D60E4EF}" type="slidenum">
              <a:rPr lang="en-US" smtClean="0"/>
              <a:t>11</a:t>
            </a:fld>
            <a:endParaRPr lang="en-US"/>
          </a:p>
        </p:txBody>
      </p:sp>
    </p:spTree>
    <p:extLst>
      <p:ext uri="{BB962C8B-B14F-4D97-AF65-F5344CB8AC3E}">
        <p14:creationId xmlns:p14="http://schemas.microsoft.com/office/powerpoint/2010/main" val="1259366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289582B-3037-40FB-85A2-BEEE0D60E4EF}" type="slidenum">
              <a:rPr lang="en-US" smtClean="0"/>
              <a:t>22</a:t>
            </a:fld>
            <a:endParaRPr lang="en-US"/>
          </a:p>
        </p:txBody>
      </p:sp>
    </p:spTree>
    <p:extLst>
      <p:ext uri="{BB962C8B-B14F-4D97-AF65-F5344CB8AC3E}">
        <p14:creationId xmlns:p14="http://schemas.microsoft.com/office/powerpoint/2010/main" val="3094769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289582B-3037-40FB-85A2-BEEE0D60E4EF}" type="slidenum">
              <a:rPr lang="en-US" smtClean="0"/>
              <a:t>79</a:t>
            </a:fld>
            <a:endParaRPr lang="en-US"/>
          </a:p>
        </p:txBody>
      </p:sp>
    </p:spTree>
    <p:extLst>
      <p:ext uri="{BB962C8B-B14F-4D97-AF65-F5344CB8AC3E}">
        <p14:creationId xmlns:p14="http://schemas.microsoft.com/office/powerpoint/2010/main" val="12809198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89" name="Rectangle 17"/>
          <p:cNvSpPr>
            <a:spLocks noChangeArrowheads="1"/>
          </p:cNvSpPr>
          <p:nvPr/>
        </p:nvSpPr>
        <p:spPr bwMode="white">
          <a:xfrm>
            <a:off x="0" y="4221164"/>
            <a:ext cx="12192000" cy="263683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090" name="Group 18"/>
          <p:cNvGrpSpPr>
            <a:grpSpLocks/>
          </p:cNvGrpSpPr>
          <p:nvPr/>
        </p:nvGrpSpPr>
        <p:grpSpPr bwMode="auto">
          <a:xfrm rot="-10800000">
            <a:off x="9884834" y="5162551"/>
            <a:ext cx="2207684" cy="1630363"/>
            <a:chOff x="0" y="2704"/>
            <a:chExt cx="1063" cy="1086"/>
          </a:xfrm>
        </p:grpSpPr>
        <p:sp>
          <p:nvSpPr>
            <p:cNvPr id="3091" name="Rectangle 19"/>
            <p:cNvSpPr>
              <a:spLocks noChangeArrowheads="1"/>
            </p:cNvSpPr>
            <p:nvPr userDrawn="1"/>
          </p:nvSpPr>
          <p:spPr bwMode="ltGray">
            <a:xfrm>
              <a:off x="0"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2" name="Rectangle 20"/>
            <p:cNvSpPr>
              <a:spLocks noChangeArrowheads="1"/>
            </p:cNvSpPr>
            <p:nvPr userDrawn="1"/>
          </p:nvSpPr>
          <p:spPr bwMode="ltGray">
            <a:xfrm>
              <a:off x="295"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3" name="Rectangle 21"/>
            <p:cNvSpPr>
              <a:spLocks noChangeArrowheads="1"/>
            </p:cNvSpPr>
            <p:nvPr userDrawn="1"/>
          </p:nvSpPr>
          <p:spPr bwMode="ltGray">
            <a:xfrm>
              <a:off x="567"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4" name="Rectangle 22"/>
            <p:cNvSpPr>
              <a:spLocks noChangeArrowheads="1"/>
            </p:cNvSpPr>
            <p:nvPr userDrawn="1"/>
          </p:nvSpPr>
          <p:spPr bwMode="ltGray">
            <a:xfrm>
              <a:off x="0" y="2990"/>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5" name="Rectangle 23"/>
            <p:cNvSpPr>
              <a:spLocks noChangeArrowheads="1"/>
            </p:cNvSpPr>
            <p:nvPr userDrawn="1"/>
          </p:nvSpPr>
          <p:spPr bwMode="ltGray">
            <a:xfrm>
              <a:off x="295" y="2990"/>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6" name="Rectangle 24"/>
            <p:cNvSpPr>
              <a:spLocks noChangeArrowheads="1"/>
            </p:cNvSpPr>
            <p:nvPr userDrawn="1"/>
          </p:nvSpPr>
          <p:spPr bwMode="ltGray">
            <a:xfrm>
              <a:off x="567" y="2990"/>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7" name="Rectangle 25"/>
            <p:cNvSpPr>
              <a:spLocks noChangeArrowheads="1"/>
            </p:cNvSpPr>
            <p:nvPr userDrawn="1"/>
          </p:nvSpPr>
          <p:spPr bwMode="ltGray">
            <a:xfrm>
              <a:off x="839"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8" name="Rectangle 26"/>
            <p:cNvSpPr>
              <a:spLocks noChangeArrowheads="1"/>
            </p:cNvSpPr>
            <p:nvPr userDrawn="1"/>
          </p:nvSpPr>
          <p:spPr bwMode="ltGray">
            <a:xfrm>
              <a:off x="295" y="3273"/>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099" name="Rectangle 27"/>
            <p:cNvSpPr>
              <a:spLocks noChangeArrowheads="1"/>
            </p:cNvSpPr>
            <p:nvPr userDrawn="1"/>
          </p:nvSpPr>
          <p:spPr bwMode="ltGray">
            <a:xfrm>
              <a:off x="0" y="3273"/>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0" name="Rectangle 28"/>
            <p:cNvSpPr>
              <a:spLocks noChangeArrowheads="1"/>
            </p:cNvSpPr>
            <p:nvPr userDrawn="1"/>
          </p:nvSpPr>
          <p:spPr bwMode="ltGray">
            <a:xfrm>
              <a:off x="0" y="3563"/>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grpSp>
      <p:sp>
        <p:nvSpPr>
          <p:cNvPr id="3075" name="Rectangle 3"/>
          <p:cNvSpPr>
            <a:spLocks noGrp="1" noChangeArrowheads="1"/>
          </p:cNvSpPr>
          <p:nvPr>
            <p:ph type="subTitle" idx="1"/>
          </p:nvPr>
        </p:nvSpPr>
        <p:spPr bwMode="black">
          <a:xfrm>
            <a:off x="1441451" y="5443538"/>
            <a:ext cx="9448800" cy="381000"/>
          </a:xfrm>
        </p:spPr>
        <p:txBody>
          <a:bodyPr/>
          <a:lstStyle>
            <a:lvl1pPr marL="0" indent="0" algn="ctr">
              <a:buFont typeface="Wingdings" charset="2"/>
              <a:buNone/>
              <a:defRPr sz="2800">
                <a:solidFill>
                  <a:schemeClr val="bg1"/>
                </a:solidFill>
              </a:defRPr>
            </a:lvl1pPr>
          </a:lstStyle>
          <a:p>
            <a:pPr lvl="0"/>
            <a:r>
              <a:rPr lang="en-US" noProof="0"/>
              <a:t>Click to edit Master subtitle style</a:t>
            </a:r>
          </a:p>
        </p:txBody>
      </p:sp>
      <p:grpSp>
        <p:nvGrpSpPr>
          <p:cNvPr id="3101" name="Group 29"/>
          <p:cNvGrpSpPr>
            <a:grpSpLocks/>
          </p:cNvGrpSpPr>
          <p:nvPr/>
        </p:nvGrpSpPr>
        <p:grpSpPr bwMode="auto">
          <a:xfrm>
            <a:off x="27517" y="4281488"/>
            <a:ext cx="2207683" cy="1630362"/>
            <a:chOff x="0" y="2704"/>
            <a:chExt cx="1063" cy="1086"/>
          </a:xfrm>
        </p:grpSpPr>
        <p:sp>
          <p:nvSpPr>
            <p:cNvPr id="3102" name="Rectangle 30"/>
            <p:cNvSpPr>
              <a:spLocks noChangeArrowheads="1"/>
            </p:cNvSpPr>
            <p:nvPr userDrawn="1"/>
          </p:nvSpPr>
          <p:spPr bwMode="ltGray">
            <a:xfrm>
              <a:off x="0"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3" name="Rectangle 31"/>
            <p:cNvSpPr>
              <a:spLocks noChangeArrowheads="1"/>
            </p:cNvSpPr>
            <p:nvPr userDrawn="1"/>
          </p:nvSpPr>
          <p:spPr bwMode="ltGray">
            <a:xfrm>
              <a:off x="295"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4" name="Rectangle 32"/>
            <p:cNvSpPr>
              <a:spLocks noChangeArrowheads="1"/>
            </p:cNvSpPr>
            <p:nvPr userDrawn="1"/>
          </p:nvSpPr>
          <p:spPr bwMode="ltGray">
            <a:xfrm>
              <a:off x="567"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5" name="Rectangle 33"/>
            <p:cNvSpPr>
              <a:spLocks noChangeArrowheads="1"/>
            </p:cNvSpPr>
            <p:nvPr userDrawn="1"/>
          </p:nvSpPr>
          <p:spPr bwMode="ltGray">
            <a:xfrm>
              <a:off x="0" y="2990"/>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6" name="Rectangle 34"/>
            <p:cNvSpPr>
              <a:spLocks noChangeArrowheads="1"/>
            </p:cNvSpPr>
            <p:nvPr userDrawn="1"/>
          </p:nvSpPr>
          <p:spPr bwMode="ltGray">
            <a:xfrm>
              <a:off x="295" y="2990"/>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7" name="Rectangle 35"/>
            <p:cNvSpPr>
              <a:spLocks noChangeArrowheads="1"/>
            </p:cNvSpPr>
            <p:nvPr userDrawn="1"/>
          </p:nvSpPr>
          <p:spPr bwMode="ltGray">
            <a:xfrm>
              <a:off x="567" y="2990"/>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8" name="Rectangle 36"/>
            <p:cNvSpPr>
              <a:spLocks noChangeArrowheads="1"/>
            </p:cNvSpPr>
            <p:nvPr userDrawn="1"/>
          </p:nvSpPr>
          <p:spPr bwMode="ltGray">
            <a:xfrm>
              <a:off x="839" y="2704"/>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09" name="Rectangle 37"/>
            <p:cNvSpPr>
              <a:spLocks noChangeArrowheads="1"/>
            </p:cNvSpPr>
            <p:nvPr userDrawn="1"/>
          </p:nvSpPr>
          <p:spPr bwMode="ltGray">
            <a:xfrm>
              <a:off x="295" y="3273"/>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10" name="Rectangle 38"/>
            <p:cNvSpPr>
              <a:spLocks noChangeArrowheads="1"/>
            </p:cNvSpPr>
            <p:nvPr userDrawn="1"/>
          </p:nvSpPr>
          <p:spPr bwMode="ltGray">
            <a:xfrm>
              <a:off x="0" y="3273"/>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111" name="Rectangle 39"/>
            <p:cNvSpPr>
              <a:spLocks noChangeArrowheads="1"/>
            </p:cNvSpPr>
            <p:nvPr userDrawn="1"/>
          </p:nvSpPr>
          <p:spPr bwMode="ltGray">
            <a:xfrm>
              <a:off x="0" y="3563"/>
              <a:ext cx="224" cy="227"/>
            </a:xfrm>
            <a:prstGeom prst="rect">
              <a:avLst/>
            </a:prstGeom>
            <a:solidFill>
              <a:schemeClr val="accent1"/>
            </a:solidFill>
            <a:ln>
              <a:noFill/>
            </a:ln>
            <a:effectLst/>
            <a:scene3d>
              <a:camera prst="legacyPerspectiveBottom">
                <a:rot lat="0" lon="300000" rev="0"/>
              </a:camera>
              <a:lightRig rig="legacyFlat4" dir="b"/>
            </a:scene3d>
            <a:sp3d extrusionH="100000" prstMaterial="legacyMatte">
              <a:bevelT w="13500" h="13500" prst="angle"/>
              <a:bevelB w="13500" h="13500" prst="angle"/>
              <a:extrusionClr>
                <a:schemeClr val="accent1"/>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grpSp>
      <p:sp>
        <p:nvSpPr>
          <p:cNvPr id="3074" name="Rectangle 2"/>
          <p:cNvSpPr>
            <a:spLocks noGrp="1" noChangeArrowheads="1"/>
          </p:cNvSpPr>
          <p:nvPr>
            <p:ph type="ctrTitle"/>
          </p:nvPr>
        </p:nvSpPr>
        <p:spPr bwMode="auto">
          <a:xfrm>
            <a:off x="1320800" y="4572001"/>
            <a:ext cx="9652000" cy="631825"/>
          </a:xfrm>
        </p:spPr>
        <p:txBody>
          <a:bodyPr/>
          <a:lstStyle>
            <a:lvl1pPr>
              <a:defRPr sz="4800">
                <a:solidFill>
                  <a:schemeClr val="bg2"/>
                </a:solidFill>
              </a:defRPr>
            </a:lvl1pPr>
          </a:lstStyle>
          <a:p>
            <a:pPr lvl="0"/>
            <a:r>
              <a:rPr lang="en-US" noProof="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Lê Huỳnh Long - Viện CNTT và Điện, điện tử</a:t>
            </a:r>
          </a:p>
        </p:txBody>
      </p:sp>
      <p:sp>
        <p:nvSpPr>
          <p:cNvPr id="5" name="Slide Number Placeholder 4"/>
          <p:cNvSpPr>
            <a:spLocks noGrp="1"/>
          </p:cNvSpPr>
          <p:nvPr>
            <p:ph type="sldNum" sz="quarter" idx="11"/>
          </p:nvPr>
        </p:nvSpPr>
        <p:spPr/>
        <p:txBody>
          <a:bodyPr/>
          <a:lstStyle>
            <a:lvl1pPr>
              <a:defRPr/>
            </a:lvl1pPr>
          </a:lstStyle>
          <a:p>
            <a:fld id="{43ED6D5E-5CF8-4791-9709-9AB3C1490C76}" type="slidenum">
              <a:rPr lang="en-US"/>
              <a:pPr/>
              <a:t>‹#›</a:t>
            </a:fld>
            <a:endParaRPr lang="en-US"/>
          </a:p>
        </p:txBody>
      </p:sp>
    </p:spTree>
    <p:extLst>
      <p:ext uri="{BB962C8B-B14F-4D97-AF65-F5344CB8AC3E}">
        <p14:creationId xmlns:p14="http://schemas.microsoft.com/office/powerpoint/2010/main" val="214818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r>
              <a:rPr lang="en-US"/>
              <a:t>Lê Huỳnh Long - Viện CNTT và Điện, điện tử</a:t>
            </a:r>
          </a:p>
        </p:txBody>
      </p:sp>
      <p:sp>
        <p:nvSpPr>
          <p:cNvPr id="5" name="Slide Number Placeholder 4"/>
          <p:cNvSpPr>
            <a:spLocks noGrp="1"/>
          </p:cNvSpPr>
          <p:nvPr>
            <p:ph type="sldNum" sz="quarter" idx="11"/>
          </p:nvPr>
        </p:nvSpPr>
        <p:spPr/>
        <p:txBody>
          <a:bodyPr/>
          <a:lstStyle>
            <a:lvl1pPr>
              <a:defRPr/>
            </a:lvl1pPr>
          </a:lstStyle>
          <a:p>
            <a:fld id="{FF8A48A8-2C01-4804-9A8F-0B448F40DFBB}" type="slidenum">
              <a:rPr lang="en-US"/>
              <a:pPr/>
              <a:t>‹#›</a:t>
            </a:fld>
            <a:endParaRPr lang="en-US"/>
          </a:p>
        </p:txBody>
      </p:sp>
    </p:spTree>
    <p:extLst>
      <p:ext uri="{BB962C8B-B14F-4D97-AF65-F5344CB8AC3E}">
        <p14:creationId xmlns:p14="http://schemas.microsoft.com/office/powerpoint/2010/main" val="135085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076325"/>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76325"/>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r>
              <a:rPr lang="en-US"/>
              <a:t>Lê Huỳnh Long - Viện CNTT và Điện, điện tử</a:t>
            </a:r>
          </a:p>
        </p:txBody>
      </p:sp>
      <p:sp>
        <p:nvSpPr>
          <p:cNvPr id="6" name="Slide Number Placeholder 5"/>
          <p:cNvSpPr>
            <a:spLocks noGrp="1"/>
          </p:cNvSpPr>
          <p:nvPr>
            <p:ph type="sldNum" sz="quarter" idx="11"/>
          </p:nvPr>
        </p:nvSpPr>
        <p:spPr/>
        <p:txBody>
          <a:bodyPr/>
          <a:lstStyle>
            <a:lvl1pPr>
              <a:defRPr/>
            </a:lvl1pPr>
          </a:lstStyle>
          <a:p>
            <a:fld id="{E4B960E0-2851-4C13-A7C6-B6A0CF46CE62}" type="slidenum">
              <a:rPr lang="en-US"/>
              <a:pPr/>
              <a:t>‹#›</a:t>
            </a:fld>
            <a:endParaRPr lang="en-US"/>
          </a:p>
        </p:txBody>
      </p:sp>
    </p:spTree>
    <p:extLst>
      <p:ext uri="{BB962C8B-B14F-4D97-AF65-F5344CB8AC3E}">
        <p14:creationId xmlns:p14="http://schemas.microsoft.com/office/powerpoint/2010/main" val="4044175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r>
              <a:rPr lang="en-US"/>
              <a:t>Lê Huỳnh Long - Viện CNTT và Điện, điện tử</a:t>
            </a:r>
          </a:p>
        </p:txBody>
      </p:sp>
      <p:sp>
        <p:nvSpPr>
          <p:cNvPr id="8" name="Slide Number Placeholder 7"/>
          <p:cNvSpPr>
            <a:spLocks noGrp="1"/>
          </p:cNvSpPr>
          <p:nvPr>
            <p:ph type="sldNum" sz="quarter" idx="11"/>
          </p:nvPr>
        </p:nvSpPr>
        <p:spPr/>
        <p:txBody>
          <a:bodyPr/>
          <a:lstStyle>
            <a:lvl1pPr>
              <a:defRPr/>
            </a:lvl1pPr>
          </a:lstStyle>
          <a:p>
            <a:fld id="{7DC31781-49FF-41B5-AF75-FB53C2788802}" type="slidenum">
              <a:rPr lang="en-US"/>
              <a:pPr/>
              <a:t>‹#›</a:t>
            </a:fld>
            <a:endParaRPr lang="en-US"/>
          </a:p>
        </p:txBody>
      </p:sp>
    </p:spTree>
    <p:extLst>
      <p:ext uri="{BB962C8B-B14F-4D97-AF65-F5344CB8AC3E}">
        <p14:creationId xmlns:p14="http://schemas.microsoft.com/office/powerpoint/2010/main" val="3494415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r>
              <a:rPr lang="en-US"/>
              <a:t>Lê Huỳnh Long - Viện CNTT và Điện, điện tử</a:t>
            </a:r>
          </a:p>
        </p:txBody>
      </p:sp>
      <p:sp>
        <p:nvSpPr>
          <p:cNvPr id="4" name="Slide Number Placeholder 3"/>
          <p:cNvSpPr>
            <a:spLocks noGrp="1"/>
          </p:cNvSpPr>
          <p:nvPr>
            <p:ph type="sldNum" sz="quarter" idx="11"/>
          </p:nvPr>
        </p:nvSpPr>
        <p:spPr/>
        <p:txBody>
          <a:bodyPr/>
          <a:lstStyle>
            <a:lvl1pPr>
              <a:defRPr/>
            </a:lvl1pPr>
          </a:lstStyle>
          <a:p>
            <a:fld id="{D8FB23A0-6685-46FC-988C-37C9C48CF755}" type="slidenum">
              <a:rPr lang="en-US"/>
              <a:pPr/>
              <a:t>‹#›</a:t>
            </a:fld>
            <a:endParaRPr lang="en-US"/>
          </a:p>
        </p:txBody>
      </p:sp>
    </p:spTree>
    <p:extLst>
      <p:ext uri="{BB962C8B-B14F-4D97-AF65-F5344CB8AC3E}">
        <p14:creationId xmlns:p14="http://schemas.microsoft.com/office/powerpoint/2010/main" val="2481408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t>Lê Huỳnh Long - Viện CNTT và Điện, điện tử</a:t>
            </a:r>
          </a:p>
        </p:txBody>
      </p:sp>
      <p:sp>
        <p:nvSpPr>
          <p:cNvPr id="3" name="Slide Number Placeholder 2"/>
          <p:cNvSpPr>
            <a:spLocks noGrp="1"/>
          </p:cNvSpPr>
          <p:nvPr>
            <p:ph type="sldNum" sz="quarter" idx="11"/>
          </p:nvPr>
        </p:nvSpPr>
        <p:spPr/>
        <p:txBody>
          <a:bodyPr/>
          <a:lstStyle>
            <a:lvl1pPr>
              <a:defRPr/>
            </a:lvl1pPr>
          </a:lstStyle>
          <a:p>
            <a:fld id="{E92DC80A-8EF4-4666-98FF-D050A2D80F18}" type="slidenum">
              <a:rPr lang="en-US"/>
              <a:pPr/>
              <a:t>‹#›</a:t>
            </a:fld>
            <a:endParaRPr lang="en-US"/>
          </a:p>
        </p:txBody>
      </p:sp>
    </p:spTree>
    <p:extLst>
      <p:ext uri="{BB962C8B-B14F-4D97-AF65-F5344CB8AC3E}">
        <p14:creationId xmlns:p14="http://schemas.microsoft.com/office/powerpoint/2010/main" val="3031346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t>Lê Huỳnh Long - Viện CNTT và Điện, điện tử</a:t>
            </a:r>
          </a:p>
        </p:txBody>
      </p:sp>
      <p:sp>
        <p:nvSpPr>
          <p:cNvPr id="6" name="Slide Number Placeholder 5"/>
          <p:cNvSpPr>
            <a:spLocks noGrp="1"/>
          </p:cNvSpPr>
          <p:nvPr>
            <p:ph type="sldNum" sz="quarter" idx="11"/>
          </p:nvPr>
        </p:nvSpPr>
        <p:spPr/>
        <p:txBody>
          <a:bodyPr/>
          <a:lstStyle>
            <a:lvl1pPr>
              <a:defRPr/>
            </a:lvl1pPr>
          </a:lstStyle>
          <a:p>
            <a:fld id="{B595AAA9-5AA5-4B2E-B72F-3BCCFC86A418}" type="slidenum">
              <a:rPr lang="en-US"/>
              <a:pPr/>
              <a:t>‹#›</a:t>
            </a:fld>
            <a:endParaRPr lang="en-US"/>
          </a:p>
        </p:txBody>
      </p:sp>
    </p:spTree>
    <p:extLst>
      <p:ext uri="{BB962C8B-B14F-4D97-AF65-F5344CB8AC3E}">
        <p14:creationId xmlns:p14="http://schemas.microsoft.com/office/powerpoint/2010/main" val="1917562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t>Lê Huỳnh Long - Viện CNTT và Điện, điện tử</a:t>
            </a:r>
          </a:p>
        </p:txBody>
      </p:sp>
      <p:sp>
        <p:nvSpPr>
          <p:cNvPr id="6" name="Slide Number Placeholder 5"/>
          <p:cNvSpPr>
            <a:spLocks noGrp="1"/>
          </p:cNvSpPr>
          <p:nvPr>
            <p:ph type="sldNum" sz="quarter" idx="11"/>
          </p:nvPr>
        </p:nvSpPr>
        <p:spPr/>
        <p:txBody>
          <a:bodyPr/>
          <a:lstStyle>
            <a:lvl1pPr>
              <a:defRPr/>
            </a:lvl1pPr>
          </a:lstStyle>
          <a:p>
            <a:fld id="{A03C023A-719D-4C25-BBD4-65DB5B5381FE}" type="slidenum">
              <a:rPr lang="en-US"/>
              <a:pPr/>
              <a:t>‹#›</a:t>
            </a:fld>
            <a:endParaRPr lang="en-US"/>
          </a:p>
        </p:txBody>
      </p:sp>
    </p:spTree>
    <p:extLst>
      <p:ext uri="{BB962C8B-B14F-4D97-AF65-F5344CB8AC3E}">
        <p14:creationId xmlns:p14="http://schemas.microsoft.com/office/powerpoint/2010/main" val="2709566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Lê Huỳnh Long - Viện CNTT và Điện, điện tử</a:t>
            </a:r>
          </a:p>
        </p:txBody>
      </p:sp>
      <p:sp>
        <p:nvSpPr>
          <p:cNvPr id="5" name="Slide Number Placeholder 4"/>
          <p:cNvSpPr>
            <a:spLocks noGrp="1"/>
          </p:cNvSpPr>
          <p:nvPr>
            <p:ph type="sldNum" sz="quarter" idx="11"/>
          </p:nvPr>
        </p:nvSpPr>
        <p:spPr/>
        <p:txBody>
          <a:bodyPr/>
          <a:lstStyle>
            <a:lvl1pPr>
              <a:defRPr/>
            </a:lvl1pPr>
          </a:lstStyle>
          <a:p>
            <a:fld id="{6A834AA3-2BA7-433A-86D0-FAB3AA4B412B}" type="slidenum">
              <a:rPr lang="en-US"/>
              <a:pPr/>
              <a:t>‹#›</a:t>
            </a:fld>
            <a:endParaRPr lang="en-US"/>
          </a:p>
        </p:txBody>
      </p:sp>
    </p:spTree>
    <p:extLst>
      <p:ext uri="{BB962C8B-B14F-4D97-AF65-F5344CB8AC3E}">
        <p14:creationId xmlns:p14="http://schemas.microsoft.com/office/powerpoint/2010/main" val="903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19088"/>
            <a:ext cx="2743200" cy="60055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19088"/>
            <a:ext cx="8026400" cy="60055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Lê Huỳnh Long - Viện CNTT và Điện, điện tử</a:t>
            </a:r>
          </a:p>
        </p:txBody>
      </p:sp>
      <p:sp>
        <p:nvSpPr>
          <p:cNvPr id="5" name="Slide Number Placeholder 4"/>
          <p:cNvSpPr>
            <a:spLocks noGrp="1"/>
          </p:cNvSpPr>
          <p:nvPr>
            <p:ph type="sldNum" sz="quarter" idx="11"/>
          </p:nvPr>
        </p:nvSpPr>
        <p:spPr/>
        <p:txBody>
          <a:bodyPr/>
          <a:lstStyle>
            <a:lvl1pPr>
              <a:defRPr/>
            </a:lvl1pPr>
          </a:lstStyle>
          <a:p>
            <a:fld id="{6607BBA8-68BC-446F-957C-D251F76B197F}" type="slidenum">
              <a:rPr lang="en-US"/>
              <a:pPr/>
              <a:t>‹#›</a:t>
            </a:fld>
            <a:endParaRPr lang="en-US"/>
          </a:p>
        </p:txBody>
      </p:sp>
    </p:spTree>
    <p:extLst>
      <p:ext uri="{BB962C8B-B14F-4D97-AF65-F5344CB8AC3E}">
        <p14:creationId xmlns:p14="http://schemas.microsoft.com/office/powerpoint/2010/main" val="682696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17600" y="319088"/>
            <a:ext cx="9855200" cy="563562"/>
          </a:xfrm>
        </p:spPr>
        <p:txBody>
          <a:bodyPr/>
          <a:lstStyle/>
          <a:p>
            <a:r>
              <a:rPr lang="en-US"/>
              <a:t>Click to edit Master title style</a:t>
            </a:r>
          </a:p>
        </p:txBody>
      </p:sp>
      <p:sp>
        <p:nvSpPr>
          <p:cNvPr id="3" name="Table Placeholder 2"/>
          <p:cNvSpPr>
            <a:spLocks noGrp="1"/>
          </p:cNvSpPr>
          <p:nvPr>
            <p:ph type="tbl" idx="1"/>
          </p:nvPr>
        </p:nvSpPr>
        <p:spPr>
          <a:xfrm>
            <a:off x="609600" y="1076325"/>
            <a:ext cx="10972800" cy="5248275"/>
          </a:xfrm>
        </p:spPr>
        <p:txBody>
          <a:bodyPr/>
          <a:lstStyle/>
          <a:p>
            <a:r>
              <a:rPr lang="en-US"/>
              <a:t>Click icon to add table</a:t>
            </a:r>
          </a:p>
        </p:txBody>
      </p:sp>
      <p:sp>
        <p:nvSpPr>
          <p:cNvPr id="4" name="Footer Placeholder 3"/>
          <p:cNvSpPr>
            <a:spLocks noGrp="1"/>
          </p:cNvSpPr>
          <p:nvPr>
            <p:ph type="ftr" sz="quarter" idx="10"/>
          </p:nvPr>
        </p:nvSpPr>
        <p:spPr>
          <a:xfrm>
            <a:off x="9550400" y="6567488"/>
            <a:ext cx="2032000" cy="290512"/>
          </a:xfrm>
        </p:spPr>
        <p:txBody>
          <a:bodyPr/>
          <a:lstStyle>
            <a:lvl1pPr>
              <a:defRPr/>
            </a:lvl1pPr>
          </a:lstStyle>
          <a:p>
            <a:r>
              <a:rPr lang="en-US"/>
              <a:t>Lê Huỳnh Long - Viện CNTT và Điện, điện tử</a:t>
            </a:r>
          </a:p>
        </p:txBody>
      </p:sp>
      <p:sp>
        <p:nvSpPr>
          <p:cNvPr id="5" name="Slide Number Placeholder 4"/>
          <p:cNvSpPr>
            <a:spLocks noGrp="1"/>
          </p:cNvSpPr>
          <p:nvPr>
            <p:ph type="sldNum" sz="quarter" idx="11"/>
          </p:nvPr>
        </p:nvSpPr>
        <p:spPr>
          <a:xfrm>
            <a:off x="635000" y="6565900"/>
            <a:ext cx="812800" cy="268288"/>
          </a:xfrm>
        </p:spPr>
        <p:txBody>
          <a:bodyPr/>
          <a:lstStyle>
            <a:lvl1pPr>
              <a:defRPr/>
            </a:lvl1pPr>
          </a:lstStyle>
          <a:p>
            <a:fld id="{E786A880-3E1B-4AA5-B76F-22443508ACEC}" type="slidenum">
              <a:rPr lang="en-US"/>
              <a:pPr/>
              <a:t>‹#›</a:t>
            </a:fld>
            <a:endParaRPr lang="en-US"/>
          </a:p>
        </p:txBody>
      </p:sp>
    </p:spTree>
    <p:extLst>
      <p:ext uri="{BB962C8B-B14F-4D97-AF65-F5344CB8AC3E}">
        <p14:creationId xmlns:p14="http://schemas.microsoft.com/office/powerpoint/2010/main" val="587386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2" name="Rectangle 38"/>
          <p:cNvSpPr>
            <a:spLocks noChangeArrowheads="1"/>
          </p:cNvSpPr>
          <p:nvPr/>
        </p:nvSpPr>
        <p:spPr bwMode="gray">
          <a:xfrm>
            <a:off x="0" y="6562725"/>
            <a:ext cx="12192000" cy="3048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Rectangle 15"/>
          <p:cNvSpPr>
            <a:spLocks noChangeArrowheads="1"/>
          </p:cNvSpPr>
          <p:nvPr/>
        </p:nvSpPr>
        <p:spPr bwMode="white">
          <a:xfrm>
            <a:off x="0" y="0"/>
            <a:ext cx="12192000" cy="9144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40" name="Group 16"/>
          <p:cNvGrpSpPr>
            <a:grpSpLocks/>
          </p:cNvGrpSpPr>
          <p:nvPr/>
        </p:nvGrpSpPr>
        <p:grpSpPr bwMode="auto">
          <a:xfrm>
            <a:off x="59267" y="44451"/>
            <a:ext cx="1151467" cy="847725"/>
            <a:chOff x="0" y="2704"/>
            <a:chExt cx="1063" cy="1086"/>
          </a:xfrm>
        </p:grpSpPr>
        <p:sp>
          <p:nvSpPr>
            <p:cNvPr id="1041" name="Rectangle 17"/>
            <p:cNvSpPr>
              <a:spLocks noChangeArrowheads="1"/>
            </p:cNvSpPr>
            <p:nvPr userDrawn="1"/>
          </p:nvSpPr>
          <p:spPr bwMode="gray">
            <a:xfrm>
              <a:off x="0"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2" name="Rectangle 18"/>
            <p:cNvSpPr>
              <a:spLocks noChangeArrowheads="1"/>
            </p:cNvSpPr>
            <p:nvPr userDrawn="1"/>
          </p:nvSpPr>
          <p:spPr bwMode="gray">
            <a:xfrm>
              <a:off x="295"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3" name="Rectangle 19"/>
            <p:cNvSpPr>
              <a:spLocks noChangeArrowheads="1"/>
            </p:cNvSpPr>
            <p:nvPr userDrawn="1"/>
          </p:nvSpPr>
          <p:spPr bwMode="gray">
            <a:xfrm>
              <a:off x="567"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Rectangle 20"/>
            <p:cNvSpPr>
              <a:spLocks noChangeArrowheads="1"/>
            </p:cNvSpPr>
            <p:nvPr userDrawn="1"/>
          </p:nvSpPr>
          <p:spPr bwMode="gray">
            <a:xfrm>
              <a:off x="0" y="2990"/>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5" name="Rectangle 21"/>
            <p:cNvSpPr>
              <a:spLocks noChangeArrowheads="1"/>
            </p:cNvSpPr>
            <p:nvPr userDrawn="1"/>
          </p:nvSpPr>
          <p:spPr bwMode="gray">
            <a:xfrm>
              <a:off x="295" y="2990"/>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6" name="Rectangle 22"/>
            <p:cNvSpPr>
              <a:spLocks noChangeArrowheads="1"/>
            </p:cNvSpPr>
            <p:nvPr userDrawn="1"/>
          </p:nvSpPr>
          <p:spPr bwMode="gray">
            <a:xfrm>
              <a:off x="567" y="2990"/>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7" name="Rectangle 23"/>
            <p:cNvSpPr>
              <a:spLocks noChangeArrowheads="1"/>
            </p:cNvSpPr>
            <p:nvPr userDrawn="1"/>
          </p:nvSpPr>
          <p:spPr bwMode="gray">
            <a:xfrm>
              <a:off x="839"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8" name="Rectangle 24"/>
            <p:cNvSpPr>
              <a:spLocks noChangeArrowheads="1"/>
            </p:cNvSpPr>
            <p:nvPr userDrawn="1"/>
          </p:nvSpPr>
          <p:spPr bwMode="gray">
            <a:xfrm>
              <a:off x="295" y="3273"/>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9" name="Rectangle 25"/>
            <p:cNvSpPr>
              <a:spLocks noChangeArrowheads="1"/>
            </p:cNvSpPr>
            <p:nvPr userDrawn="1"/>
          </p:nvSpPr>
          <p:spPr bwMode="gray">
            <a:xfrm>
              <a:off x="0" y="3273"/>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0" name="Rectangle 26"/>
            <p:cNvSpPr>
              <a:spLocks noChangeArrowheads="1"/>
            </p:cNvSpPr>
            <p:nvPr userDrawn="1"/>
          </p:nvSpPr>
          <p:spPr bwMode="gray">
            <a:xfrm>
              <a:off x="0" y="3563"/>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051" name="Group 27"/>
          <p:cNvGrpSpPr>
            <a:grpSpLocks/>
          </p:cNvGrpSpPr>
          <p:nvPr/>
        </p:nvGrpSpPr>
        <p:grpSpPr bwMode="auto">
          <a:xfrm rot="-10800000">
            <a:off x="10970684" y="22225"/>
            <a:ext cx="1151467" cy="847725"/>
            <a:chOff x="0" y="2704"/>
            <a:chExt cx="1063" cy="1086"/>
          </a:xfrm>
        </p:grpSpPr>
        <p:sp>
          <p:nvSpPr>
            <p:cNvPr id="1052" name="Rectangle 28"/>
            <p:cNvSpPr>
              <a:spLocks noChangeArrowheads="1"/>
            </p:cNvSpPr>
            <p:nvPr userDrawn="1"/>
          </p:nvSpPr>
          <p:spPr bwMode="gray">
            <a:xfrm>
              <a:off x="0"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3" name="Rectangle 29"/>
            <p:cNvSpPr>
              <a:spLocks noChangeArrowheads="1"/>
            </p:cNvSpPr>
            <p:nvPr userDrawn="1"/>
          </p:nvSpPr>
          <p:spPr bwMode="gray">
            <a:xfrm>
              <a:off x="295"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 name="Rectangle 30"/>
            <p:cNvSpPr>
              <a:spLocks noChangeArrowheads="1"/>
            </p:cNvSpPr>
            <p:nvPr userDrawn="1"/>
          </p:nvSpPr>
          <p:spPr bwMode="gray">
            <a:xfrm>
              <a:off x="567"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 name="Rectangle 31"/>
            <p:cNvSpPr>
              <a:spLocks noChangeArrowheads="1"/>
            </p:cNvSpPr>
            <p:nvPr userDrawn="1"/>
          </p:nvSpPr>
          <p:spPr bwMode="gray">
            <a:xfrm>
              <a:off x="0" y="2990"/>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6" name="Rectangle 32"/>
            <p:cNvSpPr>
              <a:spLocks noChangeArrowheads="1"/>
            </p:cNvSpPr>
            <p:nvPr userDrawn="1"/>
          </p:nvSpPr>
          <p:spPr bwMode="gray">
            <a:xfrm>
              <a:off x="295" y="2990"/>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7" name="Rectangle 33"/>
            <p:cNvSpPr>
              <a:spLocks noChangeArrowheads="1"/>
            </p:cNvSpPr>
            <p:nvPr userDrawn="1"/>
          </p:nvSpPr>
          <p:spPr bwMode="gray">
            <a:xfrm>
              <a:off x="567" y="2990"/>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8" name="Rectangle 34"/>
            <p:cNvSpPr>
              <a:spLocks noChangeArrowheads="1"/>
            </p:cNvSpPr>
            <p:nvPr userDrawn="1"/>
          </p:nvSpPr>
          <p:spPr bwMode="gray">
            <a:xfrm>
              <a:off x="839" y="2704"/>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9" name="Rectangle 35"/>
            <p:cNvSpPr>
              <a:spLocks noChangeArrowheads="1"/>
            </p:cNvSpPr>
            <p:nvPr userDrawn="1"/>
          </p:nvSpPr>
          <p:spPr bwMode="gray">
            <a:xfrm>
              <a:off x="295" y="3273"/>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0" name="Rectangle 36"/>
            <p:cNvSpPr>
              <a:spLocks noChangeArrowheads="1"/>
            </p:cNvSpPr>
            <p:nvPr userDrawn="1"/>
          </p:nvSpPr>
          <p:spPr bwMode="gray">
            <a:xfrm>
              <a:off x="0" y="3273"/>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1" name="Rectangle 37"/>
            <p:cNvSpPr>
              <a:spLocks noChangeArrowheads="1"/>
            </p:cNvSpPr>
            <p:nvPr userDrawn="1"/>
          </p:nvSpPr>
          <p:spPr bwMode="gray">
            <a:xfrm>
              <a:off x="0" y="3563"/>
              <a:ext cx="224" cy="22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027" name="Rectangle 3"/>
          <p:cNvSpPr>
            <a:spLocks noGrp="1" noChangeArrowheads="1"/>
          </p:cNvSpPr>
          <p:nvPr>
            <p:ph type="body" idx="1"/>
          </p:nvPr>
        </p:nvSpPr>
        <p:spPr bwMode="auto">
          <a:xfrm>
            <a:off x="609600" y="1076325"/>
            <a:ext cx="109728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9220200" y="6567488"/>
            <a:ext cx="297180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b="1"/>
            </a:lvl1pPr>
          </a:lstStyle>
          <a:p>
            <a:r>
              <a:rPr lang="en-US"/>
              <a:t>Lê Huỳnh Long - Viện CNTT và Điện, điện tử</a:t>
            </a:r>
          </a:p>
        </p:txBody>
      </p:sp>
      <p:sp>
        <p:nvSpPr>
          <p:cNvPr id="1030" name="Rectangle 6"/>
          <p:cNvSpPr>
            <a:spLocks noGrp="1" noChangeArrowheads="1"/>
          </p:cNvSpPr>
          <p:nvPr>
            <p:ph type="sldNum" sz="quarter" idx="4"/>
          </p:nvPr>
        </p:nvSpPr>
        <p:spPr bwMode="auto">
          <a:xfrm>
            <a:off x="635000" y="6565900"/>
            <a:ext cx="8128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solidFill>
                  <a:schemeClr val="tx2"/>
                </a:solidFill>
                <a:latin typeface="Verdana" pitchFamily="34" charset="0"/>
              </a:defRPr>
            </a:lvl1pPr>
          </a:lstStyle>
          <a:p>
            <a:fld id="{644C3A89-96F9-469F-83FE-E197BBF22C29}" type="slidenum">
              <a:rPr lang="en-US"/>
              <a:pPr/>
              <a:t>‹#›</a:t>
            </a:fld>
            <a:endParaRPr lang="en-US"/>
          </a:p>
        </p:txBody>
      </p:sp>
      <p:sp>
        <p:nvSpPr>
          <p:cNvPr id="1026" name="Rectangle 2"/>
          <p:cNvSpPr>
            <a:spLocks noGrp="1" noChangeArrowheads="1"/>
          </p:cNvSpPr>
          <p:nvPr>
            <p:ph type="title"/>
          </p:nvPr>
        </p:nvSpPr>
        <p:spPr bwMode="black">
          <a:xfrm>
            <a:off x="1117600" y="319088"/>
            <a:ext cx="98552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p:titleStyle>
    <p:bodyStyle>
      <a:lvl1pPr marL="342900" indent="-342900" algn="l" rtl="0" eaLnBrk="1" fontAlgn="base" hangingPunct="1">
        <a:spcBef>
          <a:spcPct val="20000"/>
        </a:spcBef>
        <a:spcAft>
          <a:spcPct val="0"/>
        </a:spcAft>
        <a:buClr>
          <a:schemeClr val="hlink"/>
        </a:buClr>
        <a:buFont typeface="Wingdings" charset="2"/>
        <a:buChar char="v"/>
        <a:defRPr sz="32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charset="2"/>
        <a:buChar char="§"/>
        <a:defRPr sz="2800">
          <a:solidFill>
            <a:schemeClr val="tx1"/>
          </a:solidFill>
          <a:latin typeface="+mn-lt"/>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14.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26" Type="http://schemas.openxmlformats.org/officeDocument/2006/relationships/image" Target="../media/image65.png"/><Relationship Id="rId3" Type="http://schemas.openxmlformats.org/officeDocument/2006/relationships/image" Target="../media/image42.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5" Type="http://schemas.openxmlformats.org/officeDocument/2006/relationships/image" Target="../media/image64.png"/><Relationship Id="rId2" Type="http://schemas.openxmlformats.org/officeDocument/2006/relationships/image" Target="../media/image41.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24" Type="http://schemas.openxmlformats.org/officeDocument/2006/relationships/image" Target="../media/image63.png"/><Relationship Id="rId5" Type="http://schemas.openxmlformats.org/officeDocument/2006/relationships/image" Target="../media/image44.png"/><Relationship Id="rId15" Type="http://schemas.openxmlformats.org/officeDocument/2006/relationships/image" Target="../media/image54.png"/><Relationship Id="rId23" Type="http://schemas.openxmlformats.org/officeDocument/2006/relationships/image" Target="../media/image62.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61.png"/><Relationship Id="rId27" Type="http://schemas.openxmlformats.org/officeDocument/2006/relationships/image" Target="../media/image6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4625976"/>
            <a:ext cx="9067800" cy="1241425"/>
          </a:xfrm>
        </p:spPr>
        <p:txBody>
          <a:bodyPr/>
          <a:lstStyle/>
          <a:p>
            <a:pPr>
              <a:lnSpc>
                <a:spcPct val="150000"/>
              </a:lnSpc>
            </a:pPr>
            <a:r>
              <a:rPr lang="en-US" sz="4400" err="1">
                <a:latin typeface="Times New Roman" panose="02020603050405020304" pitchFamily="18" charset="0"/>
                <a:cs typeface="Times New Roman" panose="02020603050405020304" pitchFamily="18" charset="0"/>
              </a:rPr>
              <a:t>Chương</a:t>
            </a:r>
            <a:r>
              <a:rPr lang="en-US" sz="4400">
                <a:latin typeface="Times New Roman" panose="02020603050405020304" pitchFamily="18" charset="0"/>
                <a:cs typeface="Times New Roman" panose="02020603050405020304" pitchFamily="18" charset="0"/>
              </a:rPr>
              <a:t> 3. </a:t>
            </a:r>
            <a:br>
              <a:rPr lang="en-US" sz="4400">
                <a:latin typeface="Times New Roman" panose="02020603050405020304" pitchFamily="18" charset="0"/>
                <a:cs typeface="Times New Roman" panose="02020603050405020304" pitchFamily="18" charset="0"/>
              </a:rPr>
            </a:br>
            <a:r>
              <a:rPr lang="en-US" sz="4400">
                <a:solidFill>
                  <a:srgbClr val="FFFF00"/>
                </a:solidFill>
                <a:latin typeface="Times New Roman" panose="02020603050405020304" pitchFamily="18" charset="0"/>
                <a:cs typeface="Times New Roman" panose="02020603050405020304" pitchFamily="18" charset="0"/>
              </a:rPr>
              <a:t>PHÂN TÍCH HỆ THỐNG</a:t>
            </a:r>
            <a:endParaRPr lang="en-US" sz="4400" dirty="0">
              <a:solidFill>
                <a:srgbClr val="FFFF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7</a:t>
            </a:r>
            <a:endParaRPr sz="1200">
              <a:latin typeface="Trebuchet MS"/>
              <a:cs typeface="Trebuchet MS"/>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5" name="Rounded Rectangle 4"/>
          <p:cNvSpPr/>
          <p:nvPr/>
        </p:nvSpPr>
        <p:spPr>
          <a:xfrm>
            <a:off x="2438400" y="2438400"/>
            <a:ext cx="7391400" cy="182880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a:latin typeface="Times New Roman" panose="02020603050405020304" pitchFamily="18" charset="0"/>
                <a:cs typeface="Times New Roman" panose="02020603050405020304" pitchFamily="18" charset="0"/>
              </a:rPr>
              <a:t>MÔ HÌNH HÓA CẤU TRÚC</a:t>
            </a:r>
          </a:p>
        </p:txBody>
      </p:sp>
    </p:spTree>
    <p:extLst>
      <p:ext uri="{BB962C8B-B14F-4D97-AF65-F5344CB8AC3E}">
        <p14:creationId xmlns:p14="http://schemas.microsoft.com/office/powerpoint/2010/main" val="40581744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smtClean="0">
                <a:solidFill>
                  <a:srgbClr val="FFFF00"/>
                </a:solidFill>
                <a:latin typeface="Times New Roman" panose="02020603050405020304" pitchFamily="18" charset="0"/>
                <a:cs typeface="Times New Roman" panose="02020603050405020304" pitchFamily="18" charset="0"/>
              </a:rPr>
              <a:t>Mô hình hóa cấu trúc</a:t>
            </a:r>
            <a:endParaRPr dirty="0">
              <a:solidFill>
                <a:srgbClr val="FFFF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7</a:t>
            </a:r>
            <a:endParaRPr sz="1200">
              <a:latin typeface="Trebuchet MS"/>
              <a:cs typeface="Trebuchet MS"/>
            </a:endParaRPr>
          </a:p>
        </p:txBody>
      </p:sp>
      <p:sp>
        <p:nvSpPr>
          <p:cNvPr id="9" name="Rectangle 8"/>
          <p:cNvSpPr/>
          <p:nvPr/>
        </p:nvSpPr>
        <p:spPr>
          <a:xfrm>
            <a:off x="0" y="990601"/>
            <a:ext cx="12192000" cy="2779351"/>
          </a:xfrm>
          <a:prstGeom prst="rect">
            <a:avLst/>
          </a:prstGeom>
        </p:spPr>
        <p:txBody>
          <a:bodyPr wrap="square">
            <a:spAutoFit/>
          </a:bodyPr>
          <a:lstStyle/>
          <a:p>
            <a:pPr marL="457200" indent="-457200" algn="just">
              <a:lnSpc>
                <a:spcPct val="150000"/>
              </a:lnSpc>
              <a:buFont typeface="Wingdings" panose="05000000000000000000" pitchFamily="2" charset="2"/>
              <a:buChar char="§"/>
            </a:pPr>
            <a:r>
              <a:rPr lang="vi-VN" sz="3000">
                <a:latin typeface="Times New Roman" panose="02020603050405020304" pitchFamily="18" charset="0"/>
                <a:cs typeface="Times New Roman" panose="02020603050405020304" pitchFamily="18" charset="0"/>
              </a:rPr>
              <a:t>Mô tả cấu trúc của dữ liệu được sử dụng trong hệ thống</a:t>
            </a:r>
            <a:endParaRPr lang="en-US" sz="300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
            </a:pPr>
            <a:r>
              <a:rPr lang="vi-VN" sz="3000">
                <a:latin typeface="Times New Roman" panose="02020603050405020304" pitchFamily="18" charset="0"/>
                <a:cs typeface="Times New Roman" panose="02020603050405020304" pitchFamily="18" charset="0"/>
              </a:rPr>
              <a:t>Biểu d</a:t>
            </a:r>
            <a:r>
              <a:rPr lang="en-US" sz="3000">
                <a:latin typeface="Times New Roman" panose="02020603050405020304" pitchFamily="18" charset="0"/>
                <a:cs typeface="Times New Roman" panose="02020603050405020304" pitchFamily="18" charset="0"/>
              </a:rPr>
              <a:t>iễn</a:t>
            </a:r>
            <a:r>
              <a:rPr lang="vi-VN" sz="3000">
                <a:latin typeface="Times New Roman" panose="02020603050405020304" pitchFamily="18" charset="0"/>
                <a:cs typeface="Times New Roman" panose="02020603050405020304" pitchFamily="18" charset="0"/>
              </a:rPr>
              <a:t> sự vật, ý tưởng và khái niệm quan trọng trong hệ thống</a:t>
            </a:r>
            <a:endParaRPr lang="en-US" sz="300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
            </a:pPr>
            <a:r>
              <a:rPr lang="vi-VN" sz="3000">
                <a:latin typeface="Times New Roman" panose="02020603050405020304" pitchFamily="18" charset="0"/>
                <a:cs typeface="Times New Roman" panose="02020603050405020304" pitchFamily="18" charset="0"/>
              </a:rPr>
              <a:t>Xây dựng thuật ngữ chung cho người sử dụng và người phân tích hệ thống</a:t>
            </a:r>
          </a:p>
          <a:p>
            <a:pPr marL="457200" indent="-457200" algn="just">
              <a:lnSpc>
                <a:spcPct val="150000"/>
              </a:lnSpc>
              <a:buFont typeface="Wingdings" panose="05000000000000000000" pitchFamily="2" charset="2"/>
              <a:buChar char="§"/>
            </a:pPr>
            <a:r>
              <a:rPr lang="vi-VN" sz="3000">
                <a:latin typeface="Times New Roman" panose="02020603050405020304" pitchFamily="18" charset="0"/>
                <a:cs typeface="Times New Roman" panose="02020603050405020304" pitchFamily="18" charset="0"/>
              </a:rPr>
              <a:t>Rút ngắn khoảng cách giữa thế giới thực và thế giới phần mềm</a:t>
            </a: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186367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a:latin typeface="Times New Roman" panose="02020603050405020304" pitchFamily="18" charset="0"/>
                <a:cs typeface="Times New Roman" panose="02020603050405020304" pitchFamily="18" charset="0"/>
              </a:rPr>
              <a:t>Ý </a:t>
            </a:r>
            <a:r>
              <a:rPr lang="en-US" dirty="0" err="1">
                <a:latin typeface="Times New Roman" panose="02020603050405020304" pitchFamily="18" charset="0"/>
                <a:cs typeface="Times New Roman" panose="02020603050405020304" pitchFamily="18" charset="0"/>
              </a:rPr>
              <a:t>nghĩa</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Class diagram </a:t>
            </a:r>
            <a:endParaRPr dirty="0">
              <a:latin typeface="Times New Roman" panose="02020603050405020304" pitchFamily="18" charset="0"/>
              <a:cs typeface="Times New Roman" panose="02020603050405020304" pitchFamily="18" charset="0"/>
            </a:endParaRPr>
          </a:p>
        </p:txBody>
      </p:sp>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7</a:t>
            </a:r>
            <a:endParaRPr sz="1200">
              <a:latin typeface="Trebuchet MS"/>
              <a:cs typeface="Trebuchet MS"/>
            </a:endParaRPr>
          </a:p>
        </p:txBody>
      </p:sp>
      <p:sp>
        <p:nvSpPr>
          <p:cNvPr id="9" name="Rectangle 8"/>
          <p:cNvSpPr/>
          <p:nvPr/>
        </p:nvSpPr>
        <p:spPr>
          <a:xfrm>
            <a:off x="0" y="990601"/>
            <a:ext cx="12192000" cy="4708981"/>
          </a:xfrm>
          <a:prstGeom prst="rect">
            <a:avLst/>
          </a:prstGeom>
        </p:spPr>
        <p:txBody>
          <a:bodyPr wrap="square">
            <a:spAutoFit/>
          </a:bodyPr>
          <a:lstStyle/>
          <a:p>
            <a:pPr marL="457200" indent="-457200" algn="just">
              <a:buFont typeface="Wingdings" panose="05000000000000000000" pitchFamily="2" charset="2"/>
              <a:buChar char="§"/>
            </a:pPr>
            <a:r>
              <a:rPr lang="vi-VN" sz="3000">
                <a:solidFill>
                  <a:srgbClr val="FF0000"/>
                </a:solidFill>
                <a:latin typeface="Times New Roman" panose="02020603050405020304" pitchFamily="18" charset="0"/>
                <a:cs typeface="Times New Roman" panose="02020603050405020304" pitchFamily="18" charset="0"/>
              </a:rPr>
              <a:t>Hiểu rõ hệ thống: </a:t>
            </a:r>
            <a:r>
              <a:rPr lang="vi-VN" sz="3000">
                <a:latin typeface="Times New Roman" panose="02020603050405020304" pitchFamily="18" charset="0"/>
                <a:cs typeface="Times New Roman" panose="02020603050405020304" pitchFamily="18" charset="0"/>
              </a:rPr>
              <a:t>giúp chúng ta có một cái nhìn tổng quan và chi tiết về cấu trúc của hệ thống</a:t>
            </a:r>
          </a:p>
          <a:p>
            <a:pPr marL="457200" indent="-457200" algn="just">
              <a:buFont typeface="Wingdings" panose="05000000000000000000" pitchFamily="2" charset="2"/>
              <a:buChar char="§"/>
            </a:pPr>
            <a:r>
              <a:rPr lang="vi-VN" sz="3000">
                <a:solidFill>
                  <a:srgbClr val="FF0000"/>
                </a:solidFill>
                <a:latin typeface="Times New Roman" panose="02020603050405020304" pitchFamily="18" charset="0"/>
                <a:cs typeface="Times New Roman" panose="02020603050405020304" pitchFamily="18" charset="0"/>
              </a:rPr>
              <a:t>Lập kế hoạch phát triển: </a:t>
            </a:r>
            <a:r>
              <a:rPr lang="vi-VN" sz="3000">
                <a:latin typeface="Times New Roman" panose="02020603050405020304" pitchFamily="18" charset="0"/>
                <a:cs typeface="Times New Roman" panose="02020603050405020304" pitchFamily="18" charset="0"/>
              </a:rPr>
              <a:t>một công cụ hữu ích để lập kế hoạch, thiết kế và phát triển phần mềm</a:t>
            </a:r>
          </a:p>
          <a:p>
            <a:pPr marL="457200" indent="-457200" algn="just">
              <a:buFont typeface="Wingdings" panose="05000000000000000000" pitchFamily="2" charset="2"/>
              <a:buChar char="§"/>
            </a:pPr>
            <a:r>
              <a:rPr lang="vi-VN" sz="3000">
                <a:solidFill>
                  <a:srgbClr val="FF0000"/>
                </a:solidFill>
                <a:latin typeface="Times New Roman" panose="02020603050405020304" pitchFamily="18" charset="0"/>
                <a:cs typeface="Times New Roman" panose="02020603050405020304" pitchFamily="18" charset="0"/>
              </a:rPr>
              <a:t>Truyền đạt thông tin: </a:t>
            </a:r>
            <a:r>
              <a:rPr lang="vi-VN" sz="3000">
                <a:latin typeface="Times New Roman" panose="02020603050405020304" pitchFamily="18" charset="0"/>
                <a:cs typeface="Times New Roman" panose="02020603050405020304" pitchFamily="18" charset="0"/>
              </a:rPr>
              <a:t>thông tin về thiết kế hệ thống một cách rõ ràng và dễ hiểu cho các thành viên trong nhóm phát triển</a:t>
            </a:r>
          </a:p>
          <a:p>
            <a:pPr marL="457200" indent="-457200" algn="just">
              <a:buFont typeface="Wingdings" panose="05000000000000000000" pitchFamily="2" charset="2"/>
              <a:buChar char="§"/>
            </a:pPr>
            <a:r>
              <a:rPr lang="vi-VN" sz="3000">
                <a:solidFill>
                  <a:srgbClr val="FF0000"/>
                </a:solidFill>
                <a:latin typeface="Times New Roman" panose="02020603050405020304" pitchFamily="18" charset="0"/>
                <a:cs typeface="Times New Roman" panose="02020603050405020304" pitchFamily="18" charset="0"/>
              </a:rPr>
              <a:t>Tái sử dụng: </a:t>
            </a:r>
            <a:r>
              <a:rPr lang="vi-VN" sz="3000">
                <a:latin typeface="Times New Roman" panose="02020603050405020304" pitchFamily="18" charset="0"/>
                <a:cs typeface="Times New Roman" panose="02020603050405020304" pitchFamily="18" charset="0"/>
              </a:rPr>
              <a:t>Các lớp và mối quan hệ giữa các lớp có thể được tái sử dụng trong các dự án khác nhau</a:t>
            </a:r>
            <a:endParaRPr lang="en-US" sz="3000">
              <a:latin typeface="Times New Roman" panose="02020603050405020304" pitchFamily="18" charset="0"/>
              <a:cs typeface="Times New Roman" panose="02020603050405020304" pitchFamily="18" charset="0"/>
            </a:endParaRPr>
          </a:p>
          <a:p>
            <a:pPr marL="457200" indent="-457200" algn="just">
              <a:buClr>
                <a:srgbClr val="FF0000"/>
              </a:buClr>
              <a:buFont typeface="Wingdings" panose="05000000000000000000" pitchFamily="2" charset="2"/>
              <a:buChar char="§"/>
            </a:pPr>
            <a:r>
              <a:rPr lang="vi-VN" sz="3000">
                <a:latin typeface="Times New Roman" panose="02020603050405020304" pitchFamily="18" charset="0"/>
                <a:cs typeface="Times New Roman" panose="02020603050405020304" pitchFamily="18" charset="0"/>
              </a:rPr>
              <a:t>Sử dụng </a:t>
            </a:r>
            <a:r>
              <a:rPr lang="vi-VN" sz="3000">
                <a:solidFill>
                  <a:srgbClr val="FF0000"/>
                </a:solidFill>
                <a:latin typeface="Times New Roman" panose="02020603050405020304" pitchFamily="18" charset="0"/>
                <a:cs typeface="Times New Roman" panose="02020603050405020304" pitchFamily="18" charset="0"/>
              </a:rPr>
              <a:t>để phân tích chi tiết các chức năng </a:t>
            </a:r>
            <a:r>
              <a:rPr lang="vi-VN" sz="3000">
                <a:latin typeface="Times New Roman" panose="02020603050405020304" pitchFamily="18" charset="0"/>
                <a:cs typeface="Times New Roman" panose="02020603050405020304" pitchFamily="18" charset="0"/>
              </a:rPr>
              <a:t>(Sequence Diagram, State Diagram v.v…)</a:t>
            </a:r>
            <a:r>
              <a:rPr lang="en-US" sz="3000">
                <a:latin typeface="Times New Roman" panose="02020603050405020304" pitchFamily="18" charset="0"/>
                <a:cs typeface="Times New Roman" panose="02020603050405020304" pitchFamily="18" charset="0"/>
              </a:rPr>
              <a:t>, sử dụng để cài đặt (coding)</a:t>
            </a:r>
            <a:endParaRPr lang="vi-VN" sz="300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6021302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vi-VN" dirty="0">
                <a:latin typeface="Times New Roman" panose="02020603050405020304" pitchFamily="18" charset="0"/>
                <a:cs typeface="Times New Roman" panose="02020603050405020304" pitchFamily="18" charset="0"/>
              </a:rPr>
              <a:t>Các thành phần trong</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Class diagram </a:t>
            </a:r>
            <a:endParaRPr dirty="0">
              <a:latin typeface="Times New Roman" panose="02020603050405020304" pitchFamily="18" charset="0"/>
              <a:cs typeface="Times New Roman" panose="02020603050405020304" pitchFamily="18" charset="0"/>
            </a:endParaRPr>
          </a:p>
        </p:txBody>
      </p:sp>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7</a:t>
            </a:r>
            <a:endParaRPr sz="1200">
              <a:latin typeface="Trebuchet MS"/>
              <a:cs typeface="Trebuchet MS"/>
            </a:endParaRPr>
          </a:p>
        </p:txBody>
      </p:sp>
      <p:sp>
        <p:nvSpPr>
          <p:cNvPr id="4" name="object 4"/>
          <p:cNvSpPr txBox="1"/>
          <p:nvPr/>
        </p:nvSpPr>
        <p:spPr>
          <a:xfrm>
            <a:off x="152400" y="990601"/>
            <a:ext cx="11963400" cy="3783087"/>
          </a:xfrm>
          <a:prstGeom prst="rect">
            <a:avLst/>
          </a:prstGeom>
        </p:spPr>
        <p:txBody>
          <a:bodyPr vert="horz" wrap="square" lIns="0" tIns="88900" rIns="0" bIns="0" rtlCol="0">
            <a:spAutoFit/>
          </a:bodyPr>
          <a:lstStyle/>
          <a:p>
            <a:pPr lvl="1" indent="-457200">
              <a:spcBef>
                <a:spcPts val="605"/>
              </a:spcBef>
              <a:buSzPct val="100000"/>
              <a:buFont typeface="Wingdings" panose="05000000000000000000" pitchFamily="2" charset="2"/>
              <a:buChar char="§"/>
              <a:tabLst>
                <a:tab pos="653415" algn="l"/>
              </a:tabLst>
            </a:pPr>
            <a:r>
              <a:rPr sz="3000" spc="-5">
                <a:solidFill>
                  <a:srgbClr val="FF0000"/>
                </a:solidFill>
                <a:latin typeface="Times New Roman" panose="02020603050405020304" pitchFamily="18" charset="0"/>
                <a:cs typeface="Times New Roman" panose="02020603050405020304" pitchFamily="18" charset="0"/>
              </a:rPr>
              <a:t>Lớp</a:t>
            </a:r>
            <a:r>
              <a:rPr sz="3000" spc="-10">
                <a:solidFill>
                  <a:srgbClr val="FF0000"/>
                </a:solidFill>
                <a:latin typeface="Times New Roman" panose="02020603050405020304" pitchFamily="18" charset="0"/>
                <a:cs typeface="Times New Roman" panose="02020603050405020304" pitchFamily="18" charset="0"/>
              </a:rPr>
              <a:t> </a:t>
            </a:r>
            <a:r>
              <a:rPr sz="3000" spc="-5" dirty="0">
                <a:solidFill>
                  <a:srgbClr val="FF0000"/>
                </a:solidFill>
                <a:latin typeface="Times New Roman" panose="02020603050405020304" pitchFamily="18" charset="0"/>
                <a:cs typeface="Times New Roman" panose="02020603050405020304" pitchFamily="18" charset="0"/>
              </a:rPr>
              <a:t>(</a:t>
            </a:r>
            <a:r>
              <a:rPr sz="3000" spc="-5">
                <a:solidFill>
                  <a:srgbClr val="FF0000"/>
                </a:solidFill>
                <a:latin typeface="Times New Roman" panose="02020603050405020304" pitchFamily="18" charset="0"/>
                <a:cs typeface="Times New Roman" panose="02020603050405020304" pitchFamily="18" charset="0"/>
              </a:rPr>
              <a:t>Class)</a:t>
            </a:r>
            <a:endParaRPr lang="en-US" sz="3000" spc="-5">
              <a:solidFill>
                <a:srgbClr val="FF0000"/>
              </a:solidFill>
              <a:latin typeface="Times New Roman" panose="02020603050405020304" pitchFamily="18" charset="0"/>
              <a:cs typeface="Times New Roman" panose="02020603050405020304" pitchFamily="18" charset="0"/>
            </a:endParaRPr>
          </a:p>
          <a:p>
            <a:pPr lvl="1" indent="-457200">
              <a:spcBef>
                <a:spcPts val="605"/>
              </a:spcBef>
              <a:buSzPct val="100000"/>
              <a:buFont typeface="Wingdings" panose="05000000000000000000" pitchFamily="2" charset="2"/>
              <a:buChar char="§"/>
              <a:tabLst>
                <a:tab pos="653415" algn="l"/>
              </a:tabLst>
            </a:pPr>
            <a:r>
              <a:rPr lang="en-US" sz="3000" spc="-5">
                <a:solidFill>
                  <a:srgbClr val="FF0000"/>
                </a:solidFill>
                <a:latin typeface="Times New Roman" panose="02020603050405020304" pitchFamily="18" charset="0"/>
                <a:cs typeface="Times New Roman" panose="02020603050405020304" pitchFamily="18" charset="0"/>
              </a:rPr>
              <a:t>Mối quan hệ</a:t>
            </a:r>
          </a:p>
          <a:p>
            <a:pPr marL="1204913" lvl="3" indent="-457200">
              <a:spcBef>
                <a:spcPts val="605"/>
              </a:spcBef>
              <a:buSzPct val="100000"/>
              <a:buFont typeface="Arial" panose="020B0604020202020204" pitchFamily="34" charset="0"/>
              <a:buChar char="•"/>
              <a:tabLst>
                <a:tab pos="653415" algn="l"/>
              </a:tabLst>
            </a:pPr>
            <a:r>
              <a:rPr lang="en-US" sz="3000">
                <a:latin typeface="Times New Roman" panose="02020603050405020304" pitchFamily="18" charset="0"/>
                <a:cs typeface="Times New Roman" panose="02020603050405020304" pitchFamily="18" charset="0"/>
              </a:rPr>
              <a:t>Kết hợp (Association)</a:t>
            </a:r>
          </a:p>
          <a:p>
            <a:pPr marL="1204913" lvl="3" indent="-457200">
              <a:spcBef>
                <a:spcPts val="605"/>
              </a:spcBef>
              <a:buSzPct val="100000"/>
              <a:buFont typeface="Arial" panose="020B0604020202020204" pitchFamily="34" charset="0"/>
              <a:buChar char="•"/>
              <a:tabLst>
                <a:tab pos="653415" algn="l"/>
              </a:tabLst>
            </a:pPr>
            <a:r>
              <a:rPr lang="en-US" sz="3000">
                <a:latin typeface="Times New Roman" panose="02020603050405020304" pitchFamily="18" charset="0"/>
                <a:cs typeface="Times New Roman" panose="02020603050405020304" pitchFamily="18" charset="0"/>
              </a:rPr>
              <a:t>Lớp kết hợp (Association Class)</a:t>
            </a:r>
          </a:p>
          <a:p>
            <a:pPr marL="1204913" lvl="3" indent="-457200">
              <a:spcBef>
                <a:spcPts val="605"/>
              </a:spcBef>
              <a:buSzPct val="100000"/>
              <a:buFont typeface="Arial" panose="020B0604020202020204" pitchFamily="34" charset="0"/>
              <a:buChar char="•"/>
              <a:tabLst>
                <a:tab pos="653415" algn="l"/>
              </a:tabLst>
            </a:pPr>
            <a:r>
              <a:rPr lang="en-US" sz="3000">
                <a:latin typeface="Times New Roman" panose="02020603050405020304" pitchFamily="18" charset="0"/>
                <a:cs typeface="Times New Roman" panose="02020603050405020304" pitchFamily="18" charset="0"/>
              </a:rPr>
              <a:t>Tổng hợp/ thu nạp (Aggregation)</a:t>
            </a:r>
          </a:p>
          <a:p>
            <a:pPr marL="1204913" lvl="3" indent="-457200">
              <a:spcBef>
                <a:spcPts val="605"/>
              </a:spcBef>
              <a:buSzPct val="100000"/>
              <a:buFont typeface="Arial" panose="020B0604020202020204" pitchFamily="34" charset="0"/>
              <a:buChar char="•"/>
              <a:tabLst>
                <a:tab pos="653415" algn="l"/>
              </a:tabLst>
            </a:pPr>
            <a:r>
              <a:rPr lang="en-US" sz="3000">
                <a:latin typeface="Times New Roman" panose="02020603050405020304" pitchFamily="18" charset="0"/>
                <a:cs typeface="Times New Roman" panose="02020603050405020304" pitchFamily="18" charset="0"/>
              </a:rPr>
              <a:t>Thành phần (Composition)</a:t>
            </a:r>
          </a:p>
          <a:p>
            <a:pPr marL="1204913" lvl="3" indent="-457200">
              <a:spcBef>
                <a:spcPts val="605"/>
              </a:spcBef>
              <a:buSzPct val="100000"/>
              <a:buFont typeface="Arial" panose="020B0604020202020204" pitchFamily="34" charset="0"/>
              <a:buChar char="•"/>
              <a:tabLst>
                <a:tab pos="653415" algn="l"/>
              </a:tabLst>
            </a:pPr>
            <a:r>
              <a:rPr lang="en-US" sz="3000">
                <a:latin typeface="Times New Roman" panose="02020603050405020304" pitchFamily="18" charset="0"/>
                <a:cs typeface="Times New Roman" panose="02020603050405020304" pitchFamily="18" charset="0"/>
              </a:rPr>
              <a:t>Quan hệ tổng quát hóa/ kế thừa (Generalization)</a:t>
            </a: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986983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8</a:t>
            </a:r>
            <a:endParaRPr sz="1200">
              <a:latin typeface="Trebuchet MS"/>
              <a:cs typeface="Trebuchet MS"/>
            </a:endParaRPr>
          </a:p>
        </p:txBody>
      </p:sp>
      <p:sp>
        <p:nvSpPr>
          <p:cNvPr id="4" name="object 4"/>
          <p:cNvSpPr txBox="1"/>
          <p:nvPr/>
        </p:nvSpPr>
        <p:spPr>
          <a:xfrm>
            <a:off x="0" y="832011"/>
            <a:ext cx="12192000" cy="5875968"/>
          </a:xfrm>
          <a:prstGeom prst="rect">
            <a:avLst/>
          </a:prstGeom>
        </p:spPr>
        <p:txBody>
          <a:bodyPr vert="horz" wrap="square" lIns="0" tIns="88900" rIns="0" bIns="0" rtlCol="0">
            <a:spAutoFit/>
          </a:bodyPr>
          <a:lstStyle/>
          <a:p>
            <a:pPr marL="457200" marR="5080" indent="-457200" algn="just">
              <a:buFont typeface="Wingdings" panose="05000000000000000000" pitchFamily="2" charset="2"/>
              <a:buChar char="§"/>
            </a:pPr>
            <a:r>
              <a:rPr sz="2800" spc="-5">
                <a:solidFill>
                  <a:srgbClr val="FF0000"/>
                </a:solidFill>
                <a:latin typeface="Times New Roman" panose="02020603050405020304" pitchFamily="18" charset="0"/>
                <a:cs typeface="Times New Roman" panose="02020603050405020304" pitchFamily="18" charset="0"/>
              </a:rPr>
              <a:t>Lớp</a:t>
            </a:r>
            <a:r>
              <a:rPr lang="en-US" sz="2800" spc="-5">
                <a:solidFill>
                  <a:srgbClr val="FF0000"/>
                </a:solidFill>
                <a:latin typeface="Times New Roman" panose="02020603050405020304" pitchFamily="18" charset="0"/>
                <a:cs typeface="Times New Roman" panose="02020603050405020304" pitchFamily="18" charset="0"/>
              </a:rPr>
              <a:t> </a:t>
            </a:r>
            <a:r>
              <a:rPr sz="2800" spc="-5" dirty="0">
                <a:solidFill>
                  <a:srgbClr val="FF0000"/>
                </a:solidFill>
                <a:latin typeface="Times New Roman" panose="02020603050405020304" pitchFamily="18" charset="0"/>
                <a:cs typeface="Times New Roman" panose="02020603050405020304" pitchFamily="18" charset="0"/>
              </a:rPr>
              <a:t>(Class): </a:t>
            </a:r>
            <a:r>
              <a:rPr lang="en-US" sz="3000" dirty="0" err="1">
                <a:latin typeface="Times New Roman" panose="02020603050405020304" pitchFamily="18" charset="0"/>
                <a:cs typeface="Times New Roman" panose="02020603050405020304" pitchFamily="18" charset="0"/>
              </a:rPr>
              <a:t>mô</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tả</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về</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một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nhóm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đối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tượng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có</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cùng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thuộc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tính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tính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chất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phương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thức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thao</a:t>
            </a:r>
            <a:r>
              <a:rPr lang="en-US" sz="3000" dirty="0">
                <a:latin typeface="Times New Roman" panose="02020603050405020304" pitchFamily="18" charset="0"/>
                <a:cs typeface="Times New Roman" panose="02020603050405020304" pitchFamily="18" charset="0"/>
              </a:rPr>
              <a:t> </a:t>
            </a:r>
            <a:r>
              <a:rPr lang="en-US" sz="3000" err="1">
                <a:latin typeface="Times New Roman" panose="02020603050405020304" pitchFamily="18" charset="0"/>
                <a:cs typeface="Times New Roman" panose="02020603050405020304" pitchFamily="18" charset="0"/>
              </a:rPr>
              <a:t>tác</a:t>
            </a:r>
            <a:r>
              <a:rPr lang="en-US" sz="3000">
                <a:latin typeface="Times New Roman" panose="02020603050405020304" pitchFamily="18" charset="0"/>
                <a:cs typeface="Times New Roman" panose="02020603050405020304" pitchFamily="18" charset="0"/>
              </a:rPr>
              <a:t>/ hành </a:t>
            </a:r>
            <a:r>
              <a:rPr lang="en-US" sz="3000" dirty="0">
                <a:latin typeface="Times New Roman" panose="02020603050405020304" pitchFamily="18" charset="0"/>
                <a:cs typeface="Times New Roman" panose="02020603050405020304" pitchFamily="18" charset="0"/>
              </a:rPr>
              <a:t>vi) </a:t>
            </a:r>
            <a:r>
              <a:rPr lang="en-US" sz="3000" dirty="0" err="1">
                <a:latin typeface="Times New Roman" panose="02020603050405020304" pitchFamily="18" charset="0"/>
                <a:cs typeface="Times New Roman" panose="02020603050405020304" pitchFamily="18" charset="0"/>
              </a:rPr>
              <a:t>trong</a:t>
            </a:r>
            <a:r>
              <a:rPr lang="en-US" sz="3000" dirty="0">
                <a:latin typeface="Times New Roman" panose="02020603050405020304" pitchFamily="18" charset="0"/>
                <a:cs typeface="Times New Roman" panose="02020603050405020304" pitchFamily="18" charset="0"/>
              </a:rPr>
              <a:t> </a:t>
            </a:r>
            <a:r>
              <a:rPr lang="en-US" sz="3000" err="1">
                <a:latin typeface="Times New Roman" panose="02020603050405020304" pitchFamily="18" charset="0"/>
                <a:cs typeface="Times New Roman" panose="02020603050405020304" pitchFamily="18" charset="0"/>
              </a:rPr>
              <a:t>hệ</a:t>
            </a:r>
            <a:r>
              <a:rPr lang="en-US" sz="3000">
                <a:latin typeface="Times New Roman" panose="02020603050405020304" pitchFamily="18" charset="0"/>
                <a:cs typeface="Times New Roman" panose="02020603050405020304" pitchFamily="18" charset="0"/>
              </a:rPr>
              <a:t> thống</a:t>
            </a:r>
            <a:endParaRPr lang="en-US" sz="3000" dirty="0">
              <a:latin typeface="Times New Roman" panose="02020603050405020304" pitchFamily="18" charset="0"/>
              <a:cs typeface="Times New Roman" panose="02020603050405020304" pitchFamily="18" charset="0"/>
            </a:endParaRPr>
          </a:p>
          <a:p>
            <a:pPr marR="5080" algn="just">
              <a:spcBef>
                <a:spcPts val="605"/>
              </a:spcBef>
            </a:pPr>
            <a:endParaRPr lang="en-US" sz="3000" dirty="0">
              <a:latin typeface="Times New Roman" panose="02020603050405020304" pitchFamily="18" charset="0"/>
              <a:cs typeface="Times New Roman" panose="02020603050405020304" pitchFamily="18" charset="0"/>
            </a:endParaRPr>
          </a:p>
          <a:p>
            <a:pPr marR="5080" algn="just">
              <a:spcBef>
                <a:spcPts val="605"/>
              </a:spcBef>
            </a:pPr>
            <a:endParaRPr lang="en-US" sz="3000" dirty="0">
              <a:latin typeface="Times New Roman" panose="02020603050405020304" pitchFamily="18" charset="0"/>
              <a:cs typeface="Times New Roman" panose="02020603050405020304" pitchFamily="18" charset="0"/>
            </a:endParaRPr>
          </a:p>
          <a:p>
            <a:pPr marR="5080" algn="just">
              <a:spcBef>
                <a:spcPts val="605"/>
              </a:spcBef>
            </a:pPr>
            <a:endParaRPr lang="en-US" sz="2800" spc="-5" dirty="0">
              <a:latin typeface="Times New Roman" panose="02020603050405020304" pitchFamily="18" charset="0"/>
              <a:cs typeface="Times New Roman" panose="02020603050405020304" pitchFamily="18" charset="0"/>
            </a:endParaRPr>
          </a:p>
          <a:p>
            <a:pPr marL="290513" marR="5080" indent="-290513" algn="just">
              <a:spcBef>
                <a:spcPts val="605"/>
              </a:spcBef>
              <a:buFont typeface="Wingdings" panose="05000000000000000000" pitchFamily="2" charset="2"/>
              <a:buChar char="v"/>
            </a:pPr>
            <a:endParaRPr lang="en-US" sz="2800" spc="-5" dirty="0">
              <a:latin typeface="Times New Roman" panose="02020603050405020304" pitchFamily="18" charset="0"/>
              <a:cs typeface="Times New Roman" panose="02020603050405020304" pitchFamily="18" charset="0"/>
            </a:endParaRPr>
          </a:p>
          <a:p>
            <a:pPr marL="457200" marR="5080" indent="-457200" algn="just">
              <a:buFont typeface="Wingdings" panose="05000000000000000000" pitchFamily="2" charset="2"/>
              <a:buChar char="§"/>
            </a:pPr>
            <a:r>
              <a:rPr lang="en-US" sz="2800" b="1" spc="-5" dirty="0">
                <a:solidFill>
                  <a:srgbClr val="0070C0"/>
                </a:solidFill>
                <a:latin typeface="Times New Roman" panose="02020603050405020304" pitchFamily="18" charset="0"/>
                <a:cs typeface="Times New Roman" panose="02020603050405020304" pitchFamily="18" charset="0"/>
              </a:rPr>
              <a:t>Class Name: </a:t>
            </a:r>
            <a:r>
              <a:rPr lang="en-US" sz="3000" dirty="0" err="1">
                <a:latin typeface="Times New Roman" panose="02020603050405020304" pitchFamily="18" charset="0"/>
                <a:cs typeface="Times New Roman" panose="02020603050405020304" pitchFamily="18" charset="0"/>
              </a:rPr>
              <a:t>là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tên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của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lớp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trong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hệ</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thống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có</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tên</a:t>
            </a:r>
            <a:r>
              <a:rPr lang="en-US" sz="3000" dirty="0">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duy</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nhất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sử</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dụng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danh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từ</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để</a:t>
            </a:r>
            <a:r>
              <a:rPr lang="en-US" sz="3000" dirty="0">
                <a:latin typeface="Times New Roman" panose="02020603050405020304" pitchFamily="18" charset="0"/>
                <a:cs typeface="Times New Roman" panose="02020603050405020304" pitchFamily="18" charset="0"/>
              </a:rPr>
              <a:t> </a:t>
            </a:r>
            <a:r>
              <a:rPr lang="en-US" sz="3000" err="1">
                <a:latin typeface="Times New Roman" panose="02020603050405020304" pitchFamily="18" charset="0"/>
                <a:cs typeface="Times New Roman" panose="02020603050405020304" pitchFamily="18" charset="0"/>
              </a:rPr>
              <a:t>biểu</a:t>
            </a:r>
            <a:r>
              <a:rPr lang="en-US" sz="3000">
                <a:latin typeface="Times New Roman" panose="02020603050405020304" pitchFamily="18" charset="0"/>
                <a:cs typeface="Times New Roman" panose="02020603050405020304" pitchFamily="18" charset="0"/>
              </a:rPr>
              <a:t> diễn</a:t>
            </a:r>
            <a:endParaRPr lang="en-US" sz="3000" dirty="0">
              <a:latin typeface="Times New Roman" panose="02020603050405020304" pitchFamily="18" charset="0"/>
              <a:cs typeface="Times New Roman" panose="02020603050405020304" pitchFamily="18" charset="0"/>
            </a:endParaRPr>
          </a:p>
          <a:p>
            <a:pPr marL="457200" marR="5080" indent="-457200" algn="just">
              <a:buFont typeface="Wingdings" panose="05000000000000000000" pitchFamily="2" charset="2"/>
              <a:buChar char="§"/>
            </a:pPr>
            <a:r>
              <a:rPr lang="vi-VN" sz="2800" b="1" spc="-10" dirty="0">
                <a:solidFill>
                  <a:srgbClr val="0070C0"/>
                </a:solidFill>
                <a:latin typeface="Times New Roman" panose="02020603050405020304" pitchFamily="18" charset="0"/>
                <a:cs typeface="Times New Roman" panose="02020603050405020304" pitchFamily="18" charset="0"/>
              </a:rPr>
              <a:t>Attributes (thuộc tính): </a:t>
            </a:r>
            <a:r>
              <a:rPr lang="vi-VN" sz="3000" dirty="0">
                <a:latin typeface="Times New Roman" panose="02020603050405020304" pitchFamily="18" charset="0"/>
                <a:cs typeface="Times New Roman" panose="02020603050405020304" pitchFamily="18" charset="0"/>
              </a:rPr>
              <a:t>mô tả tính chất của các </a:t>
            </a:r>
            <a:r>
              <a:rPr lang="vi-VN" sz="3000">
                <a:latin typeface="Times New Roman" panose="02020603050405020304" pitchFamily="18" charset="0"/>
                <a:cs typeface="Times New Roman" panose="02020603050405020304" pitchFamily="18" charset="0"/>
              </a:rPr>
              <a:t>đối tượng</a:t>
            </a:r>
            <a:endParaRPr lang="en-US" sz="3000">
              <a:latin typeface="Times New Roman" panose="02020603050405020304" pitchFamily="18" charset="0"/>
              <a:cs typeface="Times New Roman" panose="02020603050405020304" pitchFamily="18" charset="0"/>
            </a:endParaRPr>
          </a:p>
          <a:p>
            <a:pPr marL="457200" marR="5080" indent="-457200" algn="just">
              <a:buFont typeface="Wingdings" panose="05000000000000000000" pitchFamily="2" charset="2"/>
              <a:buChar char="§"/>
            </a:pPr>
            <a:r>
              <a:rPr lang="vi-VN" sz="2800" b="1" spc="-10">
                <a:solidFill>
                  <a:srgbClr val="0070C0"/>
                </a:solidFill>
                <a:latin typeface="Times New Roman" panose="02020603050405020304" pitchFamily="18" charset="0"/>
                <a:cs typeface="Times New Roman" panose="02020603050405020304" pitchFamily="18" charset="0"/>
              </a:rPr>
              <a:t>Operations (thao</a:t>
            </a:r>
            <a:r>
              <a:rPr lang="en-US" sz="2800" b="1" spc="-10">
                <a:solidFill>
                  <a:srgbClr val="0070C0"/>
                </a:solidFill>
                <a:latin typeface="Times New Roman" panose="02020603050405020304" pitchFamily="18" charset="0"/>
                <a:cs typeface="Times New Roman" panose="02020603050405020304" pitchFamily="18" charset="0"/>
              </a:rPr>
              <a:t> tác/ hành vi</a:t>
            </a:r>
            <a:r>
              <a:rPr lang="vi-VN" sz="2800" b="1" spc="-10">
                <a:solidFill>
                  <a:srgbClr val="0070C0"/>
                </a:solidFill>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chỉ các hành động</a:t>
            </a:r>
            <a:r>
              <a:rPr lang="en-US" sz="3000" dirty="0">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mà đối tượng này có thể thực hiện trong hệ thống. Nó thể hiện</a:t>
            </a:r>
            <a:r>
              <a:rPr lang="en-US" sz="3000" dirty="0">
                <a:latin typeface="Times New Roman" panose="02020603050405020304" pitchFamily="18" charset="0"/>
                <a:cs typeface="Times New Roman" panose="02020603050405020304" pitchFamily="18" charset="0"/>
              </a:rPr>
              <a:t> </a:t>
            </a:r>
            <a:r>
              <a:rPr lang="vi-VN" sz="3000" dirty="0">
                <a:latin typeface="Times New Roman" panose="02020603050405020304" pitchFamily="18" charset="0"/>
                <a:cs typeface="Times New Roman" panose="02020603050405020304" pitchFamily="18" charset="0"/>
              </a:rPr>
              <a:t>hành vi của các đối tượng </a:t>
            </a:r>
            <a:r>
              <a:rPr lang="vi-VN" sz="3000">
                <a:latin typeface="Times New Roman" panose="02020603050405020304" pitchFamily="18" charset="0"/>
                <a:cs typeface="Times New Roman" panose="02020603050405020304" pitchFamily="18" charset="0"/>
              </a:rPr>
              <a:t>do lớp</a:t>
            </a:r>
            <a:r>
              <a:rPr lang="en-US" sz="3000">
                <a:latin typeface="Times New Roman" panose="02020603050405020304" pitchFamily="18" charset="0"/>
                <a:cs typeface="Times New Roman" panose="02020603050405020304" pitchFamily="18" charset="0"/>
              </a:rPr>
              <a:t> </a:t>
            </a:r>
            <a:r>
              <a:rPr lang="vi-VN" sz="3000">
                <a:latin typeface="Times New Roman" panose="02020603050405020304" pitchFamily="18" charset="0"/>
                <a:cs typeface="Times New Roman" panose="02020603050405020304" pitchFamily="18" charset="0"/>
              </a:rPr>
              <a:t>tạo ra</a:t>
            </a:r>
            <a:endParaRPr lang="en-US" sz="3000" dirty="0">
              <a:latin typeface="Times New Roman" panose="02020603050405020304" pitchFamily="18" charset="0"/>
              <a:cs typeface="Times New Roman" panose="02020603050405020304" pitchFamily="18" charset="0"/>
            </a:endParaRPr>
          </a:p>
        </p:txBody>
      </p:sp>
      <p:graphicFrame>
        <p:nvGraphicFramePr>
          <p:cNvPr id="8" name="object 8"/>
          <p:cNvGraphicFramePr>
            <a:graphicFrameLocks noGrp="1"/>
          </p:cNvGraphicFramePr>
          <p:nvPr>
            <p:extLst>
              <p:ext uri="{D42A27DB-BD31-4B8C-83A1-F6EECF244321}">
                <p14:modId xmlns:p14="http://schemas.microsoft.com/office/powerpoint/2010/main" val="638918248"/>
              </p:ext>
            </p:extLst>
          </p:nvPr>
        </p:nvGraphicFramePr>
        <p:xfrm>
          <a:off x="2895600" y="1981200"/>
          <a:ext cx="4707536" cy="1788795"/>
        </p:xfrm>
        <a:graphic>
          <a:graphicData uri="http://schemas.openxmlformats.org/drawingml/2006/table">
            <a:tbl>
              <a:tblPr firstRow="1" bandRow="1">
                <a:tableStyleId>{2D5ABB26-0587-4C30-8999-92F81FD0307C}</a:tableStyleId>
              </a:tblPr>
              <a:tblGrid>
                <a:gridCol w="4707536">
                  <a:extLst>
                    <a:ext uri="{9D8B030D-6E8A-4147-A177-3AD203B41FA5}">
                      <a16:colId xmlns:a16="http://schemas.microsoft.com/office/drawing/2014/main" val="20000"/>
                    </a:ext>
                  </a:extLst>
                </a:gridCol>
              </a:tblGrid>
              <a:tr h="228600">
                <a:tc>
                  <a:txBody>
                    <a:bodyPr/>
                    <a:lstStyle/>
                    <a:p>
                      <a:pPr marL="474345">
                        <a:lnSpc>
                          <a:spcPct val="100000"/>
                        </a:lnSpc>
                        <a:spcBef>
                          <a:spcPts val="785"/>
                        </a:spcBef>
                      </a:pPr>
                      <a:r>
                        <a:rPr lang="en-US" sz="3000">
                          <a:latin typeface="Times New Roman" panose="02020603050405020304" pitchFamily="18" charset="0"/>
                          <a:cs typeface="Times New Roman" panose="02020603050405020304" pitchFamily="18" charset="0"/>
                        </a:rPr>
                        <a:t>Class</a:t>
                      </a:r>
                      <a:r>
                        <a:rPr lang="en-US" sz="3000" baseline="0">
                          <a:latin typeface="Times New Roman" panose="02020603050405020304" pitchFamily="18" charset="0"/>
                          <a:cs typeface="Times New Roman" panose="02020603050405020304" pitchFamily="18" charset="0"/>
                        </a:rPr>
                        <a:t> Name (tên lớp)</a:t>
                      </a:r>
                      <a:endParaRPr sz="3000">
                        <a:latin typeface="Times New Roman" panose="02020603050405020304" pitchFamily="18" charset="0"/>
                        <a:cs typeface="Times New Roman" panose="02020603050405020304" pitchFamily="18" charset="0"/>
                      </a:endParaRPr>
                    </a:p>
                  </a:txBody>
                  <a:tcPr marL="0" marR="0" marT="9969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BDDC3"/>
                    </a:solidFill>
                  </a:tcPr>
                </a:tc>
                <a:extLst>
                  <a:ext uri="{0D108BD9-81ED-4DB2-BD59-A6C34878D82A}">
                    <a16:rowId xmlns:a16="http://schemas.microsoft.com/office/drawing/2014/main" val="10000"/>
                  </a:ext>
                </a:extLst>
              </a:tr>
              <a:tr h="618893">
                <a:tc>
                  <a:txBody>
                    <a:bodyPr/>
                    <a:lstStyle/>
                    <a:p>
                      <a:pPr marL="474345" algn="l" defTabSz="914400" rtl="0" eaLnBrk="1" latinLnBrk="0" hangingPunct="1">
                        <a:lnSpc>
                          <a:spcPct val="100000"/>
                        </a:lnSpc>
                        <a:spcBef>
                          <a:spcPts val="785"/>
                        </a:spcBef>
                      </a:pPr>
                      <a:r>
                        <a:rPr lang="en-US" sz="3000" kern="1200">
                          <a:solidFill>
                            <a:schemeClr val="tx1"/>
                          </a:solidFill>
                          <a:latin typeface="Times New Roman" panose="02020603050405020304" pitchFamily="18" charset="0"/>
                          <a:ea typeface="+mn-ea"/>
                          <a:cs typeface="Times New Roman" panose="02020603050405020304" pitchFamily="18" charset="0"/>
                        </a:rPr>
                        <a:t>Attributes (t</a:t>
                      </a:r>
                      <a:r>
                        <a:rPr sz="3000" kern="1200">
                          <a:solidFill>
                            <a:schemeClr val="tx1"/>
                          </a:solidFill>
                          <a:latin typeface="Times New Roman" panose="02020603050405020304" pitchFamily="18" charset="0"/>
                          <a:ea typeface="+mn-ea"/>
                          <a:cs typeface="Times New Roman" panose="02020603050405020304" pitchFamily="18" charset="0"/>
                        </a:rPr>
                        <a:t>huộc tính</a:t>
                      </a:r>
                      <a:r>
                        <a:rPr lang="en-US" sz="3000" kern="1200">
                          <a:solidFill>
                            <a:schemeClr val="tx1"/>
                          </a:solidFill>
                          <a:latin typeface="Times New Roman" panose="02020603050405020304" pitchFamily="18" charset="0"/>
                          <a:ea typeface="+mn-ea"/>
                          <a:cs typeface="Times New Roman" panose="02020603050405020304" pitchFamily="18" charset="0"/>
                        </a:rPr>
                        <a:t>)</a:t>
                      </a:r>
                      <a:endParaRPr sz="3000" kern="1200">
                        <a:solidFill>
                          <a:schemeClr val="tx1"/>
                        </a:solidFill>
                        <a:latin typeface="Times New Roman" panose="02020603050405020304" pitchFamily="18" charset="0"/>
                        <a:ea typeface="+mn-ea"/>
                        <a:cs typeface="Times New Roman" panose="02020603050405020304" pitchFamily="18" charset="0"/>
                      </a:endParaRPr>
                    </a:p>
                  </a:txBody>
                  <a:tcPr marL="0" marR="0" marT="18923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BDDC3"/>
                    </a:solidFill>
                  </a:tcPr>
                </a:tc>
                <a:extLst>
                  <a:ext uri="{0D108BD9-81ED-4DB2-BD59-A6C34878D82A}">
                    <a16:rowId xmlns:a16="http://schemas.microsoft.com/office/drawing/2014/main" val="10001"/>
                  </a:ext>
                </a:extLst>
              </a:tr>
              <a:tr h="560530">
                <a:tc>
                  <a:txBody>
                    <a:bodyPr/>
                    <a:lstStyle/>
                    <a:p>
                      <a:pPr marL="474345" algn="l" defTabSz="914400" rtl="0" eaLnBrk="1" latinLnBrk="0" hangingPunct="1">
                        <a:lnSpc>
                          <a:spcPct val="100000"/>
                        </a:lnSpc>
                        <a:spcBef>
                          <a:spcPts val="785"/>
                        </a:spcBef>
                      </a:pPr>
                      <a:r>
                        <a:rPr lang="en-US" sz="3000" kern="1200">
                          <a:solidFill>
                            <a:schemeClr val="tx1"/>
                          </a:solidFill>
                          <a:latin typeface="Times New Roman" panose="02020603050405020304" pitchFamily="18" charset="0"/>
                          <a:ea typeface="+mn-ea"/>
                          <a:cs typeface="Times New Roman" panose="02020603050405020304" pitchFamily="18" charset="0"/>
                        </a:rPr>
                        <a:t>Operations (phương thức)</a:t>
                      </a:r>
                      <a:endParaRPr sz="3000" kern="1200">
                        <a:solidFill>
                          <a:schemeClr val="tx1"/>
                        </a:solidFill>
                        <a:latin typeface="Times New Roman" panose="02020603050405020304" pitchFamily="18" charset="0"/>
                        <a:ea typeface="+mn-ea"/>
                        <a:cs typeface="Times New Roman" panose="02020603050405020304" pitchFamily="18" charset="0"/>
                      </a:endParaRPr>
                    </a:p>
                  </a:txBody>
                  <a:tcPr marL="0" marR="0" marT="12827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15"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err="1">
                <a:latin typeface="Times New Roman" panose="02020603050405020304" pitchFamily="18" charset="0"/>
                <a:cs typeface="Times New Roman" panose="02020603050405020304" pitchFamily="18" charset="0"/>
              </a:rPr>
              <a:t>Lớp</a:t>
            </a:r>
            <a:endParaRPr dirty="0">
              <a:latin typeface="Times New Roman" panose="02020603050405020304" pitchFamily="18" charset="0"/>
              <a:cs typeface="Times New Roman" panose="02020603050405020304" pitchFamily="18" charset="0"/>
            </a:endParaRPr>
          </a:p>
        </p:txBody>
      </p:sp>
      <p:sp>
        <p:nvSpPr>
          <p:cNvPr id="7"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024921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p:cNvSpPr/>
          <p:nvPr/>
        </p:nvSpPr>
        <p:spPr>
          <a:xfrm>
            <a:off x="2088389" y="2362962"/>
            <a:ext cx="2209800" cy="609600"/>
          </a:xfrm>
          <a:custGeom>
            <a:avLst/>
            <a:gdLst/>
            <a:ahLst/>
            <a:cxnLst/>
            <a:rect l="l" t="t" r="r" b="b"/>
            <a:pathLst>
              <a:path w="2209800" h="609600">
                <a:moveTo>
                  <a:pt x="0" y="609600"/>
                </a:moveTo>
                <a:lnTo>
                  <a:pt x="2209800" y="609600"/>
                </a:lnTo>
                <a:lnTo>
                  <a:pt x="2209800" y="0"/>
                </a:lnTo>
                <a:lnTo>
                  <a:pt x="0" y="0"/>
                </a:lnTo>
                <a:lnTo>
                  <a:pt x="0" y="609600"/>
                </a:lnTo>
                <a:close/>
              </a:path>
            </a:pathLst>
          </a:custGeom>
          <a:ln w="28956">
            <a:solidFill>
              <a:srgbClr val="000000"/>
            </a:solidFill>
          </a:ln>
        </p:spPr>
        <p:txBody>
          <a:bodyPr wrap="square" lIns="0" tIns="0" rIns="0" bIns="0" rtlCol="0"/>
          <a:lstStyle/>
          <a:p>
            <a:endParaRPr>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object 4"/>
          <p:cNvSpPr/>
          <p:nvPr/>
        </p:nvSpPr>
        <p:spPr>
          <a:xfrm>
            <a:off x="2088389" y="3582162"/>
            <a:ext cx="2209800" cy="609600"/>
          </a:xfrm>
          <a:custGeom>
            <a:avLst/>
            <a:gdLst/>
            <a:ahLst/>
            <a:cxnLst/>
            <a:rect l="l" t="t" r="r" b="b"/>
            <a:pathLst>
              <a:path w="2209800" h="609600">
                <a:moveTo>
                  <a:pt x="0" y="609599"/>
                </a:moveTo>
                <a:lnTo>
                  <a:pt x="2209800" y="609599"/>
                </a:lnTo>
                <a:lnTo>
                  <a:pt x="2209800" y="0"/>
                </a:lnTo>
                <a:lnTo>
                  <a:pt x="0" y="0"/>
                </a:lnTo>
                <a:lnTo>
                  <a:pt x="0" y="609599"/>
                </a:lnTo>
                <a:close/>
              </a:path>
            </a:pathLst>
          </a:custGeom>
          <a:ln w="28956">
            <a:solidFill>
              <a:srgbClr val="000000"/>
            </a:solidFill>
          </a:ln>
        </p:spPr>
        <p:txBody>
          <a:bodyPr wrap="square" lIns="0" tIns="0" rIns="0" bIns="0" rtlCol="0"/>
          <a:lstStyle/>
          <a:p>
            <a:endParaRPr>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object 5"/>
          <p:cNvSpPr/>
          <p:nvPr/>
        </p:nvSpPr>
        <p:spPr>
          <a:xfrm>
            <a:off x="2088389" y="2972562"/>
            <a:ext cx="2209800" cy="609600"/>
          </a:xfrm>
          <a:custGeom>
            <a:avLst/>
            <a:gdLst/>
            <a:ahLst/>
            <a:cxnLst/>
            <a:rect l="l" t="t" r="r" b="b"/>
            <a:pathLst>
              <a:path w="2209800" h="609600">
                <a:moveTo>
                  <a:pt x="0" y="609599"/>
                </a:moveTo>
                <a:lnTo>
                  <a:pt x="2209800" y="609599"/>
                </a:lnTo>
                <a:lnTo>
                  <a:pt x="2209800" y="0"/>
                </a:lnTo>
                <a:lnTo>
                  <a:pt x="0" y="0"/>
                </a:lnTo>
                <a:lnTo>
                  <a:pt x="0" y="609599"/>
                </a:lnTo>
                <a:close/>
              </a:path>
            </a:pathLst>
          </a:custGeom>
          <a:ln w="28956">
            <a:solidFill>
              <a:srgbClr val="000000"/>
            </a:solidFill>
          </a:ln>
        </p:spPr>
        <p:txBody>
          <a:bodyPr wrap="square" lIns="0" tIns="0" rIns="0" bIns="0" rtlCol="0"/>
          <a:lstStyle/>
          <a:p>
            <a:endParaRPr>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object 6"/>
          <p:cNvSpPr txBox="1"/>
          <p:nvPr/>
        </p:nvSpPr>
        <p:spPr>
          <a:xfrm>
            <a:off x="2166977" y="2475030"/>
            <a:ext cx="1978025" cy="1674305"/>
          </a:xfrm>
          <a:prstGeom prst="rect">
            <a:avLst/>
          </a:prstGeom>
        </p:spPr>
        <p:txBody>
          <a:bodyPr vert="horz" wrap="square" lIns="0" tIns="0" rIns="0" bIns="0" rtlCol="0">
            <a:spAutoFit/>
          </a:bodyPr>
          <a:lstStyle/>
          <a:p>
            <a:pPr marL="12700" algn="ctr"/>
            <a:r>
              <a:rPr sz="2000" b="1" spc="1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T</a:t>
            </a:r>
            <a:r>
              <a:rPr sz="2000" b="1" spc="-1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ê</a:t>
            </a:r>
            <a:r>
              <a:rPr sz="2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n</a:t>
            </a:r>
            <a:r>
              <a:rPr sz="2000" b="1" spc="-15"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cl</a:t>
            </a:r>
            <a:r>
              <a:rPr sz="2000" b="1" spc="-15"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a</a:t>
            </a:r>
            <a:r>
              <a:rPr sz="2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ss</a:t>
            </a:r>
          </a:p>
          <a:p>
            <a:pPr marL="12700" marR="5080" algn="ctr">
              <a:lnSpc>
                <a:spcPct val="222200"/>
              </a:lnSpc>
            </a:pPr>
            <a:r>
              <a:rPr sz="200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(C</a:t>
            </a:r>
            <a:r>
              <a:rPr sz="2000" spc="-1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á</a:t>
            </a:r>
            <a:r>
              <a:rPr sz="200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c) </a:t>
            </a:r>
            <a:r>
              <a:rPr sz="2000" spc="5"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t</a:t>
            </a:r>
            <a:r>
              <a:rPr sz="200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h</a:t>
            </a:r>
            <a:r>
              <a:rPr sz="2000" spc="-1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u</a:t>
            </a:r>
            <a:r>
              <a:rPr sz="200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ộc</a:t>
            </a:r>
            <a:r>
              <a:rPr sz="2000" spc="5"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 </a:t>
            </a:r>
            <a:r>
              <a:rPr sz="200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t</a:t>
            </a:r>
            <a:r>
              <a:rPr sz="2000" spc="5"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í</a:t>
            </a:r>
            <a:r>
              <a:rPr sz="2000"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nh </a:t>
            </a:r>
            <a:r>
              <a:rPr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(C</a:t>
            </a:r>
            <a:r>
              <a:rPr sz="2000" spc="-1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á</a:t>
            </a:r>
            <a:r>
              <a:rPr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c) p</a:t>
            </a:r>
            <a:r>
              <a:rPr sz="2000" spc="-1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h</a:t>
            </a:r>
            <a:r>
              <a:rPr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ư</a:t>
            </a:r>
            <a:r>
              <a:rPr sz="2000" spc="-1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ơ</a:t>
            </a:r>
            <a:r>
              <a:rPr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ng</a:t>
            </a:r>
            <a:r>
              <a:rPr sz="2000" spc="5"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 </a:t>
            </a:r>
            <a:r>
              <a:rPr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th</a:t>
            </a:r>
            <a:r>
              <a:rPr sz="2000" spc="-1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ứ</a:t>
            </a:r>
            <a:r>
              <a:rPr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c</a:t>
            </a:r>
          </a:p>
        </p:txBody>
      </p:sp>
      <p:sp>
        <p:nvSpPr>
          <p:cNvPr id="13" name="object 8"/>
          <p:cNvSpPr/>
          <p:nvPr/>
        </p:nvSpPr>
        <p:spPr>
          <a:xfrm>
            <a:off x="4114800" y="1328061"/>
            <a:ext cx="6781800" cy="1348465"/>
          </a:xfrm>
          <a:custGeom>
            <a:avLst/>
            <a:gdLst/>
            <a:ahLst/>
            <a:cxnLst/>
            <a:rect l="l" t="t" r="r" b="b"/>
            <a:pathLst>
              <a:path w="5897880" h="1076325">
                <a:moveTo>
                  <a:pt x="1097026" y="177800"/>
                </a:moveTo>
                <a:lnTo>
                  <a:pt x="1102298" y="134664"/>
                </a:lnTo>
                <a:lnTo>
                  <a:pt x="1117264" y="95357"/>
                </a:lnTo>
                <a:lnTo>
                  <a:pt x="1140650" y="61155"/>
                </a:lnTo>
                <a:lnTo>
                  <a:pt x="1171179" y="33332"/>
                </a:lnTo>
                <a:lnTo>
                  <a:pt x="1207578" y="13164"/>
                </a:lnTo>
                <a:lnTo>
                  <a:pt x="1248570" y="1926"/>
                </a:lnTo>
                <a:lnTo>
                  <a:pt x="1897126" y="0"/>
                </a:lnTo>
                <a:lnTo>
                  <a:pt x="3097276" y="0"/>
                </a:lnTo>
                <a:lnTo>
                  <a:pt x="5719826" y="0"/>
                </a:lnTo>
                <a:lnTo>
                  <a:pt x="5734551" y="601"/>
                </a:lnTo>
                <a:lnTo>
                  <a:pt x="5776552" y="9246"/>
                </a:lnTo>
                <a:lnTo>
                  <a:pt x="5814299" y="27161"/>
                </a:lnTo>
                <a:lnTo>
                  <a:pt x="5846516" y="53069"/>
                </a:lnTo>
                <a:lnTo>
                  <a:pt x="5871929" y="85697"/>
                </a:lnTo>
                <a:lnTo>
                  <a:pt x="5889262" y="123768"/>
                </a:lnTo>
                <a:lnTo>
                  <a:pt x="5897240" y="166009"/>
                </a:lnTo>
                <a:lnTo>
                  <a:pt x="5897626" y="622300"/>
                </a:lnTo>
                <a:lnTo>
                  <a:pt x="5897626" y="889000"/>
                </a:lnTo>
                <a:lnTo>
                  <a:pt x="5897024" y="903725"/>
                </a:lnTo>
                <a:lnTo>
                  <a:pt x="5895251" y="918119"/>
                </a:lnTo>
                <a:lnTo>
                  <a:pt x="5883374" y="958844"/>
                </a:lnTo>
                <a:lnTo>
                  <a:pt x="5862653" y="994889"/>
                </a:lnTo>
                <a:lnTo>
                  <a:pt x="5834363" y="1024980"/>
                </a:lnTo>
                <a:lnTo>
                  <a:pt x="5799780" y="1047841"/>
                </a:lnTo>
                <a:lnTo>
                  <a:pt x="5760177" y="1062198"/>
                </a:lnTo>
                <a:lnTo>
                  <a:pt x="3097276" y="1066800"/>
                </a:lnTo>
                <a:lnTo>
                  <a:pt x="1897126" y="1066800"/>
                </a:lnTo>
                <a:lnTo>
                  <a:pt x="1274826" y="1066800"/>
                </a:lnTo>
                <a:lnTo>
                  <a:pt x="1260100" y="1066198"/>
                </a:lnTo>
                <a:lnTo>
                  <a:pt x="1218099" y="1057553"/>
                </a:lnTo>
                <a:lnTo>
                  <a:pt x="1180352" y="1039638"/>
                </a:lnTo>
                <a:lnTo>
                  <a:pt x="1148135" y="1013730"/>
                </a:lnTo>
                <a:lnTo>
                  <a:pt x="1122722" y="981102"/>
                </a:lnTo>
                <a:lnTo>
                  <a:pt x="1105389" y="943031"/>
                </a:lnTo>
                <a:lnTo>
                  <a:pt x="1097411" y="900790"/>
                </a:lnTo>
                <a:lnTo>
                  <a:pt x="1097026" y="889000"/>
                </a:lnTo>
                <a:lnTo>
                  <a:pt x="0" y="1076325"/>
                </a:lnTo>
                <a:lnTo>
                  <a:pt x="1097026" y="622300"/>
                </a:lnTo>
                <a:lnTo>
                  <a:pt x="1097026" y="177800"/>
                </a:lnTo>
                <a:close/>
              </a:path>
            </a:pathLst>
          </a:custGeom>
          <a:ln w="9144">
            <a:solidFill>
              <a:srgbClr val="000000"/>
            </a:solidFill>
          </a:ln>
        </p:spPr>
        <p:txBody>
          <a:bodyPr wrap="square" lIns="0" tIns="0" rIns="0" bIns="0" rtlCol="0"/>
          <a:lstStyle/>
          <a:p>
            <a:endParaRPr>
              <a:latin typeface="Times New Roman" panose="02020603050405020304" pitchFamily="18" charset="0"/>
              <a:ea typeface="Tahoma" panose="020B0604030504040204" pitchFamily="34" charset="0"/>
              <a:cs typeface="Times New Roman" panose="02020603050405020304" pitchFamily="18" charset="0"/>
            </a:endParaRPr>
          </a:p>
        </p:txBody>
      </p:sp>
      <p:sp>
        <p:nvSpPr>
          <p:cNvPr id="15" name="object 10"/>
          <p:cNvSpPr/>
          <p:nvPr/>
        </p:nvSpPr>
        <p:spPr>
          <a:xfrm>
            <a:off x="4056886" y="2896362"/>
            <a:ext cx="6211823" cy="1066800"/>
          </a:xfrm>
          <a:custGeom>
            <a:avLst/>
            <a:gdLst/>
            <a:ahLst/>
            <a:cxnLst/>
            <a:rect l="l" t="t" r="r" b="b"/>
            <a:pathLst>
              <a:path w="6013450" h="1066800">
                <a:moveTo>
                  <a:pt x="1212850" y="177800"/>
                </a:moveTo>
                <a:lnTo>
                  <a:pt x="1218122" y="134664"/>
                </a:lnTo>
                <a:lnTo>
                  <a:pt x="1233088" y="95357"/>
                </a:lnTo>
                <a:lnTo>
                  <a:pt x="1256474" y="61155"/>
                </a:lnTo>
                <a:lnTo>
                  <a:pt x="1287003" y="33332"/>
                </a:lnTo>
                <a:lnTo>
                  <a:pt x="1323402" y="13164"/>
                </a:lnTo>
                <a:lnTo>
                  <a:pt x="1364394" y="1926"/>
                </a:lnTo>
                <a:lnTo>
                  <a:pt x="2012950" y="0"/>
                </a:lnTo>
                <a:lnTo>
                  <a:pt x="3213100" y="0"/>
                </a:lnTo>
                <a:lnTo>
                  <a:pt x="5835650" y="0"/>
                </a:lnTo>
                <a:lnTo>
                  <a:pt x="5850375" y="601"/>
                </a:lnTo>
                <a:lnTo>
                  <a:pt x="5892376" y="9246"/>
                </a:lnTo>
                <a:lnTo>
                  <a:pt x="5930123" y="27161"/>
                </a:lnTo>
                <a:lnTo>
                  <a:pt x="5962340" y="53069"/>
                </a:lnTo>
                <a:lnTo>
                  <a:pt x="5987753" y="85697"/>
                </a:lnTo>
                <a:lnTo>
                  <a:pt x="6005086" y="123768"/>
                </a:lnTo>
                <a:lnTo>
                  <a:pt x="6013064" y="166009"/>
                </a:lnTo>
                <a:lnTo>
                  <a:pt x="6013450" y="177800"/>
                </a:lnTo>
                <a:lnTo>
                  <a:pt x="6013450" y="444500"/>
                </a:lnTo>
                <a:lnTo>
                  <a:pt x="6013450" y="889000"/>
                </a:lnTo>
                <a:lnTo>
                  <a:pt x="6012848" y="903725"/>
                </a:lnTo>
                <a:lnTo>
                  <a:pt x="6004203" y="945726"/>
                </a:lnTo>
                <a:lnTo>
                  <a:pt x="5986288" y="983473"/>
                </a:lnTo>
                <a:lnTo>
                  <a:pt x="5960380" y="1015690"/>
                </a:lnTo>
                <a:lnTo>
                  <a:pt x="5927752" y="1041103"/>
                </a:lnTo>
                <a:lnTo>
                  <a:pt x="5889681" y="1058436"/>
                </a:lnTo>
                <a:lnTo>
                  <a:pt x="5847440" y="1066414"/>
                </a:lnTo>
                <a:lnTo>
                  <a:pt x="3213100" y="1066800"/>
                </a:lnTo>
                <a:lnTo>
                  <a:pt x="2012950" y="1066800"/>
                </a:lnTo>
                <a:lnTo>
                  <a:pt x="1390650" y="1066800"/>
                </a:lnTo>
                <a:lnTo>
                  <a:pt x="1375924" y="1066198"/>
                </a:lnTo>
                <a:lnTo>
                  <a:pt x="1333923" y="1057553"/>
                </a:lnTo>
                <a:lnTo>
                  <a:pt x="1296176" y="1039638"/>
                </a:lnTo>
                <a:lnTo>
                  <a:pt x="1263959" y="1013730"/>
                </a:lnTo>
                <a:lnTo>
                  <a:pt x="1238546" y="981102"/>
                </a:lnTo>
                <a:lnTo>
                  <a:pt x="1221213" y="943031"/>
                </a:lnTo>
                <a:lnTo>
                  <a:pt x="1213235" y="900790"/>
                </a:lnTo>
                <a:lnTo>
                  <a:pt x="1212850" y="444500"/>
                </a:lnTo>
                <a:lnTo>
                  <a:pt x="0" y="458724"/>
                </a:lnTo>
                <a:lnTo>
                  <a:pt x="1212850" y="177800"/>
                </a:lnTo>
                <a:close/>
              </a:path>
            </a:pathLst>
          </a:custGeom>
          <a:ln w="9144">
            <a:solidFill>
              <a:srgbClr val="000000"/>
            </a:solidFill>
          </a:ln>
        </p:spPr>
        <p:txBody>
          <a:bodyPr wrap="square" lIns="0" tIns="0" rIns="0" bIns="0" rtlCol="0"/>
          <a:lstStyle/>
          <a:p>
            <a:endParaRPr>
              <a:latin typeface="Times New Roman" panose="02020603050405020304" pitchFamily="18" charset="0"/>
              <a:ea typeface="Tahoma" panose="020B0604030504040204" pitchFamily="34" charset="0"/>
              <a:cs typeface="Times New Roman" panose="02020603050405020304" pitchFamily="18" charset="0"/>
            </a:endParaRPr>
          </a:p>
        </p:txBody>
      </p:sp>
      <p:sp>
        <p:nvSpPr>
          <p:cNvPr id="17" name="object 12"/>
          <p:cNvSpPr/>
          <p:nvPr/>
        </p:nvSpPr>
        <p:spPr>
          <a:xfrm>
            <a:off x="4145002" y="4126118"/>
            <a:ext cx="6095999" cy="1371092"/>
          </a:xfrm>
          <a:custGeom>
            <a:avLst/>
            <a:gdLst/>
            <a:ahLst/>
            <a:cxnLst/>
            <a:rect l="l" t="t" r="r" b="b"/>
            <a:pathLst>
              <a:path w="5932805" h="1548129">
                <a:moveTo>
                  <a:pt x="1208024" y="468376"/>
                </a:moveTo>
                <a:lnTo>
                  <a:pt x="1214297" y="416487"/>
                </a:lnTo>
                <a:lnTo>
                  <a:pt x="1232119" y="369151"/>
                </a:lnTo>
                <a:lnTo>
                  <a:pt x="1259990" y="327864"/>
                </a:lnTo>
                <a:lnTo>
                  <a:pt x="1296409" y="294127"/>
                </a:lnTo>
                <a:lnTo>
                  <a:pt x="1339879" y="269440"/>
                </a:lnTo>
                <a:lnTo>
                  <a:pt x="1388900" y="255301"/>
                </a:lnTo>
                <a:lnTo>
                  <a:pt x="1423924" y="252476"/>
                </a:lnTo>
                <a:lnTo>
                  <a:pt x="1995424" y="252476"/>
                </a:lnTo>
                <a:lnTo>
                  <a:pt x="3176524" y="252476"/>
                </a:lnTo>
                <a:lnTo>
                  <a:pt x="5716524" y="252476"/>
                </a:lnTo>
                <a:lnTo>
                  <a:pt x="5734233" y="253191"/>
                </a:lnTo>
                <a:lnTo>
                  <a:pt x="5784770" y="263481"/>
                </a:lnTo>
                <a:lnTo>
                  <a:pt x="5830257" y="284819"/>
                </a:lnTo>
                <a:lnTo>
                  <a:pt x="5869193" y="315706"/>
                </a:lnTo>
                <a:lnTo>
                  <a:pt x="5900080" y="354642"/>
                </a:lnTo>
                <a:lnTo>
                  <a:pt x="5921418" y="400129"/>
                </a:lnTo>
                <a:lnTo>
                  <a:pt x="5931708" y="450666"/>
                </a:lnTo>
                <a:lnTo>
                  <a:pt x="5932424" y="468376"/>
                </a:lnTo>
                <a:lnTo>
                  <a:pt x="5932424" y="792226"/>
                </a:lnTo>
                <a:lnTo>
                  <a:pt x="5932424" y="1331976"/>
                </a:lnTo>
                <a:lnTo>
                  <a:pt x="5931708" y="1349683"/>
                </a:lnTo>
                <a:lnTo>
                  <a:pt x="5921418" y="1400217"/>
                </a:lnTo>
                <a:lnTo>
                  <a:pt x="5900080" y="1445703"/>
                </a:lnTo>
                <a:lnTo>
                  <a:pt x="5869193" y="1484641"/>
                </a:lnTo>
                <a:lnTo>
                  <a:pt x="5830257" y="1515529"/>
                </a:lnTo>
                <a:lnTo>
                  <a:pt x="5784770" y="1536869"/>
                </a:lnTo>
                <a:lnTo>
                  <a:pt x="5734233" y="1547160"/>
                </a:lnTo>
                <a:lnTo>
                  <a:pt x="5716524" y="1547876"/>
                </a:lnTo>
                <a:lnTo>
                  <a:pt x="3176524" y="1547876"/>
                </a:lnTo>
                <a:lnTo>
                  <a:pt x="1995424" y="1547876"/>
                </a:lnTo>
                <a:lnTo>
                  <a:pt x="1423924" y="1547876"/>
                </a:lnTo>
                <a:lnTo>
                  <a:pt x="1406214" y="1547160"/>
                </a:lnTo>
                <a:lnTo>
                  <a:pt x="1355677" y="1536869"/>
                </a:lnTo>
                <a:lnTo>
                  <a:pt x="1310190" y="1515529"/>
                </a:lnTo>
                <a:lnTo>
                  <a:pt x="1271254" y="1484641"/>
                </a:lnTo>
                <a:lnTo>
                  <a:pt x="1240367" y="1445703"/>
                </a:lnTo>
                <a:lnTo>
                  <a:pt x="1219029" y="1400217"/>
                </a:lnTo>
                <a:lnTo>
                  <a:pt x="1208739" y="1349683"/>
                </a:lnTo>
                <a:lnTo>
                  <a:pt x="1208024" y="1331976"/>
                </a:lnTo>
                <a:lnTo>
                  <a:pt x="1208024" y="792226"/>
                </a:lnTo>
                <a:lnTo>
                  <a:pt x="0" y="0"/>
                </a:lnTo>
                <a:lnTo>
                  <a:pt x="1208024" y="468376"/>
                </a:lnTo>
                <a:close/>
              </a:path>
            </a:pathLst>
          </a:custGeom>
          <a:ln w="9144">
            <a:solidFill>
              <a:srgbClr val="000000"/>
            </a:solidFill>
          </a:ln>
        </p:spPr>
        <p:txBody>
          <a:bodyPr wrap="square" lIns="0" tIns="0" rIns="0" bIns="0" rtlCol="0"/>
          <a:lstStyle/>
          <a:p>
            <a:endParaRPr>
              <a:latin typeface="Times New Roman" panose="02020603050405020304" pitchFamily="18" charset="0"/>
              <a:ea typeface="Tahoma" panose="020B0604030504040204" pitchFamily="34" charset="0"/>
              <a:cs typeface="Times New Roman" panose="02020603050405020304" pitchFamily="18" charset="0"/>
            </a:endParaRPr>
          </a:p>
        </p:txBody>
      </p:sp>
      <p:sp>
        <p:nvSpPr>
          <p:cNvPr id="18" name="object 13"/>
          <p:cNvSpPr txBox="1"/>
          <p:nvPr/>
        </p:nvSpPr>
        <p:spPr>
          <a:xfrm>
            <a:off x="5562600" y="1478507"/>
            <a:ext cx="5334000" cy="3913892"/>
          </a:xfrm>
          <a:prstGeom prst="rect">
            <a:avLst/>
          </a:prstGeom>
        </p:spPr>
        <p:txBody>
          <a:bodyPr vert="horz" wrap="square" lIns="0" tIns="0" rIns="0" bIns="0" rtlCol="0">
            <a:spAutoFit/>
          </a:bodyPr>
          <a:lstStyle/>
          <a:p>
            <a:pPr marL="13335"/>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Bình</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spc="5">
                <a:solidFill>
                  <a:srgbClr val="FF0000"/>
                </a:solidFill>
                <a:latin typeface="Times New Roman" panose="02020603050405020304" pitchFamily="18" charset="0"/>
                <a:ea typeface="Tahoma" panose="020B0604030504040204" pitchFamily="34" charset="0"/>
                <a:cs typeface="Times New Roman" panose="02020603050405020304" pitchFamily="18" charset="0"/>
              </a:rPr>
              <a:t>t</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h</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ư</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ờ</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n</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g: Cl</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a</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ss</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cụ thể</a:t>
            </a:r>
            <a:endPar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a:p>
            <a:pPr marL="13335"/>
            <a:r>
              <a:rPr sz="2000" i="1">
                <a:solidFill>
                  <a:srgbClr val="FF0000"/>
                </a:solidFill>
                <a:latin typeface="Times New Roman" panose="02020603050405020304" pitchFamily="18" charset="0"/>
                <a:ea typeface="Tahoma" panose="020B0604030504040204" pitchFamily="34" charset="0"/>
                <a:cs typeface="Times New Roman" panose="02020603050405020304" pitchFamily="18" charset="0"/>
              </a:rPr>
              <a:t>In n</a:t>
            </a:r>
            <a:r>
              <a:rPr sz="2000" i="1"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g</a:t>
            </a:r>
            <a:r>
              <a:rPr sz="2000" i="1">
                <a:solidFill>
                  <a:srgbClr val="FF0000"/>
                </a:solidFill>
                <a:latin typeface="Times New Roman" panose="02020603050405020304" pitchFamily="18" charset="0"/>
                <a:ea typeface="Tahoma" panose="020B0604030504040204" pitchFamily="34" charset="0"/>
                <a:cs typeface="Times New Roman" panose="02020603050405020304" pitchFamily="18" charset="0"/>
              </a:rPr>
              <a:t>h</a:t>
            </a:r>
            <a:r>
              <a:rPr sz="2000" i="1"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i</a:t>
            </a:r>
            <a:r>
              <a:rPr sz="2000" i="1">
                <a:solidFill>
                  <a:srgbClr val="FF0000"/>
                </a:solidFill>
                <a:latin typeface="Times New Roman" panose="02020603050405020304" pitchFamily="18" charset="0"/>
                <a:ea typeface="Tahoma" panose="020B0604030504040204" pitchFamily="34" charset="0"/>
                <a:cs typeface="Times New Roman" panose="02020603050405020304" pitchFamily="18" charset="0"/>
              </a:rPr>
              <a:t>ê</a:t>
            </a:r>
            <a:r>
              <a:rPr sz="2000" i="1"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n</a:t>
            </a:r>
            <a:r>
              <a:rPr sz="2000" i="1" spc="-5">
                <a:solidFill>
                  <a:srgbClr val="FF0000"/>
                </a:solidFill>
                <a:latin typeface="Times New Roman" panose="02020603050405020304" pitchFamily="18" charset="0"/>
                <a:ea typeface="Tahoma" panose="020B0604030504040204" pitchFamily="34" charset="0"/>
                <a:cs typeface="Times New Roman" panose="02020603050405020304" pitchFamily="18" charset="0"/>
              </a:rPr>
              <a:t>g</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sz="2000" spc="15">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C</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l</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ass</a:t>
            </a:r>
            <a:r>
              <a:rPr sz="2000" spc="5">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trừu tượng</a:t>
            </a:r>
            <a:endPar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a:p>
            <a:pPr marL="13335" indent="-635"/>
            <a:r>
              <a:rPr sz="2000" u="heavy" spc="-50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u="sng">
                <a:solidFill>
                  <a:srgbClr val="FF0000"/>
                </a:solidFill>
                <a:latin typeface="Times New Roman" panose="02020603050405020304" pitchFamily="18" charset="0"/>
                <a:ea typeface="Tahoma" panose="020B0604030504040204" pitchFamily="34" charset="0"/>
                <a:cs typeface="Times New Roman" panose="02020603050405020304" pitchFamily="18" charset="0"/>
              </a:rPr>
              <a:t>Gạch</a:t>
            </a:r>
            <a:r>
              <a:rPr sz="2000" u="sng"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u="sng">
                <a:solidFill>
                  <a:srgbClr val="FF0000"/>
                </a:solidFill>
                <a:latin typeface="Times New Roman" panose="02020603050405020304" pitchFamily="18" charset="0"/>
                <a:ea typeface="Tahoma" panose="020B0604030504040204" pitchFamily="34" charset="0"/>
                <a:cs typeface="Times New Roman" panose="02020603050405020304" pitchFamily="18" charset="0"/>
              </a:rPr>
              <a:t>d</a:t>
            </a:r>
            <a:r>
              <a:rPr sz="2000" u="sng"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ư</a:t>
            </a:r>
            <a:r>
              <a:rPr sz="2000" u="sng">
                <a:solidFill>
                  <a:srgbClr val="FF0000"/>
                </a:solidFill>
                <a:latin typeface="Times New Roman" panose="02020603050405020304" pitchFamily="18" charset="0"/>
                <a:ea typeface="Tahoma" panose="020B0604030504040204" pitchFamily="34" charset="0"/>
                <a:cs typeface="Times New Roman" panose="02020603050405020304" pitchFamily="18" charset="0"/>
              </a:rPr>
              <a:t>ớ</a:t>
            </a:r>
            <a:r>
              <a:rPr sz="2000" u="sng"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i</a:t>
            </a:r>
            <a:r>
              <a:rPr sz="2000" u="sng">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sz="2000" u="sng" spc="5">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u="sng">
                <a:solidFill>
                  <a:srgbClr val="FF0000"/>
                </a:solidFill>
                <a:latin typeface="Times New Roman" panose="02020603050405020304" pitchFamily="18" charset="0"/>
                <a:ea typeface="Tahoma" panose="020B0604030504040204" pitchFamily="34" charset="0"/>
                <a:cs typeface="Times New Roman" panose="02020603050405020304" pitchFamily="18" charset="0"/>
              </a:rPr>
              <a:t>Obj</a:t>
            </a:r>
            <a:r>
              <a:rPr sz="2000" u="sng"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e</a:t>
            </a:r>
            <a:r>
              <a:rPr sz="2000" u="sng">
                <a:solidFill>
                  <a:srgbClr val="FF0000"/>
                </a:solidFill>
                <a:latin typeface="Times New Roman" panose="02020603050405020304" pitchFamily="18" charset="0"/>
                <a:ea typeface="Tahoma" panose="020B0604030504040204" pitchFamily="34" charset="0"/>
                <a:cs typeface="Times New Roman" panose="02020603050405020304" pitchFamily="18" charset="0"/>
              </a:rPr>
              <a:t>ct</a:t>
            </a:r>
            <a:r>
              <a:rPr sz="2000" u="sng" spc="5">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a:t>
            </a:r>
            <a:r>
              <a:rPr lang="en-US"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đối tượng chứ không </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p</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h</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ải</a:t>
            </a:r>
            <a:r>
              <a:rPr sz="2000" spc="5">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cl</a:t>
            </a:r>
            <a:r>
              <a:rPr sz="2000" spc="-10">
                <a:solidFill>
                  <a:srgbClr val="FF0000"/>
                </a:solidFill>
                <a:latin typeface="Times New Roman" panose="02020603050405020304" pitchFamily="18" charset="0"/>
                <a:ea typeface="Tahoma" panose="020B0604030504040204" pitchFamily="34" charset="0"/>
                <a:cs typeface="Times New Roman" panose="02020603050405020304" pitchFamily="18" charset="0"/>
              </a:rPr>
              <a:t>a</a:t>
            </a:r>
            <a:r>
              <a:rPr sz="2000">
                <a:solidFill>
                  <a:srgbClr val="FF0000"/>
                </a:solidFill>
                <a:latin typeface="Times New Roman" panose="02020603050405020304" pitchFamily="18" charset="0"/>
                <a:ea typeface="Tahoma" panose="020B0604030504040204" pitchFamily="34" charset="0"/>
                <a:cs typeface="Times New Roman" panose="02020603050405020304" pitchFamily="18" charset="0"/>
              </a:rPr>
              <a:t>ss)</a:t>
            </a:r>
          </a:p>
          <a:p>
            <a:pPr>
              <a:lnSpc>
                <a:spcPct val="100000"/>
              </a:lnSpc>
            </a:pPr>
            <a:endParaRPr>
              <a:latin typeface="Times New Roman" panose="02020603050405020304" pitchFamily="18" charset="0"/>
              <a:ea typeface="Tahoma" panose="020B0604030504040204" pitchFamily="34" charset="0"/>
              <a:cs typeface="Times New Roman" panose="02020603050405020304" pitchFamily="18" charset="0"/>
            </a:endParaRPr>
          </a:p>
          <a:p>
            <a:pPr>
              <a:spcBef>
                <a:spcPts val="42"/>
              </a:spcBef>
            </a:pPr>
            <a:endParaRPr sz="1400">
              <a:latin typeface="Times New Roman" panose="02020603050405020304" pitchFamily="18" charset="0"/>
              <a:ea typeface="Tahoma" panose="020B0604030504040204" pitchFamily="34" charset="0"/>
              <a:cs typeface="Times New Roman" panose="02020603050405020304" pitchFamily="18" charset="0"/>
            </a:endParaRPr>
          </a:p>
          <a:p>
            <a:pPr marL="13335"/>
            <a:endParaRPr lang="en-US">
              <a:latin typeface="Times New Roman" panose="02020603050405020304" pitchFamily="18" charset="0"/>
              <a:ea typeface="Tahoma" panose="020B0604030504040204" pitchFamily="34" charset="0"/>
              <a:cs typeface="Times New Roman" panose="02020603050405020304" pitchFamily="18" charset="0"/>
            </a:endParaRPr>
          </a:p>
          <a:p>
            <a:pPr marL="13335"/>
            <a:r>
              <a:rPr>
                <a:latin typeface="Times New Roman" panose="02020603050405020304" pitchFamily="18" charset="0"/>
                <a:ea typeface="Tahoma" panose="020B0604030504040204" pitchFamily="34" charset="0"/>
                <a:cs typeface="Times New Roman" panose="02020603050405020304" pitchFamily="18" charset="0"/>
              </a:rPr>
              <a:t>Bình</a:t>
            </a:r>
            <a:r>
              <a:rPr spc="-5">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th</a:t>
            </a:r>
            <a:r>
              <a:rPr spc="5" dirty="0">
                <a:latin typeface="Times New Roman" panose="02020603050405020304" pitchFamily="18" charset="0"/>
                <a:ea typeface="Tahoma" panose="020B0604030504040204" pitchFamily="34" charset="0"/>
                <a:cs typeface="Times New Roman" panose="02020603050405020304" pitchFamily="18" charset="0"/>
              </a:rPr>
              <a:t>ư</a:t>
            </a:r>
            <a:r>
              <a:rPr dirty="0">
                <a:latin typeface="Times New Roman" panose="02020603050405020304" pitchFamily="18" charset="0"/>
                <a:ea typeface="Tahoma" panose="020B0604030504040204" pitchFamily="34" charset="0"/>
                <a:cs typeface="Times New Roman" panose="02020603050405020304" pitchFamily="18" charset="0"/>
              </a:rPr>
              <a:t>ờ</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g:</a:t>
            </a:r>
            <a:r>
              <a:rPr spc="-30"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a:t>
            </a:r>
            <a:r>
              <a:rPr spc="5" dirty="0">
                <a:latin typeface="Times New Roman" panose="02020603050405020304" pitchFamily="18" charset="0"/>
                <a:ea typeface="Tahoma" panose="020B0604030504040204" pitchFamily="34" charset="0"/>
                <a:cs typeface="Times New Roman" panose="02020603050405020304" pitchFamily="18" charset="0"/>
              </a:rPr>
              <a:t>h</a:t>
            </a:r>
            <a:r>
              <a:rPr dirty="0">
                <a:latin typeface="Times New Roman" panose="02020603050405020304" pitchFamily="18" charset="0"/>
                <a:ea typeface="Tahoma" panose="020B0604030504040204" pitchFamily="34" charset="0"/>
                <a:cs typeface="Times New Roman" panose="02020603050405020304" pitchFamily="18" charset="0"/>
              </a:rPr>
              <a:t>u</a:t>
            </a:r>
            <a:r>
              <a:rPr spc="5" dirty="0">
                <a:latin typeface="Times New Roman" panose="02020603050405020304" pitchFamily="18" charset="0"/>
                <a:ea typeface="Tahoma" panose="020B0604030504040204" pitchFamily="34" charset="0"/>
                <a:cs typeface="Times New Roman" panose="02020603050405020304" pitchFamily="18" charset="0"/>
              </a:rPr>
              <a:t>ộ</a:t>
            </a:r>
            <a:r>
              <a:rPr dirty="0">
                <a:latin typeface="Times New Roman" panose="02020603050405020304" pitchFamily="18" charset="0"/>
                <a:ea typeface="Tahoma" panose="020B0604030504040204" pitchFamily="34" charset="0"/>
                <a:cs typeface="Times New Roman" panose="02020603050405020304" pitchFamily="18" charset="0"/>
              </a:rPr>
              <a:t>c</a:t>
            </a:r>
            <a:r>
              <a:rPr spc="-15"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tí</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h bì</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h</a:t>
            </a:r>
            <a:r>
              <a:rPr spc="-20"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th</a:t>
            </a:r>
            <a:r>
              <a:rPr spc="5" dirty="0">
                <a:latin typeface="Times New Roman" panose="02020603050405020304" pitchFamily="18" charset="0"/>
                <a:ea typeface="Tahoma" panose="020B0604030504040204" pitchFamily="34" charset="0"/>
                <a:cs typeface="Times New Roman" panose="02020603050405020304" pitchFamily="18" charset="0"/>
              </a:rPr>
              <a:t>ư</a:t>
            </a:r>
            <a:r>
              <a:rPr dirty="0">
                <a:latin typeface="Times New Roman" panose="02020603050405020304" pitchFamily="18" charset="0"/>
                <a:ea typeface="Tahoma" panose="020B0604030504040204" pitchFamily="34" charset="0"/>
                <a:cs typeface="Times New Roman" panose="02020603050405020304" pitchFamily="18" charset="0"/>
              </a:rPr>
              <a:t>ờ</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g</a:t>
            </a:r>
            <a:endParaRPr>
              <a:latin typeface="Times New Roman" panose="02020603050405020304" pitchFamily="18" charset="0"/>
              <a:ea typeface="Tahoma" panose="020B0604030504040204" pitchFamily="34" charset="0"/>
              <a:cs typeface="Times New Roman" panose="02020603050405020304" pitchFamily="18" charset="0"/>
            </a:endParaRPr>
          </a:p>
          <a:p>
            <a:pPr marL="13335"/>
            <a:r>
              <a:rPr u="sng">
                <a:latin typeface="Times New Roman" panose="02020603050405020304" pitchFamily="18" charset="0"/>
                <a:ea typeface="Tahoma" panose="020B0604030504040204" pitchFamily="34" charset="0"/>
                <a:cs typeface="Times New Roman" panose="02020603050405020304" pitchFamily="18" charset="0"/>
              </a:rPr>
              <a:t>Gạ</a:t>
            </a:r>
            <a:r>
              <a:rPr u="sng" spc="-10">
                <a:latin typeface="Times New Roman" panose="02020603050405020304" pitchFamily="18" charset="0"/>
                <a:ea typeface="Tahoma" panose="020B0604030504040204" pitchFamily="34" charset="0"/>
                <a:cs typeface="Times New Roman" panose="02020603050405020304" pitchFamily="18" charset="0"/>
              </a:rPr>
              <a:t>c</a:t>
            </a:r>
            <a:r>
              <a:rPr u="sng">
                <a:latin typeface="Times New Roman" panose="02020603050405020304" pitchFamily="18" charset="0"/>
                <a:ea typeface="Tahoma" panose="020B0604030504040204" pitchFamily="34" charset="0"/>
                <a:cs typeface="Times New Roman" panose="02020603050405020304" pitchFamily="18" charset="0"/>
              </a:rPr>
              <a:t>h</a:t>
            </a:r>
            <a:r>
              <a:rPr u="sng" spc="5">
                <a:latin typeface="Times New Roman" panose="02020603050405020304" pitchFamily="18" charset="0"/>
                <a:ea typeface="Tahoma" panose="020B0604030504040204" pitchFamily="34" charset="0"/>
                <a:cs typeface="Times New Roman" panose="02020603050405020304" pitchFamily="18" charset="0"/>
              </a:rPr>
              <a:t> </a:t>
            </a:r>
            <a:r>
              <a:rPr u="sng" dirty="0">
                <a:latin typeface="Times New Roman" panose="02020603050405020304" pitchFamily="18" charset="0"/>
                <a:ea typeface="Tahoma" panose="020B0604030504040204" pitchFamily="34" charset="0"/>
                <a:cs typeface="Times New Roman" panose="02020603050405020304" pitchFamily="18" charset="0"/>
              </a:rPr>
              <a:t>dư</a:t>
            </a:r>
            <a:r>
              <a:rPr u="sng" spc="-495" dirty="0">
                <a:latin typeface="Times New Roman" panose="02020603050405020304" pitchFamily="18" charset="0"/>
                <a:ea typeface="Tahoma" panose="020B0604030504040204" pitchFamily="34" charset="0"/>
                <a:cs typeface="Times New Roman" panose="02020603050405020304" pitchFamily="18" charset="0"/>
              </a:rPr>
              <a:t> </a:t>
            </a:r>
            <a:r>
              <a:rPr u="sng" dirty="0">
                <a:latin typeface="Times New Roman" panose="02020603050405020304" pitchFamily="18" charset="0"/>
                <a:ea typeface="Tahoma" panose="020B0604030504040204" pitchFamily="34" charset="0"/>
                <a:cs typeface="Times New Roman" panose="02020603050405020304" pitchFamily="18" charset="0"/>
              </a:rPr>
              <a:t>ới</a:t>
            </a:r>
            <a:r>
              <a:rPr u="sng" spc="-490" dirty="0">
                <a:latin typeface="Times New Roman" panose="02020603050405020304" pitchFamily="18" charset="0"/>
                <a:ea typeface="Tahoma" panose="020B0604030504040204" pitchFamily="34" charset="0"/>
                <a:cs typeface="Times New Roman" panose="02020603050405020304" pitchFamily="18" charset="0"/>
              </a:rPr>
              <a:t> </a:t>
            </a:r>
            <a:r>
              <a:rPr u="sng" dirty="0">
                <a:latin typeface="Times New Roman" panose="02020603050405020304" pitchFamily="18" charset="0"/>
                <a:ea typeface="Tahoma" panose="020B0604030504040204" pitchFamily="34" charset="0"/>
                <a:cs typeface="Times New Roman" panose="02020603050405020304" pitchFamily="18" charset="0"/>
              </a:rPr>
              <a:t>:</a:t>
            </a:r>
            <a:r>
              <a:rPr u="sng" spc="-35"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a:t>
            </a:r>
            <a:r>
              <a:rPr spc="5" dirty="0">
                <a:latin typeface="Times New Roman" panose="02020603050405020304" pitchFamily="18" charset="0"/>
                <a:ea typeface="Tahoma" panose="020B0604030504040204" pitchFamily="34" charset="0"/>
                <a:cs typeface="Times New Roman" panose="02020603050405020304" pitchFamily="18" charset="0"/>
              </a:rPr>
              <a:t>h</a:t>
            </a:r>
            <a:r>
              <a:rPr dirty="0">
                <a:latin typeface="Times New Roman" panose="02020603050405020304" pitchFamily="18" charset="0"/>
                <a:ea typeface="Tahoma" panose="020B0604030504040204" pitchFamily="34" charset="0"/>
                <a:cs typeface="Times New Roman" panose="02020603050405020304" pitchFamily="18" charset="0"/>
              </a:rPr>
              <a:t>u</a:t>
            </a:r>
            <a:r>
              <a:rPr spc="5" dirty="0">
                <a:latin typeface="Times New Roman" panose="02020603050405020304" pitchFamily="18" charset="0"/>
                <a:ea typeface="Tahoma" panose="020B0604030504040204" pitchFamily="34" charset="0"/>
                <a:cs typeface="Times New Roman" panose="02020603050405020304" pitchFamily="18" charset="0"/>
              </a:rPr>
              <a:t>ộ</a:t>
            </a:r>
            <a:r>
              <a:rPr dirty="0">
                <a:latin typeface="Times New Roman" panose="02020603050405020304" pitchFamily="18" charset="0"/>
                <a:ea typeface="Tahoma" panose="020B0604030504040204" pitchFamily="34" charset="0"/>
                <a:cs typeface="Times New Roman" panose="02020603050405020304" pitchFamily="18" charset="0"/>
              </a:rPr>
              <a:t>c</a:t>
            </a:r>
            <a:r>
              <a:rPr spc="-15" dirty="0">
                <a:latin typeface="Times New Roman" panose="02020603050405020304" pitchFamily="18" charset="0"/>
                <a:ea typeface="Tahoma" panose="020B0604030504040204" pitchFamily="34" charset="0"/>
                <a:cs typeface="Times New Roman" panose="02020603050405020304" pitchFamily="18" charset="0"/>
              </a:rPr>
              <a:t> </a:t>
            </a:r>
            <a:r>
              <a:rPr>
                <a:latin typeface="Times New Roman" panose="02020603050405020304" pitchFamily="18" charset="0"/>
                <a:ea typeface="Tahoma" panose="020B0604030504040204" pitchFamily="34" charset="0"/>
                <a:cs typeface="Times New Roman" panose="02020603050405020304" pitchFamily="18" charset="0"/>
              </a:rPr>
              <a:t>tí</a:t>
            </a:r>
            <a:r>
              <a:rPr spc="5">
                <a:latin typeface="Times New Roman" panose="02020603050405020304" pitchFamily="18" charset="0"/>
                <a:ea typeface="Tahoma" panose="020B0604030504040204" pitchFamily="34" charset="0"/>
                <a:cs typeface="Times New Roman" panose="02020603050405020304" pitchFamily="18" charset="0"/>
              </a:rPr>
              <a:t>n</a:t>
            </a:r>
            <a:r>
              <a:rPr>
                <a:latin typeface="Times New Roman" panose="02020603050405020304" pitchFamily="18" charset="0"/>
                <a:ea typeface="Tahoma" panose="020B0604030504040204" pitchFamily="34" charset="0"/>
                <a:cs typeface="Times New Roman" panose="02020603050405020304" pitchFamily="18" charset="0"/>
              </a:rPr>
              <a:t>h </a:t>
            </a:r>
            <a:r>
              <a:rPr spc="-10" smtClean="0">
                <a:latin typeface="Times New Roman" panose="02020603050405020304" pitchFamily="18" charset="0"/>
                <a:ea typeface="Tahoma" panose="020B0604030504040204" pitchFamily="34" charset="0"/>
                <a:cs typeface="Times New Roman" panose="02020603050405020304" pitchFamily="18" charset="0"/>
              </a:rPr>
              <a:t>s</a:t>
            </a:r>
            <a:r>
              <a:rPr smtClean="0">
                <a:latin typeface="Times New Roman" panose="02020603050405020304" pitchFamily="18" charset="0"/>
                <a:ea typeface="Tahoma" panose="020B0604030504040204" pitchFamily="34" charset="0"/>
                <a:cs typeface="Times New Roman" panose="02020603050405020304" pitchFamily="18" charset="0"/>
              </a:rPr>
              <a:t>tatic</a:t>
            </a:r>
          </a:p>
          <a:p>
            <a:pPr>
              <a:lnSpc>
                <a:spcPct val="100000"/>
              </a:lnSpc>
            </a:pPr>
            <a:endParaRPr smtClean="0">
              <a:latin typeface="Times New Roman" panose="02020603050405020304" pitchFamily="18" charset="0"/>
              <a:ea typeface="Tahoma" panose="020B0604030504040204" pitchFamily="34" charset="0"/>
              <a:cs typeface="Times New Roman" panose="02020603050405020304" pitchFamily="18" charset="0"/>
            </a:endParaRPr>
          </a:p>
          <a:p>
            <a:pPr marL="100330" marR="502920">
              <a:spcBef>
                <a:spcPts val="1140"/>
              </a:spcBef>
            </a:pPr>
            <a:endParaRPr lang="en-US">
              <a:latin typeface="Times New Roman" panose="02020603050405020304" pitchFamily="18" charset="0"/>
              <a:ea typeface="Tahoma" panose="020B0604030504040204" pitchFamily="34" charset="0"/>
              <a:cs typeface="Times New Roman" panose="02020603050405020304" pitchFamily="18" charset="0"/>
            </a:endParaRPr>
          </a:p>
          <a:p>
            <a:pPr marL="100330" marR="502920">
              <a:spcBef>
                <a:spcPts val="1140"/>
              </a:spcBef>
            </a:pPr>
            <a:r>
              <a:rPr>
                <a:latin typeface="Times New Roman" panose="02020603050405020304" pitchFamily="18" charset="0"/>
                <a:ea typeface="Tahoma" panose="020B0604030504040204" pitchFamily="34" charset="0"/>
                <a:cs typeface="Times New Roman" panose="02020603050405020304" pitchFamily="18" charset="0"/>
              </a:rPr>
              <a:t>Bình</a:t>
            </a:r>
            <a:r>
              <a:rPr spc="-5">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th</a:t>
            </a:r>
            <a:r>
              <a:rPr spc="5" dirty="0">
                <a:latin typeface="Times New Roman" panose="02020603050405020304" pitchFamily="18" charset="0"/>
                <a:ea typeface="Tahoma" panose="020B0604030504040204" pitchFamily="34" charset="0"/>
                <a:cs typeface="Times New Roman" panose="02020603050405020304" pitchFamily="18" charset="0"/>
              </a:rPr>
              <a:t>ư</a:t>
            </a:r>
            <a:r>
              <a:rPr dirty="0">
                <a:latin typeface="Times New Roman" panose="02020603050405020304" pitchFamily="18" charset="0"/>
                <a:ea typeface="Tahoma" panose="020B0604030504040204" pitchFamily="34" charset="0"/>
                <a:cs typeface="Times New Roman" panose="02020603050405020304" pitchFamily="18" charset="0"/>
              </a:rPr>
              <a:t>ờ</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g:</a:t>
            </a:r>
            <a:r>
              <a:rPr spc="-30"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Ph</a:t>
            </a:r>
            <a:r>
              <a:rPr spc="5" dirty="0">
                <a:latin typeface="Times New Roman" panose="02020603050405020304" pitchFamily="18" charset="0"/>
                <a:ea typeface="Tahoma" panose="020B0604030504040204" pitchFamily="34" charset="0"/>
                <a:cs typeface="Times New Roman" panose="02020603050405020304" pitchFamily="18" charset="0"/>
              </a:rPr>
              <a:t>ư</a:t>
            </a:r>
            <a:r>
              <a:rPr dirty="0">
                <a:latin typeface="Times New Roman" panose="02020603050405020304" pitchFamily="18" charset="0"/>
                <a:ea typeface="Tahoma" panose="020B0604030504040204" pitchFamily="34" charset="0"/>
                <a:cs typeface="Times New Roman" panose="02020603050405020304" pitchFamily="18" charset="0"/>
              </a:rPr>
              <a:t>ơ</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g</a:t>
            </a:r>
            <a:r>
              <a:rPr spc="-20"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th</a:t>
            </a:r>
            <a:r>
              <a:rPr spc="5" dirty="0">
                <a:latin typeface="Times New Roman" panose="02020603050405020304" pitchFamily="18" charset="0"/>
                <a:ea typeface="Tahoma" panose="020B0604030504040204" pitchFamily="34" charset="0"/>
                <a:cs typeface="Times New Roman" panose="02020603050405020304" pitchFamily="18" charset="0"/>
              </a:rPr>
              <a:t>ứ</a:t>
            </a:r>
            <a:r>
              <a:rPr dirty="0">
                <a:latin typeface="Times New Roman" panose="02020603050405020304" pitchFamily="18" charset="0"/>
                <a:ea typeface="Tahoma" panose="020B0604030504040204" pitchFamily="34" charset="0"/>
                <a:cs typeface="Times New Roman" panose="02020603050405020304" pitchFamily="18" charset="0"/>
              </a:rPr>
              <a:t>c</a:t>
            </a:r>
            <a:r>
              <a:rPr spc="-15"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b</a:t>
            </a:r>
            <a:r>
              <a:rPr spc="5" dirty="0">
                <a:latin typeface="Times New Roman" panose="02020603050405020304" pitchFamily="18" charset="0"/>
                <a:ea typeface="Tahoma" panose="020B0604030504040204" pitchFamily="34" charset="0"/>
                <a:cs typeface="Times New Roman" panose="02020603050405020304" pitchFamily="18" charset="0"/>
              </a:rPr>
              <a:t>ì</a:t>
            </a:r>
            <a:r>
              <a:rPr dirty="0">
                <a:latin typeface="Times New Roman" panose="02020603050405020304" pitchFamily="18" charset="0"/>
                <a:ea typeface="Tahoma" panose="020B0604030504040204" pitchFamily="34" charset="0"/>
                <a:cs typeface="Times New Roman" panose="02020603050405020304" pitchFamily="18" charset="0"/>
              </a:rPr>
              <a:t>nh th</a:t>
            </a:r>
            <a:r>
              <a:rPr spc="5" dirty="0">
                <a:latin typeface="Times New Roman" panose="02020603050405020304" pitchFamily="18" charset="0"/>
                <a:ea typeface="Tahoma" panose="020B0604030504040204" pitchFamily="34" charset="0"/>
                <a:cs typeface="Times New Roman" panose="02020603050405020304" pitchFamily="18" charset="0"/>
              </a:rPr>
              <a:t>ư</a:t>
            </a:r>
            <a:r>
              <a:rPr dirty="0">
                <a:latin typeface="Times New Roman" panose="02020603050405020304" pitchFamily="18" charset="0"/>
                <a:ea typeface="Tahoma" panose="020B0604030504040204" pitchFamily="34" charset="0"/>
                <a:cs typeface="Times New Roman" panose="02020603050405020304" pitchFamily="18" charset="0"/>
              </a:rPr>
              <a:t>ờ</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g</a:t>
            </a:r>
            <a:endParaRPr>
              <a:latin typeface="Times New Roman" panose="02020603050405020304" pitchFamily="18" charset="0"/>
              <a:ea typeface="Tahoma" panose="020B0604030504040204" pitchFamily="34" charset="0"/>
              <a:cs typeface="Times New Roman" panose="02020603050405020304" pitchFamily="18" charset="0"/>
            </a:endParaRPr>
          </a:p>
          <a:p>
            <a:pPr marL="100330"/>
            <a:r>
              <a:rPr i="1" dirty="0">
                <a:latin typeface="Times New Roman" panose="02020603050405020304" pitchFamily="18" charset="0"/>
                <a:ea typeface="Tahoma" panose="020B0604030504040204" pitchFamily="34" charset="0"/>
                <a:cs typeface="Times New Roman" panose="02020603050405020304" pitchFamily="18" charset="0"/>
              </a:rPr>
              <a:t>In</a:t>
            </a:r>
            <a:r>
              <a:rPr i="1" spc="-5" dirty="0">
                <a:latin typeface="Times New Roman" panose="02020603050405020304" pitchFamily="18" charset="0"/>
                <a:ea typeface="Tahoma" panose="020B0604030504040204" pitchFamily="34" charset="0"/>
                <a:cs typeface="Times New Roman" panose="02020603050405020304" pitchFamily="18" charset="0"/>
              </a:rPr>
              <a:t> </a:t>
            </a:r>
            <a:r>
              <a:rPr i="1" dirty="0">
                <a:latin typeface="Times New Roman" panose="02020603050405020304" pitchFamily="18" charset="0"/>
                <a:ea typeface="Tahoma" panose="020B0604030504040204" pitchFamily="34" charset="0"/>
                <a:cs typeface="Times New Roman" panose="02020603050405020304" pitchFamily="18" charset="0"/>
              </a:rPr>
              <a:t>n</a:t>
            </a:r>
            <a:r>
              <a:rPr i="1" spc="5" dirty="0">
                <a:latin typeface="Times New Roman" panose="02020603050405020304" pitchFamily="18" charset="0"/>
                <a:ea typeface="Tahoma" panose="020B0604030504040204" pitchFamily="34" charset="0"/>
                <a:cs typeface="Times New Roman" panose="02020603050405020304" pitchFamily="18" charset="0"/>
              </a:rPr>
              <a:t>g</a:t>
            </a:r>
            <a:r>
              <a:rPr i="1" dirty="0">
                <a:latin typeface="Times New Roman" panose="02020603050405020304" pitchFamily="18" charset="0"/>
                <a:ea typeface="Tahoma" panose="020B0604030504040204" pitchFamily="34" charset="0"/>
                <a:cs typeface="Times New Roman" panose="02020603050405020304" pitchFamily="18" charset="0"/>
              </a:rPr>
              <a:t>h</a:t>
            </a:r>
            <a:r>
              <a:rPr i="1" spc="5" dirty="0">
                <a:latin typeface="Times New Roman" panose="02020603050405020304" pitchFamily="18" charset="0"/>
                <a:ea typeface="Tahoma" panose="020B0604030504040204" pitchFamily="34" charset="0"/>
                <a:cs typeface="Times New Roman" panose="02020603050405020304" pitchFamily="18" charset="0"/>
              </a:rPr>
              <a:t>i</a:t>
            </a:r>
            <a:r>
              <a:rPr i="1" dirty="0">
                <a:latin typeface="Times New Roman" panose="02020603050405020304" pitchFamily="18" charset="0"/>
                <a:ea typeface="Tahoma" panose="020B0604030504040204" pitchFamily="34" charset="0"/>
                <a:cs typeface="Times New Roman" panose="02020603050405020304" pitchFamily="18" charset="0"/>
              </a:rPr>
              <a:t>ên</a:t>
            </a:r>
            <a:r>
              <a:rPr i="1" spc="10" dirty="0">
                <a:latin typeface="Times New Roman" panose="02020603050405020304" pitchFamily="18" charset="0"/>
                <a:ea typeface="Tahoma" panose="020B0604030504040204" pitchFamily="34" charset="0"/>
                <a:cs typeface="Times New Roman" panose="02020603050405020304" pitchFamily="18" charset="0"/>
              </a:rPr>
              <a:t>g</a:t>
            </a:r>
            <a:r>
              <a:rPr dirty="0">
                <a:latin typeface="Times New Roman" panose="02020603050405020304" pitchFamily="18" charset="0"/>
                <a:ea typeface="Tahoma" panose="020B0604030504040204" pitchFamily="34" charset="0"/>
                <a:cs typeface="Times New Roman" panose="02020603050405020304" pitchFamily="18" charset="0"/>
              </a:rPr>
              <a:t>:</a:t>
            </a:r>
            <a:r>
              <a:rPr spc="-20"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Ph</a:t>
            </a:r>
            <a:r>
              <a:rPr spc="5" dirty="0">
                <a:latin typeface="Times New Roman" panose="02020603050405020304" pitchFamily="18" charset="0"/>
                <a:ea typeface="Tahoma" panose="020B0604030504040204" pitchFamily="34" charset="0"/>
                <a:cs typeface="Times New Roman" panose="02020603050405020304" pitchFamily="18" charset="0"/>
              </a:rPr>
              <a:t>ư</a:t>
            </a:r>
            <a:r>
              <a:rPr dirty="0">
                <a:latin typeface="Times New Roman" panose="02020603050405020304" pitchFamily="18" charset="0"/>
                <a:ea typeface="Tahoma" panose="020B0604030504040204" pitchFamily="34" charset="0"/>
                <a:cs typeface="Times New Roman" panose="02020603050405020304" pitchFamily="18" charset="0"/>
              </a:rPr>
              <a:t>ơ</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g</a:t>
            </a:r>
            <a:r>
              <a:rPr spc="-30"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th</a:t>
            </a:r>
            <a:r>
              <a:rPr spc="5" dirty="0">
                <a:latin typeface="Times New Roman" panose="02020603050405020304" pitchFamily="18" charset="0"/>
                <a:ea typeface="Tahoma" panose="020B0604030504040204" pitchFamily="34" charset="0"/>
                <a:cs typeface="Times New Roman" panose="02020603050405020304" pitchFamily="18" charset="0"/>
              </a:rPr>
              <a:t>ứ</a:t>
            </a:r>
            <a:r>
              <a:rPr dirty="0">
                <a:latin typeface="Times New Roman" panose="02020603050405020304" pitchFamily="18" charset="0"/>
                <a:ea typeface="Tahoma" panose="020B0604030504040204" pitchFamily="34" charset="0"/>
                <a:cs typeface="Times New Roman" panose="02020603050405020304" pitchFamily="18" charset="0"/>
              </a:rPr>
              <a:t>c</a:t>
            </a:r>
            <a:r>
              <a:rPr spc="-15" dirty="0">
                <a:latin typeface="Times New Roman" panose="02020603050405020304" pitchFamily="18" charset="0"/>
                <a:ea typeface="Tahoma" panose="020B0604030504040204" pitchFamily="34" charset="0"/>
                <a:cs typeface="Times New Roman" panose="02020603050405020304" pitchFamily="18" charset="0"/>
              </a:rPr>
              <a:t> </a:t>
            </a:r>
            <a:r>
              <a:rPr spc="-45" dirty="0">
                <a:latin typeface="Times New Roman" panose="02020603050405020304" pitchFamily="18" charset="0"/>
                <a:ea typeface="Tahoma" panose="020B0604030504040204" pitchFamily="34" charset="0"/>
                <a:cs typeface="Times New Roman" panose="02020603050405020304" pitchFamily="18" charset="0"/>
              </a:rPr>
              <a:t>v</a:t>
            </a:r>
            <a:r>
              <a:rPr dirty="0">
                <a:latin typeface="Times New Roman" panose="02020603050405020304" pitchFamily="18" charset="0"/>
                <a:ea typeface="Tahoma" panose="020B0604030504040204" pitchFamily="34" charset="0"/>
                <a:cs typeface="Times New Roman" panose="02020603050405020304" pitchFamily="18" charset="0"/>
              </a:rPr>
              <a:t>irtual</a:t>
            </a:r>
            <a:endParaRPr>
              <a:latin typeface="Times New Roman" panose="02020603050405020304" pitchFamily="18" charset="0"/>
              <a:ea typeface="Tahoma" panose="020B0604030504040204" pitchFamily="34" charset="0"/>
              <a:cs typeface="Times New Roman" panose="02020603050405020304" pitchFamily="18" charset="0"/>
            </a:endParaRPr>
          </a:p>
          <a:p>
            <a:pPr marL="99695"/>
            <a:r>
              <a:rPr u="heavy" spc="-500" dirty="0">
                <a:latin typeface="Times New Roman" panose="02020603050405020304" pitchFamily="18" charset="0"/>
                <a:ea typeface="Tahoma" panose="020B0604030504040204" pitchFamily="34" charset="0"/>
                <a:cs typeface="Times New Roman" panose="02020603050405020304" pitchFamily="18" charset="0"/>
              </a:rPr>
              <a:t> </a:t>
            </a:r>
            <a:r>
              <a:rPr u="sng" dirty="0">
                <a:latin typeface="Times New Roman" panose="02020603050405020304" pitchFamily="18" charset="0"/>
                <a:ea typeface="Tahoma" panose="020B0604030504040204" pitchFamily="34" charset="0"/>
                <a:cs typeface="Times New Roman" panose="02020603050405020304" pitchFamily="18" charset="0"/>
              </a:rPr>
              <a:t>Gạ</a:t>
            </a:r>
            <a:r>
              <a:rPr u="sng" spc="-10" dirty="0">
                <a:latin typeface="Times New Roman" panose="02020603050405020304" pitchFamily="18" charset="0"/>
                <a:ea typeface="Tahoma" panose="020B0604030504040204" pitchFamily="34" charset="0"/>
                <a:cs typeface="Times New Roman" panose="02020603050405020304" pitchFamily="18" charset="0"/>
              </a:rPr>
              <a:t>c</a:t>
            </a:r>
            <a:r>
              <a:rPr u="sng" dirty="0">
                <a:latin typeface="Times New Roman" panose="02020603050405020304" pitchFamily="18" charset="0"/>
                <a:ea typeface="Tahoma" panose="020B0604030504040204" pitchFamily="34" charset="0"/>
                <a:cs typeface="Times New Roman" panose="02020603050405020304" pitchFamily="18" charset="0"/>
              </a:rPr>
              <a:t>h</a:t>
            </a:r>
            <a:r>
              <a:rPr u="sng" spc="5" dirty="0">
                <a:latin typeface="Times New Roman" panose="02020603050405020304" pitchFamily="18" charset="0"/>
                <a:ea typeface="Tahoma" panose="020B0604030504040204" pitchFamily="34" charset="0"/>
                <a:cs typeface="Times New Roman" panose="02020603050405020304" pitchFamily="18" charset="0"/>
              </a:rPr>
              <a:t> </a:t>
            </a:r>
            <a:r>
              <a:rPr u="sng" dirty="0">
                <a:latin typeface="Times New Roman" panose="02020603050405020304" pitchFamily="18" charset="0"/>
                <a:ea typeface="Tahoma" panose="020B0604030504040204" pitchFamily="34" charset="0"/>
                <a:cs typeface="Times New Roman" panose="02020603050405020304" pitchFamily="18" charset="0"/>
              </a:rPr>
              <a:t>dư</a:t>
            </a:r>
            <a:r>
              <a:rPr u="sng" spc="-495" dirty="0">
                <a:latin typeface="Times New Roman" panose="02020603050405020304" pitchFamily="18" charset="0"/>
                <a:ea typeface="Tahoma" panose="020B0604030504040204" pitchFamily="34" charset="0"/>
                <a:cs typeface="Times New Roman" panose="02020603050405020304" pitchFamily="18" charset="0"/>
              </a:rPr>
              <a:t> </a:t>
            </a:r>
            <a:r>
              <a:rPr u="sng" dirty="0">
                <a:latin typeface="Times New Roman" panose="02020603050405020304" pitchFamily="18" charset="0"/>
                <a:ea typeface="Tahoma" panose="020B0604030504040204" pitchFamily="34" charset="0"/>
                <a:cs typeface="Times New Roman" panose="02020603050405020304" pitchFamily="18" charset="0"/>
              </a:rPr>
              <a:t>ới</a:t>
            </a:r>
            <a:r>
              <a:rPr u="sng" spc="-490" dirty="0">
                <a:latin typeface="Times New Roman" panose="02020603050405020304" pitchFamily="18" charset="0"/>
                <a:ea typeface="Tahoma" panose="020B0604030504040204" pitchFamily="34" charset="0"/>
                <a:cs typeface="Times New Roman" panose="02020603050405020304" pitchFamily="18" charset="0"/>
              </a:rPr>
              <a:t> </a:t>
            </a:r>
            <a:r>
              <a:rPr u="sng" dirty="0">
                <a:latin typeface="Times New Roman" panose="02020603050405020304" pitchFamily="18" charset="0"/>
                <a:ea typeface="Tahoma" panose="020B0604030504040204" pitchFamily="34" charset="0"/>
                <a:cs typeface="Times New Roman" panose="02020603050405020304" pitchFamily="18" charset="0"/>
              </a:rPr>
              <a:t>:</a:t>
            </a:r>
            <a:r>
              <a:rPr u="sng" spc="-35"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Ph</a:t>
            </a:r>
            <a:r>
              <a:rPr spc="5" dirty="0">
                <a:latin typeface="Times New Roman" panose="02020603050405020304" pitchFamily="18" charset="0"/>
                <a:ea typeface="Tahoma" panose="020B0604030504040204" pitchFamily="34" charset="0"/>
                <a:cs typeface="Times New Roman" panose="02020603050405020304" pitchFamily="18" charset="0"/>
              </a:rPr>
              <a:t>ư</a:t>
            </a:r>
            <a:r>
              <a:rPr dirty="0">
                <a:latin typeface="Times New Roman" panose="02020603050405020304" pitchFamily="18" charset="0"/>
                <a:ea typeface="Tahoma" panose="020B0604030504040204" pitchFamily="34" charset="0"/>
                <a:cs typeface="Times New Roman" panose="02020603050405020304" pitchFamily="18" charset="0"/>
              </a:rPr>
              <a:t>ơ</a:t>
            </a:r>
            <a:r>
              <a:rPr spc="5" dirty="0">
                <a:latin typeface="Times New Roman" panose="02020603050405020304" pitchFamily="18" charset="0"/>
                <a:ea typeface="Tahoma" panose="020B0604030504040204" pitchFamily="34" charset="0"/>
                <a:cs typeface="Times New Roman" panose="02020603050405020304" pitchFamily="18" charset="0"/>
              </a:rPr>
              <a:t>n</a:t>
            </a:r>
            <a:r>
              <a:rPr dirty="0">
                <a:latin typeface="Times New Roman" panose="02020603050405020304" pitchFamily="18" charset="0"/>
                <a:ea typeface="Tahoma" panose="020B0604030504040204" pitchFamily="34" charset="0"/>
                <a:cs typeface="Times New Roman" panose="02020603050405020304" pitchFamily="18" charset="0"/>
              </a:rPr>
              <a:t>g</a:t>
            </a:r>
            <a:r>
              <a:rPr spc="-20"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th</a:t>
            </a:r>
            <a:r>
              <a:rPr spc="5" dirty="0">
                <a:latin typeface="Times New Roman" panose="02020603050405020304" pitchFamily="18" charset="0"/>
                <a:ea typeface="Tahoma" panose="020B0604030504040204" pitchFamily="34" charset="0"/>
                <a:cs typeface="Times New Roman" panose="02020603050405020304" pitchFamily="18" charset="0"/>
              </a:rPr>
              <a:t>ứ</a:t>
            </a:r>
            <a:r>
              <a:rPr dirty="0">
                <a:latin typeface="Times New Roman" panose="02020603050405020304" pitchFamily="18" charset="0"/>
                <a:ea typeface="Tahoma" panose="020B0604030504040204" pitchFamily="34" charset="0"/>
                <a:cs typeface="Times New Roman" panose="02020603050405020304" pitchFamily="18" charset="0"/>
              </a:rPr>
              <a:t>c</a:t>
            </a:r>
            <a:r>
              <a:rPr spc="-15" dirty="0">
                <a:latin typeface="Times New Roman" panose="02020603050405020304" pitchFamily="18" charset="0"/>
                <a:ea typeface="Tahoma" panose="020B0604030504040204" pitchFamily="34" charset="0"/>
                <a:cs typeface="Times New Roman" panose="02020603050405020304" pitchFamily="18" charset="0"/>
              </a:rPr>
              <a:t> </a:t>
            </a:r>
            <a:r>
              <a:rPr dirty="0">
                <a:latin typeface="Times New Roman" panose="02020603050405020304" pitchFamily="18" charset="0"/>
                <a:ea typeface="Tahoma" panose="020B0604030504040204" pitchFamily="34" charset="0"/>
                <a:cs typeface="Times New Roman" panose="02020603050405020304" pitchFamily="18" charset="0"/>
              </a:rPr>
              <a:t>st</a:t>
            </a:r>
            <a:r>
              <a:rPr spc="-10" dirty="0">
                <a:latin typeface="Times New Roman" panose="02020603050405020304" pitchFamily="18" charset="0"/>
                <a:ea typeface="Tahoma" panose="020B0604030504040204" pitchFamily="34" charset="0"/>
                <a:cs typeface="Times New Roman" panose="02020603050405020304" pitchFamily="18" charset="0"/>
              </a:rPr>
              <a:t>a</a:t>
            </a:r>
            <a:r>
              <a:rPr dirty="0">
                <a:latin typeface="Times New Roman" panose="02020603050405020304" pitchFamily="18" charset="0"/>
                <a:ea typeface="Tahoma" panose="020B0604030504040204" pitchFamily="34" charset="0"/>
                <a:cs typeface="Times New Roman" panose="02020603050405020304" pitchFamily="18" charset="0"/>
              </a:rPr>
              <a:t>tic</a:t>
            </a:r>
            <a:endParaRPr>
              <a:latin typeface="Times New Roman" panose="02020603050405020304" pitchFamily="18" charset="0"/>
              <a:ea typeface="Tahoma" panose="020B0604030504040204" pitchFamily="34" charset="0"/>
              <a:cs typeface="Times New Roman" panose="02020603050405020304" pitchFamily="18" charset="0"/>
            </a:endParaRPr>
          </a:p>
        </p:txBody>
      </p:sp>
      <p:sp>
        <p:nvSpPr>
          <p:cNvPr id="14"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ea typeface="Tahoma" panose="020B0604030504040204" pitchFamily="34" charset="0"/>
                <a:cs typeface="Times New Roman" panose="02020603050405020304" pitchFamily="18" charset="0"/>
              </a:rPr>
              <a:t>tt</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1983991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7</a:t>
            </a:r>
            <a:endParaRPr sz="1200">
              <a:latin typeface="Trebuchet MS"/>
              <a:cs typeface="Trebuchet MS"/>
            </a:endParaRPr>
          </a:p>
        </p:txBody>
      </p:sp>
      <p:sp>
        <p:nvSpPr>
          <p:cNvPr id="8"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tt</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52400" y="3739502"/>
            <a:ext cx="5331465" cy="2508924"/>
          </a:xfrm>
          <a:prstGeom prst="rect">
            <a:avLst/>
          </a:prstGeom>
        </p:spPr>
      </p:pic>
      <p:pic>
        <p:nvPicPr>
          <p:cNvPr id="4" name="Picture 3"/>
          <p:cNvPicPr>
            <a:picLocks noChangeAspect="1"/>
          </p:cNvPicPr>
          <p:nvPr/>
        </p:nvPicPr>
        <p:blipFill>
          <a:blip r:embed="rId3"/>
          <a:stretch>
            <a:fillRect/>
          </a:stretch>
        </p:blipFill>
        <p:spPr>
          <a:xfrm>
            <a:off x="6096000" y="998393"/>
            <a:ext cx="5408631" cy="2741109"/>
          </a:xfrm>
          <a:prstGeom prst="rect">
            <a:avLst/>
          </a:prstGeom>
        </p:spPr>
      </p:pic>
      <p:sp>
        <p:nvSpPr>
          <p:cNvPr id="9"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5" name="Rounded Rectangle 4"/>
          <p:cNvSpPr/>
          <p:nvPr/>
        </p:nvSpPr>
        <p:spPr>
          <a:xfrm>
            <a:off x="1295400" y="1691087"/>
            <a:ext cx="2665911" cy="13557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latin typeface="Times New Roman" panose="02020603050405020304" pitchFamily="18" charset="0"/>
                <a:cs typeface="Times New Roman" panose="02020603050405020304" pitchFamily="18" charset="0"/>
              </a:rPr>
              <a:t>Lớp trừu tượng</a:t>
            </a:r>
          </a:p>
        </p:txBody>
      </p:sp>
      <p:sp>
        <p:nvSpPr>
          <p:cNvPr id="10" name="Rounded Rectangle 9"/>
          <p:cNvSpPr/>
          <p:nvPr/>
        </p:nvSpPr>
        <p:spPr>
          <a:xfrm>
            <a:off x="7315200" y="4316104"/>
            <a:ext cx="2209800" cy="13557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latin typeface="Times New Roman" panose="02020603050405020304" pitchFamily="18" charset="0"/>
                <a:cs typeface="Times New Roman" panose="02020603050405020304" pitchFamily="18" charset="0"/>
              </a:rPr>
              <a:t>Lớp cụ thể</a:t>
            </a:r>
          </a:p>
        </p:txBody>
      </p:sp>
      <p:cxnSp>
        <p:nvCxnSpPr>
          <p:cNvPr id="7" name="Straight Arrow Connector 6"/>
          <p:cNvCxnSpPr>
            <a:stCxn id="5" idx="3"/>
          </p:cNvCxnSpPr>
          <p:nvPr/>
        </p:nvCxnSpPr>
        <p:spPr>
          <a:xfrm>
            <a:off x="3961311" y="2368947"/>
            <a:ext cx="16774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1"/>
            <a:endCxn id="2" idx="3"/>
          </p:cNvCxnSpPr>
          <p:nvPr/>
        </p:nvCxnSpPr>
        <p:spPr>
          <a:xfrm flipH="1">
            <a:off x="5483865" y="4993964"/>
            <a:ext cx="183133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0504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7</a:t>
            </a:r>
            <a:endParaRPr sz="1200">
              <a:latin typeface="Trebuchet MS"/>
              <a:cs typeface="Trebuchet MS"/>
            </a:endParaRPr>
          </a:p>
        </p:txBody>
      </p:sp>
      <p:sp>
        <p:nvSpPr>
          <p:cNvPr id="12" name="object 4"/>
          <p:cNvSpPr txBox="1"/>
          <p:nvPr/>
        </p:nvSpPr>
        <p:spPr>
          <a:xfrm>
            <a:off x="76200" y="1001200"/>
            <a:ext cx="12115800" cy="5116785"/>
          </a:xfrm>
          <a:prstGeom prst="rect">
            <a:avLst/>
          </a:prstGeom>
        </p:spPr>
        <p:txBody>
          <a:bodyPr vert="horz" wrap="square" lIns="0" tIns="88900" rIns="0" bIns="0" rtlCol="0">
            <a:spAutoFit/>
          </a:bodyPr>
          <a:lstStyle/>
          <a:p>
            <a:pPr marL="469900" indent="-457200" algn="just">
              <a:spcBef>
                <a:spcPts val="700"/>
              </a:spcBef>
              <a:buSzPct val="100000"/>
              <a:buFont typeface="Wingdings" panose="05000000000000000000" pitchFamily="2" charset="2"/>
              <a:buChar char="§"/>
              <a:tabLst>
                <a:tab pos="333375" algn="l"/>
              </a:tabLst>
            </a:pPr>
            <a:r>
              <a:rPr lang="en-US" sz="2800" b="1" dirty="0" err="1">
                <a:solidFill>
                  <a:srgbClr val="FF0000"/>
                </a:solidFill>
                <a:latin typeface="Times New Roman" panose="02020603050405020304" pitchFamily="18" charset="0"/>
                <a:cs typeface="Times New Roman" panose="02020603050405020304" pitchFamily="18" charset="0"/>
              </a:rPr>
              <a:t>Chỉ</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ra</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tên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kiểu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và</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giá</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trị</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mặc</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định</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nếu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có</a:t>
            </a:r>
            <a:endParaRPr lang="en-US" sz="2800" b="1" dirty="0">
              <a:solidFill>
                <a:srgbClr val="FF0000"/>
              </a:solidFill>
              <a:latin typeface="Times New Roman" panose="02020603050405020304" pitchFamily="18" charset="0"/>
              <a:cs typeface="Times New Roman" panose="02020603050405020304" pitchFamily="18" charset="0"/>
            </a:endParaRPr>
          </a:p>
          <a:p>
            <a:pPr marL="1384300" lvl="2" indent="-457200" algn="just">
              <a:spcBef>
                <a:spcPts val="700"/>
              </a:spcBef>
              <a:buSzPct val="100000"/>
              <a:buFont typeface="Arial" panose="020B0604020202020204" pitchFamily="34" charset="0"/>
              <a:buChar char="•"/>
              <a:tabLst>
                <a:tab pos="332740" algn="l"/>
                <a:tab pos="333375" algn="l"/>
              </a:tabLst>
            </a:pP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danh</a:t>
            </a:r>
            <a:endParaRPr lang="en-US" sz="2800" dirty="0">
              <a:latin typeface="Times New Roman" panose="02020603050405020304" pitchFamily="18" charset="0"/>
              <a:cs typeface="Times New Roman" panose="02020603050405020304" pitchFamily="18" charset="0"/>
            </a:endParaRPr>
          </a:p>
          <a:p>
            <a:pPr marL="1384300" lvl="2" indent="-457200" algn="just">
              <a:spcBef>
                <a:spcPts val="700"/>
              </a:spcBef>
              <a:buSzPct val="100000"/>
              <a:buFont typeface="Arial" panose="020B0604020202020204" pitchFamily="34" charset="0"/>
              <a:buChar char="•"/>
              <a:tabLst>
                <a:tab pos="332740" algn="l"/>
                <a:tab pos="333375" algn="l"/>
              </a:tabLst>
            </a:pP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gọi</a:t>
            </a:r>
            <a:endParaRPr lang="en-US" sz="2800" dirty="0">
              <a:latin typeface="Times New Roman" panose="02020603050405020304" pitchFamily="18" charset="0"/>
              <a:cs typeface="Times New Roman" panose="02020603050405020304" pitchFamily="18" charset="0"/>
            </a:endParaRPr>
          </a:p>
          <a:p>
            <a:pPr marL="1384300" lvl="2" indent="-457200" algn="just">
              <a:spcBef>
                <a:spcPts val="700"/>
              </a:spcBef>
              <a:buSzPct val="100000"/>
              <a:buFont typeface="Arial" panose="020B0604020202020204" pitchFamily="34" charset="0"/>
              <a:buChar char="•"/>
              <a:tabLst>
                <a:tab pos="332740" algn="l"/>
                <a:tab pos="333375" algn="l"/>
              </a:tabLst>
            </a:pP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tả</a:t>
            </a:r>
            <a:endParaRPr lang="en-US" sz="2800" dirty="0">
              <a:latin typeface="Times New Roman" panose="02020603050405020304" pitchFamily="18" charset="0"/>
              <a:cs typeface="Times New Roman" panose="02020603050405020304" pitchFamily="18" charset="0"/>
            </a:endParaRPr>
          </a:p>
          <a:p>
            <a:pPr marL="1384300" lvl="2" indent="-457200" algn="just">
              <a:spcBef>
                <a:spcPts val="700"/>
              </a:spcBef>
              <a:buSzPct val="100000"/>
              <a:buFont typeface="Arial" panose="020B0604020202020204" pitchFamily="34" charset="0"/>
              <a:buChar char="•"/>
              <a:tabLst>
                <a:tab pos="332740" algn="l"/>
                <a:tab pos="333375" algn="l"/>
              </a:tabLst>
            </a:pP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lặp</a:t>
            </a:r>
            <a:r>
              <a:rPr lang="en-US"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tách</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lớp</a:t>
            </a:r>
            <a:endParaRPr lang="en-US" sz="2800" dirty="0">
              <a:latin typeface="Times New Roman" panose="02020603050405020304" pitchFamily="18" charset="0"/>
              <a:cs typeface="Times New Roman" panose="02020603050405020304" pitchFamily="18" charset="0"/>
            </a:endParaRPr>
          </a:p>
          <a:p>
            <a:pPr marL="12700" algn="just">
              <a:spcBef>
                <a:spcPts val="700"/>
              </a:spcBef>
              <a:buSzPct val="100000"/>
              <a:tabLst>
                <a:tab pos="332740" algn="l"/>
                <a:tab pos="333375" algn="l"/>
              </a:tabLst>
            </a:pPr>
            <a:r>
              <a:rPr lang="en-US" sz="2800" b="1" dirty="0" err="1">
                <a:solidFill>
                  <a:schemeClr val="tx1">
                    <a:lumMod val="60000"/>
                    <a:lumOff val="40000"/>
                  </a:schemeClr>
                </a:solidFill>
                <a:latin typeface="Times New Roman" panose="02020603050405020304" pitchFamily="18" charset="0"/>
                <a:cs typeface="Times New Roman" panose="02020603050405020304" pitchFamily="18" charset="0"/>
              </a:rPr>
              <a:t>Biễu</a:t>
            </a:r>
            <a:r>
              <a:rPr lang="en-US" sz="2800" b="1" dirty="0">
                <a:solidFill>
                  <a:schemeClr val="tx1">
                    <a:lumMod val="60000"/>
                    <a:lumOff val="40000"/>
                  </a:schemeClr>
                </a:solidFill>
                <a:latin typeface="Times New Roman" panose="02020603050405020304" pitchFamily="18" charset="0"/>
                <a:cs typeface="Times New Roman" panose="02020603050405020304" pitchFamily="18" charset="0"/>
              </a:rPr>
              <a:t> </a:t>
            </a:r>
            <a:r>
              <a:rPr lang="en-US" sz="2800" b="1" dirty="0" err="1">
                <a:solidFill>
                  <a:schemeClr val="tx1">
                    <a:lumMod val="60000"/>
                    <a:lumOff val="40000"/>
                  </a:schemeClr>
                </a:solidFill>
                <a:latin typeface="Times New Roman" panose="02020603050405020304" pitchFamily="18" charset="0"/>
                <a:cs typeface="Times New Roman" panose="02020603050405020304" pitchFamily="18" charset="0"/>
              </a:rPr>
              <a:t>diễn</a:t>
            </a:r>
            <a:r>
              <a:rPr lang="en-US" sz="2800" b="1" dirty="0">
                <a:solidFill>
                  <a:schemeClr val="tx1">
                    <a:lumMod val="60000"/>
                    <a:lumOff val="40000"/>
                  </a:schemeClr>
                </a:solidFill>
                <a:latin typeface="Times New Roman" panose="02020603050405020304" pitchFamily="18" charset="0"/>
                <a:cs typeface="Times New Roman" panose="02020603050405020304" pitchFamily="18" charset="0"/>
              </a:rPr>
              <a:t>:</a:t>
            </a:r>
          </a:p>
          <a:p>
            <a:pPr marL="12700" algn="ctr">
              <a:spcBef>
                <a:spcPts val="700"/>
              </a:spcBef>
              <a:buSzPct val="100000"/>
              <a:tabLst>
                <a:tab pos="332740" algn="l"/>
                <a:tab pos="333375" algn="l"/>
              </a:tabLst>
            </a:pPr>
            <a:r>
              <a:rPr lang="en-US" sz="2800" b="1">
                <a:solidFill>
                  <a:srgbClr val="FF0000"/>
                </a:solidFill>
                <a:latin typeface="Times New Roman" panose="02020603050405020304" pitchFamily="18" charset="0"/>
                <a:cs typeface="Times New Roman" panose="02020603050405020304" pitchFamily="18" charset="0"/>
              </a:rPr>
              <a:t>AttributeName: </a:t>
            </a:r>
            <a:r>
              <a:rPr lang="en-US" sz="2800" b="1" dirty="0">
                <a:solidFill>
                  <a:srgbClr val="FF0000"/>
                </a:solidFill>
                <a:latin typeface="Times New Roman" panose="02020603050405020304" pitchFamily="18" charset="0"/>
                <a:cs typeface="Times New Roman" panose="02020603050405020304" pitchFamily="18" charset="0"/>
              </a:rPr>
              <a:t>Type = Default</a:t>
            </a:r>
          </a:p>
          <a:p>
            <a:pPr marL="469900" indent="-457200" algn="just">
              <a:spcBef>
                <a:spcPts val="700"/>
              </a:spcBef>
              <a:buSzPct val="100000"/>
              <a:buFont typeface="Wingdings" panose="05000000000000000000" pitchFamily="2" charset="2"/>
              <a:buChar char="ü"/>
              <a:tabLst>
                <a:tab pos="333375" algn="l"/>
                <a:tab pos="566738" algn="l"/>
              </a:tabLst>
            </a:pPr>
            <a:r>
              <a:rPr lang="en-US" sz="2800" b="1" dirty="0" err="1">
                <a:solidFill>
                  <a:srgbClr val="FF0000"/>
                </a:solidFill>
                <a:latin typeface="Times New Roman" panose="02020603050405020304" pitchFamily="18" charset="0"/>
                <a:cs typeface="Times New Roman" panose="02020603050405020304" pitchFamily="18" charset="0"/>
              </a:rPr>
              <a:t>AttributeName</a:t>
            </a:r>
            <a:r>
              <a:rPr lang="vi-VN" sz="2800" b="1" dirty="0">
                <a:solidFill>
                  <a:srgbClr val="FF0000"/>
                </a:solidFill>
                <a:latin typeface="Times New Roman" panose="02020603050405020304" pitchFamily="18" charset="0"/>
                <a:cs typeface="Times New Roman" panose="02020603050405020304" pitchFamily="18" charset="0"/>
              </a:rPr>
              <a:t>:</a:t>
            </a:r>
            <a:r>
              <a:rPr lang="vi-VN" sz="2800" b="1"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thường là một danh từ hoặc cụm danh từ mô tả rõ ràng ý nghĩa của thuộc </a:t>
            </a:r>
            <a:r>
              <a:rPr lang="vi-VN" sz="2800">
                <a:latin typeface="Times New Roman" panose="02020603050405020304" pitchFamily="18" charset="0"/>
                <a:cs typeface="Times New Roman" panose="02020603050405020304" pitchFamily="18" charset="0"/>
              </a:rPr>
              <a:t>tính đó</a:t>
            </a:r>
            <a:endParaRPr lang="en-US" sz="2800" dirty="0">
              <a:latin typeface="Times New Roman" panose="02020603050405020304" pitchFamily="18" charset="0"/>
              <a:cs typeface="Times New Roman" panose="02020603050405020304" pitchFamily="18" charset="0"/>
            </a:endParaRPr>
          </a:p>
          <a:p>
            <a:pPr marL="12700" algn="just">
              <a:spcBef>
                <a:spcPts val="700"/>
              </a:spcBef>
              <a:buSzPct val="100000"/>
              <a:tabLst>
                <a:tab pos="333375" algn="l"/>
                <a:tab pos="566738" algn="l"/>
              </a:tabLst>
            </a:pPr>
            <a:r>
              <a:rPr lang="en-US" sz="2800">
                <a:latin typeface="Times New Roman" panose="02020603050405020304" pitchFamily="18" charset="0"/>
                <a:cs typeface="Times New Roman" panose="02020603050405020304" pitchFamily="18" charset="0"/>
                <a:sym typeface="Wingdings" panose="05000000000000000000" pitchFamily="2" charset="2"/>
              </a:rPr>
              <a:t>				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Tuân</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thủ</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quy</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tắc</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đặt</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tên</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ngôn</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ngữ</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cài</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đặt</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của</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err="1">
                <a:latin typeface="Times New Roman" panose="02020603050405020304" pitchFamily="18" charset="0"/>
                <a:cs typeface="Times New Roman" panose="02020603050405020304" pitchFamily="18" charset="0"/>
                <a:sym typeface="Wingdings" panose="05000000000000000000" pitchFamily="2" charset="2"/>
              </a:rPr>
              <a:t>dự</a:t>
            </a:r>
            <a:r>
              <a:rPr lang="en-US" sz="2800">
                <a:latin typeface="Times New Roman" panose="02020603050405020304" pitchFamily="18" charset="0"/>
                <a:cs typeface="Times New Roman" panose="02020603050405020304" pitchFamily="18" charset="0"/>
                <a:sym typeface="Wingdings" panose="05000000000000000000" pitchFamily="2" charset="2"/>
              </a:rPr>
              <a:t> án</a:t>
            </a:r>
            <a:endParaRPr lang="en-US" sz="2800" dirty="0">
              <a:latin typeface="Times New Roman" panose="02020603050405020304" pitchFamily="18" charset="0"/>
              <a:cs typeface="Times New Roman" panose="02020603050405020304" pitchFamily="18" charset="0"/>
            </a:endParaRPr>
          </a:p>
        </p:txBody>
      </p:sp>
      <p:sp>
        <p:nvSpPr>
          <p:cNvPr id="8" name="object 2"/>
          <p:cNvSpPr txBox="1">
            <a:spLocks noGrp="1"/>
          </p:cNvSpPr>
          <p:nvPr>
            <p:ph type="title"/>
          </p:nvPr>
        </p:nvSpPr>
        <p:spPr>
          <a:xfrm>
            <a:off x="2249170" y="118978"/>
            <a:ext cx="761746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a:latin typeface="Times New Roman" panose="02020603050405020304" pitchFamily="18" charset="0"/>
                <a:cs typeface="Times New Roman" panose="02020603050405020304" pitchFamily="18" charset="0"/>
              </a:rPr>
              <a:t>Attributes</a:t>
            </a:r>
            <a:endParaRPr lang="en-US"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393480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7</a:t>
            </a:r>
            <a:endParaRPr sz="1200">
              <a:latin typeface="Trebuchet MS"/>
              <a:cs typeface="Trebuchet MS"/>
            </a:endParaRPr>
          </a:p>
        </p:txBody>
      </p:sp>
      <p:sp>
        <p:nvSpPr>
          <p:cNvPr id="12" name="object 4"/>
          <p:cNvSpPr txBox="1"/>
          <p:nvPr/>
        </p:nvSpPr>
        <p:spPr>
          <a:xfrm>
            <a:off x="76200" y="1001200"/>
            <a:ext cx="12115800" cy="3465051"/>
          </a:xfrm>
          <a:prstGeom prst="rect">
            <a:avLst/>
          </a:prstGeom>
        </p:spPr>
        <p:txBody>
          <a:bodyPr vert="horz" wrap="square" lIns="0" tIns="88900" rIns="0" bIns="0" rtlCol="0">
            <a:spAutoFit/>
          </a:bodyPr>
          <a:lstStyle/>
          <a:p>
            <a:pPr marL="469900" indent="-457200" algn="just">
              <a:spcBef>
                <a:spcPts val="700"/>
              </a:spcBef>
              <a:buSzPct val="100000"/>
              <a:buFont typeface="Wingdings" panose="05000000000000000000" pitchFamily="2" charset="2"/>
              <a:buChar char="ü"/>
              <a:tabLst>
                <a:tab pos="333375" algn="l"/>
                <a:tab pos="566738" algn="l"/>
              </a:tabLst>
            </a:pPr>
            <a:r>
              <a:rPr lang="vi-VN" sz="2800" b="1" dirty="0">
                <a:solidFill>
                  <a:srgbClr val="FF0000"/>
                </a:solidFill>
                <a:latin typeface="Times New Roman" panose="02020603050405020304" pitchFamily="18" charset="0"/>
                <a:cs typeface="Times New Roman" panose="02020603050405020304" pitchFamily="18" charset="0"/>
              </a:rPr>
              <a:t>Kiểu </a:t>
            </a:r>
            <a:r>
              <a:rPr lang="vi-VN" sz="2800" b="1">
                <a:solidFill>
                  <a:srgbClr val="FF0000"/>
                </a:solidFill>
                <a:latin typeface="Times New Roman" panose="02020603050405020304" pitchFamily="18" charset="0"/>
                <a:cs typeface="Times New Roman" panose="02020603050405020304" pitchFamily="18" charset="0"/>
              </a:rPr>
              <a:t>dữ liệu</a:t>
            </a:r>
            <a:r>
              <a:rPr lang="en-US" sz="2800" b="1">
                <a:solidFill>
                  <a:srgbClr val="FF0000"/>
                </a:solidFill>
                <a:latin typeface="Times New Roman" panose="02020603050405020304" pitchFamily="18" charset="0"/>
                <a:cs typeface="Times New Roman" panose="02020603050405020304" pitchFamily="18" charset="0"/>
              </a:rPr>
              <a:t> (type)</a:t>
            </a:r>
            <a:r>
              <a:rPr lang="vi-VN" sz="2800" b="1">
                <a:solidFill>
                  <a:srgbClr val="FF0000"/>
                </a:solidFill>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Chỉ rõ loại dữ liệu mà thuộc tính có thể chứa,</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số nguyên (int), số thực (float), chuỗi (string), boolean, hoặc các kiểu dữ liệu do người dùng tự </a:t>
            </a:r>
            <a:r>
              <a:rPr lang="vi-VN" sz="2800">
                <a:latin typeface="Times New Roman" panose="02020603050405020304" pitchFamily="18" charset="0"/>
                <a:cs typeface="Times New Roman" panose="02020603050405020304" pitchFamily="18" charset="0"/>
              </a:rPr>
              <a:t>định nghĩa</a:t>
            </a:r>
            <a:endParaRPr lang="en-US" sz="2800" dirty="0">
              <a:latin typeface="Times New Roman" panose="02020603050405020304" pitchFamily="18" charset="0"/>
              <a:cs typeface="Times New Roman" panose="02020603050405020304" pitchFamily="18" charset="0"/>
            </a:endParaRPr>
          </a:p>
          <a:p>
            <a:pPr marL="1270000" lvl="2" indent="-342900" algn="ctr">
              <a:spcBef>
                <a:spcPts val="700"/>
              </a:spcBef>
              <a:buSzPct val="100000"/>
              <a:buFont typeface="Wingdings" panose="05000000000000000000" pitchFamily="2" charset="2"/>
              <a:buChar char="è"/>
              <a:tabLst>
                <a:tab pos="333375" algn="l"/>
                <a:tab pos="566738" algn="l"/>
              </a:tabLst>
            </a:pPr>
            <a:r>
              <a:rPr lang="en-US" sz="2800">
                <a:latin typeface="Times New Roman" panose="02020603050405020304" pitchFamily="18" charset="0"/>
                <a:cs typeface="Times New Roman" panose="02020603050405020304" pitchFamily="18" charset="0"/>
                <a:sym typeface="Wingdings" panose="05000000000000000000" pitchFamily="2" charset="2"/>
              </a:rPr>
              <a:t> Nên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là</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kiểu</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dữ</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liệu</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cơ</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bản</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trong</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ngôn</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latin typeface="Times New Roman" panose="02020603050405020304" pitchFamily="18" charset="0"/>
                <a:cs typeface="Times New Roman" panose="02020603050405020304" pitchFamily="18" charset="0"/>
                <a:sym typeface="Wingdings" panose="05000000000000000000" pitchFamily="2" charset="2"/>
              </a:rPr>
              <a:t>ngữ</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err="1">
                <a:latin typeface="Times New Roman" panose="02020603050405020304" pitchFamily="18" charset="0"/>
                <a:cs typeface="Times New Roman" panose="02020603050405020304" pitchFamily="18" charset="0"/>
                <a:sym typeface="Wingdings" panose="05000000000000000000" pitchFamily="2" charset="2"/>
              </a:rPr>
              <a:t>thực</a:t>
            </a:r>
            <a:r>
              <a:rPr lang="en-US" sz="2800">
                <a:latin typeface="Times New Roman" panose="02020603050405020304" pitchFamily="18" charset="0"/>
                <a:cs typeface="Times New Roman" panose="02020603050405020304" pitchFamily="18" charset="0"/>
                <a:sym typeface="Wingdings" panose="05000000000000000000" pitchFamily="2" charset="2"/>
              </a:rPr>
              <a:t> thi</a:t>
            </a:r>
            <a:endParaRPr lang="en-US" sz="2800" dirty="0">
              <a:latin typeface="Times New Roman" panose="02020603050405020304" pitchFamily="18" charset="0"/>
              <a:cs typeface="Times New Roman" panose="02020603050405020304" pitchFamily="18" charset="0"/>
              <a:sym typeface="Wingdings" panose="05000000000000000000" pitchFamily="2" charset="2"/>
            </a:endParaRPr>
          </a:p>
          <a:p>
            <a:pPr marL="12700" algn="just">
              <a:spcBef>
                <a:spcPts val="700"/>
              </a:spcBef>
              <a:buSzPct val="100000"/>
              <a:tabLst>
                <a:tab pos="333375" algn="l"/>
                <a:tab pos="566738" algn="l"/>
              </a:tabLst>
            </a:pPr>
            <a:r>
              <a:rPr lang="en-US" sz="2800" b="1"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Ví</a:t>
            </a:r>
            <a:r>
              <a:rPr lang="en-US" sz="28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2800" b="1"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dụ</a:t>
            </a:r>
            <a:r>
              <a:rPr lang="en-US" sz="28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2800" dirty="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ho ten: string</a:t>
            </a:r>
          </a:p>
          <a:p>
            <a:pPr marL="12700" algn="just">
              <a:spcBef>
                <a:spcPts val="700"/>
              </a:spcBef>
              <a:buSzPct val="100000"/>
              <a:tabLst>
                <a:tab pos="333375" algn="l"/>
                <a:tab pos="566738" algn="l"/>
              </a:tabLst>
            </a:pPr>
            <a:r>
              <a:rPr lang="en-US" sz="2800" dirty="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a:t>
            </a:r>
            <a:r>
              <a:rPr lang="en-US" sz="2800" dirty="0" err="1">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dia</a:t>
            </a:r>
            <a:r>
              <a:rPr lang="en-US" sz="2800" dirty="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chi: string</a:t>
            </a:r>
          </a:p>
          <a:p>
            <a:pPr marL="12700" algn="just">
              <a:spcBef>
                <a:spcPts val="700"/>
              </a:spcBef>
              <a:buSzPct val="100000"/>
              <a:tabLst>
                <a:tab pos="333375" algn="l"/>
                <a:tab pos="566738" algn="l"/>
              </a:tabLst>
            </a:pPr>
            <a:r>
              <a:rPr lang="en-US" sz="2800" dirty="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Thoi </a:t>
            </a:r>
            <a:r>
              <a:rPr lang="en-US" sz="2800" dirty="0" err="1">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han</a:t>
            </a:r>
            <a:r>
              <a:rPr lang="en-US" sz="2800" dirty="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Date </a:t>
            </a:r>
            <a:r>
              <a:rPr lang="en-US" sz="2800">
                <a:solidFill>
                  <a:srgbClr val="00B050"/>
                </a:solidFill>
                <a:latin typeface="Times New Roman" panose="02020603050405020304" pitchFamily="18" charset="0"/>
                <a:cs typeface="Times New Roman" panose="02020603050405020304" pitchFamily="18" charset="0"/>
                <a:sym typeface="Wingdings" panose="05000000000000000000" pitchFamily="2" charset="2"/>
              </a:rPr>
              <a:t>= 29</a:t>
            </a:r>
            <a:endParaRPr lang="en-US" sz="2800" dirty="0">
              <a:solidFill>
                <a:srgbClr val="00B050"/>
              </a:solidFill>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8" name="object 2"/>
          <p:cNvSpPr txBox="1">
            <a:spLocks noGrp="1"/>
          </p:cNvSpPr>
          <p:nvPr>
            <p:ph type="title"/>
          </p:nvPr>
        </p:nvSpPr>
        <p:spPr>
          <a:xfrm>
            <a:off x="2381886" y="152400"/>
            <a:ext cx="7371715"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a:latin typeface="Times New Roman" panose="02020603050405020304" pitchFamily="18" charset="0"/>
                <a:cs typeface="Times New Roman" panose="02020603050405020304" pitchFamily="18" charset="0"/>
              </a:rPr>
              <a:t>Attributes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tt</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0903232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16</a:t>
            </a:r>
            <a:endParaRPr sz="1200">
              <a:latin typeface="Trebuchet MS"/>
              <a:cs typeface="Trebuchet MS"/>
            </a:endParaRPr>
          </a:p>
        </p:txBody>
      </p:sp>
      <p:sp>
        <p:nvSpPr>
          <p:cNvPr id="4" name="object 4"/>
          <p:cNvSpPr txBox="1"/>
          <p:nvPr/>
        </p:nvSpPr>
        <p:spPr>
          <a:xfrm>
            <a:off x="0" y="990600"/>
            <a:ext cx="12192000" cy="520014"/>
          </a:xfrm>
          <a:prstGeom prst="rect">
            <a:avLst/>
          </a:prstGeom>
        </p:spPr>
        <p:txBody>
          <a:bodyPr vert="horz" wrap="square" lIns="0" tIns="103505" rIns="0" bIns="0" rtlCol="0">
            <a:spAutoFit/>
          </a:bodyPr>
          <a:lstStyle/>
          <a:p>
            <a:pPr marL="512762" indent="-457200" algn="just">
              <a:spcBef>
                <a:spcPts val="605"/>
              </a:spcBef>
              <a:buFont typeface="Wingdings" panose="05000000000000000000" pitchFamily="2" charset="2"/>
              <a:buChar char="§"/>
            </a:pPr>
            <a:r>
              <a:rPr lang="vi-VN" sz="2700">
                <a:latin typeface="Times New Roman" panose="02020603050405020304" pitchFamily="18" charset="0"/>
                <a:cs typeface="Times New Roman" panose="02020603050405020304" pitchFamily="18" charset="0"/>
              </a:rPr>
              <a:t>Mô </a:t>
            </a:r>
            <a:r>
              <a:rPr lang="vi-VN" sz="2700" dirty="0">
                <a:latin typeface="Times New Roman" panose="02020603050405020304" pitchFamily="18" charset="0"/>
                <a:cs typeface="Times New Roman" panose="02020603050405020304" pitchFamily="18" charset="0"/>
              </a:rPr>
              <a:t>tả hành động mà một đối tượng có thể </a:t>
            </a:r>
            <a:r>
              <a:rPr lang="vi-VN" sz="2700">
                <a:latin typeface="Times New Roman" panose="02020603050405020304" pitchFamily="18" charset="0"/>
                <a:cs typeface="Times New Roman" panose="02020603050405020304" pitchFamily="18" charset="0"/>
              </a:rPr>
              <a:t>thực hiện</a:t>
            </a:r>
            <a:endParaRPr lang="en-US" sz="2700" dirty="0">
              <a:latin typeface="Times New Roman" panose="02020603050405020304" pitchFamily="18" charset="0"/>
              <a:cs typeface="Times New Roman" panose="02020603050405020304" pitchFamily="18" charset="0"/>
            </a:endParaRPr>
          </a:p>
        </p:txBody>
      </p:sp>
      <p:sp>
        <p:nvSpPr>
          <p:cNvPr id="7" name="object 2"/>
          <p:cNvSpPr txBox="1">
            <a:spLocks noGrp="1"/>
          </p:cNvSpPr>
          <p:nvPr>
            <p:ph type="title"/>
          </p:nvPr>
        </p:nvSpPr>
        <p:spPr>
          <a:xfrm>
            <a:off x="2440940" y="118978"/>
            <a:ext cx="731266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a:latin typeface="Times New Roman" panose="02020603050405020304" pitchFamily="18" charset="0"/>
                <a:cs typeface="Times New Roman" panose="02020603050405020304" pitchFamily="18" charset="0"/>
              </a:rPr>
              <a:t>Operations</a:t>
            </a: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3694901" y="2362201"/>
            <a:ext cx="4802199" cy="3692013"/>
          </a:xfrm>
          <a:prstGeom prst="rect">
            <a:avLst/>
          </a:prstGeom>
        </p:spPr>
      </p:pic>
      <p:sp>
        <p:nvSpPr>
          <p:cNvPr id="8"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286849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a:solidFill>
                  <a:srgbClr val="FFFFFF"/>
                </a:solidFill>
                <a:latin typeface="Trebuchet MS"/>
                <a:cs typeface="Trebuchet MS"/>
              </a:rPr>
              <a:t>16</a:t>
            </a:r>
            <a:endParaRPr sz="1200">
              <a:latin typeface="Trebuchet MS"/>
              <a:cs typeface="Trebuchet MS"/>
            </a:endParaRPr>
          </a:p>
        </p:txBody>
      </p:sp>
      <p:sp>
        <p:nvSpPr>
          <p:cNvPr id="4" name="object 4"/>
          <p:cNvSpPr txBox="1"/>
          <p:nvPr/>
        </p:nvSpPr>
        <p:spPr>
          <a:xfrm>
            <a:off x="0" y="990600"/>
            <a:ext cx="12192000" cy="3428503"/>
          </a:xfrm>
          <a:prstGeom prst="rect">
            <a:avLst/>
          </a:prstGeom>
        </p:spPr>
        <p:txBody>
          <a:bodyPr vert="horz" wrap="square" lIns="0" tIns="103505" rIns="0" bIns="0" rtlCol="0">
            <a:spAutoFit/>
          </a:bodyPr>
          <a:lstStyle/>
          <a:p>
            <a:pPr marL="228600" indent="-228600" algn="just">
              <a:spcBef>
                <a:spcPts val="605"/>
              </a:spcBef>
              <a:buFont typeface="Wingdings" panose="05000000000000000000" pitchFamily="2" charset="2"/>
              <a:buChar char="§"/>
            </a:pPr>
            <a:r>
              <a:rPr lang="vi-VN" sz="2800" dirty="0">
                <a:solidFill>
                  <a:srgbClr val="FF0000"/>
                </a:solidFill>
                <a:latin typeface="Times New Roman" panose="02020603050405020304" pitchFamily="18" charset="0"/>
                <a:cs typeface="Times New Roman" panose="02020603050405020304" pitchFamily="18" charset="0"/>
              </a:rPr>
              <a:t>Private ( - </a:t>
            </a:r>
            <a:r>
              <a:rPr lang="vi-VN" sz="2800">
                <a:solidFill>
                  <a:srgbClr val="FF0000"/>
                </a:solidFill>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Chỉ </a:t>
            </a:r>
            <a:r>
              <a:rPr lang="vi-VN" sz="2800" dirty="0">
                <a:latin typeface="Times New Roman" panose="02020603050405020304" pitchFamily="18" charset="0"/>
                <a:cs typeface="Times New Roman" panose="02020603050405020304" pitchFamily="18" charset="0"/>
              </a:rPr>
              <a:t>mình các đối tượng được tạo từ class này có</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thể </a:t>
            </a:r>
            <a:r>
              <a:rPr lang="vi-VN" sz="2800">
                <a:latin typeface="Times New Roman" panose="02020603050405020304" pitchFamily="18" charset="0"/>
                <a:cs typeface="Times New Roman" panose="02020603050405020304" pitchFamily="18" charset="0"/>
              </a:rPr>
              <a:t>sử dụng</a:t>
            </a:r>
            <a:endParaRPr lang="vi-VN" sz="2800" dirty="0">
              <a:latin typeface="Times New Roman" panose="02020603050405020304" pitchFamily="18" charset="0"/>
              <a:cs typeface="Times New Roman" panose="02020603050405020304" pitchFamily="18" charset="0"/>
            </a:endParaRPr>
          </a:p>
          <a:p>
            <a:pPr marL="228600" indent="-228600" algn="just">
              <a:spcBef>
                <a:spcPts val="605"/>
              </a:spcBef>
              <a:buFont typeface="Wingdings" panose="05000000000000000000" pitchFamily="2" charset="2"/>
              <a:buChar char="§"/>
            </a:pPr>
            <a:r>
              <a:rPr lang="vi-VN" sz="2800" dirty="0">
                <a:solidFill>
                  <a:srgbClr val="FF0000"/>
                </a:solidFill>
                <a:latin typeface="Times New Roman" panose="02020603050405020304" pitchFamily="18" charset="0"/>
                <a:cs typeface="Times New Roman" panose="02020603050405020304" pitchFamily="18" charset="0"/>
              </a:rPr>
              <a:t>Public ( + ): </a:t>
            </a:r>
            <a:r>
              <a:rPr lang="vi-VN" sz="2800" dirty="0">
                <a:latin typeface="Times New Roman" panose="02020603050405020304" pitchFamily="18" charset="0"/>
                <a:cs typeface="Times New Roman" panose="02020603050405020304" pitchFamily="18" charset="0"/>
              </a:rPr>
              <a:t>Mọi đối tượng đều có thể </a:t>
            </a:r>
            <a:r>
              <a:rPr lang="vi-VN" sz="2800">
                <a:latin typeface="Times New Roman" panose="02020603050405020304" pitchFamily="18" charset="0"/>
                <a:cs typeface="Times New Roman" panose="02020603050405020304" pitchFamily="18" charset="0"/>
              </a:rPr>
              <a:t>sử dụng</a:t>
            </a:r>
            <a:endParaRPr lang="vi-VN" sz="2800" dirty="0">
              <a:latin typeface="Times New Roman" panose="02020603050405020304" pitchFamily="18" charset="0"/>
              <a:cs typeface="Times New Roman" panose="02020603050405020304" pitchFamily="18" charset="0"/>
            </a:endParaRPr>
          </a:p>
          <a:p>
            <a:pPr marL="228600" indent="-228600" algn="just">
              <a:spcBef>
                <a:spcPts val="605"/>
              </a:spcBef>
              <a:buFont typeface="Wingdings" panose="05000000000000000000" pitchFamily="2" charset="2"/>
              <a:buChar char="§"/>
            </a:pPr>
            <a:r>
              <a:rPr lang="vi-VN" sz="2800" dirty="0">
                <a:solidFill>
                  <a:srgbClr val="FF0000"/>
                </a:solidFill>
                <a:latin typeface="Times New Roman" panose="02020603050405020304" pitchFamily="18" charset="0"/>
                <a:cs typeface="Times New Roman" panose="02020603050405020304" pitchFamily="18" charset="0"/>
              </a:rPr>
              <a:t>Protected ( # ): </a:t>
            </a:r>
            <a:r>
              <a:rPr lang="vi-VN" sz="2800" dirty="0">
                <a:latin typeface="Times New Roman" panose="02020603050405020304" pitchFamily="18" charset="0"/>
                <a:cs typeface="Times New Roman" panose="02020603050405020304" pitchFamily="18" charset="0"/>
              </a:rPr>
              <a:t>Chỉ các đối tượng được tạo từ class này và class kế thừa từ class này có thể </a:t>
            </a:r>
            <a:r>
              <a:rPr lang="vi-VN" sz="2800">
                <a:latin typeface="Times New Roman" panose="02020603050405020304" pitchFamily="18" charset="0"/>
                <a:cs typeface="Times New Roman" panose="02020603050405020304" pitchFamily="18" charset="0"/>
              </a:rPr>
              <a:t>sử dụng</a:t>
            </a:r>
            <a:endParaRPr lang="vi-VN" sz="2800" dirty="0">
              <a:latin typeface="Times New Roman" panose="02020603050405020304" pitchFamily="18" charset="0"/>
              <a:cs typeface="Times New Roman" panose="02020603050405020304" pitchFamily="18" charset="0"/>
            </a:endParaRPr>
          </a:p>
          <a:p>
            <a:pPr marL="228600" indent="-228600" algn="just">
              <a:spcBef>
                <a:spcPts val="605"/>
              </a:spcBef>
              <a:buFont typeface="Wingdings" panose="05000000000000000000" pitchFamily="2" charset="2"/>
              <a:buChar char="§"/>
            </a:pPr>
            <a:r>
              <a:rPr lang="vi-VN" sz="2800" dirty="0">
                <a:solidFill>
                  <a:srgbClr val="FF0000"/>
                </a:solidFill>
                <a:latin typeface="Times New Roman" panose="02020603050405020304" pitchFamily="18" charset="0"/>
                <a:cs typeface="Times New Roman" panose="02020603050405020304" pitchFamily="18" charset="0"/>
              </a:rPr>
              <a:t>Package/</a:t>
            </a:r>
            <a:r>
              <a:rPr lang="vi-VN" sz="2800">
                <a:solidFill>
                  <a:srgbClr val="FF0000"/>
                </a:solidFill>
                <a:latin typeface="Times New Roman" panose="02020603050405020304" pitchFamily="18" charset="0"/>
                <a:cs typeface="Times New Roman" panose="02020603050405020304" pitchFamily="18" charset="0"/>
              </a:rPr>
              <a:t>Default</a:t>
            </a:r>
            <a:r>
              <a:rPr lang="en-US" sz="2800">
                <a:solidFill>
                  <a:srgbClr val="FF0000"/>
                </a:solidFill>
                <a:latin typeface="Times New Roman" panose="02020603050405020304" pitchFamily="18" charset="0"/>
                <a:cs typeface="Times New Roman" panose="02020603050405020304" pitchFamily="18" charset="0"/>
              </a:rPr>
              <a:t> (~):</a:t>
            </a:r>
            <a:r>
              <a:rPr lang="vi-VN" sz="2800">
                <a:solidFill>
                  <a:srgbClr val="FF0000"/>
                </a:solidFill>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Các đối tượng được tạo từ class trong lớp cùng gói có thể </a:t>
            </a:r>
            <a:r>
              <a:rPr lang="vi-VN" sz="2800">
                <a:latin typeface="Times New Roman" panose="02020603050405020304" pitchFamily="18" charset="0"/>
                <a:cs typeface="Times New Roman" panose="02020603050405020304" pitchFamily="18" charset="0"/>
              </a:rPr>
              <a:t>sử dụng</a:t>
            </a:r>
            <a:r>
              <a:rPr lang="en-US" sz="2800">
                <a:latin typeface="Times New Roman" panose="02020603050405020304" pitchFamily="18" charset="0"/>
                <a:cs typeface="Times New Roman" panose="02020603050405020304" pitchFamily="18" charset="0"/>
              </a:rPr>
              <a:t> </a:t>
            </a:r>
            <a:endParaRPr lang="vi-VN" sz="2800" dirty="0">
              <a:latin typeface="Times New Roman" panose="02020603050405020304" pitchFamily="18" charset="0"/>
              <a:cs typeface="Times New Roman" panose="02020603050405020304" pitchFamily="18" charset="0"/>
            </a:endParaRPr>
          </a:p>
          <a:p>
            <a:pPr marL="322263" indent="-266700" algn="just">
              <a:spcBef>
                <a:spcPts val="605"/>
              </a:spcBef>
            </a:pPr>
            <a:endParaRPr lang="en-US" sz="2800" dirty="0">
              <a:latin typeface="Times New Roman" panose="02020603050405020304" pitchFamily="18" charset="0"/>
              <a:cs typeface="Times New Roman" panose="02020603050405020304" pitchFamily="18" charset="0"/>
            </a:endParaRPr>
          </a:p>
        </p:txBody>
      </p:sp>
      <p:sp>
        <p:nvSpPr>
          <p:cNvPr id="7" name="object 2"/>
          <p:cNvSpPr txBox="1">
            <a:spLocks noGrp="1"/>
          </p:cNvSpPr>
          <p:nvPr>
            <p:ph type="title"/>
          </p:nvPr>
        </p:nvSpPr>
        <p:spPr>
          <a:xfrm>
            <a:off x="1219200" y="73557"/>
            <a:ext cx="97536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a:latin typeface="Times New Roman" panose="02020603050405020304" pitchFamily="18" charset="0"/>
                <a:cs typeface="Times New Roman" panose="02020603050405020304" pitchFamily="18" charset="0"/>
              </a:rPr>
              <a:t>P</a:t>
            </a:r>
            <a:r>
              <a:rPr lang="vi-VN" dirty="0">
                <a:latin typeface="Times New Roman" panose="02020603050405020304" pitchFamily="18" charset="0"/>
                <a:cs typeface="Times New Roman" panose="02020603050405020304" pitchFamily="18" charset="0"/>
              </a:rPr>
              <a:t>hạm vi truy cập</a:t>
            </a:r>
            <a:r>
              <a:rPr lang="en-US" dirty="0">
                <a:latin typeface="Times New Roman" panose="02020603050405020304" pitchFamily="18" charset="0"/>
                <a:cs typeface="Times New Roman" panose="02020603050405020304" pitchFamily="18" charset="0"/>
              </a:rPr>
              <a:t> attributes/ operations</a:t>
            </a:r>
            <a:endParaRPr dirty="0">
              <a:latin typeface="Times New Roman" panose="02020603050405020304" pitchFamily="18" charset="0"/>
              <a:cs typeface="Times New Roman" panose="02020603050405020304" pitchFamily="18" charset="0"/>
            </a:endParaRPr>
          </a:p>
        </p:txBody>
      </p:sp>
      <p:sp>
        <p:nvSpPr>
          <p:cNvPr id="8"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960467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16</a:t>
            </a:r>
            <a:endParaRPr sz="1200">
              <a:latin typeface="Trebuchet MS"/>
              <a:cs typeface="Trebuchet MS"/>
            </a:endParaRPr>
          </a:p>
        </p:txBody>
      </p:sp>
      <p:sp>
        <p:nvSpPr>
          <p:cNvPr id="4" name="object 4"/>
          <p:cNvSpPr txBox="1"/>
          <p:nvPr/>
        </p:nvSpPr>
        <p:spPr>
          <a:xfrm>
            <a:off x="2438400" y="73557"/>
            <a:ext cx="7315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marL="12700" algn="ctr" eaLnBrk="1" hangingPunct="1">
              <a:lnSpc>
                <a:spcPct val="100000"/>
              </a:lnSpc>
              <a:spcBef>
                <a:spcPts val="100"/>
              </a:spcBef>
              <a:defRPr sz="3200" b="1">
                <a:solidFill>
                  <a:schemeClr val="bg1"/>
                </a:solidFill>
                <a:latin typeface="Times New Roman" panose="02020603050405020304" pitchFamily="18" charset="0"/>
                <a:ea typeface="+mj-ea"/>
                <a:cs typeface="Times New Roman" panose="02020603050405020304" pitchFamily="18" charset="0"/>
              </a:defRPr>
            </a:lvl1pPr>
            <a:lvl2pPr algn="ctr" eaLnBrk="1" hangingPunct="1">
              <a:defRPr sz="3600" b="1">
                <a:solidFill>
                  <a:schemeClr val="bg1"/>
                </a:solidFill>
              </a:defRPr>
            </a:lvl2pPr>
            <a:lvl3pPr algn="ctr" eaLnBrk="1" hangingPunct="1">
              <a:defRPr sz="3600" b="1">
                <a:solidFill>
                  <a:schemeClr val="bg1"/>
                </a:solidFill>
              </a:defRPr>
            </a:lvl3pPr>
            <a:lvl4pPr algn="ctr" eaLnBrk="1" hangingPunct="1">
              <a:defRPr sz="3600" b="1">
                <a:solidFill>
                  <a:schemeClr val="bg1"/>
                </a:solidFill>
              </a:defRPr>
            </a:lvl4pPr>
            <a:lvl5pPr algn="ctr" eaLnBrk="1" hangingPunct="1">
              <a:defRPr sz="3600" b="1">
                <a:solidFill>
                  <a:schemeClr val="bg1"/>
                </a:solidFill>
              </a:defRPr>
            </a:lvl5pPr>
            <a:lvl6pPr marL="457200" algn="ctr" fontAlgn="base">
              <a:spcBef>
                <a:spcPct val="0"/>
              </a:spcBef>
              <a:spcAft>
                <a:spcPct val="0"/>
              </a:spcAft>
              <a:defRPr sz="3600" b="1">
                <a:solidFill>
                  <a:schemeClr val="bg1"/>
                </a:solidFill>
              </a:defRPr>
            </a:lvl6pPr>
            <a:lvl7pPr marL="914400" algn="ctr" fontAlgn="base">
              <a:spcBef>
                <a:spcPct val="0"/>
              </a:spcBef>
              <a:spcAft>
                <a:spcPct val="0"/>
              </a:spcAft>
              <a:defRPr sz="3600" b="1">
                <a:solidFill>
                  <a:schemeClr val="bg1"/>
                </a:solidFill>
              </a:defRPr>
            </a:lvl7pPr>
            <a:lvl8pPr marL="1371600" algn="ctr" fontAlgn="base">
              <a:spcBef>
                <a:spcPct val="0"/>
              </a:spcBef>
              <a:spcAft>
                <a:spcPct val="0"/>
              </a:spcAft>
              <a:defRPr sz="3600" b="1">
                <a:solidFill>
                  <a:schemeClr val="bg1"/>
                </a:solidFill>
              </a:defRPr>
            </a:lvl8pPr>
            <a:lvl9pPr marL="1828800" algn="ctr" fontAlgn="base">
              <a:spcBef>
                <a:spcPct val="0"/>
              </a:spcBef>
              <a:spcAft>
                <a:spcPct val="0"/>
              </a:spcAft>
              <a:defRPr sz="3600" b="1">
                <a:solidFill>
                  <a:schemeClr val="bg1"/>
                </a:solidFill>
              </a:defRPr>
            </a:lvl9pPr>
          </a:lstStyle>
          <a:p>
            <a:r>
              <a:rPr lang="en-US" sz="3600" dirty="0" err="1"/>
              <a:t>Mô</a:t>
            </a:r>
            <a:r>
              <a:rPr lang="en-US" sz="3600" dirty="0"/>
              <a:t> </a:t>
            </a:r>
            <a:r>
              <a:rPr lang="en-US" sz="3600" dirty="0" err="1"/>
              <a:t>hình</a:t>
            </a:r>
            <a:r>
              <a:rPr lang="en-US" sz="3600" dirty="0"/>
              <a:t> </a:t>
            </a:r>
            <a:r>
              <a:rPr lang="en-US" sz="3600" dirty="0" err="1"/>
              <a:t>hóa</a:t>
            </a:r>
            <a:r>
              <a:rPr lang="en-US" sz="3600" dirty="0"/>
              <a:t> </a:t>
            </a:r>
            <a:r>
              <a:rPr lang="en-US" sz="3600" dirty="0" err="1"/>
              <a:t>thuộc</a:t>
            </a:r>
            <a:r>
              <a:rPr lang="en-US" sz="3600" dirty="0"/>
              <a:t> </a:t>
            </a:r>
            <a:r>
              <a:rPr lang="en-US" sz="3600" dirty="0" err="1"/>
              <a:t>tính</a:t>
            </a:r>
            <a:r>
              <a:rPr lang="en-US" sz="3600" dirty="0"/>
              <a:t> </a:t>
            </a:r>
            <a:r>
              <a:rPr lang="en-US" sz="3600" dirty="0" err="1"/>
              <a:t>đa</a:t>
            </a:r>
            <a:r>
              <a:rPr lang="en-US" sz="3600" dirty="0"/>
              <a:t> </a:t>
            </a:r>
            <a:r>
              <a:rPr lang="en-US" sz="3600" dirty="0" err="1"/>
              <a:t>trị</a:t>
            </a:r>
            <a:endParaRPr lang="en-US" sz="3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914400"/>
            <a:ext cx="9151472" cy="5334000"/>
          </a:xfrm>
          <a:prstGeom prst="rect">
            <a:avLst/>
          </a:prstGeom>
        </p:spPr>
      </p:pic>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8218818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73557"/>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vi-VN" dirty="0">
                <a:latin typeface="Times New Roman" panose="02020603050405020304" pitchFamily="18" charset="0"/>
                <a:cs typeface="Times New Roman" panose="02020603050405020304" pitchFamily="18" charset="0"/>
              </a:rPr>
              <a:t>Bản số quan hệ giữa các đối tượng</a:t>
            </a:r>
            <a:endParaRPr dirty="0">
              <a:latin typeface="Times New Roman" panose="02020603050405020304" pitchFamily="18" charset="0"/>
              <a:cs typeface="Times New Roman" panose="02020603050405020304" pitchFamily="18" charset="0"/>
            </a:endParaRPr>
          </a:p>
        </p:txBody>
      </p:sp>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16</a:t>
            </a:r>
            <a:endParaRPr sz="1200">
              <a:latin typeface="Trebuchet MS"/>
              <a:cs typeface="Trebuchet MS"/>
            </a:endParaRPr>
          </a:p>
        </p:txBody>
      </p:sp>
      <p:sp>
        <p:nvSpPr>
          <p:cNvPr id="4" name="Rectangle 3"/>
          <p:cNvSpPr/>
          <p:nvPr/>
        </p:nvSpPr>
        <p:spPr>
          <a:xfrm>
            <a:off x="0" y="990600"/>
            <a:ext cx="12192000" cy="3711785"/>
          </a:xfrm>
          <a:prstGeom prst="rect">
            <a:avLst/>
          </a:prstGeom>
        </p:spPr>
        <p:txBody>
          <a:bodyPr wrap="square">
            <a:spAutoFit/>
          </a:bodyPr>
          <a:lstStyle/>
          <a:p>
            <a:pPr marL="457200" indent="-457200" algn="just">
              <a:lnSpc>
                <a:spcPct val="120000"/>
              </a:lnSpc>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B</a:t>
            </a:r>
            <a:r>
              <a:rPr lang="vi-VN" sz="2800" dirty="0">
                <a:latin typeface="Times New Roman" panose="02020603050405020304" pitchFamily="18" charset="0"/>
                <a:cs typeface="Times New Roman" panose="02020603050405020304" pitchFamily="18" charset="0"/>
              </a:rPr>
              <a:t>iểu diễn số lượng các đối tượng của một lớp có thể liên kết với một đối tượng của lớp khác trong một mối </a:t>
            </a:r>
            <a:r>
              <a:rPr lang="vi-VN" sz="2800">
                <a:latin typeface="Times New Roman" panose="02020603050405020304" pitchFamily="18" charset="0"/>
                <a:cs typeface="Times New Roman" panose="02020603050405020304" pitchFamily="18" charset="0"/>
              </a:rPr>
              <a:t>quan hệ</a:t>
            </a:r>
            <a:endParaRPr lang="en-US" sz="2800" dirty="0">
              <a:latin typeface="Times New Roman" panose="02020603050405020304" pitchFamily="18" charset="0"/>
              <a:cs typeface="Times New Roman" panose="02020603050405020304" pitchFamily="18" charset="0"/>
            </a:endParaRPr>
          </a:p>
          <a:p>
            <a:pPr marL="1146175" lvl="1" indent="-457200" algn="just">
              <a:lnSpc>
                <a:spcPct val="120000"/>
              </a:lnSpc>
              <a:buClr>
                <a:srgbClr val="FF0000"/>
              </a:buClr>
              <a:buFont typeface="Arial" panose="020B0604020202020204" pitchFamily="34" charset="0"/>
              <a:buChar char="•"/>
            </a:pPr>
            <a:r>
              <a:rPr lang="en-US" sz="2800">
                <a:solidFill>
                  <a:srgbClr val="FF0000"/>
                </a:solidFill>
                <a:latin typeface="Times New Roman" panose="02020603050405020304" pitchFamily="18" charset="0"/>
                <a:cs typeface="Times New Roman" panose="02020603050405020304" pitchFamily="18" charset="0"/>
              </a:rPr>
              <a:t> 1</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Chỉ</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liên</a:t>
            </a:r>
            <a:r>
              <a:rPr lang="en-US" sz="2800">
                <a:latin typeface="Times New Roman" panose="02020603050405020304" pitchFamily="18" charset="0"/>
                <a:cs typeface="Times New Roman" panose="02020603050405020304" pitchFamily="18" charset="0"/>
              </a:rPr>
              <a:t> kết</a:t>
            </a:r>
            <a:endParaRPr lang="en-US" sz="2800" dirty="0">
              <a:latin typeface="Times New Roman" panose="02020603050405020304" pitchFamily="18" charset="0"/>
              <a:cs typeface="Times New Roman" panose="02020603050405020304" pitchFamily="18" charset="0"/>
            </a:endParaRPr>
          </a:p>
          <a:p>
            <a:pPr marL="1146175" lvl="1" indent="-457200" algn="just">
              <a:lnSpc>
                <a:spcPct val="120000"/>
              </a:lnSpc>
              <a:buClr>
                <a:srgbClr val="FF0000"/>
              </a:buClr>
              <a:buFont typeface="Arial" panose="020B0604020202020204" pitchFamily="34" charset="0"/>
              <a:buChar char="•"/>
            </a:pPr>
            <a:r>
              <a:rPr lang="en-US" sz="2800">
                <a:solidFill>
                  <a:srgbClr val="FF0000"/>
                </a:solidFill>
                <a:latin typeface="Times New Roman" panose="02020603050405020304" pitchFamily="18" charset="0"/>
                <a:cs typeface="Times New Roman" panose="02020603050405020304" pitchFamily="18" charset="0"/>
              </a:rPr>
              <a:t> 0</a:t>
            </a:r>
            <a:r>
              <a:rPr lang="en-US" sz="2800" dirty="0">
                <a:solidFill>
                  <a:srgbClr val="FF0000"/>
                </a:solidFill>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chỉ</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đối</a:t>
            </a:r>
            <a:r>
              <a:rPr lang="en-US" sz="2800">
                <a:latin typeface="Times New Roman" panose="02020603050405020304" pitchFamily="18" charset="0"/>
                <a:cs typeface="Times New Roman" panose="02020603050405020304" pitchFamily="18" charset="0"/>
              </a:rPr>
              <a:t> tượng</a:t>
            </a:r>
            <a:endParaRPr lang="en-US" sz="2800" dirty="0">
              <a:latin typeface="Times New Roman" panose="02020603050405020304" pitchFamily="18" charset="0"/>
              <a:cs typeface="Times New Roman" panose="02020603050405020304" pitchFamily="18" charset="0"/>
            </a:endParaRPr>
          </a:p>
          <a:p>
            <a:pPr marL="1146175" lvl="1" indent="-457200" algn="just">
              <a:lnSpc>
                <a:spcPct val="120000"/>
              </a:lnSpc>
              <a:buClr>
                <a:srgbClr val="FF0000"/>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dirty="0">
                <a:solidFill>
                  <a:srgbClr val="FF000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nào</a:t>
            </a:r>
            <a:r>
              <a:rPr lang="en-US" sz="2800" dirty="0">
                <a:latin typeface="Times New Roman" panose="02020603050405020304" pitchFamily="18" charset="0"/>
                <a:cs typeface="Times New Roman" panose="02020603050405020304" pitchFamily="18" charset="0"/>
              </a:rPr>
              <a:t>, bao </a:t>
            </a:r>
            <a:r>
              <a:rPr lang="en-US" sz="2800" dirty="0" err="1">
                <a:latin typeface="Times New Roman" panose="02020603050405020304" pitchFamily="18" charset="0"/>
                <a:cs typeface="Times New Roman" panose="02020603050405020304" pitchFamily="18" charset="0"/>
              </a:rPr>
              <a:t>gồm</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cả</a:t>
            </a:r>
            <a:r>
              <a:rPr lang="en-US" sz="2800">
                <a:latin typeface="Times New Roman" panose="02020603050405020304" pitchFamily="18" charset="0"/>
                <a:cs typeface="Times New Roman" panose="02020603050405020304" pitchFamily="18" charset="0"/>
              </a:rPr>
              <a:t> 0</a:t>
            </a:r>
            <a:endParaRPr lang="en-US" sz="2800" dirty="0">
              <a:latin typeface="Times New Roman" panose="02020603050405020304" pitchFamily="18" charset="0"/>
              <a:cs typeface="Times New Roman" panose="02020603050405020304" pitchFamily="18" charset="0"/>
            </a:endParaRPr>
          </a:p>
          <a:p>
            <a:pPr marL="1146175" lvl="1" indent="-457200" algn="just">
              <a:lnSpc>
                <a:spcPct val="120000"/>
              </a:lnSpc>
              <a:buClr>
                <a:srgbClr val="FF0000"/>
              </a:buClr>
              <a:buFont typeface="Arial" panose="020B0604020202020204" pitchFamily="34" charset="0"/>
              <a:buChar char="•"/>
            </a:pPr>
            <a:r>
              <a:rPr lang="en-US" sz="2800">
                <a:solidFill>
                  <a:srgbClr val="FF0000"/>
                </a:solidFill>
                <a:latin typeface="Times New Roman" panose="02020603050405020304" pitchFamily="18" charset="0"/>
                <a:cs typeface="Times New Roman" panose="02020603050405020304" pitchFamily="18" charset="0"/>
              </a:rPr>
              <a:t> 1</a:t>
            </a:r>
            <a:r>
              <a:rPr lang="en-US" sz="2800" dirty="0">
                <a:solidFill>
                  <a:srgbClr val="FF000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nhiều</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đối</a:t>
            </a:r>
            <a:r>
              <a:rPr lang="en-US" sz="2800">
                <a:latin typeface="Times New Roman" panose="02020603050405020304" pitchFamily="18" charset="0"/>
                <a:cs typeface="Times New Roman" panose="02020603050405020304" pitchFamily="18" charset="0"/>
              </a:rPr>
              <a:t> tượng</a:t>
            </a:r>
            <a:endParaRPr lang="en-US" sz="2800" dirty="0">
              <a:latin typeface="Times New Roman" panose="02020603050405020304" pitchFamily="18" charset="0"/>
              <a:cs typeface="Times New Roman" panose="02020603050405020304" pitchFamily="18" charset="0"/>
            </a:endParaRPr>
          </a:p>
          <a:p>
            <a:pPr marL="1146175" lvl="1" indent="-457200" algn="just">
              <a:lnSpc>
                <a:spcPct val="120000"/>
              </a:lnSpc>
              <a:buClr>
                <a:srgbClr val="FF0000"/>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US" sz="2800">
                <a:solidFill>
                  <a:srgbClr val="FF0000"/>
                </a:solidFill>
                <a:latin typeface="Times New Roman" panose="02020603050405020304" pitchFamily="18" charset="0"/>
                <a:cs typeface="Times New Roman" panose="02020603050405020304" pitchFamily="18" charset="0"/>
              </a:rPr>
              <a:t>n</a:t>
            </a:r>
            <a:r>
              <a:rPr lang="en-US" sz="2800" dirty="0" err="1">
                <a:solidFill>
                  <a:srgbClr val="FF0000"/>
                </a:solidFill>
                <a:latin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nhất</a:t>
            </a:r>
            <a:r>
              <a:rPr lang="en-US" sz="2800" dirty="0">
                <a:latin typeface="Times New Roman" panose="02020603050405020304" pitchFamily="18" charset="0"/>
                <a:cs typeface="Times New Roman" panose="02020603050405020304" pitchFamily="18" charset="0"/>
              </a:rPr>
              <a:t> n </a:t>
            </a: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đa</a:t>
            </a:r>
            <a:r>
              <a:rPr lang="en-US" sz="2800" dirty="0">
                <a:latin typeface="Times New Roman" panose="02020603050405020304" pitchFamily="18" charset="0"/>
                <a:cs typeface="Times New Roman" panose="02020603050405020304" pitchFamily="18" charset="0"/>
              </a:rPr>
              <a:t> m </a:t>
            </a:r>
            <a:r>
              <a:rPr lang="en-US" sz="2800" err="1">
                <a:latin typeface="Times New Roman" panose="02020603050405020304" pitchFamily="18" charset="0"/>
                <a:cs typeface="Times New Roman" panose="02020603050405020304" pitchFamily="18" charset="0"/>
              </a:rPr>
              <a:t>đối</a:t>
            </a:r>
            <a:r>
              <a:rPr lang="en-US" sz="2800">
                <a:latin typeface="Times New Roman" panose="02020603050405020304" pitchFamily="18" charset="0"/>
                <a:cs typeface="Times New Roman" panose="02020603050405020304" pitchFamily="18" charset="0"/>
              </a:rPr>
              <a:t> tượng</a:t>
            </a:r>
            <a:endParaRPr lang="en-US" sz="28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784381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9</a:t>
            </a:r>
            <a:endParaRPr sz="1200">
              <a:latin typeface="Trebuchet MS"/>
              <a:cs typeface="Trebuchet MS"/>
            </a:endParaRPr>
          </a:p>
        </p:txBody>
      </p:sp>
      <p:sp>
        <p:nvSpPr>
          <p:cNvPr id="10"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err="1">
                <a:latin typeface="Times New Roman" panose="02020603050405020304" pitchFamily="18" charset="0"/>
                <a:cs typeface="Times New Roman" panose="02020603050405020304" pitchFamily="18" charset="0"/>
              </a:rPr>
              <a:t>Mối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 </a:t>
            </a:r>
            <a:r>
              <a:rPr lang="fr-FR" spc="-5" dirty="0">
                <a:latin typeface="Times New Roman" panose="02020603050405020304" pitchFamily="18" charset="0"/>
                <a:cs typeface="Times New Roman" panose="02020603050405020304" pitchFamily="18" charset="0"/>
              </a:rPr>
              <a:t>Association</a:t>
            </a:r>
            <a:endParaRPr dirty="0">
              <a:latin typeface="Times New Roman" panose="02020603050405020304" pitchFamily="18" charset="0"/>
              <a:cs typeface="Times New Roman" panose="02020603050405020304" pitchFamily="18" charset="0"/>
            </a:endParaRPr>
          </a:p>
        </p:txBody>
      </p:sp>
      <p:sp>
        <p:nvSpPr>
          <p:cNvPr id="8" name="object 4"/>
          <p:cNvSpPr txBox="1"/>
          <p:nvPr/>
        </p:nvSpPr>
        <p:spPr>
          <a:xfrm>
            <a:off x="0" y="972587"/>
            <a:ext cx="12191999" cy="4844916"/>
          </a:xfrm>
          <a:prstGeom prst="rect">
            <a:avLst/>
          </a:prstGeom>
        </p:spPr>
        <p:txBody>
          <a:bodyPr vert="horz" wrap="square" lIns="0" tIns="88900" rIns="0" bIns="0" rtlCol="0">
            <a:spAutoFit/>
          </a:bodyPr>
          <a:lstStyle/>
          <a:p>
            <a:pPr marL="457200" marR="5080" indent="-457200" algn="just">
              <a:lnSpc>
                <a:spcPct val="150000"/>
              </a:lnSpc>
              <a:spcBef>
                <a:spcPts val="605"/>
              </a:spcBef>
              <a:buFont typeface="Wingdings" panose="05000000000000000000" pitchFamily="2" charset="2"/>
              <a:buChar char="§"/>
            </a:pPr>
            <a:r>
              <a:rPr lang="fr-FR" sz="2800" b="1" spc="-5" dirty="0" err="1">
                <a:solidFill>
                  <a:srgbClr val="FF0000"/>
                </a:solidFill>
                <a:latin typeface="Times New Roman" panose="02020603050405020304" pitchFamily="18" charset="0"/>
                <a:cs typeface="Times New Roman" panose="02020603050405020304" pitchFamily="18" charset="0"/>
              </a:rPr>
              <a:t>Mối</a:t>
            </a:r>
            <a:r>
              <a:rPr lang="fr-FR" sz="2800" b="1" spc="-5" dirty="0">
                <a:solidFill>
                  <a:srgbClr val="FF0000"/>
                </a:solidFill>
                <a:latin typeface="Times New Roman" panose="02020603050405020304" pitchFamily="18" charset="0"/>
                <a:cs typeface="Times New Roman" panose="02020603050405020304" pitchFamily="18" charset="0"/>
              </a:rPr>
              <a:t> </a:t>
            </a:r>
            <a:r>
              <a:rPr lang="fr-FR" sz="2800" b="1" spc="-5" dirty="0" err="1">
                <a:solidFill>
                  <a:srgbClr val="FF0000"/>
                </a:solidFill>
                <a:latin typeface="Times New Roman" panose="02020603050405020304" pitchFamily="18" charset="0"/>
                <a:cs typeface="Times New Roman" panose="02020603050405020304" pitchFamily="18" charset="0"/>
              </a:rPr>
              <a:t>quan</a:t>
            </a:r>
            <a:r>
              <a:rPr lang="fr-FR" sz="2800" b="1" spc="-5" dirty="0">
                <a:solidFill>
                  <a:srgbClr val="FF0000"/>
                </a:solidFill>
                <a:latin typeface="Times New Roman" panose="02020603050405020304" pitchFamily="18" charset="0"/>
                <a:cs typeface="Times New Roman" panose="02020603050405020304" pitchFamily="18" charset="0"/>
              </a:rPr>
              <a:t> </a:t>
            </a:r>
            <a:r>
              <a:rPr lang="fr-FR" sz="2800" b="1" spc="-5" dirty="0" err="1">
                <a:solidFill>
                  <a:srgbClr val="FF0000"/>
                </a:solidFill>
                <a:latin typeface="Times New Roman" panose="02020603050405020304" pitchFamily="18" charset="0"/>
                <a:cs typeface="Times New Roman" panose="02020603050405020304" pitchFamily="18" charset="0"/>
              </a:rPr>
              <a:t>hệ</a:t>
            </a:r>
            <a:r>
              <a:rPr lang="fr-FR" sz="2800" b="1" spc="-5" dirty="0">
                <a:solidFill>
                  <a:srgbClr val="FF0000"/>
                </a:solidFill>
                <a:latin typeface="Times New Roman" panose="02020603050405020304" pitchFamily="18" charset="0"/>
                <a:cs typeface="Times New Roman" panose="02020603050405020304" pitchFamily="18" charset="0"/>
              </a:rPr>
              <a:t> </a:t>
            </a:r>
            <a:r>
              <a:rPr lang="fr-FR" sz="2800" b="1" spc="-5" dirty="0" err="1">
                <a:solidFill>
                  <a:srgbClr val="FF0000"/>
                </a:solidFill>
                <a:latin typeface="Times New Roman" panose="02020603050405020304" pitchFamily="18" charset="0"/>
                <a:cs typeface="Times New Roman" panose="02020603050405020304" pitchFamily="18" charset="0"/>
              </a:rPr>
              <a:t>Kết</a:t>
            </a:r>
            <a:r>
              <a:rPr lang="fr-FR" sz="2800" b="1" spc="-5" dirty="0">
                <a:solidFill>
                  <a:srgbClr val="FF0000"/>
                </a:solidFill>
                <a:latin typeface="Times New Roman" panose="02020603050405020304" pitchFamily="18" charset="0"/>
                <a:cs typeface="Times New Roman" panose="02020603050405020304" pitchFamily="18" charset="0"/>
              </a:rPr>
              <a:t> </a:t>
            </a:r>
            <a:r>
              <a:rPr lang="fr-FR" sz="2800" b="1" spc="-5" dirty="0" err="1">
                <a:solidFill>
                  <a:srgbClr val="FF0000"/>
                </a:solidFill>
                <a:latin typeface="Times New Roman" panose="02020603050405020304" pitchFamily="18" charset="0"/>
                <a:cs typeface="Times New Roman" panose="02020603050405020304" pitchFamily="18" charset="0"/>
              </a:rPr>
              <a:t>hợp</a:t>
            </a:r>
            <a:r>
              <a:rPr lang="fr-FR" sz="2800" b="1" spc="-5" dirty="0">
                <a:solidFill>
                  <a:srgbClr val="FF0000"/>
                </a:solidFill>
                <a:latin typeface="Times New Roman" panose="02020603050405020304" pitchFamily="18" charset="0"/>
                <a:cs typeface="Times New Roman" panose="02020603050405020304" pitchFamily="18" charset="0"/>
              </a:rPr>
              <a:t> (Association</a:t>
            </a:r>
            <a:r>
              <a:rPr lang="fr-FR" sz="2800" b="1" spc="-5">
                <a:solidFill>
                  <a:srgbClr val="FF0000"/>
                </a:solidFill>
                <a:latin typeface="Times New Roman" panose="02020603050405020304" pitchFamily="18" charset="0"/>
                <a:cs typeface="Times New Roman" panose="02020603050405020304" pitchFamily="18" charset="0"/>
              </a:rPr>
              <a:t>): </a:t>
            </a:r>
            <a:r>
              <a:rPr lang="vi-VN" sz="2800" spc="-5">
                <a:latin typeface="Times New Roman" panose="02020603050405020304" pitchFamily="18" charset="0"/>
                <a:cs typeface="Times New Roman" panose="02020603050405020304" pitchFamily="18" charset="0"/>
              </a:rPr>
              <a:t>là </a:t>
            </a:r>
            <a:r>
              <a:rPr lang="vi-VN" sz="2800" spc="-5" dirty="0">
                <a:latin typeface="Times New Roman" panose="02020603050405020304" pitchFamily="18" charset="0"/>
                <a:cs typeface="Times New Roman" panose="02020603050405020304" pitchFamily="18" charset="0"/>
              </a:rPr>
              <a:t>quan hệ giữa hai lớp với nhau, thể hiện chúng có liên quan với nhau. Association thể hiện qua các quan hệ như </a:t>
            </a:r>
            <a:r>
              <a:rPr lang="vi-VN" sz="2800" spc="-5" dirty="0">
                <a:solidFill>
                  <a:srgbClr val="0070C0"/>
                </a:solidFill>
                <a:latin typeface="Times New Roman" panose="02020603050405020304" pitchFamily="18" charset="0"/>
                <a:cs typeface="Times New Roman" panose="02020603050405020304" pitchFamily="18" charset="0"/>
              </a:rPr>
              <a:t>“has: có”, “Own: sở </a:t>
            </a:r>
            <a:r>
              <a:rPr lang="vi-VN" sz="2800" spc="-5">
                <a:solidFill>
                  <a:srgbClr val="0070C0"/>
                </a:solidFill>
                <a:latin typeface="Times New Roman" panose="02020603050405020304" pitchFamily="18" charset="0"/>
                <a:cs typeface="Times New Roman" panose="02020603050405020304" pitchFamily="18" charset="0"/>
              </a:rPr>
              <a:t>hữu”</a:t>
            </a:r>
            <a:endParaRPr lang="en-US" sz="2800" spc="-5" dirty="0">
              <a:latin typeface="Times New Roman" panose="02020603050405020304" pitchFamily="18" charset="0"/>
              <a:cs typeface="Times New Roman" panose="02020603050405020304" pitchFamily="18" charset="0"/>
            </a:endParaRPr>
          </a:p>
          <a:p>
            <a:pPr marR="5080" algn="just">
              <a:lnSpc>
                <a:spcPct val="150000"/>
              </a:lnSpc>
              <a:spcBef>
                <a:spcPts val="605"/>
              </a:spcBef>
            </a:pPr>
            <a:r>
              <a:rPr lang="fr-FR" sz="2800" b="1" spc="-5" dirty="0" err="1">
                <a:solidFill>
                  <a:srgbClr val="FF0000"/>
                </a:solidFill>
                <a:latin typeface="Times New Roman" panose="02020603050405020304" pitchFamily="18" charset="0"/>
                <a:cs typeface="Times New Roman" panose="02020603050405020304" pitchFamily="18" charset="0"/>
              </a:rPr>
              <a:t>Ký</a:t>
            </a:r>
            <a:r>
              <a:rPr lang="fr-FR" sz="2800" b="1" spc="-5" dirty="0">
                <a:solidFill>
                  <a:srgbClr val="FF0000"/>
                </a:solidFill>
                <a:latin typeface="Times New Roman" panose="02020603050405020304" pitchFamily="18" charset="0"/>
                <a:cs typeface="Times New Roman" panose="02020603050405020304" pitchFamily="18" charset="0"/>
              </a:rPr>
              <a:t> </a:t>
            </a:r>
            <a:r>
              <a:rPr lang="fr-FR" sz="2800" b="1" spc="-5" dirty="0" err="1">
                <a:solidFill>
                  <a:srgbClr val="FF0000"/>
                </a:solidFill>
                <a:latin typeface="Times New Roman" panose="02020603050405020304" pitchFamily="18" charset="0"/>
                <a:cs typeface="Times New Roman" panose="02020603050405020304" pitchFamily="18" charset="0"/>
              </a:rPr>
              <a:t>hiệu</a:t>
            </a:r>
            <a:r>
              <a:rPr lang="fr-FR" sz="2800" b="1" spc="-5" dirty="0">
                <a:solidFill>
                  <a:srgbClr val="FF0000"/>
                </a:solidFill>
                <a:latin typeface="Times New Roman" panose="02020603050405020304" pitchFamily="18" charset="0"/>
                <a:cs typeface="Times New Roman" panose="02020603050405020304" pitchFamily="18" charset="0"/>
              </a:rPr>
              <a:t>: </a:t>
            </a:r>
          </a:p>
          <a:p>
            <a:pPr marL="914400" marR="5080" lvl="1" indent="-457200" algn="just">
              <a:lnSpc>
                <a:spcPct val="150000"/>
              </a:lnSpc>
              <a:spcBef>
                <a:spcPts val="605"/>
              </a:spcBef>
              <a:buFont typeface="Wingdings" panose="05000000000000000000" pitchFamily="2" charset="2"/>
              <a:buChar char="ü"/>
            </a:pPr>
            <a:r>
              <a:rPr lang="vi-VN" sz="2800" spc="-5" dirty="0">
                <a:latin typeface="Times New Roman" panose="02020603050405020304" pitchFamily="18" charset="0"/>
                <a:cs typeface="Times New Roman" panose="02020603050405020304" pitchFamily="18" charset="0"/>
              </a:rPr>
              <a:t>Mối quan hệ kết hợp được biểu diễn bằng một đường thẳng nối giữa </a:t>
            </a:r>
            <a:r>
              <a:rPr lang="vi-VN" sz="2800" spc="-5">
                <a:latin typeface="Times New Roman" panose="02020603050405020304" pitchFamily="18" charset="0"/>
                <a:cs typeface="Times New Roman" panose="02020603050405020304" pitchFamily="18" charset="0"/>
              </a:rPr>
              <a:t>hai lớp</a:t>
            </a:r>
            <a:endParaRPr lang="en-US" sz="2800" spc="-5" dirty="0">
              <a:latin typeface="Times New Roman" panose="02020603050405020304" pitchFamily="18" charset="0"/>
              <a:cs typeface="Times New Roman" panose="02020603050405020304" pitchFamily="18" charset="0"/>
            </a:endParaRPr>
          </a:p>
          <a:p>
            <a:pPr marL="914400" marR="5080" lvl="1" indent="-457200" algn="just">
              <a:lnSpc>
                <a:spcPct val="150000"/>
              </a:lnSpc>
              <a:spcBef>
                <a:spcPts val="605"/>
              </a:spcBef>
              <a:buFont typeface="Wingdings" panose="05000000000000000000" pitchFamily="2" charset="2"/>
              <a:buChar char="ü"/>
            </a:pPr>
            <a:r>
              <a:rPr lang="vi-VN" sz="2800" spc="-5" dirty="0">
                <a:latin typeface="Times New Roman" panose="02020603050405020304" pitchFamily="18" charset="0"/>
                <a:cs typeface="Times New Roman" panose="02020603050405020304" pitchFamily="18" charset="0"/>
              </a:rPr>
              <a:t>Đường thẳng này có thể có các mũi tên ở một hoặc cả hai đầu để chỉ rõ hướng của mối </a:t>
            </a:r>
            <a:r>
              <a:rPr lang="vi-VN" sz="2800" spc="-5">
                <a:latin typeface="Times New Roman" panose="02020603050405020304" pitchFamily="18" charset="0"/>
                <a:cs typeface="Times New Roman" panose="02020603050405020304" pitchFamily="18" charset="0"/>
              </a:rPr>
              <a:t>quan hệ</a:t>
            </a:r>
            <a:endParaRPr sz="28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23894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37461" y="1266190"/>
            <a:ext cx="106680" cy="197490"/>
          </a:xfrm>
          <a:prstGeom prst="rect">
            <a:avLst/>
          </a:prstGeom>
        </p:spPr>
        <p:txBody>
          <a:bodyPr vert="horz" wrap="square" lIns="0" tIns="12700" rIns="0" bIns="0" rtlCol="0">
            <a:spAutoFit/>
          </a:bodyPr>
          <a:lstStyle/>
          <a:p>
            <a:pPr marL="12700">
              <a:spcBef>
                <a:spcPts val="100"/>
              </a:spcBef>
            </a:pPr>
            <a:r>
              <a:rPr sz="1200" b="1" spc="-70" dirty="0">
                <a:solidFill>
                  <a:srgbClr val="FFFFFF"/>
                </a:solidFill>
                <a:latin typeface="Trebuchet MS"/>
                <a:cs typeface="Trebuchet MS"/>
              </a:rPr>
              <a:t>9</a:t>
            </a:r>
            <a:endParaRPr sz="1200">
              <a:latin typeface="Trebuchet MS"/>
              <a:cs typeface="Trebuchet MS"/>
            </a:endParaRPr>
          </a:p>
        </p:txBody>
      </p:sp>
      <p:sp>
        <p:nvSpPr>
          <p:cNvPr id="10"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err="1">
                <a:latin typeface="Times New Roman" panose="02020603050405020304" pitchFamily="18" charset="0"/>
                <a:cs typeface="Times New Roman" panose="02020603050405020304" pitchFamily="18" charset="0"/>
              </a:rPr>
              <a:t>Mối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 </a:t>
            </a:r>
            <a:r>
              <a:rPr lang="fr-FR" spc="-5" dirty="0">
                <a:latin typeface="Times New Roman" panose="02020603050405020304" pitchFamily="18" charset="0"/>
                <a:cs typeface="Times New Roman" panose="02020603050405020304" pitchFamily="18" charset="0"/>
              </a:rPr>
              <a:t>Association</a:t>
            </a:r>
            <a:endParaRPr dirty="0">
              <a:latin typeface="Times New Roman" panose="02020603050405020304" pitchFamily="18" charset="0"/>
              <a:cs typeface="Times New Roman" panose="02020603050405020304" pitchFamily="18" charset="0"/>
            </a:endParaRPr>
          </a:p>
        </p:txBody>
      </p:sp>
      <p:sp>
        <p:nvSpPr>
          <p:cNvPr id="8" name="object 4"/>
          <p:cNvSpPr txBox="1"/>
          <p:nvPr/>
        </p:nvSpPr>
        <p:spPr>
          <a:xfrm>
            <a:off x="0" y="938472"/>
            <a:ext cx="12192000" cy="3459922"/>
          </a:xfrm>
          <a:prstGeom prst="rect">
            <a:avLst/>
          </a:prstGeom>
        </p:spPr>
        <p:txBody>
          <a:bodyPr vert="horz" wrap="square" lIns="0" tIns="88900" rIns="0" bIns="0" rtlCol="0">
            <a:spAutoFit/>
          </a:bodyPr>
          <a:lstStyle/>
          <a:p>
            <a:pPr marR="5080" algn="just">
              <a:spcBef>
                <a:spcPts val="605"/>
              </a:spcBef>
            </a:pPr>
            <a:r>
              <a:rPr lang="fr-FR" sz="2700" b="1" spc="-5">
                <a:solidFill>
                  <a:srgbClr val="00B050"/>
                </a:solidFill>
                <a:latin typeface="Times New Roman" panose="02020603050405020304" pitchFamily="18" charset="0"/>
                <a:cs typeface="Times New Roman" panose="02020603050405020304" pitchFamily="18" charset="0"/>
              </a:rPr>
              <a:t> Không </a:t>
            </a:r>
            <a:r>
              <a:rPr lang="fr-FR" sz="2700" b="1" spc="-5" dirty="0" err="1">
                <a:solidFill>
                  <a:srgbClr val="00B050"/>
                </a:solidFill>
                <a:latin typeface="Times New Roman" panose="02020603050405020304" pitchFamily="18" charset="0"/>
                <a:cs typeface="Times New Roman" panose="02020603050405020304" pitchFamily="18" charset="0"/>
              </a:rPr>
              <a:t>có</a:t>
            </a:r>
            <a:r>
              <a:rPr lang="fr-FR" sz="2700" b="1" spc="-5" dirty="0">
                <a:solidFill>
                  <a:srgbClr val="00B050"/>
                </a:solidFill>
                <a:latin typeface="Times New Roman" panose="02020603050405020304" pitchFamily="18" charset="0"/>
                <a:cs typeface="Times New Roman" panose="02020603050405020304" pitchFamily="18" charset="0"/>
              </a:rPr>
              <a:t> </a:t>
            </a:r>
            <a:r>
              <a:rPr lang="fr-FR" sz="2700" b="1" spc="-5" dirty="0" err="1">
                <a:solidFill>
                  <a:srgbClr val="00B050"/>
                </a:solidFill>
                <a:latin typeface="Times New Roman" panose="02020603050405020304" pitchFamily="18" charset="0"/>
                <a:cs typeface="Times New Roman" panose="02020603050405020304" pitchFamily="18" charset="0"/>
              </a:rPr>
              <a:t>mũi</a:t>
            </a:r>
            <a:r>
              <a:rPr lang="fr-FR" sz="2700" b="1" spc="-5" dirty="0">
                <a:solidFill>
                  <a:srgbClr val="00B050"/>
                </a:solidFill>
                <a:latin typeface="Times New Roman" panose="02020603050405020304" pitchFamily="18" charset="0"/>
                <a:cs typeface="Times New Roman" panose="02020603050405020304" pitchFamily="18" charset="0"/>
              </a:rPr>
              <a:t> </a:t>
            </a:r>
            <a:r>
              <a:rPr lang="fr-FR" sz="2700" b="1" spc="-5" dirty="0" err="1">
                <a:solidFill>
                  <a:srgbClr val="00B050"/>
                </a:solidFill>
                <a:latin typeface="Times New Roman" panose="02020603050405020304" pitchFamily="18" charset="0"/>
                <a:cs typeface="Times New Roman" panose="02020603050405020304" pitchFamily="18" charset="0"/>
              </a:rPr>
              <a:t>tên</a:t>
            </a:r>
            <a:r>
              <a:rPr lang="fr-FR" sz="2700" b="1" spc="-5" dirty="0">
                <a:solidFill>
                  <a:srgbClr val="00B050"/>
                </a:solidFill>
                <a:latin typeface="Times New Roman" panose="02020603050405020304" pitchFamily="18" charset="0"/>
                <a:cs typeface="Times New Roman" panose="02020603050405020304" pitchFamily="18" charset="0"/>
              </a:rPr>
              <a:t>:</a:t>
            </a:r>
            <a:r>
              <a:rPr lang="fr-FR" sz="2700" b="1"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Mối</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quan</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hệ</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hai</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chiều</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nghĩa</a:t>
            </a:r>
            <a:r>
              <a:rPr lang="fr-FR" sz="2700" spc="-5" dirty="0">
                <a:latin typeface="Times New Roman" panose="02020603050405020304" pitchFamily="18" charset="0"/>
                <a:cs typeface="Times New Roman" panose="02020603050405020304" pitchFamily="18" charset="0"/>
              </a:rPr>
              <a:t> là </a:t>
            </a:r>
            <a:r>
              <a:rPr lang="fr-FR" sz="2700" spc="-5" dirty="0" err="1">
                <a:latin typeface="Times New Roman" panose="02020603050405020304" pitchFamily="18" charset="0"/>
                <a:cs typeface="Times New Roman" panose="02020603050405020304" pitchFamily="18" charset="0"/>
              </a:rPr>
              <a:t>cả</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hai</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lớp</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đều</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biết</a:t>
            </a:r>
            <a:r>
              <a:rPr lang="fr-FR" sz="2700" spc="-5" dirty="0">
                <a:latin typeface="Times New Roman" panose="02020603050405020304" pitchFamily="18" charset="0"/>
                <a:cs typeface="Times New Roman" panose="02020603050405020304" pitchFamily="18" charset="0"/>
              </a:rPr>
              <a:t> </a:t>
            </a:r>
            <a:r>
              <a:rPr lang="fr-FR" sz="2700" spc="-5" err="1">
                <a:latin typeface="Times New Roman" panose="02020603050405020304" pitchFamily="18" charset="0"/>
                <a:cs typeface="Times New Roman" panose="02020603050405020304" pitchFamily="18" charset="0"/>
              </a:rPr>
              <a:t>về</a:t>
            </a:r>
            <a:r>
              <a:rPr lang="fr-FR" sz="2700" spc="-5">
                <a:latin typeface="Times New Roman" panose="02020603050405020304" pitchFamily="18" charset="0"/>
                <a:cs typeface="Times New Roman" panose="02020603050405020304" pitchFamily="18" charset="0"/>
              </a:rPr>
              <a:t> nhau</a:t>
            </a:r>
            <a:endParaRPr lang="fr-FR" sz="2700" spc="-5" dirty="0">
              <a:latin typeface="Times New Roman" panose="02020603050405020304" pitchFamily="18" charset="0"/>
              <a:cs typeface="Times New Roman" panose="02020603050405020304" pitchFamily="18" charset="0"/>
            </a:endParaRPr>
          </a:p>
          <a:p>
            <a:pPr marR="5080" algn="just">
              <a:spcBef>
                <a:spcPts val="605"/>
              </a:spcBef>
            </a:pPr>
            <a:endParaRPr lang="fr-FR" sz="2700" spc="-5">
              <a:solidFill>
                <a:srgbClr val="00B050"/>
              </a:solidFill>
              <a:latin typeface="Times New Roman" panose="02020603050405020304" pitchFamily="18" charset="0"/>
              <a:cs typeface="Times New Roman" panose="02020603050405020304" pitchFamily="18" charset="0"/>
            </a:endParaRPr>
          </a:p>
          <a:p>
            <a:pPr marR="5080" algn="just">
              <a:spcBef>
                <a:spcPts val="605"/>
              </a:spcBef>
            </a:pPr>
            <a:r>
              <a:rPr lang="fr-FR" sz="2700" b="1" spc="-5">
                <a:solidFill>
                  <a:srgbClr val="00B050"/>
                </a:solidFill>
                <a:latin typeface="Times New Roman" panose="02020603050405020304" pitchFamily="18" charset="0"/>
                <a:cs typeface="Times New Roman" panose="02020603050405020304" pitchFamily="18" charset="0"/>
              </a:rPr>
              <a:t> </a:t>
            </a:r>
          </a:p>
          <a:p>
            <a:pPr marR="5080" algn="just">
              <a:spcBef>
                <a:spcPts val="605"/>
              </a:spcBef>
            </a:pPr>
            <a:endParaRPr lang="fr-FR" sz="2700" b="1" spc="-5">
              <a:solidFill>
                <a:srgbClr val="00B050"/>
              </a:solidFill>
              <a:latin typeface="Times New Roman" panose="02020603050405020304" pitchFamily="18" charset="0"/>
              <a:cs typeface="Times New Roman" panose="02020603050405020304" pitchFamily="18" charset="0"/>
            </a:endParaRPr>
          </a:p>
          <a:p>
            <a:pPr marR="5080" algn="just">
              <a:spcBef>
                <a:spcPts val="605"/>
              </a:spcBef>
            </a:pPr>
            <a:endParaRPr lang="fr-FR" sz="2700" b="1" spc="-5">
              <a:solidFill>
                <a:srgbClr val="00B050"/>
              </a:solidFill>
              <a:latin typeface="Times New Roman" panose="02020603050405020304" pitchFamily="18" charset="0"/>
              <a:cs typeface="Times New Roman" panose="02020603050405020304" pitchFamily="18" charset="0"/>
            </a:endParaRPr>
          </a:p>
          <a:p>
            <a:pPr marR="5080" algn="just">
              <a:spcBef>
                <a:spcPts val="605"/>
              </a:spcBef>
            </a:pPr>
            <a:endParaRPr lang="fr-FR" sz="2700" b="1" spc="-5">
              <a:solidFill>
                <a:srgbClr val="00B050"/>
              </a:solidFill>
              <a:latin typeface="Times New Roman" panose="02020603050405020304" pitchFamily="18" charset="0"/>
              <a:cs typeface="Times New Roman" panose="02020603050405020304" pitchFamily="18" charset="0"/>
            </a:endParaRPr>
          </a:p>
          <a:p>
            <a:pPr marR="5080" algn="just">
              <a:spcBef>
                <a:spcPts val="605"/>
              </a:spcBef>
            </a:pPr>
            <a:r>
              <a:rPr lang="fr-FR" sz="2700" b="1" spc="-5">
                <a:solidFill>
                  <a:srgbClr val="00B050"/>
                </a:solidFill>
                <a:latin typeface="Times New Roman" panose="02020603050405020304" pitchFamily="18" charset="0"/>
                <a:cs typeface="Times New Roman" panose="02020603050405020304" pitchFamily="18" charset="0"/>
              </a:rPr>
              <a:t>Có </a:t>
            </a:r>
            <a:r>
              <a:rPr lang="fr-FR" sz="2700" b="1" spc="-5" dirty="0" err="1">
                <a:solidFill>
                  <a:srgbClr val="00B050"/>
                </a:solidFill>
                <a:latin typeface="Times New Roman" panose="02020603050405020304" pitchFamily="18" charset="0"/>
                <a:cs typeface="Times New Roman" panose="02020603050405020304" pitchFamily="18" charset="0"/>
              </a:rPr>
              <a:t>mũi</a:t>
            </a:r>
            <a:r>
              <a:rPr lang="fr-FR" sz="2700" b="1" spc="-5" dirty="0">
                <a:solidFill>
                  <a:srgbClr val="00B050"/>
                </a:solidFill>
                <a:latin typeface="Times New Roman" panose="02020603050405020304" pitchFamily="18" charset="0"/>
                <a:cs typeface="Times New Roman" panose="02020603050405020304" pitchFamily="18" charset="0"/>
              </a:rPr>
              <a:t> </a:t>
            </a:r>
            <a:r>
              <a:rPr lang="fr-FR" sz="2700" b="1" spc="-5" dirty="0" err="1">
                <a:solidFill>
                  <a:srgbClr val="00B050"/>
                </a:solidFill>
                <a:latin typeface="Times New Roman" panose="02020603050405020304" pitchFamily="18" charset="0"/>
                <a:cs typeface="Times New Roman" panose="02020603050405020304" pitchFamily="18" charset="0"/>
              </a:rPr>
              <a:t>tên</a:t>
            </a:r>
            <a:r>
              <a:rPr lang="fr-FR" sz="2700" b="1" spc="-5" dirty="0">
                <a:solidFill>
                  <a:srgbClr val="00B050"/>
                </a:solidFill>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Mối</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quan</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hệ</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một</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chiều</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chỉ</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rõ</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lớp</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nào</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biết</a:t>
            </a:r>
            <a:r>
              <a:rPr lang="fr-FR" sz="2700" spc="-5" dirty="0">
                <a:latin typeface="Times New Roman" panose="02020603050405020304" pitchFamily="18" charset="0"/>
                <a:cs typeface="Times New Roman" panose="02020603050405020304" pitchFamily="18" charset="0"/>
              </a:rPr>
              <a:t> </a:t>
            </a:r>
            <a:r>
              <a:rPr lang="fr-FR" sz="2700" spc="-5" dirty="0" err="1">
                <a:latin typeface="Times New Roman" panose="02020603050405020304" pitchFamily="18" charset="0"/>
                <a:cs typeface="Times New Roman" panose="02020603050405020304" pitchFamily="18" charset="0"/>
              </a:rPr>
              <a:t>về</a:t>
            </a:r>
            <a:r>
              <a:rPr lang="fr-FR" sz="2700" spc="-5" dirty="0">
                <a:latin typeface="Times New Roman" panose="02020603050405020304" pitchFamily="18" charset="0"/>
                <a:cs typeface="Times New Roman" panose="02020603050405020304" pitchFamily="18" charset="0"/>
              </a:rPr>
              <a:t> </a:t>
            </a:r>
            <a:r>
              <a:rPr lang="fr-FR" sz="2700" spc="-5" err="1">
                <a:latin typeface="Times New Roman" panose="02020603050405020304" pitchFamily="18" charset="0"/>
                <a:cs typeface="Times New Roman" panose="02020603050405020304" pitchFamily="18" charset="0"/>
              </a:rPr>
              <a:t>lớp</a:t>
            </a:r>
            <a:r>
              <a:rPr lang="fr-FR" sz="2700" spc="-5">
                <a:latin typeface="Times New Roman" panose="02020603050405020304" pitchFamily="18" charset="0"/>
                <a:cs typeface="Times New Roman" panose="02020603050405020304" pitchFamily="18" charset="0"/>
              </a:rPr>
              <a:t> nào</a:t>
            </a:r>
            <a:endParaRPr lang="fr-FR" sz="2700" spc="-5"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838200" y="5040691"/>
            <a:ext cx="2798016" cy="1200329"/>
          </a:xfrm>
          <a:prstGeom prst="rect">
            <a:avLst/>
          </a:prstGeom>
          <a:solidFill>
            <a:srgbClr val="FFFF0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Bill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thanh</a:t>
            </a:r>
            <a:r>
              <a:rPr lang="en-US" sz="2400">
                <a:latin typeface="Times New Roman" panose="02020603050405020304" pitchFamily="18" charset="0"/>
                <a:cs typeface="Times New Roman" panose="02020603050405020304" pitchFamily="18" charset="0"/>
              </a:rPr>
              <a:t> toán</a:t>
            </a:r>
            <a:endParaRPr lang="en-US" sz="2400" dirty="0">
              <a:latin typeface="Times New Roman" panose="02020603050405020304" pitchFamily="18" charset="0"/>
              <a:cs typeface="Times New Roman" panose="02020603050405020304" pitchFamily="18" charset="0"/>
            </a:endParaRPr>
          </a:p>
        </p:txBody>
      </p:sp>
      <p:sp>
        <p:nvSpPr>
          <p:cNvPr id="13"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4" name="Rectangle 3"/>
          <p:cNvSpPr/>
          <p:nvPr/>
        </p:nvSpPr>
        <p:spPr>
          <a:xfrm>
            <a:off x="1030656" y="2290791"/>
            <a:ext cx="2794782" cy="746510"/>
          </a:xfrm>
          <a:prstGeom prst="rect">
            <a:avLst/>
          </a:prstGeom>
          <a:solidFill>
            <a:srgbClr val="33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Customer</a:t>
            </a:r>
          </a:p>
        </p:txBody>
      </p:sp>
      <p:sp>
        <p:nvSpPr>
          <p:cNvPr id="15" name="Rectangle 14"/>
          <p:cNvSpPr/>
          <p:nvPr/>
        </p:nvSpPr>
        <p:spPr>
          <a:xfrm>
            <a:off x="6654018" y="2290791"/>
            <a:ext cx="2794782" cy="746510"/>
          </a:xfrm>
          <a:prstGeom prst="rect">
            <a:avLst/>
          </a:prstGeom>
          <a:solidFill>
            <a:srgbClr val="3333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t>Account</a:t>
            </a:r>
          </a:p>
        </p:txBody>
      </p:sp>
      <p:cxnSp>
        <p:nvCxnSpPr>
          <p:cNvPr id="6" name="Straight Connector 5"/>
          <p:cNvCxnSpPr>
            <a:stCxn id="4" idx="3"/>
            <a:endCxn id="15" idx="1"/>
          </p:cNvCxnSpPr>
          <p:nvPr/>
        </p:nvCxnSpPr>
        <p:spPr>
          <a:xfrm>
            <a:off x="3825438" y="2664046"/>
            <a:ext cx="282858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065141" y="2095523"/>
            <a:ext cx="1143000" cy="553998"/>
          </a:xfrm>
          <a:prstGeom prst="rect">
            <a:avLst/>
          </a:prstGeom>
          <a:noFill/>
        </p:spPr>
        <p:txBody>
          <a:bodyPr wrap="square" rtlCol="0">
            <a:spAutoFit/>
          </a:bodyPr>
          <a:lstStyle/>
          <a:p>
            <a:r>
              <a:rPr lang="en-US" sz="3000">
                <a:latin typeface="Times New Roman" panose="02020603050405020304" pitchFamily="18" charset="0"/>
                <a:cs typeface="Times New Roman" panose="02020603050405020304" pitchFamily="18" charset="0"/>
              </a:rPr>
              <a:t>Holds</a:t>
            </a:r>
          </a:p>
        </p:txBody>
      </p:sp>
      <p:sp>
        <p:nvSpPr>
          <p:cNvPr id="17" name="TextBox 16"/>
          <p:cNvSpPr txBox="1"/>
          <p:nvPr/>
        </p:nvSpPr>
        <p:spPr>
          <a:xfrm>
            <a:off x="4803192" y="2722602"/>
            <a:ext cx="1850825" cy="553998"/>
          </a:xfrm>
          <a:prstGeom prst="rect">
            <a:avLst/>
          </a:prstGeom>
          <a:noFill/>
        </p:spPr>
        <p:txBody>
          <a:bodyPr wrap="square" rtlCol="0">
            <a:spAutoFit/>
          </a:bodyPr>
          <a:lstStyle/>
          <a:p>
            <a:r>
              <a:rPr lang="en-US" sz="3000">
                <a:latin typeface="Times New Roman" panose="02020603050405020304" pitchFamily="18" charset="0"/>
                <a:cs typeface="Times New Roman" panose="02020603050405020304" pitchFamily="18" charset="0"/>
              </a:rPr>
              <a:t>Owned by</a:t>
            </a:r>
          </a:p>
        </p:txBody>
      </p:sp>
      <p:sp>
        <p:nvSpPr>
          <p:cNvPr id="18" name="Rectangle 17"/>
          <p:cNvSpPr/>
          <p:nvPr/>
        </p:nvSpPr>
        <p:spPr>
          <a:xfrm>
            <a:off x="4074858" y="5316463"/>
            <a:ext cx="2794782" cy="746510"/>
          </a:xfrm>
          <a:prstGeom prst="rect">
            <a:avLst/>
          </a:prstGeom>
          <a:solidFill>
            <a:srgbClr val="33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Bill</a:t>
            </a:r>
          </a:p>
        </p:txBody>
      </p:sp>
      <p:sp>
        <p:nvSpPr>
          <p:cNvPr id="19" name="Rectangle 18"/>
          <p:cNvSpPr/>
          <p:nvPr/>
        </p:nvSpPr>
        <p:spPr>
          <a:xfrm>
            <a:off x="8818191" y="5317065"/>
            <a:ext cx="2794782" cy="746510"/>
          </a:xfrm>
          <a:prstGeom prst="rect">
            <a:avLst/>
          </a:prstGeom>
          <a:solidFill>
            <a:srgbClr val="3333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t>Payment</a:t>
            </a:r>
          </a:p>
        </p:txBody>
      </p:sp>
      <p:cxnSp>
        <p:nvCxnSpPr>
          <p:cNvPr id="21" name="Straight Arrow Connector 20"/>
          <p:cNvCxnSpPr>
            <a:stCxn id="18" idx="3"/>
            <a:endCxn id="19" idx="1"/>
          </p:cNvCxnSpPr>
          <p:nvPr/>
        </p:nvCxnSpPr>
        <p:spPr>
          <a:xfrm>
            <a:off x="6869640" y="5689718"/>
            <a:ext cx="1948551" cy="60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636216" y="1683548"/>
            <a:ext cx="2764584"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25" name="Straight Arrow Connector 24"/>
          <p:cNvCxnSpPr/>
          <p:nvPr/>
        </p:nvCxnSpPr>
        <p:spPr>
          <a:xfrm>
            <a:off x="9448800" y="4648200"/>
            <a:ext cx="2438400"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365579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11</a:t>
            </a:r>
            <a:endParaRPr sz="1200">
              <a:latin typeface="Trebuchet MS"/>
              <a:cs typeface="Trebuchet MS"/>
            </a:endParaRPr>
          </a:p>
        </p:txBody>
      </p:sp>
      <p:sp>
        <p:nvSpPr>
          <p:cNvPr id="4" name="object 4"/>
          <p:cNvSpPr txBox="1"/>
          <p:nvPr/>
        </p:nvSpPr>
        <p:spPr>
          <a:xfrm>
            <a:off x="0" y="925597"/>
            <a:ext cx="12192000" cy="2028761"/>
          </a:xfrm>
          <a:prstGeom prst="rect">
            <a:avLst/>
          </a:prstGeom>
        </p:spPr>
        <p:txBody>
          <a:bodyPr vert="horz" wrap="square" lIns="0" tIns="88900" rIns="0" bIns="0" rtlCol="0">
            <a:spAutoFit/>
          </a:bodyPr>
          <a:lstStyle/>
          <a:p>
            <a:pPr marL="457200" marR="5080" indent="-457200" algn="just">
              <a:lnSpc>
                <a:spcPct val="150000"/>
              </a:lnSpc>
              <a:spcBef>
                <a:spcPts val="605"/>
              </a:spcBef>
              <a:buFont typeface="Wingdings" panose="05000000000000000000" pitchFamily="2" charset="2"/>
              <a:buChar char="§"/>
            </a:pPr>
            <a:r>
              <a:rPr sz="2800" b="1" spc="-5" dirty="0" err="1">
                <a:solidFill>
                  <a:srgbClr val="FF0000"/>
                </a:solidFill>
                <a:latin typeface="Times New Roman" panose="02020603050405020304" pitchFamily="18" charset="0"/>
                <a:cs typeface="Times New Roman" panose="02020603050405020304" pitchFamily="18" charset="0"/>
              </a:rPr>
              <a:t>Lớp</a:t>
            </a:r>
            <a:r>
              <a:rPr sz="2800" b="1" spc="-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kết </a:t>
            </a:r>
            <a:r>
              <a:rPr sz="2800" b="1" spc="-5" dirty="0">
                <a:solidFill>
                  <a:srgbClr val="FF0000"/>
                </a:solidFill>
                <a:latin typeface="Times New Roman" panose="02020603050405020304" pitchFamily="18" charset="0"/>
                <a:cs typeface="Times New Roman" panose="02020603050405020304" pitchFamily="18" charset="0"/>
              </a:rPr>
              <a:t>hợp (Association Class):</a:t>
            </a:r>
            <a:r>
              <a:rPr lang="en-US" sz="2800" b="1" spc="-5" dirty="0">
                <a:solidFill>
                  <a:srgbClr val="FF0000"/>
                </a:solidFill>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mở rộng từ mối quan hệ kết hợp (Association). Mô tả một mối quan hệ giữa hai lớp khác, đồng thời cũng mang các thuộc tính và phương thức riêng </a:t>
            </a:r>
            <a:r>
              <a:rPr lang="vi-VN" sz="2800">
                <a:latin typeface="Times New Roman" panose="02020603050405020304" pitchFamily="18" charset="0"/>
                <a:cs typeface="Times New Roman" panose="02020603050405020304" pitchFamily="18" charset="0"/>
              </a:rPr>
              <a:t>của mình</a:t>
            </a:r>
            <a:endParaRPr lang="vi-VN" sz="2800" dirty="0">
              <a:latin typeface="Times New Roman" panose="02020603050405020304" pitchFamily="18" charset="0"/>
              <a:cs typeface="Times New Roman" panose="02020603050405020304" pitchFamily="18" charset="0"/>
            </a:endParaRPr>
          </a:p>
        </p:txBody>
      </p:sp>
      <p:sp>
        <p:nvSpPr>
          <p:cNvPr id="7" name="object 7"/>
          <p:cNvSpPr/>
          <p:nvPr/>
        </p:nvSpPr>
        <p:spPr>
          <a:xfrm>
            <a:off x="4947286" y="4041465"/>
            <a:ext cx="1779905" cy="1905"/>
          </a:xfrm>
          <a:custGeom>
            <a:avLst/>
            <a:gdLst/>
            <a:ahLst/>
            <a:cxnLst/>
            <a:rect l="l" t="t" r="r" b="b"/>
            <a:pathLst>
              <a:path w="1779904" h="1904">
                <a:moveTo>
                  <a:pt x="0" y="1524"/>
                </a:moveTo>
                <a:lnTo>
                  <a:pt x="1779777" y="0"/>
                </a:lnTo>
              </a:path>
            </a:pathLst>
          </a:custGeom>
          <a:ln w="19812">
            <a:solidFill>
              <a:srgbClr val="000000"/>
            </a:solidFill>
          </a:ln>
        </p:spPr>
        <p:txBody>
          <a:bodyPr wrap="square" lIns="0" tIns="0" rIns="0" bIns="0" rtlCol="0"/>
          <a:lstStyle/>
          <a:p>
            <a:endParaRPr sz="1100">
              <a:latin typeface="Times New Roman" panose="02020603050405020304" pitchFamily="18" charset="0"/>
              <a:cs typeface="Times New Roman" panose="02020603050405020304" pitchFamily="18" charset="0"/>
            </a:endParaRPr>
          </a:p>
        </p:txBody>
      </p:sp>
      <p:sp>
        <p:nvSpPr>
          <p:cNvPr id="8" name="object 8"/>
          <p:cNvSpPr txBox="1"/>
          <p:nvPr/>
        </p:nvSpPr>
        <p:spPr>
          <a:xfrm>
            <a:off x="5022216" y="3786322"/>
            <a:ext cx="239395" cy="181460"/>
          </a:xfrm>
          <a:prstGeom prst="rect">
            <a:avLst/>
          </a:prstGeom>
        </p:spPr>
        <p:txBody>
          <a:bodyPr vert="horz" wrap="square" lIns="0" tIns="12065" rIns="0" bIns="0" rtlCol="0">
            <a:spAutoFit/>
          </a:bodyPr>
          <a:lstStyle/>
          <a:p>
            <a:pPr marL="12700">
              <a:spcBef>
                <a:spcPts val="95"/>
              </a:spcBef>
            </a:pPr>
            <a:r>
              <a:rPr sz="1100" spc="-10" dirty="0">
                <a:latin typeface="Times New Roman" panose="02020603050405020304" pitchFamily="18" charset="0"/>
                <a:cs typeface="Times New Roman" panose="02020603050405020304" pitchFamily="18" charset="0"/>
              </a:rPr>
              <a:t>1</a:t>
            </a:r>
            <a:r>
              <a:rPr sz="1100" spc="-5" dirty="0">
                <a:latin typeface="Times New Roman" panose="02020603050405020304" pitchFamily="18" charset="0"/>
                <a:cs typeface="Times New Roman" panose="02020603050405020304" pitchFamily="18" charset="0"/>
              </a:rPr>
              <a:t>.</a:t>
            </a:r>
            <a:r>
              <a:rPr sz="1100" spc="-10" dirty="0">
                <a:latin typeface="Times New Roman" panose="02020603050405020304" pitchFamily="18" charset="0"/>
                <a:cs typeface="Times New Roman" panose="02020603050405020304" pitchFamily="18" charset="0"/>
              </a:rPr>
              <a:t>.</a:t>
            </a:r>
            <a:r>
              <a:rPr sz="1100" spc="-5" dirty="0">
                <a:latin typeface="Times New Roman" panose="02020603050405020304" pitchFamily="18" charset="0"/>
                <a:cs typeface="Times New Roman" panose="02020603050405020304" pitchFamily="18" charset="0"/>
              </a:rPr>
              <a:t>*</a:t>
            </a:r>
            <a:endParaRPr sz="1100">
              <a:latin typeface="Times New Roman" panose="02020603050405020304" pitchFamily="18" charset="0"/>
              <a:cs typeface="Times New Roman" panose="02020603050405020304" pitchFamily="18" charset="0"/>
            </a:endParaRPr>
          </a:p>
        </p:txBody>
      </p:sp>
      <p:sp>
        <p:nvSpPr>
          <p:cNvPr id="9" name="object 9"/>
          <p:cNvSpPr txBox="1"/>
          <p:nvPr/>
        </p:nvSpPr>
        <p:spPr>
          <a:xfrm>
            <a:off x="6426708" y="3798513"/>
            <a:ext cx="239395" cy="181460"/>
          </a:xfrm>
          <a:prstGeom prst="rect">
            <a:avLst/>
          </a:prstGeom>
        </p:spPr>
        <p:txBody>
          <a:bodyPr vert="horz" wrap="square" lIns="0" tIns="12065" rIns="0" bIns="0" rtlCol="0">
            <a:spAutoFit/>
          </a:bodyPr>
          <a:lstStyle/>
          <a:p>
            <a:pPr marL="12700">
              <a:spcBef>
                <a:spcPts val="95"/>
              </a:spcBef>
            </a:pPr>
            <a:r>
              <a:rPr sz="1100" spc="-10" dirty="0">
                <a:latin typeface="Times New Roman" panose="02020603050405020304" pitchFamily="18" charset="0"/>
                <a:cs typeface="Times New Roman" panose="02020603050405020304" pitchFamily="18" charset="0"/>
              </a:rPr>
              <a:t>0</a:t>
            </a:r>
            <a:r>
              <a:rPr sz="1100" spc="-5" dirty="0">
                <a:latin typeface="Times New Roman" panose="02020603050405020304" pitchFamily="18" charset="0"/>
                <a:cs typeface="Times New Roman" panose="02020603050405020304" pitchFamily="18" charset="0"/>
              </a:rPr>
              <a:t>.</a:t>
            </a:r>
            <a:r>
              <a:rPr sz="1100" spc="-10" dirty="0">
                <a:latin typeface="Times New Roman" panose="02020603050405020304" pitchFamily="18" charset="0"/>
                <a:cs typeface="Times New Roman" panose="02020603050405020304" pitchFamily="18" charset="0"/>
              </a:rPr>
              <a:t>.</a:t>
            </a:r>
            <a:r>
              <a:rPr sz="1100" spc="-5" dirty="0">
                <a:latin typeface="Times New Roman" panose="02020603050405020304" pitchFamily="18" charset="0"/>
                <a:cs typeface="Times New Roman" panose="02020603050405020304" pitchFamily="18" charset="0"/>
              </a:rPr>
              <a:t>*</a:t>
            </a:r>
            <a:endParaRPr sz="1100">
              <a:latin typeface="Times New Roman" panose="02020603050405020304" pitchFamily="18" charset="0"/>
              <a:cs typeface="Times New Roman" panose="02020603050405020304" pitchFamily="18" charset="0"/>
            </a:endParaRPr>
          </a:p>
        </p:txBody>
      </p:sp>
      <p:sp>
        <p:nvSpPr>
          <p:cNvPr id="10" name="object 10"/>
          <p:cNvSpPr/>
          <p:nvPr/>
        </p:nvSpPr>
        <p:spPr>
          <a:xfrm>
            <a:off x="5835777" y="4039940"/>
            <a:ext cx="0" cy="669290"/>
          </a:xfrm>
          <a:custGeom>
            <a:avLst/>
            <a:gdLst/>
            <a:ahLst/>
            <a:cxnLst/>
            <a:rect l="l" t="t" r="r" b="b"/>
            <a:pathLst>
              <a:path h="669289">
                <a:moveTo>
                  <a:pt x="0" y="0"/>
                </a:moveTo>
                <a:lnTo>
                  <a:pt x="0" y="669163"/>
                </a:lnTo>
              </a:path>
            </a:pathLst>
          </a:custGeom>
          <a:ln w="19812">
            <a:solidFill>
              <a:srgbClr val="000000"/>
            </a:solidFill>
            <a:prstDash val="sysDash"/>
          </a:ln>
        </p:spPr>
        <p:txBody>
          <a:bodyPr wrap="square" lIns="0" tIns="0" rIns="0" bIns="0" rtlCol="0"/>
          <a:lstStyle/>
          <a:p>
            <a:endParaRPr sz="1100">
              <a:latin typeface="Times New Roman" panose="02020603050405020304" pitchFamily="18" charset="0"/>
              <a:cs typeface="Times New Roman" panose="02020603050405020304" pitchFamily="18"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2205251670"/>
              </p:ext>
            </p:extLst>
          </p:nvPr>
        </p:nvGraphicFramePr>
        <p:xfrm>
          <a:off x="5092060" y="4708215"/>
          <a:ext cx="1600200" cy="1116490"/>
        </p:xfrm>
        <a:graphic>
          <a:graphicData uri="http://schemas.openxmlformats.org/drawingml/2006/table">
            <a:tbl>
              <a:tblPr firstRow="1" bandRow="1">
                <a:tableStyleId>{5940675A-B579-460E-94D1-54222C63F5DA}</a:tableStyleId>
              </a:tblPr>
              <a:tblGrid>
                <a:gridCol w="1600200">
                  <a:extLst>
                    <a:ext uri="{9D8B030D-6E8A-4147-A177-3AD203B41FA5}">
                      <a16:colId xmlns:a16="http://schemas.microsoft.com/office/drawing/2014/main" val="20000"/>
                    </a:ext>
                  </a:extLst>
                </a:gridCol>
              </a:tblGrid>
              <a:tr h="374810">
                <a:tc>
                  <a:txBody>
                    <a:bodyPr/>
                    <a:lstStyle/>
                    <a:p>
                      <a:pPr algn="ctr"/>
                      <a:r>
                        <a:rPr lang="en-US" dirty="0" err="1"/>
                        <a:t>Kết</a:t>
                      </a:r>
                      <a:r>
                        <a:rPr lang="en-US" baseline="0" dirty="0"/>
                        <a:t> </a:t>
                      </a:r>
                      <a:r>
                        <a:rPr lang="en-US" baseline="0" dirty="0" err="1"/>
                        <a:t>quả</a:t>
                      </a:r>
                      <a:endParaRPr lang="en-US" dirty="0"/>
                    </a:p>
                  </a:txBody>
                  <a:tcPr/>
                </a:tc>
                <a:extLst>
                  <a:ext uri="{0D108BD9-81ED-4DB2-BD59-A6C34878D82A}">
                    <a16:rowId xmlns:a16="http://schemas.microsoft.com/office/drawing/2014/main" val="10000"/>
                  </a:ext>
                </a:extLst>
              </a:tr>
              <a:tr h="370840">
                <a:tc>
                  <a:txBody>
                    <a:bodyPr/>
                    <a:lstStyle/>
                    <a:p>
                      <a:pPr algn="ctr"/>
                      <a:r>
                        <a:rPr lang="en-US" dirty="0" err="1"/>
                        <a:t>Điểm</a:t>
                      </a:r>
                      <a:endParaRPr lang="en-US" dirty="0"/>
                    </a:p>
                  </a:txBody>
                  <a:tcPr/>
                </a:tc>
                <a:extLst>
                  <a:ext uri="{0D108BD9-81ED-4DB2-BD59-A6C34878D82A}">
                    <a16:rowId xmlns:a16="http://schemas.microsoft.com/office/drawing/2014/main" val="10001"/>
                  </a:ext>
                </a:extLst>
              </a:tr>
              <a:tr h="370840">
                <a:tc>
                  <a:txBody>
                    <a:bodyPr/>
                    <a:lstStyle/>
                    <a:p>
                      <a:endParaRPr lang="en-US" dirty="0"/>
                    </a:p>
                  </a:txBody>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744559730"/>
              </p:ext>
            </p:extLst>
          </p:nvPr>
        </p:nvGraphicFramePr>
        <p:xfrm>
          <a:off x="6781800" y="3481695"/>
          <a:ext cx="1600200" cy="1116490"/>
        </p:xfrm>
        <a:graphic>
          <a:graphicData uri="http://schemas.openxmlformats.org/drawingml/2006/table">
            <a:tbl>
              <a:tblPr firstRow="1" bandRow="1">
                <a:tableStyleId>{5940675A-B579-460E-94D1-54222C63F5DA}</a:tableStyleId>
              </a:tblPr>
              <a:tblGrid>
                <a:gridCol w="1600200">
                  <a:extLst>
                    <a:ext uri="{9D8B030D-6E8A-4147-A177-3AD203B41FA5}">
                      <a16:colId xmlns:a16="http://schemas.microsoft.com/office/drawing/2014/main" val="20000"/>
                    </a:ext>
                  </a:extLst>
                </a:gridCol>
              </a:tblGrid>
              <a:tr h="374810">
                <a:tc>
                  <a:txBody>
                    <a:bodyPr/>
                    <a:lstStyle/>
                    <a:p>
                      <a:pPr algn="ctr"/>
                      <a:r>
                        <a:rPr lang="en-US" dirty="0" err="1"/>
                        <a:t>Sinh</a:t>
                      </a:r>
                      <a:r>
                        <a:rPr lang="en-US" baseline="0" dirty="0"/>
                        <a:t> </a:t>
                      </a:r>
                      <a:r>
                        <a:rPr lang="en-US" baseline="0" dirty="0" err="1"/>
                        <a:t>viên</a:t>
                      </a:r>
                      <a:endParaRPr lang="en-US" dirty="0"/>
                    </a:p>
                  </a:txBody>
                  <a:tcPr/>
                </a:tc>
                <a:extLst>
                  <a:ext uri="{0D108BD9-81ED-4DB2-BD59-A6C34878D82A}">
                    <a16:rowId xmlns:a16="http://schemas.microsoft.com/office/drawing/2014/main" val="10000"/>
                  </a:ext>
                </a:extLst>
              </a:tr>
              <a:tr h="370840">
                <a:tc>
                  <a:txBody>
                    <a:bodyPr/>
                    <a:lstStyle/>
                    <a:p>
                      <a:pPr algn="ctr"/>
                      <a:endParaRPr lang="en-US" dirty="0"/>
                    </a:p>
                  </a:txBody>
                  <a:tcPr/>
                </a:tc>
                <a:extLst>
                  <a:ext uri="{0D108BD9-81ED-4DB2-BD59-A6C34878D82A}">
                    <a16:rowId xmlns:a16="http://schemas.microsoft.com/office/drawing/2014/main" val="10001"/>
                  </a:ext>
                </a:extLst>
              </a:tr>
              <a:tr h="370840">
                <a:tc>
                  <a:txBody>
                    <a:bodyPr/>
                    <a:lstStyle/>
                    <a:p>
                      <a:pPr algn="ctr"/>
                      <a:endParaRPr lang="en-US" dirty="0"/>
                    </a:p>
                  </a:txBody>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819937461"/>
              </p:ext>
            </p:extLst>
          </p:nvPr>
        </p:nvGraphicFramePr>
        <p:xfrm>
          <a:off x="3306317" y="3481695"/>
          <a:ext cx="1600200" cy="1116490"/>
        </p:xfrm>
        <a:graphic>
          <a:graphicData uri="http://schemas.openxmlformats.org/drawingml/2006/table">
            <a:tbl>
              <a:tblPr firstRow="1" bandRow="1">
                <a:tableStyleId>{5940675A-B579-460E-94D1-54222C63F5DA}</a:tableStyleId>
              </a:tblPr>
              <a:tblGrid>
                <a:gridCol w="1600200">
                  <a:extLst>
                    <a:ext uri="{9D8B030D-6E8A-4147-A177-3AD203B41FA5}">
                      <a16:colId xmlns:a16="http://schemas.microsoft.com/office/drawing/2014/main" val="20000"/>
                    </a:ext>
                  </a:extLst>
                </a:gridCol>
              </a:tblGrid>
              <a:tr h="374810">
                <a:tc>
                  <a:txBody>
                    <a:bodyPr/>
                    <a:lstStyle/>
                    <a:p>
                      <a:pPr algn="ctr"/>
                      <a:r>
                        <a:rPr lang="en-US" dirty="0" err="1"/>
                        <a:t>Môn</a:t>
                      </a:r>
                      <a:r>
                        <a:rPr lang="en-US" baseline="0" dirty="0"/>
                        <a:t> </a:t>
                      </a:r>
                      <a:r>
                        <a:rPr lang="en-US" baseline="0" dirty="0" err="1"/>
                        <a:t>học</a:t>
                      </a:r>
                      <a:endParaRPr lang="en-US" dirty="0"/>
                    </a:p>
                  </a:txBody>
                  <a:tcPr/>
                </a:tc>
                <a:extLst>
                  <a:ext uri="{0D108BD9-81ED-4DB2-BD59-A6C34878D82A}">
                    <a16:rowId xmlns:a16="http://schemas.microsoft.com/office/drawing/2014/main" val="10000"/>
                  </a:ext>
                </a:extLst>
              </a:tr>
              <a:tr h="370840">
                <a:tc>
                  <a:txBody>
                    <a:bodyPr/>
                    <a:lstStyle/>
                    <a:p>
                      <a:pPr algn="ctr"/>
                      <a:endParaRPr lang="en-US" dirty="0"/>
                    </a:p>
                  </a:txBody>
                  <a:tcPr/>
                </a:tc>
                <a:extLst>
                  <a:ext uri="{0D108BD9-81ED-4DB2-BD59-A6C34878D82A}">
                    <a16:rowId xmlns:a16="http://schemas.microsoft.com/office/drawing/2014/main" val="10001"/>
                  </a:ext>
                </a:extLst>
              </a:tr>
              <a:tr h="370840">
                <a:tc>
                  <a:txBody>
                    <a:bodyPr/>
                    <a:lstStyle/>
                    <a:p>
                      <a:pPr algn="ctr"/>
                      <a:endParaRPr lang="en-US" dirty="0"/>
                    </a:p>
                  </a:txBody>
                  <a:tcPr/>
                </a:tc>
                <a:extLst>
                  <a:ext uri="{0D108BD9-81ED-4DB2-BD59-A6C34878D82A}">
                    <a16:rowId xmlns:a16="http://schemas.microsoft.com/office/drawing/2014/main" val="10002"/>
                  </a:ext>
                </a:extLst>
              </a:tr>
            </a:tbl>
          </a:graphicData>
        </a:graphic>
      </p:graphicFrame>
      <p:sp>
        <p:nvSpPr>
          <p:cNvPr id="18"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 Association Class </a:t>
            </a:r>
            <a:endParaRPr dirty="0">
              <a:latin typeface="Times New Roman" panose="02020603050405020304" pitchFamily="18" charset="0"/>
              <a:cs typeface="Times New Roman" panose="02020603050405020304" pitchFamily="18" charset="0"/>
            </a:endParaRPr>
          </a:p>
        </p:txBody>
      </p:sp>
      <p:sp>
        <p:nvSpPr>
          <p:cNvPr id="13"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12288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990600"/>
            <a:ext cx="12192000" cy="5368135"/>
          </a:xfrm>
          <a:prstGeom prst="rect">
            <a:avLst/>
          </a:prstGeom>
        </p:spPr>
        <p:txBody>
          <a:bodyPr vert="horz" wrap="square" lIns="0" tIns="104139" rIns="0" bIns="0" rtlCol="0">
            <a:spAutoFit/>
          </a:bodyPr>
          <a:lstStyle/>
          <a:p>
            <a:pPr marL="515937" marR="5080" indent="-457200" algn="just">
              <a:lnSpc>
                <a:spcPct val="150000"/>
              </a:lnSpc>
              <a:spcBef>
                <a:spcPts val="610"/>
              </a:spcBef>
              <a:buFont typeface="Wingdings" panose="05000000000000000000" pitchFamily="2" charset="2"/>
              <a:buChar char="§"/>
            </a:pPr>
            <a:r>
              <a:rPr sz="2800" b="1" dirty="0">
                <a:solidFill>
                  <a:srgbClr val="FF0000"/>
                </a:solidFill>
                <a:latin typeface="Times New Roman" panose="02020603050405020304" pitchFamily="18" charset="0"/>
                <a:cs typeface="Times New Roman" panose="02020603050405020304" pitchFamily="18" charset="0"/>
              </a:rPr>
              <a:t>Quan </a:t>
            </a:r>
            <a:r>
              <a:rPr sz="2800" b="1" dirty="0" err="1">
                <a:solidFill>
                  <a:srgbClr val="FF0000"/>
                </a:solidFill>
                <a:latin typeface="Times New Roman" panose="02020603050405020304" pitchFamily="18" charset="0"/>
                <a:cs typeface="Times New Roman" panose="02020603050405020304" pitchFamily="18" charset="0"/>
              </a:rPr>
              <a:t>hệ</a:t>
            </a:r>
            <a:r>
              <a:rPr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tổng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hợp</a:t>
            </a:r>
            <a:r>
              <a:rPr lang="en-US" sz="2800" b="1" dirty="0">
                <a:solidFill>
                  <a:srgbClr val="FF0000"/>
                </a:solidFill>
                <a:latin typeface="Times New Roman" panose="02020603050405020304" pitchFamily="18" charset="0"/>
                <a:cs typeface="Times New Roman" panose="02020603050405020304" pitchFamily="18" charset="0"/>
              </a:rPr>
              <a:t>/ </a:t>
            </a:r>
            <a:r>
              <a:rPr sz="2800" b="1" dirty="0" err="1">
                <a:solidFill>
                  <a:srgbClr val="FF0000"/>
                </a:solidFill>
                <a:latin typeface="Times New Roman" panose="02020603050405020304" pitchFamily="18" charset="0"/>
                <a:cs typeface="Times New Roman" panose="02020603050405020304" pitchFamily="18" charset="0"/>
              </a:rPr>
              <a:t>thu</a:t>
            </a:r>
            <a:r>
              <a:rPr sz="2800" b="1" dirty="0">
                <a:solidFill>
                  <a:srgbClr val="FF0000"/>
                </a:solidFill>
                <a:latin typeface="Times New Roman" panose="02020603050405020304" pitchFamily="18" charset="0"/>
                <a:cs typeface="Times New Roman" panose="02020603050405020304" pitchFamily="18" charset="0"/>
              </a:rPr>
              <a:t> nạp (Aggregation)</a:t>
            </a:r>
            <a:endParaRPr lang="en-US" sz="2800" b="1" dirty="0">
              <a:solidFill>
                <a:srgbClr val="FF0000"/>
              </a:solidFill>
              <a:latin typeface="Times New Roman" panose="02020603050405020304" pitchFamily="18" charset="0"/>
              <a:cs typeface="Times New Roman" panose="02020603050405020304" pitchFamily="18" charset="0"/>
            </a:endParaRPr>
          </a:p>
          <a:p>
            <a:pPr marL="973138" marR="5080" lvl="1" indent="-457200" algn="just">
              <a:lnSpc>
                <a:spcPct val="150000"/>
              </a:lnSpc>
              <a:spcBef>
                <a:spcPts val="610"/>
              </a:spcBef>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M</a:t>
            </a:r>
            <a:r>
              <a:rPr sz="2800" dirty="0" err="1">
                <a:latin typeface="Times New Roman" panose="02020603050405020304" pitchFamily="18" charset="0"/>
                <a:cs typeface="Times New Roman" panose="02020603050405020304" pitchFamily="18" charset="0"/>
              </a:rPr>
              <a:t>ô</a:t>
            </a:r>
            <a:r>
              <a:rPr sz="2800" dirty="0">
                <a:latin typeface="Times New Roman" panose="02020603050405020304" pitchFamily="18" charset="0"/>
                <a:cs typeface="Times New Roman" panose="02020603050405020304" pitchFamily="18" charset="0"/>
              </a:rPr>
              <a:t> tả mối quan hệ giữa </a:t>
            </a:r>
            <a:r>
              <a:rPr sz="2800" dirty="0" err="1">
                <a:latin typeface="Times New Roman" panose="02020603050405020304" pitchFamily="18" charset="0"/>
                <a:cs typeface="Times New Roman" panose="02020603050405020304" pitchFamily="18" charset="0"/>
              </a:rPr>
              <a:t>một</a:t>
            </a:r>
            <a:r>
              <a:rPr sz="2800" dirty="0">
                <a:latin typeface="Times New Roman" panose="02020603050405020304" pitchFamily="18" charset="0"/>
                <a:cs typeface="Times New Roman" panose="02020603050405020304" pitchFamily="18" charset="0"/>
              </a:rPr>
              <a:t> </a:t>
            </a:r>
            <a:r>
              <a:rPr sz="2800" dirty="0" err="1">
                <a:solidFill>
                  <a:srgbClr val="0070C0"/>
                </a:solidFill>
                <a:latin typeface="Times New Roman" panose="02020603050405020304" pitchFamily="18" charset="0"/>
                <a:cs typeface="Times New Roman" panose="02020603050405020304" pitchFamily="18" charset="0"/>
              </a:rPr>
              <a:t>đối</a:t>
            </a:r>
            <a:r>
              <a:rPr lang="en-US" sz="2800" dirty="0">
                <a:solidFill>
                  <a:srgbClr val="0070C0"/>
                </a:solidFill>
                <a:latin typeface="Times New Roman" panose="02020603050405020304" pitchFamily="18" charset="0"/>
                <a:cs typeface="Times New Roman" panose="02020603050405020304" pitchFamily="18" charset="0"/>
              </a:rPr>
              <a:t> </a:t>
            </a:r>
            <a:r>
              <a:rPr sz="2800" dirty="0" err="1">
                <a:solidFill>
                  <a:srgbClr val="0070C0"/>
                </a:solidFill>
                <a:latin typeface="Times New Roman" panose="02020603050405020304" pitchFamily="18" charset="0"/>
                <a:cs typeface="Times New Roman" panose="02020603050405020304" pitchFamily="18" charset="0"/>
              </a:rPr>
              <a:t>tượng</a:t>
            </a:r>
            <a:r>
              <a:rPr sz="2800" dirty="0">
                <a:solidFill>
                  <a:srgbClr val="0070C0"/>
                </a:solidFill>
                <a:latin typeface="Times New Roman" panose="02020603050405020304" pitchFamily="18" charset="0"/>
                <a:cs typeface="Times New Roman" panose="02020603050405020304" pitchFamily="18" charset="0"/>
              </a:rPr>
              <a:t> lớn hơn </a:t>
            </a:r>
            <a:r>
              <a:rPr sz="2800" dirty="0">
                <a:latin typeface="Times New Roman" panose="02020603050405020304" pitchFamily="18" charset="0"/>
                <a:cs typeface="Times New Roman" panose="02020603050405020304" pitchFamily="18" charset="0"/>
              </a:rPr>
              <a:t>được tạo ra </a:t>
            </a:r>
            <a:r>
              <a:rPr sz="2800" dirty="0">
                <a:solidFill>
                  <a:srgbClr val="0070C0"/>
                </a:solidFill>
                <a:latin typeface="Times New Roman" panose="02020603050405020304" pitchFamily="18" charset="0"/>
                <a:cs typeface="Times New Roman" panose="02020603050405020304" pitchFamily="18" charset="0"/>
              </a:rPr>
              <a:t>từ những đối tượng nhỏ hơn</a:t>
            </a:r>
            <a:r>
              <a:rPr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Q</a:t>
            </a:r>
            <a:r>
              <a:rPr sz="2800">
                <a:latin typeface="Times New Roman" panose="02020603050405020304" pitchFamily="18" charset="0"/>
                <a:cs typeface="Times New Roman" panose="02020603050405020304" pitchFamily="18" charset="0"/>
              </a:rPr>
              <a:t>uan </a:t>
            </a:r>
            <a:r>
              <a:rPr sz="2800" dirty="0">
                <a:latin typeface="Times New Roman" panose="02020603050405020304" pitchFamily="18" charset="0"/>
                <a:cs typeface="Times New Roman" panose="02020603050405020304" pitchFamily="18" charset="0"/>
              </a:rPr>
              <a:t>hệ đặc biệt này là quan hệ </a:t>
            </a:r>
            <a:r>
              <a:rPr sz="2800" dirty="0">
                <a:solidFill>
                  <a:srgbClr val="00B050"/>
                </a:solidFill>
                <a:latin typeface="Times New Roman" panose="02020603050405020304" pitchFamily="18" charset="0"/>
                <a:cs typeface="Times New Roman" panose="02020603050405020304" pitchFamily="18" charset="0"/>
              </a:rPr>
              <a:t>“</a:t>
            </a:r>
            <a:r>
              <a:rPr sz="2800" i="1" dirty="0">
                <a:solidFill>
                  <a:srgbClr val="00B050"/>
                </a:solidFill>
                <a:latin typeface="Times New Roman" panose="02020603050405020304" pitchFamily="18" charset="0"/>
                <a:cs typeface="Times New Roman" panose="02020603050405020304" pitchFamily="18" charset="0"/>
              </a:rPr>
              <a:t>có</a:t>
            </a:r>
            <a:r>
              <a:rPr sz="2800" dirty="0">
                <a:solidFill>
                  <a:srgbClr val="00B05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nó có nghĩa là </a:t>
            </a:r>
            <a:r>
              <a:rPr sz="2800" dirty="0" err="1">
                <a:latin typeface="Times New Roman" panose="02020603050405020304" pitchFamily="18" charset="0"/>
                <a:cs typeface="Times New Roman" panose="02020603050405020304" pitchFamily="18" charset="0"/>
              </a:rPr>
              <a:t>một</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tượng</a:t>
            </a:r>
            <a:r>
              <a:rPr sz="2800" dirty="0">
                <a:latin typeface="Times New Roman" panose="02020603050405020304" pitchFamily="18" charset="0"/>
                <a:cs typeface="Times New Roman" panose="02020603050405020304" pitchFamily="18" charset="0"/>
              </a:rPr>
              <a:t> tổng thể có những đối tượng </a:t>
            </a:r>
            <a:r>
              <a:rPr sz="2800" err="1">
                <a:latin typeface="Times New Roman" panose="02020603050405020304" pitchFamily="18" charset="0"/>
                <a:cs typeface="Times New Roman" panose="02020603050405020304" pitchFamily="18" charset="0"/>
              </a:rPr>
              <a:t>thành</a:t>
            </a:r>
            <a:r>
              <a:rPr sz="2800">
                <a:latin typeface="Times New Roman" panose="02020603050405020304" pitchFamily="18" charset="0"/>
                <a:cs typeface="Times New Roman" panose="02020603050405020304" pitchFamily="18" charset="0"/>
              </a:rPr>
              <a:t> phần</a:t>
            </a:r>
            <a:endParaRPr lang="en-US" sz="2800" dirty="0">
              <a:latin typeface="Times New Roman" panose="02020603050405020304" pitchFamily="18" charset="0"/>
              <a:cs typeface="Times New Roman" panose="02020603050405020304" pitchFamily="18" charset="0"/>
            </a:endParaRPr>
          </a:p>
          <a:p>
            <a:pPr marL="973138" marR="5080" lvl="1" indent="-457200" algn="just">
              <a:lnSpc>
                <a:spcPct val="150000"/>
              </a:lnSpc>
              <a:spcBef>
                <a:spcPts val="610"/>
              </a:spcBef>
              <a:buFont typeface="Arial" panose="020B0604020202020204" pitchFamily="34" charset="0"/>
              <a:buChar char="•"/>
            </a:pPr>
            <a:r>
              <a:rPr lang="vi-VN" sz="2800" dirty="0">
                <a:latin typeface="Times New Roman" panose="02020603050405020304" pitchFamily="18" charset="0"/>
                <a:cs typeface="Times New Roman" panose="02020603050405020304" pitchFamily="18" charset="0"/>
              </a:rPr>
              <a:t>Một đối tượng th</a:t>
            </a:r>
            <a:r>
              <a:rPr lang="en-US" sz="2800" dirty="0" err="1">
                <a:latin typeface="Times New Roman" panose="02020603050405020304" pitchFamily="18" charset="0"/>
                <a:cs typeface="Times New Roman" panose="02020603050405020304" pitchFamily="18" charset="0"/>
              </a:rPr>
              <a:t>ành</a:t>
            </a:r>
            <a:r>
              <a:rPr lang="vi-VN" sz="2800" dirty="0">
                <a:latin typeface="Times New Roman" panose="02020603050405020304" pitchFamily="18" charset="0"/>
                <a:cs typeface="Times New Roman" panose="02020603050405020304" pitchFamily="18" charset="0"/>
              </a:rPr>
              <a:t> phần cũng có thể tham gia kết hợp với nhiều đối t</a:t>
            </a:r>
            <a:r>
              <a:rPr lang="en-US" sz="2800" dirty="0" err="1">
                <a:latin typeface="Times New Roman" panose="02020603050405020304" pitchFamily="18" charset="0"/>
                <a:cs typeface="Times New Roman" panose="02020603050405020304" pitchFamily="18" charset="0"/>
              </a:rPr>
              <a:t>ượng</a:t>
            </a:r>
            <a:r>
              <a:rPr lang="vi-VN" sz="2800" dirty="0">
                <a:latin typeface="Times New Roman" panose="02020603050405020304" pitchFamily="18" charset="0"/>
                <a:cs typeface="Times New Roman" panose="02020603050405020304" pitchFamily="18" charset="0"/>
              </a:rPr>
              <a:t> tổng thể khác nhau, trường hợp này gọi là </a:t>
            </a:r>
            <a:r>
              <a:rPr lang="vi-VN" sz="2800">
                <a:latin typeface="Times New Roman" panose="02020603050405020304" pitchFamily="18" charset="0"/>
                <a:cs typeface="Times New Roman" panose="02020603050405020304" pitchFamily="18" charset="0"/>
              </a:rPr>
              <a:t>chia sẻ</a:t>
            </a:r>
            <a:endParaRPr lang="en-US" sz="2800">
              <a:latin typeface="Times New Roman" panose="02020603050405020304" pitchFamily="18" charset="0"/>
              <a:cs typeface="Times New Roman" panose="02020603050405020304" pitchFamily="18" charset="0"/>
            </a:endParaRPr>
          </a:p>
          <a:p>
            <a:pPr marL="973138" marR="5080" lvl="1" indent="-457200" algn="just">
              <a:lnSpc>
                <a:spcPct val="150000"/>
              </a:lnSpc>
              <a:spcBef>
                <a:spcPts val="610"/>
              </a:spcBef>
              <a:buFont typeface="Arial" panose="020B0604020202020204" pitchFamily="34" charset="0"/>
              <a:buChar char="•"/>
            </a:pPr>
            <a:r>
              <a:rPr lang="en-US" sz="2800">
                <a:solidFill>
                  <a:srgbClr val="FF0000"/>
                </a:solidFill>
                <a:latin typeface="Times New Roman" panose="02020603050405020304" pitchFamily="18" charset="0"/>
                <a:cs typeface="Times New Roman" panose="02020603050405020304" pitchFamily="18" charset="0"/>
              </a:rPr>
              <a:t> </a:t>
            </a:r>
            <a:r>
              <a:rPr lang="en-US" sz="2800" b="1">
                <a:solidFill>
                  <a:srgbClr val="FF0000"/>
                </a:solidFill>
                <a:latin typeface="Times New Roman" panose="02020603050405020304" pitchFamily="18" charset="0"/>
                <a:cs typeface="Times New Roman" panose="02020603050405020304" pitchFamily="18" charset="0"/>
              </a:rPr>
              <a:t>Ký </a:t>
            </a:r>
            <a:r>
              <a:rPr lang="en-US" sz="2800" b="1" dirty="0" err="1">
                <a:solidFill>
                  <a:srgbClr val="FF0000"/>
                </a:solidFill>
                <a:latin typeface="Times New Roman" panose="02020603050405020304" pitchFamily="18" charset="0"/>
                <a:cs typeface="Times New Roman" panose="02020603050405020304" pitchFamily="18" charset="0"/>
              </a:rPr>
              <a:t>hiệu</a:t>
            </a:r>
            <a:r>
              <a:rPr lang="en-US" sz="2800" b="1" dirty="0">
                <a:solidFill>
                  <a:srgbClr val="FF0000"/>
                </a:solidFill>
                <a:latin typeface="Times New Roman" panose="02020603050405020304" pitchFamily="18" charset="0"/>
                <a:cs typeface="Times New Roman" panose="02020603050405020304" pitchFamily="18" charset="0"/>
              </a:rPr>
              <a:t>: </a:t>
            </a:r>
            <a:endParaRPr lang="vi-VN" sz="2800" b="1" dirty="0">
              <a:solidFill>
                <a:srgbClr val="FF0000"/>
              </a:solidFill>
              <a:latin typeface="Times New Roman" panose="02020603050405020304" pitchFamily="18" charset="0"/>
              <a:cs typeface="Times New Roman" panose="02020603050405020304" pitchFamily="18" charset="0"/>
            </a:endParaRPr>
          </a:p>
          <a:p>
            <a:pPr marL="290513" marR="5080" indent="-231775" algn="just">
              <a:spcBef>
                <a:spcPts val="610"/>
              </a:spcBef>
            </a:pPr>
            <a:endParaRPr sz="2800" dirty="0">
              <a:latin typeface="Times New Roman" panose="02020603050405020304" pitchFamily="18" charset="0"/>
              <a:cs typeface="Times New Roman" panose="02020603050405020304" pitchFamily="18" charset="0"/>
            </a:endParaRPr>
          </a:p>
        </p:txBody>
      </p:sp>
      <p:sp>
        <p:nvSpPr>
          <p:cNvPr id="8"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 Aggregation</a:t>
            </a:r>
            <a:endParaRPr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743200" y="5334000"/>
            <a:ext cx="1895740" cy="514422"/>
          </a:xfrm>
          <a:prstGeom prst="rect">
            <a:avLst/>
          </a:prstGeom>
        </p:spPr>
      </p:pic>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27825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0" y="942296"/>
            <a:ext cx="12192000" cy="2198037"/>
          </a:xfrm>
          <a:prstGeom prst="rect">
            <a:avLst/>
          </a:prstGeom>
        </p:spPr>
        <p:txBody>
          <a:bodyPr vert="horz" wrap="square" lIns="0" tIns="104139" rIns="0" bIns="0" rtlCol="0">
            <a:spAutoFit/>
          </a:bodyPr>
          <a:lstStyle/>
          <a:p>
            <a:pPr marL="58738" marR="5080" algn="just">
              <a:lnSpc>
                <a:spcPct val="150000"/>
              </a:lnSpc>
              <a:spcBef>
                <a:spcPts val="610"/>
              </a:spcBef>
            </a:pPr>
            <a:r>
              <a:rPr lang="en-US" sz="2800" b="1" dirty="0" err="1">
                <a:solidFill>
                  <a:schemeClr val="tx2"/>
                </a:solidFill>
                <a:latin typeface="Times New Roman" panose="02020603050405020304" pitchFamily="18" charset="0"/>
                <a:cs typeface="Times New Roman" panose="02020603050405020304" pitchFamily="18" charset="0"/>
              </a:rPr>
              <a:t>Ví</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dụ</a:t>
            </a:r>
            <a:r>
              <a:rPr lang="en-US" sz="2800" b="1" dirty="0">
                <a:solidFill>
                  <a:schemeClr val="tx2"/>
                </a:solidFill>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vận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đội</a:t>
            </a:r>
            <a:r>
              <a:rPr lang="en-US" sz="2800">
                <a:latin typeface="Times New Roman" panose="02020603050405020304" pitchFamily="18" charset="0"/>
                <a:cs typeface="Times New Roman" panose="02020603050405020304" pitchFamily="18" charset="0"/>
              </a:rPr>
              <a:t> này</a:t>
            </a:r>
          </a:p>
          <a:p>
            <a:pPr marL="58738" marR="5080" algn="just">
              <a:lnSpc>
                <a:spcPct val="150000"/>
              </a:lnSpc>
              <a:spcBef>
                <a:spcPts val="610"/>
              </a:spcBef>
            </a:pPr>
            <a:r>
              <a:rPr lang="en-US" sz="2800">
                <a:latin typeface="Times New Roman" panose="02020603050405020304" pitchFamily="18" charset="0"/>
                <a:cs typeface="Times New Roman" panose="02020603050405020304" pitchFamily="18" charset="0"/>
              </a:rPr>
              <a:t>Tuy </a:t>
            </a:r>
            <a:r>
              <a:rPr lang="en-US" sz="2800" dirty="0" err="1">
                <a:latin typeface="Times New Roman" panose="02020603050405020304" pitchFamily="18" charset="0"/>
                <a:cs typeface="Times New Roman" panose="02020603050405020304" pitchFamily="18" charset="0"/>
              </a:rPr>
              <a:t>nhiên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vận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cũng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đội</a:t>
            </a:r>
            <a:r>
              <a:rPr lang="en-US" sz="2800">
                <a:latin typeface="Times New Roman" panose="02020603050405020304" pitchFamily="18" charset="0"/>
                <a:cs typeface="Times New Roman" panose="02020603050405020304" pitchFamily="18" charset="0"/>
              </a:rPr>
              <a:t> khác</a:t>
            </a:r>
            <a:endParaRPr lang="en-US" sz="2800" dirty="0">
              <a:latin typeface="Times New Roman" panose="02020603050405020304" pitchFamily="18" charset="0"/>
              <a:cs typeface="Times New Roman" panose="02020603050405020304" pitchFamily="18" charset="0"/>
            </a:endParaRPr>
          </a:p>
          <a:p>
            <a:pPr marL="60325" marR="5080" indent="-1588" algn="just">
              <a:lnSpc>
                <a:spcPct val="150000"/>
              </a:lnSpc>
              <a:spcBef>
                <a:spcPts val="610"/>
              </a:spcBef>
            </a:pPr>
            <a:r>
              <a:rPr lang="en-US" sz="2800" dirty="0" err="1">
                <a:latin typeface="Times New Roman" panose="02020603050405020304" pitchFamily="18" charset="0"/>
                <a:cs typeface="Times New Roman" panose="02020603050405020304" pitchFamily="18" charset="0"/>
              </a:rPr>
              <a:t>Nếu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một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hủy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bỏ</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thì</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thiết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hủy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bỏ</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vận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viên</a:t>
            </a:r>
            <a:r>
              <a:rPr lang="en-US" sz="2800">
                <a:latin typeface="Times New Roman" panose="02020603050405020304" pitchFamily="18" charset="0"/>
                <a:cs typeface="Times New Roman" panose="02020603050405020304" pitchFamily="18" charset="0"/>
              </a:rPr>
              <a:t> này</a:t>
            </a:r>
            <a:endParaRPr sz="2800" dirty="0">
              <a:latin typeface="Times New Roman" panose="02020603050405020304" pitchFamily="18" charset="0"/>
              <a:cs typeface="Times New Roman" panose="02020603050405020304" pitchFamily="18" charset="0"/>
            </a:endParaRPr>
          </a:p>
        </p:txBody>
      </p:sp>
      <p:sp>
        <p:nvSpPr>
          <p:cNvPr id="5"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a:latin typeface="Times New Roman" panose="02020603050405020304" pitchFamily="18" charset="0"/>
                <a:cs typeface="Times New Roman" panose="02020603050405020304" pitchFamily="18" charset="0"/>
              </a:rPr>
              <a:t>Tổng hợp - Aggregation (tt)</a:t>
            </a:r>
            <a:endParaRPr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667001" y="3733483"/>
            <a:ext cx="6516993" cy="2286000"/>
          </a:xfrm>
          <a:prstGeom prst="rect">
            <a:avLst/>
          </a:prstGeom>
        </p:spPr>
      </p:pic>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707152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13</a:t>
            </a:r>
            <a:endParaRPr sz="1200">
              <a:latin typeface="Trebuchet MS"/>
              <a:cs typeface="Trebuchet MS"/>
            </a:endParaRPr>
          </a:p>
        </p:txBody>
      </p:sp>
      <p:sp>
        <p:nvSpPr>
          <p:cNvPr id="4" name="object 4"/>
          <p:cNvSpPr txBox="1"/>
          <p:nvPr/>
        </p:nvSpPr>
        <p:spPr>
          <a:xfrm>
            <a:off x="0" y="990601"/>
            <a:ext cx="12192000" cy="4137029"/>
          </a:xfrm>
          <a:prstGeom prst="rect">
            <a:avLst/>
          </a:prstGeom>
        </p:spPr>
        <p:txBody>
          <a:bodyPr vert="horz" wrap="square" lIns="0" tIns="104139" rIns="0" bIns="0" rtlCol="0">
            <a:spAutoFit/>
          </a:bodyPr>
          <a:lstStyle/>
          <a:p>
            <a:pPr marL="515937" marR="5080" indent="-457200" algn="just">
              <a:lnSpc>
                <a:spcPct val="150000"/>
              </a:lnSpc>
              <a:spcBef>
                <a:spcPts val="610"/>
              </a:spcBef>
              <a:buFont typeface="Wingdings" panose="05000000000000000000" pitchFamily="2" charset="2"/>
              <a:buChar char="§"/>
            </a:pPr>
            <a:r>
              <a:rPr sz="2800" b="1" dirty="0">
                <a:solidFill>
                  <a:srgbClr val="FF0000"/>
                </a:solidFill>
                <a:latin typeface="Times New Roman" panose="02020603050405020304" pitchFamily="18" charset="0"/>
                <a:cs typeface="Times New Roman" panose="02020603050405020304" pitchFamily="18" charset="0"/>
              </a:rPr>
              <a:t>Quan hệ thành phần (</a:t>
            </a:r>
            <a:r>
              <a:rPr sz="2800" b="1" dirty="0" err="1">
                <a:solidFill>
                  <a:srgbClr val="FF0000"/>
                </a:solidFill>
                <a:latin typeface="Times New Roman" panose="02020603050405020304" pitchFamily="18" charset="0"/>
                <a:cs typeface="Times New Roman" panose="02020603050405020304" pitchFamily="18" charset="0"/>
              </a:rPr>
              <a:t>Compossition</a:t>
            </a:r>
            <a:r>
              <a:rPr sz="2800" b="1" dirty="0">
                <a:solidFill>
                  <a:srgbClr val="FF0000"/>
                </a:solidFill>
                <a:latin typeface="Times New Roman" panose="02020603050405020304" pitchFamily="18" charset="0"/>
                <a:cs typeface="Times New Roman" panose="02020603050405020304" pitchFamily="18" charset="0"/>
              </a:rPr>
              <a:t>)</a:t>
            </a:r>
            <a:endParaRPr lang="en-US" sz="2800" b="1" dirty="0">
              <a:solidFill>
                <a:srgbClr val="FF0000"/>
              </a:solidFill>
              <a:latin typeface="Times New Roman" panose="02020603050405020304" pitchFamily="18" charset="0"/>
              <a:cs typeface="Times New Roman" panose="02020603050405020304" pitchFamily="18" charset="0"/>
            </a:endParaRPr>
          </a:p>
          <a:p>
            <a:pPr marL="971550" marR="5080" lvl="1" indent="-457200" algn="just">
              <a:lnSpc>
                <a:spcPct val="150000"/>
              </a:lnSpc>
              <a:spcBef>
                <a:spcPts val="610"/>
              </a:spcBef>
              <a:buFont typeface="Arial" panose="020B0604020202020204" pitchFamily="34" charset="0"/>
              <a:buChar char="•"/>
            </a:pPr>
            <a:r>
              <a:rPr lang="en-US" sz="2800" dirty="0">
                <a:solidFill>
                  <a:schemeClr val="accent4"/>
                </a:solidFill>
                <a:latin typeface="Times New Roman" panose="02020603050405020304" pitchFamily="18" charset="0"/>
                <a:cs typeface="Times New Roman" panose="02020603050405020304" pitchFamily="18" charset="0"/>
              </a:rPr>
              <a:t>M</a:t>
            </a:r>
            <a:r>
              <a:rPr lang="vi-VN" sz="2800" dirty="0">
                <a:latin typeface="Times New Roman" panose="02020603050405020304" pitchFamily="18" charset="0"/>
                <a:cs typeface="Times New Roman" panose="02020603050405020304" pitchFamily="18" charset="0"/>
              </a:rPr>
              <a:t>ột loại mối quan hệ đặc biệt giữa các lớp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chặt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chẽ</a:t>
            </a:r>
            <a:r>
              <a:rPr lang="en-US" sz="2800" dirty="0">
                <a:latin typeface="Times New Roman" panose="02020603050405020304" pitchFamily="18" charset="0"/>
                <a:cs typeface="Times New Roman" panose="02020603050405020304" pitchFamily="18" charset="0"/>
              </a:rPr>
              <a:t>)</a:t>
            </a:r>
            <a:r>
              <a:rPr lang="vi-VN" sz="2800" dirty="0">
                <a:latin typeface="Times New Roman" panose="02020603050405020304" pitchFamily="18" charset="0"/>
                <a:cs typeface="Times New Roman" panose="02020603050405020304" pitchFamily="18" charset="0"/>
              </a:rPr>
              <a:t>, thể hiện mối quan hệ </a:t>
            </a:r>
            <a:r>
              <a:rPr lang="vi-VN" sz="2800" dirty="0">
                <a:solidFill>
                  <a:srgbClr val="0070C0"/>
                </a:solidFill>
                <a:latin typeface="Times New Roman" panose="02020603050405020304" pitchFamily="18" charset="0"/>
                <a:cs typeface="Times New Roman" panose="02020603050405020304" pitchFamily="18" charset="0"/>
              </a:rPr>
              <a:t>"có-một" hoặc "là-một-phần-của" </a:t>
            </a:r>
            <a:r>
              <a:rPr lang="vi-VN" sz="2800" dirty="0">
                <a:latin typeface="Times New Roman" panose="02020603050405020304" pitchFamily="18" charset="0"/>
                <a:cs typeface="Times New Roman" panose="02020603050405020304" pitchFamily="18" charset="0"/>
              </a:rPr>
              <a:t>giữa các </a:t>
            </a:r>
            <a:r>
              <a:rPr lang="vi-VN" sz="2800">
                <a:latin typeface="Times New Roman" panose="02020603050405020304" pitchFamily="18" charset="0"/>
                <a:cs typeface="Times New Roman" panose="02020603050405020304" pitchFamily="18" charset="0"/>
              </a:rPr>
              <a:t>đối tượng</a:t>
            </a:r>
            <a:r>
              <a:rPr lang="en-US" sz="2800">
                <a:latin typeface="Times New Roman" panose="02020603050405020304" pitchFamily="18" charset="0"/>
                <a:cs typeface="Times New Roman" panose="02020603050405020304" pitchFamily="18" charset="0"/>
              </a:rPr>
              <a:t>. M</a:t>
            </a:r>
            <a:r>
              <a:rPr lang="vi-VN" sz="2800">
                <a:latin typeface="Times New Roman" panose="02020603050405020304" pitchFamily="18" charset="0"/>
                <a:cs typeface="Times New Roman" panose="02020603050405020304" pitchFamily="18" charset="0"/>
              </a:rPr>
              <a:t>ột </a:t>
            </a:r>
            <a:r>
              <a:rPr lang="vi-VN" sz="2800" dirty="0">
                <a:latin typeface="Times New Roman" panose="02020603050405020304" pitchFamily="18" charset="0"/>
                <a:cs typeface="Times New Roman" panose="02020603050405020304" pitchFamily="18" charset="0"/>
              </a:rPr>
              <a:t>đối tượng (đối tượng cha) được cấu thành từ một hoặc nhiều đối tượng khác (đối tượng </a:t>
            </a:r>
            <a:r>
              <a:rPr lang="vi-VN" sz="2800">
                <a:latin typeface="Times New Roman" panose="02020603050405020304" pitchFamily="18" charset="0"/>
                <a:cs typeface="Times New Roman" panose="02020603050405020304" pitchFamily="18" charset="0"/>
              </a:rPr>
              <a:t>con)</a:t>
            </a:r>
            <a:endParaRPr lang="en-US" sz="2800" dirty="0">
              <a:latin typeface="Times New Roman" panose="02020603050405020304" pitchFamily="18" charset="0"/>
              <a:cs typeface="Times New Roman" panose="02020603050405020304" pitchFamily="18" charset="0"/>
            </a:endParaRPr>
          </a:p>
          <a:p>
            <a:pPr marL="973138" marR="5080" lvl="1" indent="-457200" algn="just">
              <a:lnSpc>
                <a:spcPct val="150000"/>
              </a:lnSpc>
              <a:spcBef>
                <a:spcPts val="610"/>
              </a:spcBef>
              <a:buFont typeface="Arial" panose="020B0604020202020204" pitchFamily="34" charset="0"/>
              <a:buChar char="•"/>
            </a:pPr>
            <a:r>
              <a:rPr lang="en-US" sz="2800" b="1" dirty="0" err="1">
                <a:solidFill>
                  <a:srgbClr val="FF0000"/>
                </a:solidFill>
                <a:latin typeface="Times New Roman" panose="02020603050405020304" pitchFamily="18" charset="0"/>
                <a:cs typeface="Times New Roman" panose="02020603050405020304" pitchFamily="18" charset="0"/>
              </a:rPr>
              <a:t>Ký</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hiệu</a:t>
            </a:r>
            <a:r>
              <a:rPr lang="en-US" sz="2800" b="1" dirty="0">
                <a:solidFill>
                  <a:srgbClr val="FF0000"/>
                </a:solidFill>
                <a:latin typeface="Times New Roman" panose="02020603050405020304" pitchFamily="18" charset="0"/>
                <a:cs typeface="Times New Roman" panose="02020603050405020304" pitchFamily="18" charset="0"/>
              </a:rPr>
              <a:t>:  </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8"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lang="en-US" dirty="0">
                <a:latin typeface="Times New Roman" panose="02020603050405020304" pitchFamily="18" charset="0"/>
                <a:cs typeface="Times New Roman" panose="02020603050405020304" pitchFamily="18" charset="0"/>
              </a:rPr>
              <a:t>Thành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(Composition)</a:t>
            </a:r>
            <a:endParaRPr dirty="0">
              <a:latin typeface="Times New Roman" panose="02020603050405020304" pitchFamily="18" charset="0"/>
              <a:cs typeface="Times New Roman" panose="02020603050405020304" pitchFamily="18" charset="0"/>
            </a:endParaRPr>
          </a:p>
        </p:txBody>
      </p:sp>
      <p:sp>
        <p:nvSpPr>
          <p:cNvPr id="9" name="TextBox 8"/>
          <p:cNvSpPr txBox="1"/>
          <p:nvPr/>
        </p:nvSpPr>
        <p:spPr>
          <a:xfrm>
            <a:off x="3502656" y="3856414"/>
            <a:ext cx="2590800" cy="1754326"/>
          </a:xfrm>
          <a:prstGeom prst="rect">
            <a:avLst/>
          </a:prstGeom>
          <a:noFill/>
        </p:spPr>
        <p:txBody>
          <a:bodyPr wrap="square" rtlCol="0">
            <a:spAutoFit/>
          </a:bodyPr>
          <a:lstStyle/>
          <a:p>
            <a:pPr algn="just"/>
            <a:r>
              <a:rPr lang="en-US" dirty="0" err="1">
                <a:solidFill>
                  <a:srgbClr val="00B050"/>
                </a:solidFill>
              </a:rPr>
              <a:t>Khi</a:t>
            </a:r>
            <a:r>
              <a:rPr lang="en-US" dirty="0">
                <a:solidFill>
                  <a:srgbClr val="00B050"/>
                </a:solidFill>
              </a:rPr>
              <a:t> </a:t>
            </a:r>
            <a:r>
              <a:rPr lang="en-US" dirty="0" err="1">
                <a:solidFill>
                  <a:srgbClr val="00B050"/>
                </a:solidFill>
              </a:rPr>
              <a:t>hủy</a:t>
            </a:r>
            <a:r>
              <a:rPr lang="en-US" dirty="0">
                <a:solidFill>
                  <a:srgbClr val="00B050"/>
                </a:solidFill>
              </a:rPr>
              <a:t> </a:t>
            </a:r>
            <a:r>
              <a:rPr lang="en-US" dirty="0" err="1">
                <a:solidFill>
                  <a:srgbClr val="00B050"/>
                </a:solidFill>
              </a:rPr>
              <a:t>bỏ</a:t>
            </a:r>
            <a:r>
              <a:rPr lang="en-US" dirty="0">
                <a:solidFill>
                  <a:srgbClr val="00B050"/>
                </a:solidFill>
              </a:rPr>
              <a:t> </a:t>
            </a:r>
            <a:r>
              <a:rPr lang="en-US" dirty="0" err="1">
                <a:solidFill>
                  <a:srgbClr val="00B050"/>
                </a:solidFill>
              </a:rPr>
              <a:t>một</a:t>
            </a:r>
            <a:r>
              <a:rPr lang="en-US" dirty="0">
                <a:solidFill>
                  <a:srgbClr val="00B050"/>
                </a:solidFill>
              </a:rPr>
              <a:t> </a:t>
            </a:r>
            <a:r>
              <a:rPr lang="en-US" dirty="0" err="1">
                <a:solidFill>
                  <a:srgbClr val="00B050"/>
                </a:solidFill>
              </a:rPr>
              <a:t>chiếc</a:t>
            </a:r>
            <a:r>
              <a:rPr lang="en-US" dirty="0">
                <a:solidFill>
                  <a:srgbClr val="00B050"/>
                </a:solidFill>
              </a:rPr>
              <a:t> </a:t>
            </a:r>
            <a:r>
              <a:rPr lang="en-US" dirty="0" err="1">
                <a:solidFill>
                  <a:srgbClr val="00B050"/>
                </a:solidFill>
              </a:rPr>
              <a:t>xe</a:t>
            </a:r>
            <a:r>
              <a:rPr lang="en-US" dirty="0">
                <a:solidFill>
                  <a:srgbClr val="00B050"/>
                </a:solidFill>
              </a:rPr>
              <a:t> </a:t>
            </a:r>
            <a:r>
              <a:rPr lang="en-US" dirty="0" err="1">
                <a:solidFill>
                  <a:srgbClr val="00B050"/>
                </a:solidFill>
              </a:rPr>
              <a:t>hơi</a:t>
            </a:r>
            <a:r>
              <a:rPr lang="en-US" dirty="0">
                <a:solidFill>
                  <a:srgbClr val="00B050"/>
                </a:solidFill>
              </a:rPr>
              <a:t>, </a:t>
            </a:r>
            <a:r>
              <a:rPr lang="en-US" dirty="0" err="1">
                <a:solidFill>
                  <a:srgbClr val="00B050"/>
                </a:solidFill>
              </a:rPr>
              <a:t>có</a:t>
            </a:r>
            <a:r>
              <a:rPr lang="en-US" dirty="0">
                <a:solidFill>
                  <a:srgbClr val="00B050"/>
                </a:solidFill>
              </a:rPr>
              <a:t> </a:t>
            </a:r>
            <a:r>
              <a:rPr lang="en-US" dirty="0" err="1">
                <a:solidFill>
                  <a:srgbClr val="00B050"/>
                </a:solidFill>
              </a:rPr>
              <a:t>nghĩa</a:t>
            </a:r>
            <a:r>
              <a:rPr lang="en-US" dirty="0">
                <a:solidFill>
                  <a:srgbClr val="00B050"/>
                </a:solidFill>
              </a:rPr>
              <a:t> </a:t>
            </a:r>
            <a:r>
              <a:rPr lang="en-US" dirty="0" err="1">
                <a:solidFill>
                  <a:srgbClr val="00B050"/>
                </a:solidFill>
              </a:rPr>
              <a:t>là</a:t>
            </a:r>
            <a:r>
              <a:rPr lang="en-US" dirty="0">
                <a:solidFill>
                  <a:srgbClr val="00B050"/>
                </a:solidFill>
              </a:rPr>
              <a:t> </a:t>
            </a:r>
            <a:r>
              <a:rPr lang="en-US" dirty="0" err="1">
                <a:solidFill>
                  <a:srgbClr val="00B050"/>
                </a:solidFill>
              </a:rPr>
              <a:t>các</a:t>
            </a:r>
            <a:r>
              <a:rPr lang="en-US" dirty="0">
                <a:solidFill>
                  <a:srgbClr val="00B050"/>
                </a:solidFill>
              </a:rPr>
              <a:t> </a:t>
            </a:r>
            <a:r>
              <a:rPr lang="en-US" dirty="0" err="1">
                <a:solidFill>
                  <a:srgbClr val="00B050"/>
                </a:solidFill>
              </a:rPr>
              <a:t>bộ</a:t>
            </a:r>
            <a:r>
              <a:rPr lang="en-US" dirty="0">
                <a:solidFill>
                  <a:srgbClr val="00B050"/>
                </a:solidFill>
              </a:rPr>
              <a:t> </a:t>
            </a:r>
            <a:r>
              <a:rPr lang="en-US" dirty="0" err="1">
                <a:solidFill>
                  <a:srgbClr val="00B050"/>
                </a:solidFill>
              </a:rPr>
              <a:t>phận</a:t>
            </a:r>
            <a:r>
              <a:rPr lang="en-US" dirty="0">
                <a:solidFill>
                  <a:srgbClr val="00B050"/>
                </a:solidFill>
              </a:rPr>
              <a:t> </a:t>
            </a:r>
            <a:r>
              <a:rPr lang="en-US" dirty="0" err="1">
                <a:solidFill>
                  <a:srgbClr val="00B050"/>
                </a:solidFill>
              </a:rPr>
              <a:t>bánh</a:t>
            </a:r>
            <a:r>
              <a:rPr lang="en-US" dirty="0">
                <a:solidFill>
                  <a:srgbClr val="00B050"/>
                </a:solidFill>
              </a:rPr>
              <a:t> </a:t>
            </a:r>
            <a:r>
              <a:rPr lang="en-US" dirty="0" err="1">
                <a:solidFill>
                  <a:srgbClr val="00B050"/>
                </a:solidFill>
              </a:rPr>
              <a:t>xe</a:t>
            </a:r>
            <a:r>
              <a:rPr lang="en-US" dirty="0">
                <a:solidFill>
                  <a:srgbClr val="00B050"/>
                </a:solidFill>
              </a:rPr>
              <a:t>, </a:t>
            </a:r>
            <a:r>
              <a:rPr lang="en-US" dirty="0" err="1">
                <a:solidFill>
                  <a:srgbClr val="00B050"/>
                </a:solidFill>
              </a:rPr>
              <a:t>đèn</a:t>
            </a:r>
            <a:r>
              <a:rPr lang="en-US" dirty="0">
                <a:solidFill>
                  <a:srgbClr val="00B050"/>
                </a:solidFill>
              </a:rPr>
              <a:t>, </a:t>
            </a:r>
            <a:r>
              <a:rPr lang="en-US" dirty="0" err="1">
                <a:solidFill>
                  <a:srgbClr val="00B050"/>
                </a:solidFill>
              </a:rPr>
              <a:t>cửa</a:t>
            </a:r>
            <a:r>
              <a:rPr lang="en-US" dirty="0">
                <a:solidFill>
                  <a:srgbClr val="00B050"/>
                </a:solidFill>
              </a:rPr>
              <a:t>, </a:t>
            </a:r>
            <a:r>
              <a:rPr lang="en-US" dirty="0" err="1">
                <a:solidFill>
                  <a:srgbClr val="00B050"/>
                </a:solidFill>
              </a:rPr>
              <a:t>động</a:t>
            </a:r>
            <a:r>
              <a:rPr lang="en-US" dirty="0">
                <a:solidFill>
                  <a:srgbClr val="00B050"/>
                </a:solidFill>
              </a:rPr>
              <a:t> </a:t>
            </a:r>
            <a:r>
              <a:rPr lang="en-US" dirty="0" err="1">
                <a:solidFill>
                  <a:srgbClr val="00B050"/>
                </a:solidFill>
              </a:rPr>
              <a:t>cơ</a:t>
            </a:r>
            <a:r>
              <a:rPr lang="en-US" dirty="0">
                <a:solidFill>
                  <a:srgbClr val="00B050"/>
                </a:solidFill>
              </a:rPr>
              <a:t> </a:t>
            </a:r>
            <a:r>
              <a:rPr lang="en-US" dirty="0" err="1">
                <a:solidFill>
                  <a:srgbClr val="00B050"/>
                </a:solidFill>
              </a:rPr>
              <a:t>của</a:t>
            </a:r>
            <a:r>
              <a:rPr lang="en-US" dirty="0">
                <a:solidFill>
                  <a:srgbClr val="00B050"/>
                </a:solidFill>
              </a:rPr>
              <a:t> </a:t>
            </a:r>
            <a:r>
              <a:rPr lang="en-US" dirty="0" err="1">
                <a:solidFill>
                  <a:srgbClr val="00B050"/>
                </a:solidFill>
              </a:rPr>
              <a:t>chiếc</a:t>
            </a:r>
            <a:r>
              <a:rPr lang="en-US" dirty="0">
                <a:solidFill>
                  <a:srgbClr val="00B050"/>
                </a:solidFill>
              </a:rPr>
              <a:t> </a:t>
            </a:r>
            <a:r>
              <a:rPr lang="en-US" dirty="0" err="1">
                <a:solidFill>
                  <a:srgbClr val="00B050"/>
                </a:solidFill>
              </a:rPr>
              <a:t>xe</a:t>
            </a:r>
            <a:r>
              <a:rPr lang="en-US" dirty="0">
                <a:solidFill>
                  <a:srgbClr val="00B050"/>
                </a:solidFill>
              </a:rPr>
              <a:t> </a:t>
            </a:r>
            <a:r>
              <a:rPr lang="en-US" dirty="0" err="1">
                <a:solidFill>
                  <a:srgbClr val="00B050"/>
                </a:solidFill>
              </a:rPr>
              <a:t>đó</a:t>
            </a:r>
            <a:r>
              <a:rPr lang="en-US" dirty="0">
                <a:solidFill>
                  <a:srgbClr val="00B050"/>
                </a:solidFill>
              </a:rPr>
              <a:t> </a:t>
            </a:r>
            <a:r>
              <a:rPr lang="en-US" dirty="0" err="1">
                <a:solidFill>
                  <a:srgbClr val="00B050"/>
                </a:solidFill>
              </a:rPr>
              <a:t>cũng</a:t>
            </a:r>
            <a:r>
              <a:rPr lang="en-US" dirty="0">
                <a:solidFill>
                  <a:srgbClr val="00B050"/>
                </a:solidFill>
              </a:rPr>
              <a:t> </a:t>
            </a:r>
            <a:r>
              <a:rPr lang="en-US" dirty="0" err="1">
                <a:solidFill>
                  <a:srgbClr val="00B050"/>
                </a:solidFill>
              </a:rPr>
              <a:t>sẽ</a:t>
            </a:r>
            <a:r>
              <a:rPr lang="en-US" dirty="0">
                <a:solidFill>
                  <a:srgbClr val="00B050"/>
                </a:solidFill>
              </a:rPr>
              <a:t> </a:t>
            </a:r>
            <a:r>
              <a:rPr lang="en-US" dirty="0" err="1">
                <a:solidFill>
                  <a:srgbClr val="00B050"/>
                </a:solidFill>
              </a:rPr>
              <a:t>bị</a:t>
            </a:r>
            <a:r>
              <a:rPr lang="en-US" dirty="0">
                <a:solidFill>
                  <a:srgbClr val="00B050"/>
                </a:solidFill>
              </a:rPr>
              <a:t> </a:t>
            </a:r>
            <a:r>
              <a:rPr lang="en-US" dirty="0" err="1">
                <a:solidFill>
                  <a:srgbClr val="00B050"/>
                </a:solidFill>
              </a:rPr>
              <a:t>hủy</a:t>
            </a:r>
            <a:r>
              <a:rPr lang="en-US" dirty="0">
                <a:solidFill>
                  <a:srgbClr val="00B050"/>
                </a:solidFill>
              </a:rPr>
              <a:t> </a:t>
            </a:r>
            <a:r>
              <a:rPr lang="en-US" dirty="0" err="1">
                <a:solidFill>
                  <a:srgbClr val="00B050"/>
                </a:solidFill>
              </a:rPr>
              <a:t>theo</a:t>
            </a:r>
            <a:endParaRPr lang="en-US" dirty="0">
              <a:solidFill>
                <a:srgbClr val="00B050"/>
              </a:solidFill>
            </a:endParaRPr>
          </a:p>
        </p:txBody>
      </p:sp>
      <p:pic>
        <p:nvPicPr>
          <p:cNvPr id="7" name="Picture 6"/>
          <p:cNvPicPr>
            <a:picLocks noChangeAspect="1"/>
          </p:cNvPicPr>
          <p:nvPr/>
        </p:nvPicPr>
        <p:blipFill>
          <a:blip r:embed="rId2"/>
          <a:stretch>
            <a:fillRect/>
          </a:stretch>
        </p:blipFill>
        <p:spPr>
          <a:xfrm>
            <a:off x="6093456" y="4232804"/>
            <a:ext cx="5930641" cy="2244339"/>
          </a:xfrm>
          <a:prstGeom prst="rect">
            <a:avLst/>
          </a:prstGeom>
        </p:spPr>
      </p:pic>
      <p:sp>
        <p:nvSpPr>
          <p:cNvPr id="10"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761" y="5067746"/>
            <a:ext cx="2129755" cy="1409397"/>
          </a:xfrm>
          <a:prstGeom prst="rect">
            <a:avLst/>
          </a:prstGeom>
        </p:spPr>
      </p:pic>
    </p:spTree>
    <p:extLst>
      <p:ext uri="{BB962C8B-B14F-4D97-AF65-F5344CB8AC3E}">
        <p14:creationId xmlns:p14="http://schemas.microsoft.com/office/powerpoint/2010/main" val="2026442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14</a:t>
            </a:r>
            <a:endParaRPr sz="1200">
              <a:latin typeface="Trebuchet MS"/>
              <a:cs typeface="Trebuchet MS"/>
            </a:endParaRPr>
          </a:p>
        </p:txBody>
      </p:sp>
      <p:sp>
        <p:nvSpPr>
          <p:cNvPr id="4" name="object 4"/>
          <p:cNvSpPr txBox="1"/>
          <p:nvPr/>
        </p:nvSpPr>
        <p:spPr>
          <a:xfrm>
            <a:off x="0" y="990600"/>
            <a:ext cx="12192000" cy="3136755"/>
          </a:xfrm>
          <a:prstGeom prst="rect">
            <a:avLst/>
          </a:prstGeom>
        </p:spPr>
        <p:txBody>
          <a:bodyPr vert="horz" wrap="square" lIns="0" tIns="104139" rIns="0" bIns="0" rtlCol="0">
            <a:spAutoFit/>
          </a:bodyPr>
          <a:lstStyle/>
          <a:p>
            <a:pPr marL="515938" marR="5080" indent="-457200" algn="just">
              <a:lnSpc>
                <a:spcPct val="150000"/>
              </a:lnSpc>
              <a:spcBef>
                <a:spcPts val="610"/>
              </a:spcBef>
              <a:buFont typeface="Wingdings" panose="05000000000000000000" pitchFamily="2" charset="2"/>
              <a:buChar char="§"/>
            </a:pPr>
            <a:r>
              <a:rPr sz="3200" b="1" dirty="0">
                <a:solidFill>
                  <a:srgbClr val="FF0000"/>
                </a:solidFill>
                <a:latin typeface="Times New Roman" panose="02020603050405020304" pitchFamily="18" charset="0"/>
                <a:cs typeface="Times New Roman" panose="02020603050405020304" pitchFamily="18" charset="0"/>
              </a:rPr>
              <a:t>Quan hệ tổng quát hóa </a:t>
            </a:r>
            <a:r>
              <a:rPr sz="3200" b="1">
                <a:solidFill>
                  <a:srgbClr val="FF0000"/>
                </a:solidFill>
                <a:latin typeface="Times New Roman" panose="02020603050405020304" pitchFamily="18" charset="0"/>
                <a:cs typeface="Times New Roman" panose="02020603050405020304" pitchFamily="18" charset="0"/>
              </a:rPr>
              <a:t>(Generalization)</a:t>
            </a:r>
            <a:endParaRPr lang="en-US" sz="3200" b="1" dirty="0">
              <a:solidFill>
                <a:srgbClr val="FF0000"/>
              </a:solidFill>
              <a:latin typeface="Times New Roman" panose="02020603050405020304" pitchFamily="18" charset="0"/>
              <a:cs typeface="Times New Roman" panose="02020603050405020304" pitchFamily="18" charset="0"/>
            </a:endParaRPr>
          </a:p>
          <a:p>
            <a:pPr marL="1204913" marR="5080" lvl="1" indent="-457200" algn="just">
              <a:lnSpc>
                <a:spcPct val="150000"/>
              </a:lnSpc>
              <a:spcBef>
                <a:spcPts val="610"/>
              </a:spcBef>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M</a:t>
            </a:r>
            <a:r>
              <a:rPr lang="vi-VN" sz="3200" dirty="0">
                <a:latin typeface="Times New Roman" panose="02020603050405020304" pitchFamily="18" charset="0"/>
                <a:cs typeface="Times New Roman" panose="02020603050405020304" pitchFamily="18" charset="0"/>
              </a:rPr>
              <a:t>ô tả một mối quan hệ "là một loại" giữa các lớp, tức là một lớp con (subclass) kế thừa tất cả các thuộc tính và phương thức của lớp cha (</a:t>
            </a:r>
            <a:r>
              <a:rPr lang="vi-VN" sz="3200">
                <a:latin typeface="Times New Roman" panose="02020603050405020304" pitchFamily="18" charset="0"/>
                <a:cs typeface="Times New Roman" panose="02020603050405020304" pitchFamily="18" charset="0"/>
              </a:rPr>
              <a:t>superclass)</a:t>
            </a:r>
            <a:endParaRPr sz="3200" dirty="0">
              <a:latin typeface="Times New Roman" panose="02020603050405020304" pitchFamily="18" charset="0"/>
              <a:cs typeface="Times New Roman" panose="02020603050405020304" pitchFamily="18" charset="0"/>
            </a:endParaRPr>
          </a:p>
        </p:txBody>
      </p:sp>
      <p:sp>
        <p:nvSpPr>
          <p:cNvPr id="7" name="object 2"/>
          <p:cNvSpPr txBox="1">
            <a:spLocks noGrp="1"/>
          </p:cNvSpPr>
          <p:nvPr>
            <p:ph type="title"/>
          </p:nvPr>
        </p:nvSpPr>
        <p:spPr>
          <a:xfrm>
            <a:off x="2438400" y="165145"/>
            <a:ext cx="7315200" cy="505267"/>
          </a:xfrm>
          <a:prstGeom prst="rect">
            <a:avLst/>
          </a:prstGeom>
        </p:spPr>
        <p:txBody>
          <a:bodyPr vert="horz" wrap="square" lIns="0" tIns="12700" rIns="0" bIns="0" numCol="1" rtlCol="0" anchor="ctr" anchorCtr="0" compatLnSpc="1">
            <a:prstTxWarp prst="textNoShape">
              <a:avLst/>
            </a:prstTxWarp>
            <a:spAutoFit/>
          </a:bodyPr>
          <a:lstStyle/>
          <a:p>
            <a:pPr marL="12700" algn="l">
              <a:spcBef>
                <a:spcPts val="100"/>
              </a:spcBef>
            </a:pPr>
            <a:r>
              <a:rPr lang="en-US" sz="3200" dirty="0">
                <a:latin typeface="Times New Roman" panose="02020603050405020304" pitchFamily="18" charset="0"/>
                <a:cs typeface="Times New Roman" panose="02020603050405020304" pitchFamily="18" charset="0"/>
              </a:rPr>
              <a:t>Quan </a:t>
            </a:r>
            <a:r>
              <a:rPr lang="en-US" sz="3200" dirty="0" err="1">
                <a:latin typeface="Times New Roman" panose="02020603050405020304" pitchFamily="18" charset="0"/>
                <a:cs typeface="Times New Roman" panose="02020603050405020304" pitchFamily="18" charset="0"/>
              </a:rPr>
              <a:t>hệ</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tổng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hóa</a:t>
            </a:r>
            <a:r>
              <a:rPr lang="en-US" sz="3200" dirty="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(Generalization)</a:t>
            </a:r>
            <a:endParaRPr sz="32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pic>
        <p:nvPicPr>
          <p:cNvPr id="6" name="Picture 5"/>
          <p:cNvPicPr>
            <a:picLocks noChangeAspect="1"/>
          </p:cNvPicPr>
          <p:nvPr/>
        </p:nvPicPr>
        <p:blipFill>
          <a:blip r:embed="rId2"/>
          <a:stretch>
            <a:fillRect/>
          </a:stretch>
        </p:blipFill>
        <p:spPr>
          <a:xfrm>
            <a:off x="4191000" y="3557662"/>
            <a:ext cx="4419600" cy="3009826"/>
          </a:xfrm>
          <a:prstGeom prst="rect">
            <a:avLst/>
          </a:prstGeom>
        </p:spPr>
      </p:pic>
    </p:spTree>
    <p:extLst>
      <p:ext uri="{BB962C8B-B14F-4D97-AF65-F5344CB8AC3E}">
        <p14:creationId xmlns:p14="http://schemas.microsoft.com/office/powerpoint/2010/main" val="3900772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6314" y="126619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15</a:t>
            </a:r>
            <a:endParaRPr sz="1200">
              <a:latin typeface="Trebuchet MS"/>
              <a:cs typeface="Trebuchet MS"/>
            </a:endParaRPr>
          </a:p>
        </p:txBody>
      </p:sp>
      <p:sp>
        <p:nvSpPr>
          <p:cNvPr id="4" name="object 4"/>
          <p:cNvSpPr txBox="1"/>
          <p:nvPr/>
        </p:nvSpPr>
        <p:spPr>
          <a:xfrm>
            <a:off x="0" y="990601"/>
            <a:ext cx="12192000" cy="3429143"/>
          </a:xfrm>
          <a:prstGeom prst="rect">
            <a:avLst/>
          </a:prstGeom>
        </p:spPr>
        <p:txBody>
          <a:bodyPr vert="horz" wrap="square" lIns="0" tIns="104139" rIns="0" bIns="0" rtlCol="0">
            <a:spAutoFit/>
          </a:bodyPr>
          <a:lstStyle/>
          <a:p>
            <a:pPr marL="514350" indent="-457200">
              <a:spcBef>
                <a:spcPts val="610"/>
              </a:spcBef>
              <a:buFont typeface="Wingdings" panose="05000000000000000000" pitchFamily="2" charset="2"/>
              <a:buChar char="§"/>
            </a:pPr>
            <a:r>
              <a:rPr sz="2800" b="1" dirty="0">
                <a:solidFill>
                  <a:srgbClr val="FF0000"/>
                </a:solidFill>
                <a:latin typeface="Times New Roman" panose="02020603050405020304" pitchFamily="18" charset="0"/>
                <a:cs typeface="Times New Roman" panose="02020603050405020304" pitchFamily="18" charset="0"/>
              </a:rPr>
              <a:t>Quan </a:t>
            </a:r>
            <a:r>
              <a:rPr sz="2800" b="1" spc="-5" dirty="0">
                <a:solidFill>
                  <a:srgbClr val="FF0000"/>
                </a:solidFill>
                <a:latin typeface="Times New Roman" panose="02020603050405020304" pitchFamily="18" charset="0"/>
                <a:cs typeface="Times New Roman" panose="02020603050405020304" pitchFamily="18" charset="0"/>
              </a:rPr>
              <a:t>hệ đa </a:t>
            </a:r>
            <a:r>
              <a:rPr sz="2800" b="1" dirty="0">
                <a:solidFill>
                  <a:srgbClr val="FF0000"/>
                </a:solidFill>
                <a:latin typeface="Times New Roman" panose="02020603050405020304" pitchFamily="18" charset="0"/>
                <a:cs typeface="Times New Roman" panose="02020603050405020304" pitchFamily="18" charset="0"/>
              </a:rPr>
              <a:t>kế</a:t>
            </a:r>
            <a:r>
              <a:rPr sz="2800" b="1" spc="195" dirty="0">
                <a:solidFill>
                  <a:srgbClr val="FF0000"/>
                </a:solidFill>
                <a:latin typeface="Times New Roman" panose="02020603050405020304" pitchFamily="18" charset="0"/>
                <a:cs typeface="Times New Roman" panose="02020603050405020304" pitchFamily="18" charset="0"/>
              </a:rPr>
              <a:t> </a:t>
            </a:r>
            <a:r>
              <a:rPr sz="2800" b="1" dirty="0" err="1">
                <a:solidFill>
                  <a:srgbClr val="FF0000"/>
                </a:solidFill>
                <a:latin typeface="Times New Roman" panose="02020603050405020304" pitchFamily="18" charset="0"/>
                <a:cs typeface="Times New Roman" panose="02020603050405020304" pitchFamily="18" charset="0"/>
              </a:rPr>
              <a:t>thừa</a:t>
            </a:r>
            <a:r>
              <a:rPr sz="2800" b="1" dirty="0">
                <a:solidFill>
                  <a:srgbClr val="FF0000"/>
                </a:solidFill>
                <a:latin typeface="Times New Roman" panose="02020603050405020304" pitchFamily="18" charset="0"/>
                <a:cs typeface="Times New Roman" panose="02020603050405020304" pitchFamily="18" charset="0"/>
              </a:rPr>
              <a:t>:</a:t>
            </a:r>
            <a:r>
              <a:rPr lang="en-US" sz="2800" b="1" dirty="0">
                <a:solidFill>
                  <a:srgbClr val="FF0000"/>
                </a:solidFill>
                <a:latin typeface="Times New Roman" panose="02020603050405020304" pitchFamily="18" charset="0"/>
                <a:cs typeface="Times New Roman" panose="02020603050405020304" pitchFamily="18" charset="0"/>
              </a:rPr>
              <a:t> </a:t>
            </a:r>
          </a:p>
          <a:p>
            <a:pPr marL="688975" indent="-457200" algn="just">
              <a:spcBef>
                <a:spcPts val="610"/>
              </a:spcBef>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a:t>
            </a:r>
            <a:r>
              <a:rPr lang="en-US" sz="2800" dirty="0" err="1">
                <a:latin typeface="Times New Roman" panose="02020603050405020304" pitchFamily="18" charset="0"/>
                <a:cs typeface="Times New Roman" panose="02020603050405020304" pitchFamily="18" charset="0"/>
              </a:rPr>
              <a:t>lớp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chuyên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biệt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thừa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từ</a:t>
            </a:r>
            <a:r>
              <a:rPr lang="en-US" sz="2800" dirty="0">
                <a:latin typeface="Times New Roman" panose="02020603050405020304" pitchFamily="18" charset="0"/>
                <a:cs typeface="Times New Roman" panose="02020603050405020304" pitchFamily="18" charset="0"/>
              </a:rPr>
              <a:t> 2 hay </a:t>
            </a:r>
            <a:r>
              <a:rPr lang="en-US" sz="2800" dirty="0" err="1">
                <a:latin typeface="Times New Roman" panose="02020603050405020304" pitchFamily="18" charset="0"/>
                <a:cs typeface="Times New Roman" panose="02020603050405020304" pitchFamily="18" charset="0"/>
              </a:rPr>
              <a:t>nhiều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lớp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tổng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quát</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Đa kế thừa không được đưa vào ngôn ngữ UML gốc và một số ngôn ngữ hướng đối </a:t>
            </a:r>
            <a:r>
              <a:rPr lang="vi-VN" sz="2800">
                <a:latin typeface="Times New Roman" panose="02020603050405020304" pitchFamily="18" charset="0"/>
                <a:cs typeface="Times New Roman" panose="02020603050405020304" pitchFamily="18" charset="0"/>
              </a:rPr>
              <a:t>tượng khác</a:t>
            </a:r>
            <a:endParaRPr lang="vi-VN" sz="2800" dirty="0">
              <a:latin typeface="Times New Roman" panose="02020603050405020304" pitchFamily="18" charset="0"/>
              <a:cs typeface="Times New Roman" panose="02020603050405020304" pitchFamily="18" charset="0"/>
            </a:endParaRPr>
          </a:p>
          <a:p>
            <a:pPr marL="231775" indent="-173038">
              <a:spcBef>
                <a:spcPts val="610"/>
              </a:spcBef>
            </a:pPr>
            <a:r>
              <a:rPr lang="en-US" sz="28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sz="2800" dirty="0">
                <a:latin typeface="Times New Roman" panose="02020603050405020304" pitchFamily="18" charset="0"/>
                <a:cs typeface="Times New Roman" panose="02020603050405020304" pitchFamily="18" charset="0"/>
                <a:sym typeface="Wingdings" panose="05000000000000000000" pitchFamily="2" charset="2"/>
              </a:rPr>
              <a:t> </a:t>
            </a:r>
            <a:r>
              <a:rPr lang="en-US" sz="2800" b="1" dirty="0" err="1">
                <a:solidFill>
                  <a:srgbClr val="FF0000"/>
                </a:solidFill>
                <a:latin typeface="Times New Roman" panose="02020603050405020304" pitchFamily="18" charset="0"/>
                <a:cs typeface="Times New Roman" panose="02020603050405020304" pitchFamily="18" charset="0"/>
              </a:rPr>
              <a:t>không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nên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sử</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dụng</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đa</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kế</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thừa</a:t>
            </a:r>
            <a:r>
              <a:rPr lang="en-US" sz="2800" b="1" dirty="0">
                <a:solidFill>
                  <a:srgbClr val="FF0000"/>
                </a:solidFill>
                <a:latin typeface="Times New Roman" panose="02020603050405020304" pitchFamily="18" charset="0"/>
                <a:cs typeface="Times New Roman" panose="02020603050405020304" pitchFamily="18" charset="0"/>
              </a:rPr>
              <a:t> </a:t>
            </a:r>
          </a:p>
          <a:p>
            <a:pPr marL="231775" indent="-173038">
              <a:spcBef>
                <a:spcPts val="610"/>
              </a:spcBef>
            </a:pPr>
            <a:endParaRPr lang="vi-VN" sz="2800" dirty="0">
              <a:latin typeface="Times New Roman" panose="02020603050405020304" pitchFamily="18" charset="0"/>
              <a:cs typeface="Times New Roman" panose="02020603050405020304" pitchFamily="18" charset="0"/>
            </a:endParaRPr>
          </a:p>
          <a:p>
            <a:pPr marL="231775" indent="-173038">
              <a:spcBef>
                <a:spcPts val="610"/>
              </a:spcBef>
            </a:pPr>
            <a:endParaRPr sz="28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5867400" y="2971800"/>
            <a:ext cx="4344187" cy="3096701"/>
          </a:xfrm>
          <a:prstGeom prst="rect">
            <a:avLst/>
          </a:prstGeom>
        </p:spPr>
      </p:pic>
      <p:sp>
        <p:nvSpPr>
          <p:cNvPr id="6" name="object 2">
            <a:extLst>
              <a:ext uri="{FF2B5EF4-FFF2-40B4-BE49-F238E27FC236}">
                <a16:creationId xmlns:a16="http://schemas.microsoft.com/office/drawing/2014/main" id="{0A59B70F-9769-940A-3270-C3188CC483BA}"/>
              </a:ext>
            </a:extLst>
          </p:cNvPr>
          <p:cNvSpPr txBox="1">
            <a:spLocks noGrp="1"/>
          </p:cNvSpPr>
          <p:nvPr>
            <p:ph type="title"/>
          </p:nvPr>
        </p:nvSpPr>
        <p:spPr>
          <a:xfrm>
            <a:off x="2438400" y="165145"/>
            <a:ext cx="7315200" cy="505267"/>
          </a:xfrm>
          <a:prstGeom prst="rect">
            <a:avLst/>
          </a:prstGeom>
        </p:spPr>
        <p:txBody>
          <a:bodyPr vert="horz" wrap="square" lIns="0" tIns="12700" rIns="0" bIns="0" numCol="1" rtlCol="0" anchor="ctr" anchorCtr="0" compatLnSpc="1">
            <a:prstTxWarp prst="textNoShape">
              <a:avLst/>
            </a:prstTxWarp>
            <a:spAutoFit/>
          </a:bodyPr>
          <a:lstStyle/>
          <a:p>
            <a:pPr marL="12700" algn="l">
              <a:spcBef>
                <a:spcPts val="100"/>
              </a:spcBef>
            </a:pPr>
            <a:r>
              <a:rPr lang="en-US" sz="3200" dirty="0">
                <a:latin typeface="Times New Roman" panose="02020603050405020304" pitchFamily="18" charset="0"/>
                <a:cs typeface="Times New Roman" panose="02020603050405020304" pitchFamily="18" charset="0"/>
              </a:rPr>
              <a:t>Quan </a:t>
            </a:r>
            <a:r>
              <a:rPr lang="en-US" sz="3200" dirty="0" err="1">
                <a:latin typeface="Times New Roman" panose="02020603050405020304" pitchFamily="18" charset="0"/>
                <a:cs typeface="Times New Roman" panose="02020603050405020304" pitchFamily="18" charset="0"/>
              </a:rPr>
              <a:t>hệ</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tổng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hóa</a:t>
            </a:r>
            <a:r>
              <a:rPr lang="en-US" sz="3200" dirty="0">
                <a:latin typeface="Times New Roman" panose="02020603050405020304" pitchFamily="18" charset="0"/>
                <a:cs typeface="Times New Roman" panose="02020603050405020304" pitchFamily="18" charset="0"/>
              </a:rPr>
              <a:t> </a:t>
            </a:r>
            <a:r>
              <a:rPr lang="en-US" sz="3200">
                <a:latin typeface="Times New Roman" panose="02020603050405020304" pitchFamily="18" charset="0"/>
                <a:cs typeface="Times New Roman" panose="02020603050405020304" pitchFamily="18" charset="0"/>
              </a:rPr>
              <a:t>(Generalization)</a:t>
            </a:r>
            <a:endParaRPr sz="3200" dirty="0">
              <a:latin typeface="Times New Roman" panose="02020603050405020304" pitchFamily="18" charset="0"/>
              <a:cs typeface="Times New Roman" panose="02020603050405020304" pitchFamily="18" charset="0"/>
            </a:endParaRPr>
          </a:p>
        </p:txBody>
      </p:sp>
      <p:sp>
        <p:nvSpPr>
          <p:cNvPr id="7"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601307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118978"/>
            <a:ext cx="7315200" cy="56682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err="1">
                <a:latin typeface="Times New Roman" panose="02020603050405020304" pitchFamily="18" charset="0"/>
                <a:cs typeface="Times New Roman" panose="02020603050405020304" pitchFamily="18" charset="0"/>
              </a:rPr>
              <a:t>Các</a:t>
            </a:r>
            <a:r>
              <a:rPr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lớp</a:t>
            </a:r>
            <a:endParaRPr dirty="0">
              <a:latin typeface="Times New Roman" panose="02020603050405020304" pitchFamily="18" charset="0"/>
              <a:cs typeface="Times New Roman" panose="02020603050405020304" pitchFamily="18" charset="0"/>
            </a:endParaRPr>
          </a:p>
        </p:txBody>
      </p:sp>
      <p:sp>
        <p:nvSpPr>
          <p:cNvPr id="3" name="object 3"/>
          <p:cNvSpPr txBox="1"/>
          <p:nvPr/>
        </p:nvSpPr>
        <p:spPr>
          <a:xfrm>
            <a:off x="0" y="990600"/>
            <a:ext cx="12191999" cy="2957220"/>
          </a:xfrm>
          <a:prstGeom prst="rect">
            <a:avLst/>
          </a:prstGeom>
        </p:spPr>
        <p:txBody>
          <a:bodyPr vert="horz" wrap="square" lIns="0" tIns="101600" rIns="0" bIns="0" rtlCol="0">
            <a:spAutoFit/>
          </a:bodyPr>
          <a:lstStyle/>
          <a:p>
            <a:pPr marL="469900" indent="-457200">
              <a:lnSpc>
                <a:spcPct val="150000"/>
              </a:lnSpc>
              <a:spcBef>
                <a:spcPts val="800"/>
              </a:spcBef>
              <a:buSzPct val="100000"/>
              <a:buFont typeface="Wingdings" panose="05000000000000000000" pitchFamily="2" charset="2"/>
              <a:buChar char="§"/>
              <a:tabLst>
                <a:tab pos="332740" algn="l"/>
                <a:tab pos="333375" algn="l"/>
              </a:tabLst>
            </a:pPr>
            <a:r>
              <a:rPr sz="2800" b="1" i="1" spc="-30" dirty="0" err="1">
                <a:solidFill>
                  <a:srgbClr val="FF0000"/>
                </a:solidFill>
                <a:latin typeface="Times New Roman" panose="02020603050405020304" pitchFamily="18" charset="0"/>
                <a:cs typeface="Times New Roman" panose="02020603050405020304" pitchFamily="18" charset="0"/>
              </a:rPr>
              <a:t>Tiếp</a:t>
            </a:r>
            <a:r>
              <a:rPr sz="2800" b="1" i="1" spc="-30" dirty="0">
                <a:solidFill>
                  <a:srgbClr val="FF0000"/>
                </a:solidFill>
                <a:latin typeface="Times New Roman" panose="02020603050405020304" pitchFamily="18" charset="0"/>
                <a:cs typeface="Times New Roman" panose="02020603050405020304" pitchFamily="18" charset="0"/>
              </a:rPr>
              <a:t> </a:t>
            </a:r>
            <a:r>
              <a:rPr sz="2800" b="1" i="1" dirty="0" err="1">
                <a:solidFill>
                  <a:srgbClr val="FF0000"/>
                </a:solidFill>
                <a:latin typeface="Times New Roman" panose="02020603050405020304" pitchFamily="18" charset="0"/>
                <a:cs typeface="Times New Roman" panose="02020603050405020304" pitchFamily="18" charset="0"/>
              </a:rPr>
              <a:t>cận</a:t>
            </a:r>
            <a:r>
              <a:rPr sz="2800" b="1" i="1" dirty="0">
                <a:solidFill>
                  <a:srgbClr val="FF0000"/>
                </a:solidFill>
                <a:latin typeface="Times New Roman" panose="02020603050405020304" pitchFamily="18" charset="0"/>
                <a:cs typeface="Times New Roman" panose="02020603050405020304" pitchFamily="18" charset="0"/>
              </a:rPr>
              <a:t> </a:t>
            </a:r>
            <a:r>
              <a:rPr sz="2800" b="1" i="1" spc="-5" dirty="0" err="1">
                <a:solidFill>
                  <a:srgbClr val="FF0000"/>
                </a:solidFill>
                <a:latin typeface="Times New Roman" panose="02020603050405020304" pitchFamily="18" charset="0"/>
                <a:cs typeface="Times New Roman" panose="02020603050405020304" pitchFamily="18" charset="0"/>
              </a:rPr>
              <a:t>theo</a:t>
            </a:r>
            <a:r>
              <a:rPr sz="2800" b="1" i="1" spc="-5" dirty="0">
                <a:solidFill>
                  <a:srgbClr val="FF0000"/>
                </a:solidFill>
                <a:latin typeface="Times New Roman" panose="02020603050405020304" pitchFamily="18" charset="0"/>
                <a:cs typeface="Times New Roman" panose="02020603050405020304" pitchFamily="18" charset="0"/>
              </a:rPr>
              <a:t> </a:t>
            </a:r>
            <a:r>
              <a:rPr sz="2800" b="1" i="1" spc="-5" dirty="0" err="1">
                <a:solidFill>
                  <a:srgbClr val="FF0000"/>
                </a:solidFill>
                <a:latin typeface="Times New Roman" panose="02020603050405020304" pitchFamily="18" charset="0"/>
                <a:cs typeface="Times New Roman" panose="02020603050405020304" pitchFamily="18" charset="0"/>
              </a:rPr>
              <a:t>thực</a:t>
            </a:r>
            <a:r>
              <a:rPr sz="2800" b="1" i="1" spc="-5" dirty="0">
                <a:solidFill>
                  <a:srgbClr val="FF0000"/>
                </a:solidFill>
                <a:latin typeface="Times New Roman" panose="02020603050405020304" pitchFamily="18" charset="0"/>
                <a:cs typeface="Times New Roman" panose="02020603050405020304" pitchFamily="18" charset="0"/>
              </a:rPr>
              <a:t> </a:t>
            </a:r>
            <a:r>
              <a:rPr sz="2800" b="1" i="1" dirty="0" err="1">
                <a:solidFill>
                  <a:srgbClr val="FF0000"/>
                </a:solidFill>
                <a:latin typeface="Times New Roman" panose="02020603050405020304" pitchFamily="18" charset="0"/>
                <a:cs typeface="Times New Roman" panose="02020603050405020304" pitchFamily="18" charset="0"/>
              </a:rPr>
              <a:t>thể</a:t>
            </a:r>
            <a:r>
              <a:rPr sz="2800" b="1" i="1" dirty="0">
                <a:solidFill>
                  <a:srgbClr val="FF0000"/>
                </a:solidFill>
                <a:latin typeface="Times New Roman" panose="02020603050405020304" pitchFamily="18" charset="0"/>
                <a:cs typeface="Times New Roman" panose="02020603050405020304" pitchFamily="18" charset="0"/>
              </a:rPr>
              <a:t> </a:t>
            </a:r>
            <a:r>
              <a:rPr sz="2800" b="1" i="1" spc="-10" err="1">
                <a:solidFill>
                  <a:srgbClr val="FF0000"/>
                </a:solidFill>
                <a:latin typeface="Times New Roman" panose="02020603050405020304" pitchFamily="18" charset="0"/>
                <a:cs typeface="Times New Roman" panose="02020603050405020304" pitchFamily="18" charset="0"/>
              </a:rPr>
              <a:t>nghiệp</a:t>
            </a:r>
            <a:r>
              <a:rPr sz="2800" b="1" i="1" spc="15">
                <a:solidFill>
                  <a:srgbClr val="FF0000"/>
                </a:solidFill>
                <a:latin typeface="Times New Roman" panose="02020603050405020304" pitchFamily="18" charset="0"/>
                <a:cs typeface="Times New Roman" panose="02020603050405020304" pitchFamily="18" charset="0"/>
              </a:rPr>
              <a:t> </a:t>
            </a:r>
            <a:r>
              <a:rPr sz="2800" b="1" i="1">
                <a:solidFill>
                  <a:srgbClr val="FF0000"/>
                </a:solidFill>
                <a:latin typeface="Times New Roman" panose="02020603050405020304" pitchFamily="18" charset="0"/>
                <a:cs typeface="Times New Roman" panose="02020603050405020304" pitchFamily="18" charset="0"/>
              </a:rPr>
              <a:t>vụ</a:t>
            </a:r>
            <a:endParaRPr sz="2800" b="1" i="1" dirty="0">
              <a:solidFill>
                <a:srgbClr val="FF0000"/>
              </a:solidFill>
              <a:latin typeface="Times New Roman" panose="02020603050405020304" pitchFamily="18" charset="0"/>
              <a:cs typeface="Times New Roman" panose="02020603050405020304" pitchFamily="18" charset="0"/>
            </a:endParaRPr>
          </a:p>
          <a:p>
            <a:pPr marL="469900" indent="-457200">
              <a:lnSpc>
                <a:spcPct val="150000"/>
              </a:lnSpc>
              <a:spcBef>
                <a:spcPts val="695"/>
              </a:spcBef>
              <a:buSzPct val="100000"/>
              <a:buFont typeface="Wingdings" panose="05000000000000000000" pitchFamily="2" charset="2"/>
              <a:buChar char="§"/>
              <a:tabLst>
                <a:tab pos="332740" algn="l"/>
                <a:tab pos="333375" algn="l"/>
              </a:tabLst>
            </a:pPr>
            <a:r>
              <a:rPr sz="2800" spc="-30">
                <a:latin typeface="Times New Roman" panose="02020603050405020304" pitchFamily="18" charset="0"/>
                <a:cs typeface="Times New Roman" panose="02020603050405020304" pitchFamily="18" charset="0"/>
              </a:rPr>
              <a:t>Tiếp </a:t>
            </a:r>
            <a:r>
              <a:rPr sz="2800" dirty="0">
                <a:latin typeface="Times New Roman" panose="02020603050405020304" pitchFamily="18" charset="0"/>
                <a:cs typeface="Times New Roman" panose="02020603050405020304" pitchFamily="18" charset="0"/>
              </a:rPr>
              <a:t>cận </a:t>
            </a:r>
            <a:r>
              <a:rPr sz="2800" spc="-5" dirty="0">
                <a:latin typeface="Times New Roman" panose="02020603050405020304" pitchFamily="18" charset="0"/>
                <a:cs typeface="Times New Roman" panose="02020603050405020304" pitchFamily="18" charset="0"/>
              </a:rPr>
              <a:t>theo </a:t>
            </a:r>
            <a:r>
              <a:rPr sz="2800" dirty="0">
                <a:latin typeface="Times New Roman" panose="02020603050405020304" pitchFamily="18" charset="0"/>
                <a:cs typeface="Times New Roman" panose="02020603050405020304" pitchFamily="18" charset="0"/>
              </a:rPr>
              <a:t>cụm </a:t>
            </a:r>
            <a:r>
              <a:rPr sz="2800" spc="-5" err="1">
                <a:latin typeface="Times New Roman" panose="02020603050405020304" pitchFamily="18" charset="0"/>
                <a:cs typeface="Times New Roman" panose="02020603050405020304" pitchFamily="18" charset="0"/>
              </a:rPr>
              <a:t>danh</a:t>
            </a:r>
            <a:r>
              <a:rPr sz="2800" spc="15">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từ</a:t>
            </a:r>
            <a:endParaRPr sz="2800" dirty="0">
              <a:latin typeface="Times New Roman" panose="02020603050405020304" pitchFamily="18" charset="0"/>
              <a:cs typeface="Times New Roman" panose="02020603050405020304" pitchFamily="18" charset="0"/>
            </a:endParaRPr>
          </a:p>
          <a:p>
            <a:pPr marL="469900" indent="-457200">
              <a:lnSpc>
                <a:spcPct val="150000"/>
              </a:lnSpc>
              <a:spcBef>
                <a:spcPts val="700"/>
              </a:spcBef>
              <a:buSzPct val="100000"/>
              <a:buFont typeface="Wingdings" panose="05000000000000000000" pitchFamily="2" charset="2"/>
              <a:buChar char="§"/>
              <a:tabLst>
                <a:tab pos="332740" algn="l"/>
                <a:tab pos="333375" algn="l"/>
              </a:tabLst>
            </a:pPr>
            <a:r>
              <a:rPr sz="2800" spc="-30">
                <a:latin typeface="Times New Roman" panose="02020603050405020304" pitchFamily="18" charset="0"/>
                <a:cs typeface="Times New Roman" panose="02020603050405020304" pitchFamily="18" charset="0"/>
              </a:rPr>
              <a:t>Tiếp </a:t>
            </a:r>
            <a:r>
              <a:rPr sz="2800" dirty="0">
                <a:latin typeface="Times New Roman" panose="02020603050405020304" pitchFamily="18" charset="0"/>
                <a:cs typeface="Times New Roman" panose="02020603050405020304" pitchFamily="18" charset="0"/>
              </a:rPr>
              <a:t>cận </a:t>
            </a:r>
            <a:r>
              <a:rPr sz="2800" spc="-5" dirty="0">
                <a:latin typeface="Times New Roman" panose="02020603050405020304" pitchFamily="18" charset="0"/>
                <a:cs typeface="Times New Roman" panose="02020603050405020304" pitchFamily="18" charset="0"/>
              </a:rPr>
              <a:t>theo </a:t>
            </a:r>
            <a:r>
              <a:rPr sz="2800" spc="-5" err="1">
                <a:latin typeface="Times New Roman" panose="02020603050405020304" pitchFamily="18" charset="0"/>
                <a:cs typeface="Times New Roman" panose="02020603050405020304" pitchFamily="18" charset="0"/>
              </a:rPr>
              <a:t>phân</a:t>
            </a:r>
            <a:r>
              <a:rPr sz="2800" spc="15">
                <a:latin typeface="Times New Roman" panose="02020603050405020304" pitchFamily="18" charset="0"/>
                <a:cs typeface="Times New Roman" panose="02020603050405020304" pitchFamily="18" charset="0"/>
              </a:rPr>
              <a:t> </a:t>
            </a:r>
            <a:r>
              <a:rPr sz="2800" spc="-10">
                <a:latin typeface="Times New Roman" panose="02020603050405020304" pitchFamily="18" charset="0"/>
                <a:cs typeface="Times New Roman" panose="02020603050405020304" pitchFamily="18" charset="0"/>
              </a:rPr>
              <a:t>loại</a:t>
            </a:r>
            <a:endParaRPr sz="2800" dirty="0">
              <a:latin typeface="Times New Roman" panose="02020603050405020304" pitchFamily="18" charset="0"/>
              <a:cs typeface="Times New Roman" panose="02020603050405020304" pitchFamily="18" charset="0"/>
            </a:endParaRPr>
          </a:p>
          <a:p>
            <a:pPr marL="469900" indent="-457200">
              <a:lnSpc>
                <a:spcPct val="150000"/>
              </a:lnSpc>
              <a:spcBef>
                <a:spcPts val="705"/>
              </a:spcBef>
              <a:buSzPct val="100000"/>
              <a:buFont typeface="Wingdings" panose="05000000000000000000" pitchFamily="2" charset="2"/>
              <a:buChar char="§"/>
              <a:tabLst>
                <a:tab pos="332740" algn="l"/>
                <a:tab pos="333375" algn="l"/>
              </a:tabLst>
            </a:pPr>
            <a:r>
              <a:rPr sz="2800" spc="-30">
                <a:latin typeface="Times New Roman" panose="02020603050405020304" pitchFamily="18" charset="0"/>
                <a:cs typeface="Times New Roman" panose="02020603050405020304" pitchFamily="18" charset="0"/>
              </a:rPr>
              <a:t>Tiếp </a:t>
            </a:r>
            <a:r>
              <a:rPr sz="2800" dirty="0">
                <a:latin typeface="Times New Roman" panose="02020603050405020304" pitchFamily="18" charset="0"/>
                <a:cs typeface="Times New Roman" panose="02020603050405020304" pitchFamily="18" charset="0"/>
              </a:rPr>
              <a:t>cận </a:t>
            </a:r>
            <a:r>
              <a:rPr sz="2800" spc="-5" dirty="0">
                <a:latin typeface="Times New Roman" panose="02020603050405020304" pitchFamily="18" charset="0"/>
                <a:cs typeface="Times New Roman" panose="02020603050405020304" pitchFamily="18" charset="0"/>
              </a:rPr>
              <a:t>theo phân </a:t>
            </a:r>
            <a:r>
              <a:rPr sz="2800" dirty="0">
                <a:latin typeface="Times New Roman" panose="02020603050405020304" pitchFamily="18" charset="0"/>
                <a:cs typeface="Times New Roman" panose="02020603050405020304" pitchFamily="18" charset="0"/>
              </a:rPr>
              <a:t>tích </a:t>
            </a:r>
            <a:r>
              <a:rPr sz="2800" spc="-5" dirty="0">
                <a:latin typeface="Times New Roman" panose="02020603050405020304" pitchFamily="18" charset="0"/>
                <a:cs typeface="Times New Roman" panose="02020603050405020304" pitchFamily="18" charset="0"/>
              </a:rPr>
              <a:t>hoạt </a:t>
            </a:r>
            <a:r>
              <a:rPr sz="2800" spc="-5" dirty="0" err="1">
                <a:latin typeface="Times New Roman" panose="02020603050405020304" pitchFamily="18" charset="0"/>
                <a:cs typeface="Times New Roman" panose="02020603050405020304" pitchFamily="18" charset="0"/>
              </a:rPr>
              <a:t>động</a:t>
            </a:r>
            <a:r>
              <a:rPr sz="2800" spc="-5" dirty="0">
                <a:latin typeface="Times New Roman" panose="02020603050405020304" pitchFamily="18" charset="0"/>
                <a:cs typeface="Times New Roman" panose="02020603050405020304" pitchFamily="18" charset="0"/>
              </a:rPr>
              <a:t> </a:t>
            </a:r>
            <a:r>
              <a:rPr lang="en-US" sz="2800" spc="-5">
                <a:latin typeface="Times New Roman" panose="02020603050405020304" pitchFamily="18" charset="0"/>
                <a:cs typeface="Times New Roman" panose="02020603050405020304" pitchFamily="18" charset="0"/>
              </a:rPr>
              <a:t>Use Case</a:t>
            </a:r>
            <a:endParaRPr sz="2800"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2998195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551"/>
            <a:ext cx="12192000" cy="4857740"/>
          </a:xfrm>
          <a:prstGeom prst="rect">
            <a:avLst/>
          </a:prstGeom>
        </p:spPr>
        <p:txBody>
          <a:bodyPr vert="horz" wrap="square" lIns="0" tIns="88900" rIns="0" bIns="0" rtlCol="0">
            <a:spAutoFit/>
          </a:bodyPr>
          <a:lstStyle/>
          <a:p>
            <a:pPr marL="344488" indent="-331788" algn="just">
              <a:lnSpc>
                <a:spcPct val="150000"/>
              </a:lnSpc>
              <a:spcBef>
                <a:spcPts val="700"/>
              </a:spcBef>
              <a:buSzPct val="100000"/>
              <a:buFont typeface="Wingdings" panose="05000000000000000000" pitchFamily="2" charset="2"/>
              <a:buChar char="§"/>
              <a:tabLst>
                <a:tab pos="332740" algn="l"/>
                <a:tab pos="333375" algn="l"/>
              </a:tabLst>
            </a:pPr>
            <a:r>
              <a:rPr sz="2800" b="1" dirty="0">
                <a:solidFill>
                  <a:srgbClr val="FF0000"/>
                </a:solidFill>
                <a:latin typeface="Times New Roman" panose="02020603050405020304" pitchFamily="18" charset="0"/>
                <a:cs typeface="Times New Roman" panose="02020603050405020304" pitchFamily="18" charset="0"/>
              </a:rPr>
              <a:t>Tiếp cận theo thực thể </a:t>
            </a:r>
            <a:r>
              <a:rPr sz="2800" b="1">
                <a:solidFill>
                  <a:srgbClr val="FF0000"/>
                </a:solidFill>
                <a:latin typeface="Times New Roman" panose="02020603050405020304" pitchFamily="18" charset="0"/>
                <a:cs typeface="Times New Roman" panose="02020603050405020304" pitchFamily="18" charset="0"/>
              </a:rPr>
              <a:t>nghiệp vụ</a:t>
            </a:r>
            <a:endParaRPr sz="2800" b="1" dirty="0">
              <a:solidFill>
                <a:srgbClr val="FF0000"/>
              </a:solidFill>
              <a:latin typeface="Times New Roman" panose="02020603050405020304" pitchFamily="18" charset="0"/>
              <a:cs typeface="Times New Roman" panose="02020603050405020304" pitchFamily="18" charset="0"/>
            </a:endParaRPr>
          </a:p>
          <a:p>
            <a:pPr marL="835025" marR="219075" lvl="1" indent="-457200" algn="just">
              <a:lnSpc>
                <a:spcPct val="150000"/>
              </a:lnSpc>
              <a:spcBef>
                <a:spcPts val="605"/>
              </a:spcBef>
              <a:buSzPct val="100000"/>
              <a:buFont typeface="Arial" panose="020B0604020202020204" pitchFamily="34" charset="0"/>
              <a:buChar char="•"/>
              <a:tabLst>
                <a:tab pos="653415" algn="l"/>
              </a:tabLst>
            </a:pPr>
            <a:r>
              <a:rPr sz="2800" dirty="0">
                <a:latin typeface="Times New Roman" panose="02020603050405020304" pitchFamily="18" charset="0"/>
                <a:cs typeface="Times New Roman" panose="02020603050405020304" pitchFamily="18" charset="0"/>
              </a:rPr>
              <a:t>Đối với các </a:t>
            </a:r>
            <a:r>
              <a:rPr sz="2800" b="1" dirty="0">
                <a:solidFill>
                  <a:srgbClr val="FF0000"/>
                </a:solidFill>
                <a:latin typeface="Times New Roman" panose="02020603050405020304" pitchFamily="18" charset="0"/>
                <a:cs typeface="Times New Roman" panose="02020603050405020304" pitchFamily="18" charset="0"/>
              </a:rPr>
              <a:t>thực </a:t>
            </a:r>
            <a:r>
              <a:rPr sz="2800" b="1" dirty="0" err="1">
                <a:solidFill>
                  <a:srgbClr val="FF0000"/>
                </a:solidFill>
                <a:latin typeface="Times New Roman" panose="02020603050405020304" pitchFamily="18" charset="0"/>
                <a:cs typeface="Times New Roman" panose="02020603050405020304" pitchFamily="18" charset="0"/>
              </a:rPr>
              <a:t>thể</a:t>
            </a:r>
            <a:r>
              <a:rPr sz="2800" b="1" dirty="0">
                <a:solidFill>
                  <a:srgbClr val="FF0000"/>
                </a:solidFill>
                <a:latin typeface="Times New Roman" panose="02020603050405020304" pitchFamily="18" charset="0"/>
                <a:cs typeface="Times New Roman" panose="02020603050405020304" pitchFamily="18" charset="0"/>
              </a:rPr>
              <a:t> </a:t>
            </a:r>
            <a:r>
              <a:rPr sz="2800" b="1" dirty="0" err="1">
                <a:solidFill>
                  <a:srgbClr val="FF0000"/>
                </a:solidFill>
                <a:latin typeface="Times New Roman" panose="02020603050405020304" pitchFamily="18" charset="0"/>
                <a:cs typeface="Times New Roman" panose="02020603050405020304" pitchFamily="18" charset="0"/>
              </a:rPr>
              <a:t>vật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thể</a:t>
            </a:r>
            <a:r>
              <a:rPr sz="2800" dirty="0">
                <a:latin typeface="Times New Roman" panose="02020603050405020304" pitchFamily="18" charset="0"/>
                <a:cs typeface="Times New Roman" panose="02020603050405020304" pitchFamily="18" charset="0"/>
              </a:rPr>
              <a:t>: kiểm chứng xem </a:t>
            </a:r>
            <a:r>
              <a:rPr sz="2800" dirty="0" err="1">
                <a:latin typeface="Times New Roman" panose="02020603050405020304" pitchFamily="18" charset="0"/>
                <a:cs typeface="Times New Roman" panose="02020603050405020304" pitchFamily="18" charset="0"/>
              </a:rPr>
              <a:t>có</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nhu</a:t>
            </a:r>
            <a:r>
              <a:rPr lang="en-US"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cầu</a:t>
            </a:r>
            <a:r>
              <a:rPr sz="2800" dirty="0">
                <a:latin typeface="Times New Roman" panose="02020603050405020304" pitchFamily="18" charset="0"/>
                <a:cs typeface="Times New Roman" panose="02020603050405020304" pitchFamily="18" charset="0"/>
              </a:rPr>
              <a:t> quản lý thông tin về thực thể này trong </a:t>
            </a:r>
            <a:r>
              <a:rPr sz="2800" dirty="0" err="1">
                <a:latin typeface="Times New Roman" panose="02020603050405020304" pitchFamily="18" charset="0"/>
                <a:cs typeface="Times New Roman" panose="02020603050405020304" pitchFamily="18" charset="0"/>
              </a:rPr>
              <a:t>hệ</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thống</a:t>
            </a:r>
            <a:r>
              <a:rPr lang="en-US"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không</a:t>
            </a:r>
            <a:r>
              <a:rPr sz="2800" dirty="0">
                <a:latin typeface="Times New Roman" panose="02020603050405020304" pitchFamily="18" charset="0"/>
                <a:cs typeface="Times New Roman" panose="02020603050405020304" pitchFamily="18" charset="0"/>
              </a:rPr>
              <a:t>?</a:t>
            </a:r>
          </a:p>
          <a:p>
            <a:pPr marL="1155700" marR="5080" lvl="2" indent="-457200" algn="just">
              <a:lnSpc>
                <a:spcPct val="150000"/>
              </a:lnSpc>
              <a:spcBef>
                <a:spcPts val="490"/>
              </a:spcBef>
              <a:buSzPct val="100000"/>
              <a:buFont typeface="Wingdings" panose="05000000000000000000" pitchFamily="2" charset="2"/>
              <a:buChar char="ü"/>
              <a:tabLst>
                <a:tab pos="927735" algn="l"/>
              </a:tabLst>
            </a:pPr>
            <a:r>
              <a:rPr sz="2800" dirty="0" err="1">
                <a:latin typeface="Times New Roman" panose="02020603050405020304" pitchFamily="18" charset="0"/>
                <a:cs typeface="Times New Roman" panose="02020603050405020304" pitchFamily="18" charset="0"/>
              </a:rPr>
              <a:t>Nếu</a:t>
            </a:r>
            <a:r>
              <a:rPr sz="2800" dirty="0">
                <a:latin typeface="Times New Roman" panose="02020603050405020304" pitchFamily="18" charset="0"/>
                <a:cs typeface="Times New Roman" panose="02020603050405020304" pitchFamily="18" charset="0"/>
              </a:rPr>
              <a:t> có, xác định một lớp trong sơ đồ phân </a:t>
            </a:r>
            <a:r>
              <a:rPr sz="2800" dirty="0" err="1">
                <a:latin typeface="Times New Roman" panose="02020603050405020304" pitchFamily="18" charset="0"/>
                <a:cs typeface="Times New Roman" panose="02020603050405020304" pitchFamily="18" charset="0"/>
              </a:rPr>
              <a:t>tích</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biểu</a:t>
            </a:r>
            <a:r>
              <a:rPr lang="en-US"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diễn</a:t>
            </a:r>
            <a:r>
              <a:rPr sz="2800" dirty="0">
                <a:latin typeface="Times New Roman" panose="02020603050405020304" pitchFamily="18" charset="0"/>
                <a:cs typeface="Times New Roman" panose="02020603050405020304" pitchFamily="18" charset="0"/>
              </a:rPr>
              <a:t> cho thực </a:t>
            </a:r>
            <a:r>
              <a:rPr sz="2800" dirty="0" err="1">
                <a:latin typeface="Times New Roman" panose="02020603050405020304" pitchFamily="18" charset="0"/>
                <a:cs typeface="Times New Roman" panose="02020603050405020304" pitchFamily="18" charset="0"/>
              </a:rPr>
              <a:t>thể</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này</a:t>
            </a:r>
            <a:r>
              <a:rPr lang="en-US" sz="2800"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marL="1612900" lvl="3" indent="-457200" algn="just">
              <a:lnSpc>
                <a:spcPct val="150000"/>
              </a:lnSpc>
              <a:spcBef>
                <a:spcPts val="409"/>
              </a:spcBef>
              <a:buSzPct val="100000"/>
              <a:buFont typeface="Wingdings" panose="05000000000000000000" pitchFamily="2" charset="2"/>
              <a:buChar char="v"/>
              <a:tabLst>
                <a:tab pos="1384935" algn="l"/>
              </a:tabLst>
            </a:pPr>
            <a:r>
              <a:rPr lang="en-US" sz="2800" dirty="0">
                <a:latin typeface="Times New Roman" panose="02020603050405020304" pitchFamily="18" charset="0"/>
                <a:cs typeface="Times New Roman" panose="02020603050405020304" pitchFamily="18" charset="0"/>
              </a:rPr>
              <a:t> </a:t>
            </a:r>
            <a:r>
              <a:rPr sz="2800" b="1" dirty="0" err="1">
                <a:solidFill>
                  <a:srgbClr val="FF0000"/>
                </a:solidFill>
                <a:latin typeface="Times New Roman" panose="02020603050405020304" pitchFamily="18" charset="0"/>
                <a:cs typeface="Times New Roman" panose="02020603050405020304" pitchFamily="18" charset="0"/>
              </a:rPr>
              <a:t>Xác</a:t>
            </a:r>
            <a:r>
              <a:rPr sz="2800" b="1" dirty="0">
                <a:solidFill>
                  <a:srgbClr val="FF0000"/>
                </a:solidFill>
                <a:latin typeface="Times New Roman" panose="02020603050405020304" pitchFamily="18" charset="0"/>
                <a:cs typeface="Times New Roman" panose="02020603050405020304" pitchFamily="18" charset="0"/>
              </a:rPr>
              <a:t> định tên lớp</a:t>
            </a:r>
            <a:r>
              <a:rPr sz="2800" dirty="0">
                <a:solidFill>
                  <a:srgbClr val="FF000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tên của </a:t>
            </a:r>
            <a:r>
              <a:rPr sz="2800">
                <a:latin typeface="Times New Roman" panose="02020603050405020304" pitchFamily="18" charset="0"/>
                <a:cs typeface="Times New Roman" panose="02020603050405020304" pitchFamily="18" charset="0"/>
              </a:rPr>
              <a:t>sự vật</a:t>
            </a:r>
            <a:endParaRPr sz="2800" dirty="0">
              <a:latin typeface="Times New Roman" panose="02020603050405020304" pitchFamily="18" charset="0"/>
              <a:cs typeface="Times New Roman" panose="02020603050405020304" pitchFamily="18" charset="0"/>
            </a:endParaRPr>
          </a:p>
          <a:p>
            <a:pPr marL="1612900" marR="48260" lvl="3" indent="-457200" algn="just">
              <a:lnSpc>
                <a:spcPct val="150000"/>
              </a:lnSpc>
              <a:spcBef>
                <a:spcPts val="400"/>
              </a:spcBef>
              <a:buSzPct val="100000"/>
              <a:buFont typeface="Wingdings" panose="05000000000000000000" pitchFamily="2" charset="2"/>
              <a:buChar char="v"/>
              <a:tabLst>
                <a:tab pos="1384935" algn="l"/>
              </a:tabLst>
            </a:pPr>
            <a:r>
              <a:rPr lang="en-US" sz="2800" dirty="0">
                <a:latin typeface="Times New Roman" panose="02020603050405020304" pitchFamily="18" charset="0"/>
                <a:cs typeface="Times New Roman" panose="02020603050405020304" pitchFamily="18" charset="0"/>
              </a:rPr>
              <a:t> </a:t>
            </a:r>
            <a:r>
              <a:rPr sz="2800" b="1" dirty="0" err="1">
                <a:solidFill>
                  <a:srgbClr val="FF0000"/>
                </a:solidFill>
                <a:latin typeface="Times New Roman" panose="02020603050405020304" pitchFamily="18" charset="0"/>
                <a:cs typeface="Times New Roman" panose="02020603050405020304" pitchFamily="18" charset="0"/>
              </a:rPr>
              <a:t>Thuộc</a:t>
            </a:r>
            <a:r>
              <a:rPr sz="2800" b="1" dirty="0">
                <a:solidFill>
                  <a:srgbClr val="FF0000"/>
                </a:solidFill>
                <a:latin typeface="Times New Roman" panose="02020603050405020304" pitchFamily="18" charset="0"/>
                <a:cs typeface="Times New Roman" panose="02020603050405020304" pitchFamily="18" charset="0"/>
              </a:rPr>
              <a:t> tính: </a:t>
            </a:r>
            <a:r>
              <a:rPr sz="2800" dirty="0">
                <a:latin typeface="Times New Roman" panose="02020603050405020304" pitchFamily="18" charset="0"/>
                <a:cs typeface="Times New Roman" panose="02020603050405020304" pitchFamily="18" charset="0"/>
              </a:rPr>
              <a:t>bổ sung các thuộc tính mô tả </a:t>
            </a:r>
            <a:r>
              <a:rPr sz="2800" dirty="0" err="1">
                <a:latin typeface="Times New Roman" panose="02020603050405020304" pitchFamily="18" charset="0"/>
                <a:cs typeface="Times New Roman" panose="02020603050405020304" pitchFamily="18" charset="0"/>
              </a:rPr>
              <a:t>đầy</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đủ</a:t>
            </a:r>
            <a:r>
              <a:rPr lang="en-US"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thông</a:t>
            </a:r>
            <a:r>
              <a:rPr sz="2800" dirty="0">
                <a:latin typeface="Times New Roman" panose="02020603050405020304" pitchFamily="18" charset="0"/>
                <a:cs typeface="Times New Roman" panose="02020603050405020304" pitchFamily="18" charset="0"/>
              </a:rPr>
              <a:t> tin mà hệ thống có nhu cầu quản lý </a:t>
            </a:r>
            <a:r>
              <a:rPr sz="2800" dirty="0" err="1">
                <a:latin typeface="Times New Roman" panose="02020603050405020304" pitchFamily="18" charset="0"/>
                <a:cs typeface="Times New Roman" panose="02020603050405020304" pitchFamily="18" charset="0"/>
              </a:rPr>
              <a:t>về</a:t>
            </a:r>
            <a:r>
              <a:rPr sz="2800" dirty="0">
                <a:latin typeface="Times New Roman" panose="02020603050405020304" pitchFamily="18" charset="0"/>
                <a:cs typeface="Times New Roman" panose="02020603050405020304" pitchFamily="18" charset="0"/>
              </a:rPr>
              <a:t> </a:t>
            </a:r>
            <a:r>
              <a:rPr sz="2800" err="1">
                <a:latin typeface="Times New Roman" panose="02020603050405020304" pitchFamily="18" charset="0"/>
                <a:cs typeface="Times New Roman" panose="02020603050405020304" pitchFamily="18" charset="0"/>
              </a:rPr>
              <a:t>đối</a:t>
            </a: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tượng</a:t>
            </a:r>
            <a:endParaRPr sz="2800" dirty="0">
              <a:latin typeface="Times New Roman" panose="02020603050405020304" pitchFamily="18" charset="0"/>
              <a:cs typeface="Times New Roman" panose="02020603050405020304" pitchFamily="18" charset="0"/>
            </a:endParaRPr>
          </a:p>
        </p:txBody>
      </p:sp>
      <p:sp>
        <p:nvSpPr>
          <p:cNvPr id="6"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919354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42834"/>
            <a:ext cx="12191999" cy="1164421"/>
          </a:xfrm>
          <a:prstGeom prst="rect">
            <a:avLst/>
          </a:prstGeom>
        </p:spPr>
        <p:txBody>
          <a:bodyPr vert="horz" wrap="square" lIns="0" tIns="88900" rIns="0" bIns="0" rtlCol="0">
            <a:spAutoFit/>
          </a:bodyPr>
          <a:lstStyle/>
          <a:p>
            <a:pPr marL="344488" indent="-331788">
              <a:spcBef>
                <a:spcPts val="700"/>
              </a:spcBef>
              <a:buSzPct val="100000"/>
              <a:buFont typeface="Wingdings" panose="05000000000000000000" pitchFamily="2" charset="2"/>
              <a:buChar char="§"/>
              <a:tabLst>
                <a:tab pos="332740" algn="l"/>
                <a:tab pos="333375" algn="l"/>
              </a:tabLst>
            </a:pPr>
            <a:r>
              <a:rPr lang="en-US" sz="3000" b="1" dirty="0" err="1">
                <a:solidFill>
                  <a:srgbClr val="FF0000"/>
                </a:solidFill>
                <a:latin typeface="Times New Roman" panose="02020603050405020304" pitchFamily="18" charset="0"/>
                <a:cs typeface="Times New Roman" panose="02020603050405020304" pitchFamily="18" charset="0"/>
              </a:rPr>
              <a:t>Tiếp</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cận</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theo</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thực</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thể</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nghiệp</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vụ</a:t>
            </a:r>
            <a:endParaRPr lang="en-US" sz="3000" b="1" dirty="0">
              <a:solidFill>
                <a:srgbClr val="FF0000"/>
              </a:solidFill>
              <a:latin typeface="Times New Roman" panose="02020603050405020304" pitchFamily="18" charset="0"/>
              <a:cs typeface="Times New Roman" panose="02020603050405020304" pitchFamily="18" charset="0"/>
            </a:endParaRPr>
          </a:p>
          <a:p>
            <a:pPr marL="233363">
              <a:spcBef>
                <a:spcPts val="700"/>
              </a:spcBef>
              <a:buSzPct val="100000"/>
              <a:tabLst>
                <a:tab pos="332740" algn="l"/>
                <a:tab pos="333375" algn="l"/>
              </a:tabLst>
            </a:pPr>
            <a:r>
              <a:rPr sz="3200">
                <a:solidFill>
                  <a:srgbClr val="00B050"/>
                </a:solidFill>
                <a:latin typeface="Times New Roman" panose="02020603050405020304" pitchFamily="18" charset="0"/>
                <a:cs typeface="Times New Roman" panose="02020603050405020304" pitchFamily="18" charset="0"/>
              </a:rPr>
              <a:t>Ví</a:t>
            </a:r>
            <a:r>
              <a:rPr sz="3200" spc="-160">
                <a:solidFill>
                  <a:srgbClr val="00B050"/>
                </a:solidFill>
                <a:latin typeface="Times New Roman" panose="02020603050405020304" pitchFamily="18" charset="0"/>
                <a:cs typeface="Times New Roman" panose="02020603050405020304" pitchFamily="18" charset="0"/>
              </a:rPr>
              <a:t> </a:t>
            </a:r>
            <a:r>
              <a:rPr sz="3200" spc="-5" dirty="0">
                <a:solidFill>
                  <a:srgbClr val="00B050"/>
                </a:solidFill>
                <a:latin typeface="Times New Roman" panose="02020603050405020304" pitchFamily="18" charset="0"/>
                <a:cs typeface="Times New Roman" panose="02020603050405020304" pitchFamily="18" charset="0"/>
              </a:rPr>
              <a:t>dụ:</a:t>
            </a:r>
            <a:endParaRPr sz="3200" dirty="0">
              <a:solidFill>
                <a:srgbClr val="00B050"/>
              </a:solidFill>
              <a:latin typeface="Times New Roman" panose="02020603050405020304" pitchFamily="18" charset="0"/>
              <a:cs typeface="Times New Roman" panose="02020603050405020304" pitchFamily="18" charset="0"/>
            </a:endParaRPr>
          </a:p>
        </p:txBody>
      </p:sp>
      <p:sp>
        <p:nvSpPr>
          <p:cNvPr id="4" name="object 4"/>
          <p:cNvSpPr/>
          <p:nvPr/>
        </p:nvSpPr>
        <p:spPr>
          <a:xfrm>
            <a:off x="3308604" y="2236344"/>
            <a:ext cx="838200" cy="762000"/>
          </a:xfrm>
          <a:custGeom>
            <a:avLst/>
            <a:gdLst/>
            <a:ahLst/>
            <a:cxnLst/>
            <a:rect l="l" t="t" r="r" b="b"/>
            <a:pathLst>
              <a:path w="838200" h="762000">
                <a:moveTo>
                  <a:pt x="0" y="381000"/>
                </a:moveTo>
                <a:lnTo>
                  <a:pt x="2818" y="336563"/>
                </a:lnTo>
                <a:lnTo>
                  <a:pt x="11065" y="293634"/>
                </a:lnTo>
                <a:lnTo>
                  <a:pt x="24426" y="252497"/>
                </a:lnTo>
                <a:lnTo>
                  <a:pt x="42587" y="213437"/>
                </a:lnTo>
                <a:lnTo>
                  <a:pt x="65234" y="176742"/>
                </a:lnTo>
                <a:lnTo>
                  <a:pt x="92053" y="142696"/>
                </a:lnTo>
                <a:lnTo>
                  <a:pt x="122729" y="111585"/>
                </a:lnTo>
                <a:lnTo>
                  <a:pt x="156949" y="83695"/>
                </a:lnTo>
                <a:lnTo>
                  <a:pt x="194399" y="59312"/>
                </a:lnTo>
                <a:lnTo>
                  <a:pt x="234764" y="38722"/>
                </a:lnTo>
                <a:lnTo>
                  <a:pt x="277731" y="22209"/>
                </a:lnTo>
                <a:lnTo>
                  <a:pt x="322985" y="10061"/>
                </a:lnTo>
                <a:lnTo>
                  <a:pt x="370213" y="2563"/>
                </a:lnTo>
                <a:lnTo>
                  <a:pt x="419100" y="0"/>
                </a:lnTo>
                <a:lnTo>
                  <a:pt x="467986" y="2563"/>
                </a:lnTo>
                <a:lnTo>
                  <a:pt x="515214" y="10061"/>
                </a:lnTo>
                <a:lnTo>
                  <a:pt x="560468" y="22209"/>
                </a:lnTo>
                <a:lnTo>
                  <a:pt x="603435" y="38722"/>
                </a:lnTo>
                <a:lnTo>
                  <a:pt x="643800" y="59312"/>
                </a:lnTo>
                <a:lnTo>
                  <a:pt x="681250" y="83695"/>
                </a:lnTo>
                <a:lnTo>
                  <a:pt x="715470" y="111585"/>
                </a:lnTo>
                <a:lnTo>
                  <a:pt x="746146" y="142696"/>
                </a:lnTo>
                <a:lnTo>
                  <a:pt x="772965" y="176742"/>
                </a:lnTo>
                <a:lnTo>
                  <a:pt x="795612" y="213437"/>
                </a:lnTo>
                <a:lnTo>
                  <a:pt x="813773" y="252497"/>
                </a:lnTo>
                <a:lnTo>
                  <a:pt x="827134" y="293634"/>
                </a:lnTo>
                <a:lnTo>
                  <a:pt x="835381" y="336563"/>
                </a:lnTo>
                <a:lnTo>
                  <a:pt x="838200" y="381000"/>
                </a:lnTo>
                <a:lnTo>
                  <a:pt x="835381" y="425436"/>
                </a:lnTo>
                <a:lnTo>
                  <a:pt x="827134" y="468365"/>
                </a:lnTo>
                <a:lnTo>
                  <a:pt x="813773" y="509502"/>
                </a:lnTo>
                <a:lnTo>
                  <a:pt x="795612" y="548562"/>
                </a:lnTo>
                <a:lnTo>
                  <a:pt x="772965" y="585257"/>
                </a:lnTo>
                <a:lnTo>
                  <a:pt x="746146" y="619303"/>
                </a:lnTo>
                <a:lnTo>
                  <a:pt x="715470" y="650414"/>
                </a:lnTo>
                <a:lnTo>
                  <a:pt x="681250" y="678304"/>
                </a:lnTo>
                <a:lnTo>
                  <a:pt x="643800" y="702687"/>
                </a:lnTo>
                <a:lnTo>
                  <a:pt x="603435" y="723277"/>
                </a:lnTo>
                <a:lnTo>
                  <a:pt x="560468" y="739790"/>
                </a:lnTo>
                <a:lnTo>
                  <a:pt x="515214" y="751938"/>
                </a:lnTo>
                <a:lnTo>
                  <a:pt x="467986" y="759436"/>
                </a:lnTo>
                <a:lnTo>
                  <a:pt x="419100" y="762000"/>
                </a:lnTo>
                <a:lnTo>
                  <a:pt x="370213" y="759436"/>
                </a:lnTo>
                <a:lnTo>
                  <a:pt x="322985" y="751938"/>
                </a:lnTo>
                <a:lnTo>
                  <a:pt x="277731" y="739790"/>
                </a:lnTo>
                <a:lnTo>
                  <a:pt x="234764" y="723277"/>
                </a:lnTo>
                <a:lnTo>
                  <a:pt x="194399" y="702687"/>
                </a:lnTo>
                <a:lnTo>
                  <a:pt x="156949" y="678304"/>
                </a:lnTo>
                <a:lnTo>
                  <a:pt x="122729" y="650414"/>
                </a:lnTo>
                <a:lnTo>
                  <a:pt x="92053" y="619303"/>
                </a:lnTo>
                <a:lnTo>
                  <a:pt x="65234" y="585257"/>
                </a:lnTo>
                <a:lnTo>
                  <a:pt x="42587" y="548562"/>
                </a:lnTo>
                <a:lnTo>
                  <a:pt x="24426" y="509502"/>
                </a:lnTo>
                <a:lnTo>
                  <a:pt x="11065" y="468365"/>
                </a:lnTo>
                <a:lnTo>
                  <a:pt x="2818" y="425436"/>
                </a:lnTo>
                <a:lnTo>
                  <a:pt x="0" y="381000"/>
                </a:lnTo>
                <a:close/>
              </a:path>
            </a:pathLst>
          </a:custGeom>
          <a:ln w="9144">
            <a:solidFill>
              <a:srgbClr val="000000"/>
            </a:solidFill>
          </a:ln>
        </p:spPr>
        <p:txBody>
          <a:bodyPr wrap="square" lIns="0" tIns="0" rIns="0" bIns="0" rtlCol="0"/>
          <a:lstStyle/>
          <a:p>
            <a:endParaRPr/>
          </a:p>
        </p:txBody>
      </p:sp>
      <p:sp>
        <p:nvSpPr>
          <p:cNvPr id="5" name="object 5"/>
          <p:cNvSpPr/>
          <p:nvPr/>
        </p:nvSpPr>
        <p:spPr>
          <a:xfrm>
            <a:off x="3308604" y="2998343"/>
            <a:ext cx="838200" cy="0"/>
          </a:xfrm>
          <a:custGeom>
            <a:avLst/>
            <a:gdLst/>
            <a:ahLst/>
            <a:cxnLst/>
            <a:rect l="l" t="t" r="r" b="b"/>
            <a:pathLst>
              <a:path w="838200">
                <a:moveTo>
                  <a:pt x="0" y="0"/>
                </a:moveTo>
                <a:lnTo>
                  <a:pt x="8382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txBox="1"/>
          <p:nvPr/>
        </p:nvSpPr>
        <p:spPr>
          <a:xfrm>
            <a:off x="3388232" y="3102054"/>
            <a:ext cx="1107568" cy="289823"/>
          </a:xfrm>
          <a:prstGeom prst="rect">
            <a:avLst/>
          </a:prstGeom>
        </p:spPr>
        <p:txBody>
          <a:bodyPr vert="horz" wrap="square" lIns="0" tIns="12700" rIns="0" bIns="0" rtlCol="0">
            <a:spAutoFit/>
          </a:bodyPr>
          <a:lstStyle/>
          <a:p>
            <a:pPr marL="12700">
              <a:spcBef>
                <a:spcPts val="100"/>
              </a:spcBef>
            </a:pPr>
            <a:r>
              <a:rPr spc="-10" dirty="0">
                <a:latin typeface="Times New Roman" panose="02020603050405020304" pitchFamily="18" charset="0"/>
                <a:cs typeface="Times New Roman" panose="02020603050405020304" pitchFamily="18" charset="0"/>
              </a:rPr>
              <a:t>Hành</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lý</a:t>
            </a:r>
            <a:endParaRPr>
              <a:latin typeface="Times New Roman" panose="02020603050405020304" pitchFamily="18" charset="0"/>
              <a:cs typeface="Times New Roman" panose="02020603050405020304" pitchFamily="18" charset="0"/>
            </a:endParaRPr>
          </a:p>
        </p:txBody>
      </p:sp>
      <p:sp>
        <p:nvSpPr>
          <p:cNvPr id="7" name="object 7"/>
          <p:cNvSpPr/>
          <p:nvPr/>
        </p:nvSpPr>
        <p:spPr>
          <a:xfrm>
            <a:off x="3842004" y="2541144"/>
            <a:ext cx="304800" cy="457200"/>
          </a:xfrm>
          <a:custGeom>
            <a:avLst/>
            <a:gdLst/>
            <a:ahLst/>
            <a:cxnLst/>
            <a:rect l="l" t="t" r="r" b="b"/>
            <a:pathLst>
              <a:path w="304800" h="457200">
                <a:moveTo>
                  <a:pt x="304800" y="0"/>
                </a:moveTo>
                <a:lnTo>
                  <a:pt x="0" y="457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3308604" y="3505200"/>
            <a:ext cx="838200" cy="762000"/>
          </a:xfrm>
          <a:custGeom>
            <a:avLst/>
            <a:gdLst/>
            <a:ahLst/>
            <a:cxnLst/>
            <a:rect l="l" t="t" r="r" b="b"/>
            <a:pathLst>
              <a:path w="838200" h="762000">
                <a:moveTo>
                  <a:pt x="0" y="381000"/>
                </a:moveTo>
                <a:lnTo>
                  <a:pt x="2818" y="336563"/>
                </a:lnTo>
                <a:lnTo>
                  <a:pt x="11065" y="293634"/>
                </a:lnTo>
                <a:lnTo>
                  <a:pt x="24426" y="252497"/>
                </a:lnTo>
                <a:lnTo>
                  <a:pt x="42587" y="213437"/>
                </a:lnTo>
                <a:lnTo>
                  <a:pt x="65234" y="176742"/>
                </a:lnTo>
                <a:lnTo>
                  <a:pt x="92053" y="142696"/>
                </a:lnTo>
                <a:lnTo>
                  <a:pt x="122729" y="111585"/>
                </a:lnTo>
                <a:lnTo>
                  <a:pt x="156949" y="83695"/>
                </a:lnTo>
                <a:lnTo>
                  <a:pt x="194399" y="59312"/>
                </a:lnTo>
                <a:lnTo>
                  <a:pt x="234764" y="38722"/>
                </a:lnTo>
                <a:lnTo>
                  <a:pt x="277731" y="22209"/>
                </a:lnTo>
                <a:lnTo>
                  <a:pt x="322985" y="10061"/>
                </a:lnTo>
                <a:lnTo>
                  <a:pt x="370213" y="2563"/>
                </a:lnTo>
                <a:lnTo>
                  <a:pt x="419100" y="0"/>
                </a:lnTo>
                <a:lnTo>
                  <a:pt x="467986" y="2563"/>
                </a:lnTo>
                <a:lnTo>
                  <a:pt x="515214" y="10061"/>
                </a:lnTo>
                <a:lnTo>
                  <a:pt x="560468" y="22209"/>
                </a:lnTo>
                <a:lnTo>
                  <a:pt x="603435" y="38722"/>
                </a:lnTo>
                <a:lnTo>
                  <a:pt x="643800" y="59312"/>
                </a:lnTo>
                <a:lnTo>
                  <a:pt x="681250" y="83695"/>
                </a:lnTo>
                <a:lnTo>
                  <a:pt x="715470" y="111585"/>
                </a:lnTo>
                <a:lnTo>
                  <a:pt x="746146" y="142696"/>
                </a:lnTo>
                <a:lnTo>
                  <a:pt x="772965" y="176742"/>
                </a:lnTo>
                <a:lnTo>
                  <a:pt x="795612" y="213437"/>
                </a:lnTo>
                <a:lnTo>
                  <a:pt x="813773" y="252497"/>
                </a:lnTo>
                <a:lnTo>
                  <a:pt x="827134" y="293634"/>
                </a:lnTo>
                <a:lnTo>
                  <a:pt x="835381" y="336563"/>
                </a:lnTo>
                <a:lnTo>
                  <a:pt x="838200" y="381000"/>
                </a:lnTo>
                <a:lnTo>
                  <a:pt x="835381" y="425433"/>
                </a:lnTo>
                <a:lnTo>
                  <a:pt x="827134" y="468361"/>
                </a:lnTo>
                <a:lnTo>
                  <a:pt x="813773" y="509497"/>
                </a:lnTo>
                <a:lnTo>
                  <a:pt x="795612" y="548556"/>
                </a:lnTo>
                <a:lnTo>
                  <a:pt x="772965" y="585252"/>
                </a:lnTo>
                <a:lnTo>
                  <a:pt x="746146" y="619298"/>
                </a:lnTo>
                <a:lnTo>
                  <a:pt x="715470" y="650409"/>
                </a:lnTo>
                <a:lnTo>
                  <a:pt x="681250" y="678300"/>
                </a:lnTo>
                <a:lnTo>
                  <a:pt x="643800" y="702684"/>
                </a:lnTo>
                <a:lnTo>
                  <a:pt x="603435" y="723275"/>
                </a:lnTo>
                <a:lnTo>
                  <a:pt x="560468" y="739788"/>
                </a:lnTo>
                <a:lnTo>
                  <a:pt x="515214" y="751937"/>
                </a:lnTo>
                <a:lnTo>
                  <a:pt x="467986" y="759436"/>
                </a:lnTo>
                <a:lnTo>
                  <a:pt x="419100" y="762000"/>
                </a:lnTo>
                <a:lnTo>
                  <a:pt x="370213" y="759436"/>
                </a:lnTo>
                <a:lnTo>
                  <a:pt x="322985" y="751937"/>
                </a:lnTo>
                <a:lnTo>
                  <a:pt x="277731" y="739788"/>
                </a:lnTo>
                <a:lnTo>
                  <a:pt x="234764" y="723275"/>
                </a:lnTo>
                <a:lnTo>
                  <a:pt x="194399" y="702684"/>
                </a:lnTo>
                <a:lnTo>
                  <a:pt x="156949" y="678300"/>
                </a:lnTo>
                <a:lnTo>
                  <a:pt x="122729" y="650409"/>
                </a:lnTo>
                <a:lnTo>
                  <a:pt x="92053" y="619298"/>
                </a:lnTo>
                <a:lnTo>
                  <a:pt x="65234" y="585252"/>
                </a:lnTo>
                <a:lnTo>
                  <a:pt x="42587" y="548556"/>
                </a:lnTo>
                <a:lnTo>
                  <a:pt x="24426" y="509497"/>
                </a:lnTo>
                <a:lnTo>
                  <a:pt x="11065" y="468361"/>
                </a:lnTo>
                <a:lnTo>
                  <a:pt x="2818" y="425433"/>
                </a:lnTo>
                <a:lnTo>
                  <a:pt x="0" y="3810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3308604" y="4267200"/>
            <a:ext cx="838200" cy="0"/>
          </a:xfrm>
          <a:custGeom>
            <a:avLst/>
            <a:gdLst/>
            <a:ahLst/>
            <a:cxnLst/>
            <a:rect l="l" t="t" r="r" b="b"/>
            <a:pathLst>
              <a:path w="838200">
                <a:moveTo>
                  <a:pt x="0" y="0"/>
                </a:moveTo>
                <a:lnTo>
                  <a:pt x="8382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txBox="1"/>
          <p:nvPr/>
        </p:nvSpPr>
        <p:spPr>
          <a:xfrm>
            <a:off x="3312032" y="4364839"/>
            <a:ext cx="1183768" cy="289823"/>
          </a:xfrm>
          <a:prstGeom prst="rect">
            <a:avLst/>
          </a:prstGeom>
        </p:spPr>
        <p:txBody>
          <a:bodyPr vert="horz" wrap="square" lIns="0" tIns="12700" rIns="0" bIns="0" rtlCol="0">
            <a:spAutoFit/>
          </a:bodyPr>
          <a:lstStyle/>
          <a:p>
            <a:pPr marL="12700">
              <a:spcBef>
                <a:spcPts val="100"/>
              </a:spcBef>
            </a:pPr>
            <a:r>
              <a:rPr spc="-10" dirty="0">
                <a:latin typeface="Times New Roman" panose="02020603050405020304" pitchFamily="18" charset="0"/>
                <a:cs typeface="Times New Roman" panose="02020603050405020304" pitchFamily="18" charset="0"/>
              </a:rPr>
              <a:t>Hàng hoá</a:t>
            </a:r>
            <a:endParaRPr spc="-10">
              <a:latin typeface="Times New Roman" panose="02020603050405020304" pitchFamily="18" charset="0"/>
              <a:cs typeface="Times New Roman" panose="02020603050405020304" pitchFamily="18" charset="0"/>
            </a:endParaRPr>
          </a:p>
        </p:txBody>
      </p:sp>
      <p:sp>
        <p:nvSpPr>
          <p:cNvPr id="15" name="object 15"/>
          <p:cNvSpPr/>
          <p:nvPr/>
        </p:nvSpPr>
        <p:spPr>
          <a:xfrm>
            <a:off x="3842004" y="3810000"/>
            <a:ext cx="304800" cy="457200"/>
          </a:xfrm>
          <a:custGeom>
            <a:avLst/>
            <a:gdLst/>
            <a:ahLst/>
            <a:cxnLst/>
            <a:rect l="l" t="t" r="r" b="b"/>
            <a:pathLst>
              <a:path w="304800" h="457200">
                <a:moveTo>
                  <a:pt x="304800" y="0"/>
                </a:moveTo>
                <a:lnTo>
                  <a:pt x="0" y="457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5233416" y="2553349"/>
            <a:ext cx="621029" cy="32840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5213603" y="2541144"/>
            <a:ext cx="609600" cy="304800"/>
          </a:xfrm>
          <a:custGeom>
            <a:avLst/>
            <a:gdLst/>
            <a:ahLst/>
            <a:cxnLst/>
            <a:rect l="l" t="t" r="r" b="b"/>
            <a:pathLst>
              <a:path w="609600" h="304800">
                <a:moveTo>
                  <a:pt x="457200" y="0"/>
                </a:moveTo>
                <a:lnTo>
                  <a:pt x="457200" y="76200"/>
                </a:lnTo>
                <a:lnTo>
                  <a:pt x="0" y="76200"/>
                </a:lnTo>
                <a:lnTo>
                  <a:pt x="0" y="228600"/>
                </a:lnTo>
                <a:lnTo>
                  <a:pt x="457200" y="228600"/>
                </a:lnTo>
                <a:lnTo>
                  <a:pt x="457200" y="304800"/>
                </a:lnTo>
                <a:lnTo>
                  <a:pt x="609600" y="152400"/>
                </a:lnTo>
                <a:lnTo>
                  <a:pt x="457200" y="0"/>
                </a:lnTo>
                <a:close/>
              </a:path>
            </a:pathLst>
          </a:custGeom>
          <a:solidFill>
            <a:srgbClr val="93B6D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5213603" y="2541144"/>
            <a:ext cx="609600" cy="304800"/>
          </a:xfrm>
          <a:custGeom>
            <a:avLst/>
            <a:gdLst/>
            <a:ahLst/>
            <a:cxnLst/>
            <a:rect l="l" t="t" r="r" b="b"/>
            <a:pathLst>
              <a:path w="609600" h="304800">
                <a:moveTo>
                  <a:pt x="0" y="76200"/>
                </a:moveTo>
                <a:lnTo>
                  <a:pt x="457200" y="76200"/>
                </a:lnTo>
                <a:lnTo>
                  <a:pt x="457200" y="0"/>
                </a:lnTo>
                <a:lnTo>
                  <a:pt x="609600" y="152400"/>
                </a:lnTo>
                <a:lnTo>
                  <a:pt x="457200" y="304800"/>
                </a:lnTo>
                <a:lnTo>
                  <a:pt x="457200" y="228600"/>
                </a:lnTo>
                <a:lnTo>
                  <a:pt x="0" y="228600"/>
                </a:lnTo>
                <a:lnTo>
                  <a:pt x="0" y="76200"/>
                </a:lnTo>
                <a:close/>
              </a:path>
            </a:pathLst>
          </a:custGeom>
          <a:ln w="9144">
            <a:solidFill>
              <a:srgbClr val="33CC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19" name="object 19"/>
          <p:cNvGraphicFramePr>
            <a:graphicFrameLocks noGrp="1"/>
          </p:cNvGraphicFramePr>
          <p:nvPr>
            <p:extLst>
              <p:ext uri="{D42A27DB-BD31-4B8C-83A1-F6EECF244321}">
                <p14:modId xmlns:p14="http://schemas.microsoft.com/office/powerpoint/2010/main" val="402121950"/>
              </p:ext>
            </p:extLst>
          </p:nvPr>
        </p:nvGraphicFramePr>
        <p:xfrm>
          <a:off x="7010400" y="2307972"/>
          <a:ext cx="1676400" cy="92964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tblGrid>
              <a:tr h="381000">
                <a:tc>
                  <a:txBody>
                    <a:bodyPr/>
                    <a:lstStyle/>
                    <a:p>
                      <a:pPr marL="542925">
                        <a:lnSpc>
                          <a:spcPct val="100000"/>
                        </a:lnSpc>
                        <a:spcBef>
                          <a:spcPts val="300"/>
                        </a:spcBef>
                      </a:pPr>
                      <a:r>
                        <a:rPr sz="1800" spc="-5" dirty="0">
                          <a:latin typeface="Times New Roman" panose="02020603050405020304" pitchFamily="18" charset="0"/>
                          <a:cs typeface="Times New Roman" panose="02020603050405020304" pitchFamily="18" charset="0"/>
                        </a:rPr>
                        <a:t>Hành</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lý</a:t>
                      </a:r>
                      <a:endParaRPr sz="1800">
                        <a:latin typeface="Times New Roman" panose="02020603050405020304" pitchFamily="18" charset="0"/>
                        <a:cs typeface="Times New Roman" panose="02020603050405020304" pitchFamily="18" charset="0"/>
                      </a:endParaRPr>
                    </a:p>
                  </a:txBody>
                  <a:tcPr marL="0" marR="0" marT="381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800">
                        <a:latin typeface="Times New Roman" panose="02020603050405020304" pitchFamily="18" charset="0"/>
                        <a:cs typeface="Times New Roman" panose="02020603050405020304" pitchFamily="18" charset="0"/>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800" dirty="0">
                        <a:latin typeface="Times New Roman" panose="02020603050405020304" pitchFamily="18" charset="0"/>
                        <a:cs typeface="Times New Roman" panose="02020603050405020304" pitchFamily="18" charset="0"/>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23" name="object 23"/>
          <p:cNvSpPr/>
          <p:nvPr/>
        </p:nvSpPr>
        <p:spPr>
          <a:xfrm>
            <a:off x="5233416" y="3806954"/>
            <a:ext cx="621029" cy="32840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4" name="object 24"/>
          <p:cNvSpPr/>
          <p:nvPr/>
        </p:nvSpPr>
        <p:spPr>
          <a:xfrm>
            <a:off x="5213603" y="3794760"/>
            <a:ext cx="609600" cy="304800"/>
          </a:xfrm>
          <a:custGeom>
            <a:avLst/>
            <a:gdLst/>
            <a:ahLst/>
            <a:cxnLst/>
            <a:rect l="l" t="t" r="r" b="b"/>
            <a:pathLst>
              <a:path w="609600" h="304800">
                <a:moveTo>
                  <a:pt x="457200" y="0"/>
                </a:moveTo>
                <a:lnTo>
                  <a:pt x="457200" y="76200"/>
                </a:lnTo>
                <a:lnTo>
                  <a:pt x="0" y="76200"/>
                </a:lnTo>
                <a:lnTo>
                  <a:pt x="0" y="228600"/>
                </a:lnTo>
                <a:lnTo>
                  <a:pt x="457200" y="228600"/>
                </a:lnTo>
                <a:lnTo>
                  <a:pt x="457200" y="304800"/>
                </a:lnTo>
                <a:lnTo>
                  <a:pt x="609600" y="152400"/>
                </a:lnTo>
                <a:lnTo>
                  <a:pt x="457200" y="0"/>
                </a:lnTo>
                <a:close/>
              </a:path>
            </a:pathLst>
          </a:custGeom>
          <a:solidFill>
            <a:srgbClr val="93B6D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5" name="object 25"/>
          <p:cNvSpPr/>
          <p:nvPr/>
        </p:nvSpPr>
        <p:spPr>
          <a:xfrm>
            <a:off x="5213603" y="3794760"/>
            <a:ext cx="609600" cy="304800"/>
          </a:xfrm>
          <a:custGeom>
            <a:avLst/>
            <a:gdLst/>
            <a:ahLst/>
            <a:cxnLst/>
            <a:rect l="l" t="t" r="r" b="b"/>
            <a:pathLst>
              <a:path w="609600" h="304800">
                <a:moveTo>
                  <a:pt x="0" y="76200"/>
                </a:moveTo>
                <a:lnTo>
                  <a:pt x="457200" y="76200"/>
                </a:lnTo>
                <a:lnTo>
                  <a:pt x="457200" y="0"/>
                </a:lnTo>
                <a:lnTo>
                  <a:pt x="609600" y="152400"/>
                </a:lnTo>
                <a:lnTo>
                  <a:pt x="457200" y="304800"/>
                </a:lnTo>
                <a:lnTo>
                  <a:pt x="457200" y="228600"/>
                </a:lnTo>
                <a:lnTo>
                  <a:pt x="0" y="228600"/>
                </a:lnTo>
                <a:lnTo>
                  <a:pt x="0" y="76200"/>
                </a:lnTo>
                <a:close/>
              </a:path>
            </a:pathLst>
          </a:custGeom>
          <a:ln w="9144">
            <a:solidFill>
              <a:srgbClr val="33CC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27" name="object 27"/>
          <p:cNvGraphicFramePr>
            <a:graphicFrameLocks noGrp="1"/>
          </p:cNvGraphicFramePr>
          <p:nvPr>
            <p:extLst>
              <p:ext uri="{D42A27DB-BD31-4B8C-83A1-F6EECF244321}">
                <p14:modId xmlns:p14="http://schemas.microsoft.com/office/powerpoint/2010/main" val="1848809035"/>
              </p:ext>
            </p:extLst>
          </p:nvPr>
        </p:nvGraphicFramePr>
        <p:xfrm>
          <a:off x="7010400" y="3561589"/>
          <a:ext cx="1676400" cy="80772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tblGrid>
              <a:tr h="381000">
                <a:tc>
                  <a:txBody>
                    <a:bodyPr/>
                    <a:lstStyle/>
                    <a:p>
                      <a:pPr marL="459105">
                        <a:lnSpc>
                          <a:spcPct val="100000"/>
                        </a:lnSpc>
                        <a:spcBef>
                          <a:spcPts val="305"/>
                        </a:spcBef>
                      </a:pPr>
                      <a:r>
                        <a:rPr sz="1800" spc="-5" dirty="0">
                          <a:latin typeface="Times New Roman" panose="02020603050405020304" pitchFamily="18" charset="0"/>
                          <a:cs typeface="Times New Roman" panose="02020603050405020304" pitchFamily="18" charset="0"/>
                        </a:rPr>
                        <a:t>Hàng</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hoá</a:t>
                      </a:r>
                    </a:p>
                  </a:txBody>
                  <a:tcPr marL="0" marR="0" marT="3873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400" dirty="0">
                        <a:latin typeface="Times New Roman" panose="02020603050405020304" pitchFamily="18" charset="0"/>
                        <a:cs typeface="Times New Roman" panose="02020603050405020304" pitchFamily="18" charset="0"/>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32"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tượng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tt</a:t>
            </a:r>
            <a:r>
              <a:rPr lang="en-US" sz="320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
        <p:nvSpPr>
          <p:cNvPr id="28" name="object 12"/>
          <p:cNvSpPr/>
          <p:nvPr/>
        </p:nvSpPr>
        <p:spPr>
          <a:xfrm>
            <a:off x="3357372" y="4870339"/>
            <a:ext cx="838200" cy="762000"/>
          </a:xfrm>
          <a:custGeom>
            <a:avLst/>
            <a:gdLst/>
            <a:ahLst/>
            <a:cxnLst/>
            <a:rect l="l" t="t" r="r" b="b"/>
            <a:pathLst>
              <a:path w="838200" h="762000">
                <a:moveTo>
                  <a:pt x="0" y="381000"/>
                </a:moveTo>
                <a:lnTo>
                  <a:pt x="2818" y="336563"/>
                </a:lnTo>
                <a:lnTo>
                  <a:pt x="11065" y="293634"/>
                </a:lnTo>
                <a:lnTo>
                  <a:pt x="24426" y="252497"/>
                </a:lnTo>
                <a:lnTo>
                  <a:pt x="42587" y="213437"/>
                </a:lnTo>
                <a:lnTo>
                  <a:pt x="65234" y="176742"/>
                </a:lnTo>
                <a:lnTo>
                  <a:pt x="92053" y="142696"/>
                </a:lnTo>
                <a:lnTo>
                  <a:pt x="122729" y="111585"/>
                </a:lnTo>
                <a:lnTo>
                  <a:pt x="156949" y="83695"/>
                </a:lnTo>
                <a:lnTo>
                  <a:pt x="194399" y="59312"/>
                </a:lnTo>
                <a:lnTo>
                  <a:pt x="234764" y="38722"/>
                </a:lnTo>
                <a:lnTo>
                  <a:pt x="277731" y="22209"/>
                </a:lnTo>
                <a:lnTo>
                  <a:pt x="322985" y="10061"/>
                </a:lnTo>
                <a:lnTo>
                  <a:pt x="370213" y="2563"/>
                </a:lnTo>
                <a:lnTo>
                  <a:pt x="419100" y="0"/>
                </a:lnTo>
                <a:lnTo>
                  <a:pt x="467986" y="2563"/>
                </a:lnTo>
                <a:lnTo>
                  <a:pt x="515214" y="10061"/>
                </a:lnTo>
                <a:lnTo>
                  <a:pt x="560468" y="22209"/>
                </a:lnTo>
                <a:lnTo>
                  <a:pt x="603435" y="38722"/>
                </a:lnTo>
                <a:lnTo>
                  <a:pt x="643800" y="59312"/>
                </a:lnTo>
                <a:lnTo>
                  <a:pt x="681250" y="83695"/>
                </a:lnTo>
                <a:lnTo>
                  <a:pt x="715470" y="111585"/>
                </a:lnTo>
                <a:lnTo>
                  <a:pt x="746146" y="142696"/>
                </a:lnTo>
                <a:lnTo>
                  <a:pt x="772965" y="176742"/>
                </a:lnTo>
                <a:lnTo>
                  <a:pt x="795612" y="213437"/>
                </a:lnTo>
                <a:lnTo>
                  <a:pt x="813773" y="252497"/>
                </a:lnTo>
                <a:lnTo>
                  <a:pt x="827134" y="293634"/>
                </a:lnTo>
                <a:lnTo>
                  <a:pt x="835381" y="336563"/>
                </a:lnTo>
                <a:lnTo>
                  <a:pt x="838200" y="381000"/>
                </a:lnTo>
                <a:lnTo>
                  <a:pt x="835381" y="425433"/>
                </a:lnTo>
                <a:lnTo>
                  <a:pt x="827134" y="468361"/>
                </a:lnTo>
                <a:lnTo>
                  <a:pt x="813773" y="509497"/>
                </a:lnTo>
                <a:lnTo>
                  <a:pt x="795612" y="548556"/>
                </a:lnTo>
                <a:lnTo>
                  <a:pt x="772965" y="585252"/>
                </a:lnTo>
                <a:lnTo>
                  <a:pt x="746146" y="619298"/>
                </a:lnTo>
                <a:lnTo>
                  <a:pt x="715470" y="650409"/>
                </a:lnTo>
                <a:lnTo>
                  <a:pt x="681250" y="678300"/>
                </a:lnTo>
                <a:lnTo>
                  <a:pt x="643800" y="702684"/>
                </a:lnTo>
                <a:lnTo>
                  <a:pt x="603435" y="723275"/>
                </a:lnTo>
                <a:lnTo>
                  <a:pt x="560468" y="739788"/>
                </a:lnTo>
                <a:lnTo>
                  <a:pt x="515214" y="751937"/>
                </a:lnTo>
                <a:lnTo>
                  <a:pt x="467986" y="759436"/>
                </a:lnTo>
                <a:lnTo>
                  <a:pt x="419100" y="762000"/>
                </a:lnTo>
                <a:lnTo>
                  <a:pt x="370213" y="759436"/>
                </a:lnTo>
                <a:lnTo>
                  <a:pt x="322985" y="751937"/>
                </a:lnTo>
                <a:lnTo>
                  <a:pt x="277731" y="739788"/>
                </a:lnTo>
                <a:lnTo>
                  <a:pt x="234764" y="723275"/>
                </a:lnTo>
                <a:lnTo>
                  <a:pt x="194399" y="702684"/>
                </a:lnTo>
                <a:lnTo>
                  <a:pt x="156949" y="678300"/>
                </a:lnTo>
                <a:lnTo>
                  <a:pt x="122729" y="650409"/>
                </a:lnTo>
                <a:lnTo>
                  <a:pt x="92053" y="619298"/>
                </a:lnTo>
                <a:lnTo>
                  <a:pt x="65234" y="585252"/>
                </a:lnTo>
                <a:lnTo>
                  <a:pt x="42587" y="548556"/>
                </a:lnTo>
                <a:lnTo>
                  <a:pt x="24426" y="509497"/>
                </a:lnTo>
                <a:lnTo>
                  <a:pt x="11065" y="468361"/>
                </a:lnTo>
                <a:lnTo>
                  <a:pt x="2818" y="425433"/>
                </a:lnTo>
                <a:lnTo>
                  <a:pt x="0" y="3810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9" name="object 13"/>
          <p:cNvSpPr/>
          <p:nvPr/>
        </p:nvSpPr>
        <p:spPr>
          <a:xfrm>
            <a:off x="3357372" y="5632339"/>
            <a:ext cx="838200" cy="0"/>
          </a:xfrm>
          <a:custGeom>
            <a:avLst/>
            <a:gdLst/>
            <a:ahLst/>
            <a:cxnLst/>
            <a:rect l="l" t="t" r="r" b="b"/>
            <a:pathLst>
              <a:path w="838200">
                <a:moveTo>
                  <a:pt x="0" y="0"/>
                </a:moveTo>
                <a:lnTo>
                  <a:pt x="8382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0" name="object 14"/>
          <p:cNvSpPr txBox="1"/>
          <p:nvPr/>
        </p:nvSpPr>
        <p:spPr>
          <a:xfrm>
            <a:off x="3554920" y="5755302"/>
            <a:ext cx="1183768" cy="289823"/>
          </a:xfrm>
          <a:prstGeom prst="rect">
            <a:avLst/>
          </a:prstGeom>
        </p:spPr>
        <p:txBody>
          <a:bodyPr vert="horz" wrap="square" lIns="0" tIns="12700" rIns="0" bIns="0" rtlCol="0">
            <a:spAutoFit/>
          </a:bodyPr>
          <a:lstStyle/>
          <a:p>
            <a:pPr marL="12700">
              <a:spcBef>
                <a:spcPts val="100"/>
              </a:spcBef>
            </a:pPr>
            <a:r>
              <a:rPr lang="en-US" spc="-10">
                <a:latin typeface="Times New Roman" panose="02020603050405020304" pitchFamily="18" charset="0"/>
                <a:cs typeface="Times New Roman" panose="02020603050405020304" pitchFamily="18" charset="0"/>
              </a:rPr>
              <a:t>Sách</a:t>
            </a:r>
            <a:endParaRPr spc="-10">
              <a:latin typeface="Times New Roman" panose="02020603050405020304" pitchFamily="18" charset="0"/>
              <a:cs typeface="Times New Roman" panose="02020603050405020304" pitchFamily="18" charset="0"/>
            </a:endParaRPr>
          </a:p>
        </p:txBody>
      </p:sp>
      <p:sp>
        <p:nvSpPr>
          <p:cNvPr id="31" name="object 15"/>
          <p:cNvSpPr/>
          <p:nvPr/>
        </p:nvSpPr>
        <p:spPr>
          <a:xfrm>
            <a:off x="3890772" y="5175139"/>
            <a:ext cx="304800" cy="457200"/>
          </a:xfrm>
          <a:custGeom>
            <a:avLst/>
            <a:gdLst/>
            <a:ahLst/>
            <a:cxnLst/>
            <a:rect l="l" t="t" r="r" b="b"/>
            <a:pathLst>
              <a:path w="304800" h="457200">
                <a:moveTo>
                  <a:pt x="304800" y="0"/>
                </a:moveTo>
                <a:lnTo>
                  <a:pt x="0" y="457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3" name="object 23"/>
          <p:cNvSpPr/>
          <p:nvPr/>
        </p:nvSpPr>
        <p:spPr>
          <a:xfrm>
            <a:off x="5282184" y="5172093"/>
            <a:ext cx="621029" cy="32840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4" name="object 24"/>
          <p:cNvSpPr/>
          <p:nvPr/>
        </p:nvSpPr>
        <p:spPr>
          <a:xfrm>
            <a:off x="5262371" y="5159899"/>
            <a:ext cx="609600" cy="304800"/>
          </a:xfrm>
          <a:custGeom>
            <a:avLst/>
            <a:gdLst/>
            <a:ahLst/>
            <a:cxnLst/>
            <a:rect l="l" t="t" r="r" b="b"/>
            <a:pathLst>
              <a:path w="609600" h="304800">
                <a:moveTo>
                  <a:pt x="457200" y="0"/>
                </a:moveTo>
                <a:lnTo>
                  <a:pt x="457200" y="76200"/>
                </a:lnTo>
                <a:lnTo>
                  <a:pt x="0" y="76200"/>
                </a:lnTo>
                <a:lnTo>
                  <a:pt x="0" y="228600"/>
                </a:lnTo>
                <a:lnTo>
                  <a:pt x="457200" y="228600"/>
                </a:lnTo>
                <a:lnTo>
                  <a:pt x="457200" y="304800"/>
                </a:lnTo>
                <a:lnTo>
                  <a:pt x="609600" y="152400"/>
                </a:lnTo>
                <a:lnTo>
                  <a:pt x="457200" y="0"/>
                </a:lnTo>
                <a:close/>
              </a:path>
            </a:pathLst>
          </a:custGeom>
          <a:solidFill>
            <a:srgbClr val="93B6D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5" name="object 25"/>
          <p:cNvSpPr/>
          <p:nvPr/>
        </p:nvSpPr>
        <p:spPr>
          <a:xfrm>
            <a:off x="5262371" y="5159899"/>
            <a:ext cx="609600" cy="304800"/>
          </a:xfrm>
          <a:custGeom>
            <a:avLst/>
            <a:gdLst/>
            <a:ahLst/>
            <a:cxnLst/>
            <a:rect l="l" t="t" r="r" b="b"/>
            <a:pathLst>
              <a:path w="609600" h="304800">
                <a:moveTo>
                  <a:pt x="0" y="76200"/>
                </a:moveTo>
                <a:lnTo>
                  <a:pt x="457200" y="76200"/>
                </a:lnTo>
                <a:lnTo>
                  <a:pt x="457200" y="0"/>
                </a:lnTo>
                <a:lnTo>
                  <a:pt x="609600" y="152400"/>
                </a:lnTo>
                <a:lnTo>
                  <a:pt x="457200" y="304800"/>
                </a:lnTo>
                <a:lnTo>
                  <a:pt x="457200" y="228600"/>
                </a:lnTo>
                <a:lnTo>
                  <a:pt x="0" y="228600"/>
                </a:lnTo>
                <a:lnTo>
                  <a:pt x="0" y="76200"/>
                </a:lnTo>
                <a:close/>
              </a:path>
            </a:pathLst>
          </a:custGeom>
          <a:ln w="9144">
            <a:solidFill>
              <a:srgbClr val="33CCFF"/>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36" name="object 27"/>
          <p:cNvGraphicFramePr>
            <a:graphicFrameLocks noGrp="1"/>
          </p:cNvGraphicFramePr>
          <p:nvPr>
            <p:extLst>
              <p:ext uri="{D42A27DB-BD31-4B8C-83A1-F6EECF244321}">
                <p14:modId xmlns:p14="http://schemas.microsoft.com/office/powerpoint/2010/main" val="187399373"/>
              </p:ext>
            </p:extLst>
          </p:nvPr>
        </p:nvGraphicFramePr>
        <p:xfrm>
          <a:off x="7260772" y="4931299"/>
          <a:ext cx="1175657" cy="762000"/>
        </p:xfrm>
        <a:graphic>
          <a:graphicData uri="http://schemas.openxmlformats.org/drawingml/2006/table">
            <a:tbl>
              <a:tblPr firstRow="1" bandRow="1">
                <a:tableStyleId>{2D5ABB26-0587-4C30-8999-92F81FD0307C}</a:tableStyleId>
              </a:tblPr>
              <a:tblGrid>
                <a:gridCol w="1175657">
                  <a:extLst>
                    <a:ext uri="{9D8B030D-6E8A-4147-A177-3AD203B41FA5}">
                      <a16:colId xmlns:a16="http://schemas.microsoft.com/office/drawing/2014/main" val="20000"/>
                    </a:ext>
                  </a:extLst>
                </a:gridCol>
              </a:tblGrid>
              <a:tr h="381000">
                <a:tc>
                  <a:txBody>
                    <a:bodyPr/>
                    <a:lstStyle/>
                    <a:p>
                      <a:pPr marL="459105" algn="l">
                        <a:lnSpc>
                          <a:spcPct val="100000"/>
                        </a:lnSpc>
                        <a:spcBef>
                          <a:spcPts val="305"/>
                        </a:spcBef>
                      </a:pPr>
                      <a:r>
                        <a:rPr lang="en-US" sz="1800" spc="-5" dirty="0" err="1">
                          <a:latin typeface="Times New Roman" panose="02020603050405020304" pitchFamily="18" charset="0"/>
                          <a:cs typeface="Times New Roman" panose="02020603050405020304" pitchFamily="18" charset="0"/>
                        </a:rPr>
                        <a:t>Sách</a:t>
                      </a:r>
                      <a:endParaRPr sz="1800" dirty="0">
                        <a:latin typeface="Times New Roman" panose="02020603050405020304" pitchFamily="18" charset="0"/>
                        <a:cs typeface="Times New Roman" panose="02020603050405020304" pitchFamily="18" charset="0"/>
                      </a:endParaRPr>
                    </a:p>
                  </a:txBody>
                  <a:tcPr marL="0" marR="0" marT="3873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1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2" name="Footer Placeholder 1"/>
          <p:cNvSpPr>
            <a:spLocks noGrp="1"/>
          </p:cNvSpPr>
          <p:nvPr>
            <p:ph type="ftr" sz="quarter" idx="10"/>
          </p:nvPr>
        </p:nvSpPr>
        <p:spPr>
          <a:xfrm>
            <a:off x="9296399" y="6567488"/>
            <a:ext cx="2895600" cy="290512"/>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275182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485035" y="4262806"/>
            <a:ext cx="838200" cy="762000"/>
          </a:xfrm>
          <a:custGeom>
            <a:avLst/>
            <a:gdLst/>
            <a:ahLst/>
            <a:cxnLst/>
            <a:rect l="l" t="t" r="r" b="b"/>
            <a:pathLst>
              <a:path w="838200" h="762000">
                <a:moveTo>
                  <a:pt x="0" y="381000"/>
                </a:moveTo>
                <a:lnTo>
                  <a:pt x="2818" y="336563"/>
                </a:lnTo>
                <a:lnTo>
                  <a:pt x="11065" y="293634"/>
                </a:lnTo>
                <a:lnTo>
                  <a:pt x="24426" y="252497"/>
                </a:lnTo>
                <a:lnTo>
                  <a:pt x="42587" y="213437"/>
                </a:lnTo>
                <a:lnTo>
                  <a:pt x="65234" y="176742"/>
                </a:lnTo>
                <a:lnTo>
                  <a:pt x="92053" y="142696"/>
                </a:lnTo>
                <a:lnTo>
                  <a:pt x="122729" y="111585"/>
                </a:lnTo>
                <a:lnTo>
                  <a:pt x="156949" y="83695"/>
                </a:lnTo>
                <a:lnTo>
                  <a:pt x="194399" y="59312"/>
                </a:lnTo>
                <a:lnTo>
                  <a:pt x="234764" y="38722"/>
                </a:lnTo>
                <a:lnTo>
                  <a:pt x="277731" y="22209"/>
                </a:lnTo>
                <a:lnTo>
                  <a:pt x="322985" y="10061"/>
                </a:lnTo>
                <a:lnTo>
                  <a:pt x="370213" y="2563"/>
                </a:lnTo>
                <a:lnTo>
                  <a:pt x="419100" y="0"/>
                </a:lnTo>
                <a:lnTo>
                  <a:pt x="467986" y="2563"/>
                </a:lnTo>
                <a:lnTo>
                  <a:pt x="515214" y="10061"/>
                </a:lnTo>
                <a:lnTo>
                  <a:pt x="560468" y="22209"/>
                </a:lnTo>
                <a:lnTo>
                  <a:pt x="603435" y="38722"/>
                </a:lnTo>
                <a:lnTo>
                  <a:pt x="643800" y="59312"/>
                </a:lnTo>
                <a:lnTo>
                  <a:pt x="681250" y="83695"/>
                </a:lnTo>
                <a:lnTo>
                  <a:pt x="715470" y="111585"/>
                </a:lnTo>
                <a:lnTo>
                  <a:pt x="746146" y="142696"/>
                </a:lnTo>
                <a:lnTo>
                  <a:pt x="772965" y="176742"/>
                </a:lnTo>
                <a:lnTo>
                  <a:pt x="795612" y="213437"/>
                </a:lnTo>
                <a:lnTo>
                  <a:pt x="813773" y="252497"/>
                </a:lnTo>
                <a:lnTo>
                  <a:pt x="827134" y="293634"/>
                </a:lnTo>
                <a:lnTo>
                  <a:pt x="835381" y="336563"/>
                </a:lnTo>
                <a:lnTo>
                  <a:pt x="838200" y="381000"/>
                </a:lnTo>
                <a:lnTo>
                  <a:pt x="835381" y="425436"/>
                </a:lnTo>
                <a:lnTo>
                  <a:pt x="827134" y="468365"/>
                </a:lnTo>
                <a:lnTo>
                  <a:pt x="813773" y="509502"/>
                </a:lnTo>
                <a:lnTo>
                  <a:pt x="795612" y="548562"/>
                </a:lnTo>
                <a:lnTo>
                  <a:pt x="772965" y="585257"/>
                </a:lnTo>
                <a:lnTo>
                  <a:pt x="746146" y="619303"/>
                </a:lnTo>
                <a:lnTo>
                  <a:pt x="715470" y="650414"/>
                </a:lnTo>
                <a:lnTo>
                  <a:pt x="681250" y="678304"/>
                </a:lnTo>
                <a:lnTo>
                  <a:pt x="643800" y="702687"/>
                </a:lnTo>
                <a:lnTo>
                  <a:pt x="603435" y="723277"/>
                </a:lnTo>
                <a:lnTo>
                  <a:pt x="560468" y="739790"/>
                </a:lnTo>
                <a:lnTo>
                  <a:pt x="515214" y="751938"/>
                </a:lnTo>
                <a:lnTo>
                  <a:pt x="467986" y="759436"/>
                </a:lnTo>
                <a:lnTo>
                  <a:pt x="419100" y="762000"/>
                </a:lnTo>
                <a:lnTo>
                  <a:pt x="370213" y="759436"/>
                </a:lnTo>
                <a:lnTo>
                  <a:pt x="322985" y="751938"/>
                </a:lnTo>
                <a:lnTo>
                  <a:pt x="277731" y="739790"/>
                </a:lnTo>
                <a:lnTo>
                  <a:pt x="234764" y="723277"/>
                </a:lnTo>
                <a:lnTo>
                  <a:pt x="194399" y="702687"/>
                </a:lnTo>
                <a:lnTo>
                  <a:pt x="156949" y="678304"/>
                </a:lnTo>
                <a:lnTo>
                  <a:pt x="122729" y="650414"/>
                </a:lnTo>
                <a:lnTo>
                  <a:pt x="92053" y="619303"/>
                </a:lnTo>
                <a:lnTo>
                  <a:pt x="65234" y="585257"/>
                </a:lnTo>
                <a:lnTo>
                  <a:pt x="42587" y="548562"/>
                </a:lnTo>
                <a:lnTo>
                  <a:pt x="24426" y="509502"/>
                </a:lnTo>
                <a:lnTo>
                  <a:pt x="11065" y="468365"/>
                </a:lnTo>
                <a:lnTo>
                  <a:pt x="2818" y="425436"/>
                </a:lnTo>
                <a:lnTo>
                  <a:pt x="0" y="381000"/>
                </a:lnTo>
                <a:close/>
              </a:path>
            </a:pathLst>
          </a:custGeom>
          <a:ln w="9144">
            <a:solidFill>
              <a:srgbClr val="000000"/>
            </a:solidFill>
          </a:ln>
        </p:spPr>
        <p:txBody>
          <a:bodyPr wrap="square" lIns="0" tIns="0" rIns="0" bIns="0" rtlCol="0"/>
          <a:lstStyle/>
          <a:p>
            <a:endParaRPr/>
          </a:p>
        </p:txBody>
      </p:sp>
      <p:sp>
        <p:nvSpPr>
          <p:cNvPr id="4" name="object 4"/>
          <p:cNvSpPr/>
          <p:nvPr/>
        </p:nvSpPr>
        <p:spPr>
          <a:xfrm>
            <a:off x="4485035" y="5024806"/>
            <a:ext cx="838200" cy="0"/>
          </a:xfrm>
          <a:custGeom>
            <a:avLst/>
            <a:gdLst/>
            <a:ahLst/>
            <a:cxnLst/>
            <a:rect l="l" t="t" r="r" b="b"/>
            <a:pathLst>
              <a:path w="838200">
                <a:moveTo>
                  <a:pt x="0" y="0"/>
                </a:moveTo>
                <a:lnTo>
                  <a:pt x="838200" y="0"/>
                </a:lnTo>
              </a:path>
            </a:pathLst>
          </a:custGeom>
          <a:ln w="9144">
            <a:solidFill>
              <a:srgbClr val="000000"/>
            </a:solidFill>
          </a:ln>
        </p:spPr>
        <p:txBody>
          <a:bodyPr wrap="square" lIns="0" tIns="0" rIns="0" bIns="0" rtlCol="0"/>
          <a:lstStyle/>
          <a:p>
            <a:endParaRPr/>
          </a:p>
        </p:txBody>
      </p:sp>
      <p:sp>
        <p:nvSpPr>
          <p:cNvPr id="5" name="object 5"/>
          <p:cNvSpPr txBox="1"/>
          <p:nvPr/>
        </p:nvSpPr>
        <p:spPr>
          <a:xfrm>
            <a:off x="0" y="767649"/>
            <a:ext cx="12192000" cy="4261551"/>
          </a:xfrm>
          <a:prstGeom prst="rect">
            <a:avLst/>
          </a:prstGeom>
        </p:spPr>
        <p:txBody>
          <a:bodyPr vert="horz" wrap="square" lIns="0" tIns="103505" rIns="0" bIns="0" rtlCol="0">
            <a:spAutoFit/>
          </a:bodyPr>
          <a:lstStyle/>
          <a:p>
            <a:pPr marL="457200" indent="-457200" algn="just">
              <a:lnSpc>
                <a:spcPct val="130000"/>
              </a:lnSpc>
              <a:spcBef>
                <a:spcPts val="815"/>
              </a:spcBef>
              <a:buSzPct val="100000"/>
              <a:buFont typeface="Wingdings" panose="05000000000000000000" pitchFamily="2" charset="2"/>
              <a:buChar char="§"/>
            </a:pPr>
            <a:r>
              <a:rPr lang="en-US" sz="3000" spc="-25" dirty="0" err="1">
                <a:solidFill>
                  <a:srgbClr val="FF0000"/>
                </a:solidFill>
                <a:latin typeface="Times New Roman" panose="02020603050405020304" pitchFamily="18" charset="0"/>
                <a:cs typeface="Times New Roman" panose="02020603050405020304" pitchFamily="18" charset="0"/>
              </a:rPr>
              <a:t>Tiếp</a:t>
            </a:r>
            <a:r>
              <a:rPr lang="en-US" sz="3000" spc="-25" dirty="0">
                <a:solidFill>
                  <a:srgbClr val="FF0000"/>
                </a:solidFill>
                <a:latin typeface="Times New Roman" panose="02020603050405020304" pitchFamily="18" charset="0"/>
                <a:cs typeface="Times New Roman" panose="02020603050405020304" pitchFamily="18" charset="0"/>
              </a:rPr>
              <a:t> </a:t>
            </a:r>
            <a:r>
              <a:rPr lang="en-US" sz="3000" spc="-5" dirty="0" err="1">
                <a:solidFill>
                  <a:srgbClr val="FF0000"/>
                </a:solidFill>
                <a:latin typeface="Times New Roman" panose="02020603050405020304" pitchFamily="18" charset="0"/>
                <a:cs typeface="Times New Roman" panose="02020603050405020304" pitchFamily="18" charset="0"/>
              </a:rPr>
              <a:t>cận</a:t>
            </a:r>
            <a:r>
              <a:rPr lang="en-US" sz="3000" spc="-5" dirty="0">
                <a:solidFill>
                  <a:srgbClr val="FF0000"/>
                </a:solidFill>
                <a:latin typeface="Times New Roman" panose="02020603050405020304" pitchFamily="18" charset="0"/>
                <a:cs typeface="Times New Roman" panose="02020603050405020304" pitchFamily="18" charset="0"/>
              </a:rPr>
              <a:t> </a:t>
            </a:r>
            <a:r>
              <a:rPr lang="en-US" sz="3000" dirty="0" err="1">
                <a:solidFill>
                  <a:srgbClr val="FF0000"/>
                </a:solidFill>
                <a:latin typeface="Times New Roman" panose="02020603050405020304" pitchFamily="18" charset="0"/>
                <a:cs typeface="Times New Roman" panose="02020603050405020304" pitchFamily="18" charset="0"/>
              </a:rPr>
              <a:t>theo</a:t>
            </a:r>
            <a:r>
              <a:rPr lang="en-US" sz="3000" dirty="0">
                <a:solidFill>
                  <a:srgbClr val="FF0000"/>
                </a:solidFill>
                <a:latin typeface="Times New Roman" panose="02020603050405020304" pitchFamily="18" charset="0"/>
                <a:cs typeface="Times New Roman" panose="02020603050405020304" pitchFamily="18" charset="0"/>
              </a:rPr>
              <a:t> </a:t>
            </a:r>
            <a:r>
              <a:rPr lang="en-US" sz="3000" dirty="0" err="1">
                <a:solidFill>
                  <a:srgbClr val="FF0000"/>
                </a:solidFill>
                <a:latin typeface="Times New Roman" panose="02020603050405020304" pitchFamily="18" charset="0"/>
                <a:cs typeface="Times New Roman" panose="02020603050405020304" pitchFamily="18" charset="0"/>
              </a:rPr>
              <a:t>thực</a:t>
            </a:r>
            <a:r>
              <a:rPr lang="en-US" sz="3000" dirty="0">
                <a:solidFill>
                  <a:srgbClr val="FF0000"/>
                </a:solidFill>
                <a:latin typeface="Times New Roman" panose="02020603050405020304" pitchFamily="18" charset="0"/>
                <a:cs typeface="Times New Roman" panose="02020603050405020304" pitchFamily="18" charset="0"/>
              </a:rPr>
              <a:t> </a:t>
            </a:r>
            <a:r>
              <a:rPr lang="en-US" sz="3000" dirty="0" err="1">
                <a:solidFill>
                  <a:srgbClr val="FF0000"/>
                </a:solidFill>
                <a:latin typeface="Times New Roman" panose="02020603050405020304" pitchFamily="18" charset="0"/>
                <a:cs typeface="Times New Roman" panose="02020603050405020304" pitchFamily="18" charset="0"/>
              </a:rPr>
              <a:t>thể</a:t>
            </a:r>
            <a:r>
              <a:rPr lang="en-US" sz="3000" dirty="0">
                <a:solidFill>
                  <a:srgbClr val="FF0000"/>
                </a:solidFill>
                <a:latin typeface="Times New Roman" panose="02020603050405020304" pitchFamily="18" charset="0"/>
                <a:cs typeface="Times New Roman" panose="02020603050405020304" pitchFamily="18" charset="0"/>
              </a:rPr>
              <a:t> </a:t>
            </a:r>
            <a:r>
              <a:rPr lang="en-US" sz="3000" spc="-5" dirty="0" err="1">
                <a:solidFill>
                  <a:srgbClr val="FF0000"/>
                </a:solidFill>
                <a:latin typeface="Times New Roman" panose="02020603050405020304" pitchFamily="18" charset="0"/>
                <a:cs typeface="Times New Roman" panose="02020603050405020304" pitchFamily="18" charset="0"/>
              </a:rPr>
              <a:t>nghiệp</a:t>
            </a:r>
            <a:r>
              <a:rPr lang="en-US" sz="3000" spc="40" dirty="0">
                <a:solidFill>
                  <a:srgbClr val="FF0000"/>
                </a:solidFill>
                <a:latin typeface="Times New Roman" panose="02020603050405020304" pitchFamily="18" charset="0"/>
                <a:cs typeface="Times New Roman" panose="02020603050405020304" pitchFamily="18" charset="0"/>
              </a:rPr>
              <a:t> </a:t>
            </a:r>
            <a:r>
              <a:rPr lang="en-US" sz="3000" dirty="0" err="1">
                <a:solidFill>
                  <a:srgbClr val="FF0000"/>
                </a:solidFill>
                <a:latin typeface="Times New Roman" panose="02020603050405020304" pitchFamily="18" charset="0"/>
                <a:cs typeface="Times New Roman" panose="02020603050405020304" pitchFamily="18" charset="0"/>
              </a:rPr>
              <a:t>vụ</a:t>
            </a:r>
            <a:endParaRPr lang="en-US" sz="3000" dirty="0">
              <a:solidFill>
                <a:srgbClr val="FF0000"/>
              </a:solidFill>
              <a:latin typeface="Times New Roman" panose="02020603050405020304" pitchFamily="18" charset="0"/>
              <a:cs typeface="Times New Roman" panose="02020603050405020304" pitchFamily="18" charset="0"/>
            </a:endParaRPr>
          </a:p>
          <a:p>
            <a:pPr marL="835025" lvl="1" indent="-457200" algn="just">
              <a:lnSpc>
                <a:spcPct val="130000"/>
              </a:lnSpc>
              <a:spcBef>
                <a:spcPts val="605"/>
              </a:spcBef>
              <a:buSzPct val="100000"/>
              <a:buFont typeface="Arial" panose="020B0604020202020204" pitchFamily="34" charset="0"/>
              <a:buChar char="•"/>
              <a:tabLst>
                <a:tab pos="569913" algn="l"/>
              </a:tabLst>
            </a:pPr>
            <a:r>
              <a:rPr lang="en-US" sz="2800">
                <a:solidFill>
                  <a:srgbClr val="00B050"/>
                </a:solidFill>
                <a:latin typeface="Times New Roman" panose="02020603050405020304" pitchFamily="18" charset="0"/>
                <a:cs typeface="Times New Roman" panose="02020603050405020304" pitchFamily="18" charset="0"/>
              </a:rPr>
              <a:t>Đối </a:t>
            </a:r>
            <a:r>
              <a:rPr lang="en-US" sz="2800" spc="-5" dirty="0" err="1">
                <a:solidFill>
                  <a:srgbClr val="00B050"/>
                </a:solidFill>
                <a:latin typeface="Times New Roman" panose="02020603050405020304" pitchFamily="18" charset="0"/>
                <a:cs typeface="Times New Roman" panose="02020603050405020304" pitchFamily="18" charset="0"/>
              </a:rPr>
              <a:t>với</a:t>
            </a:r>
            <a:r>
              <a:rPr lang="en-US" sz="2800" spc="-5" dirty="0">
                <a:solidFill>
                  <a:srgbClr val="00B050"/>
                </a:solidFill>
                <a:latin typeface="Times New Roman" panose="02020603050405020304" pitchFamily="18" charset="0"/>
                <a:cs typeface="Times New Roman" panose="02020603050405020304" pitchFamily="18" charset="0"/>
              </a:rPr>
              <a:t> </a:t>
            </a:r>
            <a:r>
              <a:rPr lang="en-US" sz="2800" dirty="0" err="1">
                <a:solidFill>
                  <a:srgbClr val="00B050"/>
                </a:solidFill>
                <a:latin typeface="Times New Roman" panose="02020603050405020304" pitchFamily="18" charset="0"/>
                <a:cs typeface="Times New Roman" panose="02020603050405020304" pitchFamily="18" charset="0"/>
              </a:rPr>
              <a:t>thực</a:t>
            </a:r>
            <a:r>
              <a:rPr lang="en-US" sz="2800" dirty="0">
                <a:solidFill>
                  <a:srgbClr val="00B050"/>
                </a:solidFill>
                <a:latin typeface="Times New Roman" panose="02020603050405020304" pitchFamily="18" charset="0"/>
                <a:cs typeface="Times New Roman" panose="02020603050405020304" pitchFamily="18" charset="0"/>
              </a:rPr>
              <a:t> </a:t>
            </a:r>
            <a:r>
              <a:rPr lang="en-US" sz="2800" dirty="0" err="1">
                <a:solidFill>
                  <a:srgbClr val="00B050"/>
                </a:solidFill>
                <a:latin typeface="Times New Roman" panose="02020603050405020304" pitchFamily="18" charset="0"/>
                <a:cs typeface="Times New Roman" panose="02020603050405020304" pitchFamily="18" charset="0"/>
              </a:rPr>
              <a:t>thể</a:t>
            </a:r>
            <a:r>
              <a:rPr lang="en-US" sz="2800" dirty="0">
                <a:solidFill>
                  <a:srgbClr val="00B050"/>
                </a:solidFill>
                <a:latin typeface="Times New Roman" panose="02020603050405020304" pitchFamily="18" charset="0"/>
                <a:cs typeface="Times New Roman" panose="02020603050405020304" pitchFamily="18" charset="0"/>
              </a:rPr>
              <a:t> </a:t>
            </a:r>
            <a:r>
              <a:rPr lang="en-US" sz="2800" dirty="0" err="1">
                <a:solidFill>
                  <a:srgbClr val="00B050"/>
                </a:solidFill>
                <a:latin typeface="Times New Roman" panose="02020603050405020304" pitchFamily="18" charset="0"/>
                <a:cs typeface="Times New Roman" panose="02020603050405020304" pitchFamily="18" charset="0"/>
              </a:rPr>
              <a:t>thông</a:t>
            </a:r>
            <a:r>
              <a:rPr lang="en-US" sz="2800" spc="-60" dirty="0">
                <a:solidFill>
                  <a:srgbClr val="00B050"/>
                </a:solidFill>
                <a:latin typeface="Times New Roman" panose="02020603050405020304" pitchFamily="18" charset="0"/>
                <a:cs typeface="Times New Roman" panose="02020603050405020304" pitchFamily="18" charset="0"/>
              </a:rPr>
              <a:t> </a:t>
            </a:r>
            <a:r>
              <a:rPr lang="en-US" sz="2800" dirty="0">
                <a:solidFill>
                  <a:srgbClr val="00B050"/>
                </a:solidFill>
                <a:latin typeface="Times New Roman" panose="02020603050405020304" pitchFamily="18" charset="0"/>
                <a:cs typeface="Times New Roman" panose="02020603050405020304" pitchFamily="18" charset="0"/>
              </a:rPr>
              <a:t>tin:</a:t>
            </a:r>
          </a:p>
          <a:p>
            <a:pPr marL="1041400" lvl="2" indent="-342900" algn="just">
              <a:lnSpc>
                <a:spcPct val="120000"/>
              </a:lnSpc>
              <a:spcBef>
                <a:spcPts val="505"/>
              </a:spcBef>
              <a:buSzPct val="100000"/>
              <a:buFont typeface="Wingdings" panose="05000000000000000000" pitchFamily="2" charset="2"/>
              <a:buChar char="ü"/>
              <a:tabLst>
                <a:tab pos="927735" algn="l"/>
              </a:tabLst>
            </a:pPr>
            <a:r>
              <a:rPr sz="2800" dirty="0" err="1">
                <a:latin typeface="Times New Roman" panose="02020603050405020304" pitchFamily="18" charset="0"/>
                <a:cs typeface="Times New Roman" panose="02020603050405020304" pitchFamily="18" charset="0"/>
              </a:rPr>
              <a:t>Nếu</a:t>
            </a:r>
            <a:r>
              <a:rPr sz="2800" dirty="0">
                <a:latin typeface="Times New Roman" panose="02020603050405020304" pitchFamily="18" charset="0"/>
                <a:cs typeface="Times New Roman" panose="02020603050405020304" pitchFamily="18" charset="0"/>
              </a:rPr>
              <a:t> thực thể mô tả thông tin về một </a:t>
            </a:r>
            <a:r>
              <a:rPr sz="2800" spc="-5" dirty="0">
                <a:latin typeface="Times New Roman" panose="02020603050405020304" pitchFamily="18" charset="0"/>
                <a:cs typeface="Times New Roman" panose="02020603050405020304" pitchFamily="18" charset="0"/>
              </a:rPr>
              <a:t>hoạt động giao </a:t>
            </a:r>
            <a:r>
              <a:rPr sz="2800" spc="-5" dirty="0" err="1">
                <a:latin typeface="Times New Roman" panose="02020603050405020304" pitchFamily="18" charset="0"/>
                <a:cs typeface="Times New Roman" panose="02020603050405020304" pitchFamily="18" charset="0"/>
              </a:rPr>
              <a:t>dịch</a:t>
            </a:r>
            <a:r>
              <a:rPr sz="2800" spc="-210" dirty="0">
                <a:latin typeface="Times New Roman" panose="02020603050405020304" pitchFamily="18" charset="0"/>
                <a:cs typeface="Times New Roman" panose="02020603050405020304" pitchFamily="18" charset="0"/>
              </a:rPr>
              <a:t> </a:t>
            </a:r>
            <a:r>
              <a:rPr sz="2800" spc="-5"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thống</a:t>
            </a:r>
            <a:r>
              <a:rPr sz="2800" dirty="0">
                <a:latin typeface="Times New Roman" panose="02020603050405020304" pitchFamily="18" charset="0"/>
                <a:cs typeface="Times New Roman" panose="02020603050405020304" pitchFamily="18" charset="0"/>
              </a:rPr>
              <a:t> thì chuyển thành một </a:t>
            </a:r>
            <a:r>
              <a:rPr sz="2800" spc="-5" dirty="0">
                <a:latin typeface="Times New Roman" panose="02020603050405020304" pitchFamily="18" charset="0"/>
                <a:cs typeface="Times New Roman" panose="02020603050405020304" pitchFamily="18" charset="0"/>
              </a:rPr>
              <a:t>lớp </a:t>
            </a:r>
            <a:r>
              <a:rPr sz="2800" dirty="0">
                <a:latin typeface="Times New Roman" panose="02020603050405020304" pitchFamily="18" charset="0"/>
                <a:cs typeface="Times New Roman" panose="02020603050405020304" pitchFamily="18" charset="0"/>
              </a:rPr>
              <a:t>trong mô </a:t>
            </a:r>
            <a:r>
              <a:rPr sz="2800" spc="-5" dirty="0">
                <a:latin typeface="Times New Roman" panose="02020603050405020304" pitchFamily="18" charset="0"/>
                <a:cs typeface="Times New Roman" panose="02020603050405020304" pitchFamily="18" charset="0"/>
              </a:rPr>
              <a:t>hình </a:t>
            </a:r>
            <a:r>
              <a:rPr sz="2800" spc="-5" err="1">
                <a:latin typeface="Times New Roman" panose="02020603050405020304" pitchFamily="18" charset="0"/>
                <a:cs typeface="Times New Roman" panose="02020603050405020304" pitchFamily="18" charset="0"/>
              </a:rPr>
              <a:t>phân</a:t>
            </a:r>
            <a:r>
              <a:rPr sz="2800" spc="-210">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tích</a:t>
            </a:r>
            <a:r>
              <a:rPr lang="en-US" sz="2800" spc="-5">
                <a:latin typeface="Times New Roman" panose="02020603050405020304" pitchFamily="18" charset="0"/>
                <a:cs typeface="Times New Roman" panose="02020603050405020304" pitchFamily="18" charset="0"/>
              </a:rPr>
              <a:t> (1)</a:t>
            </a:r>
            <a:endParaRPr sz="2800" dirty="0">
              <a:latin typeface="Times New Roman" panose="02020603050405020304" pitchFamily="18" charset="0"/>
              <a:cs typeface="Times New Roman" panose="02020603050405020304" pitchFamily="18" charset="0"/>
            </a:endParaRPr>
          </a:p>
          <a:p>
            <a:pPr marL="1041400" marR="5080" lvl="2" indent="-342900" algn="just">
              <a:lnSpc>
                <a:spcPct val="120000"/>
              </a:lnSpc>
              <a:spcBef>
                <a:spcPts val="495"/>
              </a:spcBef>
              <a:buSzPct val="100000"/>
              <a:buFont typeface="Wingdings" panose="05000000000000000000" pitchFamily="2" charset="2"/>
              <a:buChar char="ü"/>
              <a:tabLst>
                <a:tab pos="927735" algn="l"/>
              </a:tabLst>
            </a:pPr>
            <a:r>
              <a:rPr sz="2800" dirty="0">
                <a:latin typeface="Times New Roman" panose="02020603050405020304" pitchFamily="18" charset="0"/>
                <a:cs typeface="Times New Roman" panose="02020603050405020304" pitchFamily="18" charset="0"/>
              </a:rPr>
              <a:t>Nếu thực thể </a:t>
            </a:r>
            <a:r>
              <a:rPr sz="2800" spc="-5" dirty="0">
                <a:latin typeface="Times New Roman" panose="02020603050405020304" pitchFamily="18" charset="0"/>
                <a:cs typeface="Times New Roman" panose="02020603050405020304" pitchFamily="18" charset="0"/>
              </a:rPr>
              <a:t>là </a:t>
            </a:r>
            <a:r>
              <a:rPr sz="2800" dirty="0">
                <a:latin typeface="Times New Roman" panose="02020603050405020304" pitchFamily="18" charset="0"/>
                <a:cs typeface="Times New Roman" panose="02020603050405020304" pitchFamily="18" charset="0"/>
              </a:rPr>
              <a:t>một </a:t>
            </a:r>
            <a:r>
              <a:rPr sz="2800" spc="-5" dirty="0">
                <a:latin typeface="Times New Roman" panose="02020603050405020304" pitchFamily="18" charset="0"/>
                <a:cs typeface="Times New Roman" panose="02020603050405020304" pitchFamily="18" charset="0"/>
              </a:rPr>
              <a:t>dạng </a:t>
            </a:r>
            <a:r>
              <a:rPr sz="2800" dirty="0">
                <a:latin typeface="Times New Roman" panose="02020603050405020304" pitchFamily="18" charset="0"/>
                <a:cs typeface="Times New Roman" panose="02020603050405020304" pitchFamily="18" charset="0"/>
              </a:rPr>
              <a:t>thông tin tổng </a:t>
            </a:r>
            <a:r>
              <a:rPr sz="2800">
                <a:latin typeface="Times New Roman" panose="02020603050405020304" pitchFamily="18" charset="0"/>
                <a:cs typeface="Times New Roman" panose="02020603050405020304" pitchFamily="18" charset="0"/>
              </a:rPr>
              <a:t>hợp </a:t>
            </a:r>
            <a:r>
              <a:rPr lang="en-US" sz="2800">
                <a:latin typeface="Times New Roman" panose="02020603050405020304" pitchFamily="18" charset="0"/>
                <a:cs typeface="Times New Roman" panose="02020603050405020304" pitchFamily="18" charset="0"/>
                <a:sym typeface="Wingdings" panose="05000000000000000000" pitchFamily="2" charset="2"/>
              </a:rPr>
              <a:t></a:t>
            </a:r>
            <a:r>
              <a:rPr sz="280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có </a:t>
            </a:r>
            <a:r>
              <a:rPr sz="2800" dirty="0" err="1">
                <a:latin typeface="Times New Roman" panose="02020603050405020304" pitchFamily="18" charset="0"/>
                <a:cs typeface="Times New Roman" panose="02020603050405020304" pitchFamily="18" charset="0"/>
              </a:rPr>
              <a:t>thể</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tách</a:t>
            </a:r>
            <a:r>
              <a:rPr lang="en-US"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thành</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nhiều lớp </a:t>
            </a:r>
            <a:r>
              <a:rPr sz="2800" dirty="0">
                <a:latin typeface="Times New Roman" panose="02020603050405020304" pitchFamily="18" charset="0"/>
                <a:cs typeface="Times New Roman" panose="02020603050405020304" pitchFamily="18" charset="0"/>
              </a:rPr>
              <a:t>mới </a:t>
            </a:r>
            <a:r>
              <a:rPr sz="2800" spc="-5" dirty="0">
                <a:latin typeface="Times New Roman" panose="02020603050405020304" pitchFamily="18" charset="0"/>
                <a:cs typeface="Times New Roman" panose="02020603050405020304" pitchFamily="18" charset="0"/>
              </a:rPr>
              <a:t>hoặc bổ </a:t>
            </a:r>
            <a:r>
              <a:rPr sz="2800" dirty="0">
                <a:latin typeface="Times New Roman" panose="02020603050405020304" pitchFamily="18" charset="0"/>
                <a:cs typeface="Times New Roman" panose="02020603050405020304" pitchFamily="18" charset="0"/>
              </a:rPr>
              <a:t>sung thông tin cho các </a:t>
            </a:r>
            <a:r>
              <a:rPr sz="2800" spc="-5" dirty="0" err="1">
                <a:latin typeface="Times New Roman" panose="02020603050405020304" pitchFamily="18" charset="0"/>
                <a:cs typeface="Times New Roman" panose="02020603050405020304" pitchFamily="18" charset="0"/>
              </a:rPr>
              <a:t>lớp</a:t>
            </a:r>
            <a:r>
              <a:rPr sz="2800" spc="-140" dirty="0">
                <a:latin typeface="Times New Roman" panose="02020603050405020304" pitchFamily="18" charset="0"/>
                <a:cs typeface="Times New Roman" panose="02020603050405020304" pitchFamily="18" charset="0"/>
              </a:rPr>
              <a:t> </a:t>
            </a:r>
            <a:r>
              <a:rPr sz="2800" spc="-5" dirty="0" err="1">
                <a:latin typeface="Times New Roman" panose="02020603050405020304" pitchFamily="18" charset="0"/>
                <a:cs typeface="Times New Roman" panose="02020603050405020304" pitchFamily="18" charset="0"/>
              </a:rPr>
              <a:t>đang</a:t>
            </a:r>
            <a:r>
              <a:rPr lang="en-US" sz="2800" spc="-5" dirty="0">
                <a:latin typeface="Times New Roman" panose="02020603050405020304" pitchFamily="18" charset="0"/>
                <a:cs typeface="Times New Roman" panose="02020603050405020304" pitchFamily="18" charset="0"/>
              </a:rPr>
              <a:t> </a:t>
            </a:r>
            <a:r>
              <a:rPr sz="2800" err="1">
                <a:latin typeface="Times New Roman" panose="02020603050405020304" pitchFamily="18" charset="0"/>
                <a:cs typeface="Times New Roman" panose="02020603050405020304" pitchFamily="18" charset="0"/>
              </a:rPr>
              <a:t>tồn</a:t>
            </a:r>
            <a:r>
              <a:rPr sz="2800" spc="-25">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tại</a:t>
            </a:r>
            <a:r>
              <a:rPr lang="en-US" sz="2800">
                <a:latin typeface="Times New Roman" panose="02020603050405020304" pitchFamily="18" charset="0"/>
                <a:cs typeface="Times New Roman" panose="02020603050405020304" pitchFamily="18" charset="0"/>
              </a:rPr>
              <a:t> (2)</a:t>
            </a:r>
            <a:endParaRPr sz="2800" dirty="0">
              <a:latin typeface="Times New Roman" panose="02020603050405020304" pitchFamily="18" charset="0"/>
              <a:cs typeface="Times New Roman" panose="02020603050405020304" pitchFamily="18" charset="0"/>
            </a:endParaRPr>
          </a:p>
          <a:p>
            <a:pPr marL="378460" lvl="1" algn="just">
              <a:lnSpc>
                <a:spcPct val="150000"/>
              </a:lnSpc>
              <a:spcBef>
                <a:spcPts val="600"/>
              </a:spcBef>
              <a:buClr>
                <a:srgbClr val="93B6D2"/>
              </a:buClr>
              <a:buSzPct val="70000"/>
              <a:tabLst>
                <a:tab pos="653415" algn="l"/>
              </a:tabLst>
            </a:pPr>
            <a:r>
              <a:rPr sz="2800" err="1">
                <a:solidFill>
                  <a:srgbClr val="FF0000"/>
                </a:solidFill>
                <a:latin typeface="Times New Roman" panose="02020603050405020304" pitchFamily="18" charset="0"/>
                <a:cs typeface="Times New Roman" panose="02020603050405020304" pitchFamily="18" charset="0"/>
              </a:rPr>
              <a:t>Ví</a:t>
            </a:r>
            <a:r>
              <a:rPr sz="2800" spc="-15">
                <a:solidFill>
                  <a:srgbClr val="FF0000"/>
                </a:solidFill>
                <a:latin typeface="Times New Roman" panose="02020603050405020304" pitchFamily="18" charset="0"/>
                <a:cs typeface="Times New Roman" panose="02020603050405020304" pitchFamily="18" charset="0"/>
              </a:rPr>
              <a:t> </a:t>
            </a:r>
            <a:r>
              <a:rPr sz="2800" spc="-5">
                <a:solidFill>
                  <a:srgbClr val="FF0000"/>
                </a:solidFill>
                <a:latin typeface="Times New Roman" panose="02020603050405020304" pitchFamily="18" charset="0"/>
                <a:cs typeface="Times New Roman" panose="02020603050405020304" pitchFamily="18" charset="0"/>
              </a:rPr>
              <a:t>dụ</a:t>
            </a:r>
            <a:r>
              <a:rPr lang="en-US" sz="2800" spc="-5">
                <a:solidFill>
                  <a:srgbClr val="FF0000"/>
                </a:solidFill>
                <a:latin typeface="Times New Roman" panose="02020603050405020304" pitchFamily="18" charset="0"/>
                <a:cs typeface="Times New Roman" panose="02020603050405020304" pitchFamily="18" charset="0"/>
              </a:rPr>
              <a:t>:</a:t>
            </a:r>
            <a:endParaRPr sz="3000" dirty="0">
              <a:latin typeface="Times New Roman" panose="02020603050405020304" pitchFamily="18" charset="0"/>
              <a:cs typeface="Times New Roman" panose="02020603050405020304" pitchFamily="18" charset="0"/>
            </a:endParaRPr>
          </a:p>
        </p:txBody>
      </p:sp>
      <p:sp>
        <p:nvSpPr>
          <p:cNvPr id="6" name="object 6"/>
          <p:cNvSpPr/>
          <p:nvPr/>
        </p:nvSpPr>
        <p:spPr>
          <a:xfrm>
            <a:off x="5018435" y="4567606"/>
            <a:ext cx="304800" cy="457200"/>
          </a:xfrm>
          <a:custGeom>
            <a:avLst/>
            <a:gdLst/>
            <a:ahLst/>
            <a:cxnLst/>
            <a:rect l="l" t="t" r="r" b="b"/>
            <a:pathLst>
              <a:path w="304800" h="457200">
                <a:moveTo>
                  <a:pt x="304800" y="0"/>
                </a:moveTo>
                <a:lnTo>
                  <a:pt x="0" y="457200"/>
                </a:lnTo>
              </a:path>
            </a:pathLst>
          </a:custGeom>
          <a:ln w="9144">
            <a:solidFill>
              <a:srgbClr val="000000"/>
            </a:solidFill>
          </a:ln>
        </p:spPr>
        <p:txBody>
          <a:bodyPr wrap="square" lIns="0" tIns="0" rIns="0" bIns="0" rtlCol="0"/>
          <a:lstStyle/>
          <a:p>
            <a:endParaRPr/>
          </a:p>
        </p:txBody>
      </p:sp>
      <p:sp>
        <p:nvSpPr>
          <p:cNvPr id="7" name="object 7"/>
          <p:cNvSpPr/>
          <p:nvPr/>
        </p:nvSpPr>
        <p:spPr>
          <a:xfrm>
            <a:off x="6192012" y="5074894"/>
            <a:ext cx="544829" cy="329958"/>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6172200" y="5062715"/>
            <a:ext cx="533400" cy="304800"/>
          </a:xfrm>
          <a:custGeom>
            <a:avLst/>
            <a:gdLst/>
            <a:ahLst/>
            <a:cxnLst/>
            <a:rect l="l" t="t" r="r" b="b"/>
            <a:pathLst>
              <a:path w="533400" h="304800">
                <a:moveTo>
                  <a:pt x="400050" y="0"/>
                </a:moveTo>
                <a:lnTo>
                  <a:pt x="400050" y="76200"/>
                </a:lnTo>
                <a:lnTo>
                  <a:pt x="0" y="76200"/>
                </a:lnTo>
                <a:lnTo>
                  <a:pt x="0" y="228600"/>
                </a:lnTo>
                <a:lnTo>
                  <a:pt x="400050" y="228600"/>
                </a:lnTo>
                <a:lnTo>
                  <a:pt x="400050" y="304800"/>
                </a:lnTo>
                <a:lnTo>
                  <a:pt x="533400" y="152400"/>
                </a:lnTo>
                <a:lnTo>
                  <a:pt x="400050" y="0"/>
                </a:lnTo>
                <a:close/>
              </a:path>
            </a:pathLst>
          </a:custGeom>
          <a:solidFill>
            <a:srgbClr val="93B6D2"/>
          </a:solidFill>
        </p:spPr>
        <p:txBody>
          <a:bodyPr wrap="square" lIns="0" tIns="0" rIns="0" bIns="0" rtlCol="0"/>
          <a:lstStyle/>
          <a:p>
            <a:endParaRPr/>
          </a:p>
        </p:txBody>
      </p:sp>
      <p:sp>
        <p:nvSpPr>
          <p:cNvPr id="9" name="object 9"/>
          <p:cNvSpPr/>
          <p:nvPr/>
        </p:nvSpPr>
        <p:spPr>
          <a:xfrm>
            <a:off x="6172200" y="5062715"/>
            <a:ext cx="533400" cy="304800"/>
          </a:xfrm>
          <a:custGeom>
            <a:avLst/>
            <a:gdLst/>
            <a:ahLst/>
            <a:cxnLst/>
            <a:rect l="l" t="t" r="r" b="b"/>
            <a:pathLst>
              <a:path w="533400" h="304800">
                <a:moveTo>
                  <a:pt x="0" y="76200"/>
                </a:moveTo>
                <a:lnTo>
                  <a:pt x="400050" y="76200"/>
                </a:lnTo>
                <a:lnTo>
                  <a:pt x="400050" y="0"/>
                </a:lnTo>
                <a:lnTo>
                  <a:pt x="533400" y="152400"/>
                </a:lnTo>
                <a:lnTo>
                  <a:pt x="400050" y="304800"/>
                </a:lnTo>
                <a:lnTo>
                  <a:pt x="400050" y="228600"/>
                </a:lnTo>
                <a:lnTo>
                  <a:pt x="0" y="228600"/>
                </a:lnTo>
                <a:lnTo>
                  <a:pt x="0" y="76200"/>
                </a:lnTo>
                <a:close/>
              </a:path>
            </a:pathLst>
          </a:custGeom>
          <a:ln w="9144">
            <a:solidFill>
              <a:srgbClr val="33CCFF"/>
            </a:solidFill>
          </a:ln>
        </p:spPr>
        <p:txBody>
          <a:bodyPr wrap="square" lIns="0" tIns="0" rIns="0" bIns="0" rtlCol="0"/>
          <a:lstStyle/>
          <a:p>
            <a:endParaRPr/>
          </a:p>
        </p:txBody>
      </p:sp>
      <p:graphicFrame>
        <p:nvGraphicFramePr>
          <p:cNvPr id="10" name="object 10"/>
          <p:cNvGraphicFramePr>
            <a:graphicFrameLocks noGrp="1"/>
          </p:cNvGraphicFramePr>
          <p:nvPr>
            <p:extLst>
              <p:ext uri="{D42A27DB-BD31-4B8C-83A1-F6EECF244321}">
                <p14:modId xmlns:p14="http://schemas.microsoft.com/office/powerpoint/2010/main" val="3908515548"/>
              </p:ext>
            </p:extLst>
          </p:nvPr>
        </p:nvGraphicFramePr>
        <p:xfrm>
          <a:off x="7386828" y="4402822"/>
          <a:ext cx="1676400" cy="76200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tblGrid>
              <a:tr h="381000">
                <a:tc>
                  <a:txBody>
                    <a:bodyPr/>
                    <a:lstStyle/>
                    <a:p>
                      <a:pPr marL="498475">
                        <a:lnSpc>
                          <a:spcPct val="100000"/>
                        </a:lnSpc>
                        <a:spcBef>
                          <a:spcPts val="300"/>
                        </a:spcBef>
                      </a:pPr>
                      <a:r>
                        <a:rPr sz="1800" spc="-5" dirty="0">
                          <a:latin typeface="Times New Roman" panose="02020603050405020304" pitchFamily="18" charset="0"/>
                          <a:cs typeface="Times New Roman" panose="02020603050405020304" pitchFamily="18" charset="0"/>
                        </a:rPr>
                        <a:t>Hoá</a:t>
                      </a:r>
                      <a:r>
                        <a:rPr sz="1800" spc="-20"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đơn</a:t>
                      </a:r>
                      <a:endParaRPr sz="1800" dirty="0">
                        <a:latin typeface="Times New Roman" panose="02020603050405020304" pitchFamily="18" charset="0"/>
                        <a:cs typeface="Times New Roman" panose="02020603050405020304" pitchFamily="18" charset="0"/>
                      </a:endParaRPr>
                    </a:p>
                  </a:txBody>
                  <a:tcPr marL="0" marR="0" marT="381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1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11" name="object 11"/>
          <p:cNvSpPr/>
          <p:nvPr/>
        </p:nvSpPr>
        <p:spPr>
          <a:xfrm>
            <a:off x="4408835" y="5419523"/>
            <a:ext cx="838200" cy="762000"/>
          </a:xfrm>
          <a:custGeom>
            <a:avLst/>
            <a:gdLst/>
            <a:ahLst/>
            <a:cxnLst/>
            <a:rect l="l" t="t" r="r" b="b"/>
            <a:pathLst>
              <a:path w="838200" h="762000">
                <a:moveTo>
                  <a:pt x="0" y="380999"/>
                </a:moveTo>
                <a:lnTo>
                  <a:pt x="2818" y="336563"/>
                </a:lnTo>
                <a:lnTo>
                  <a:pt x="11065" y="293634"/>
                </a:lnTo>
                <a:lnTo>
                  <a:pt x="24426" y="252497"/>
                </a:lnTo>
                <a:lnTo>
                  <a:pt x="42587" y="213437"/>
                </a:lnTo>
                <a:lnTo>
                  <a:pt x="65234" y="176742"/>
                </a:lnTo>
                <a:lnTo>
                  <a:pt x="92053" y="142696"/>
                </a:lnTo>
                <a:lnTo>
                  <a:pt x="122729" y="111585"/>
                </a:lnTo>
                <a:lnTo>
                  <a:pt x="156949" y="83695"/>
                </a:lnTo>
                <a:lnTo>
                  <a:pt x="194399" y="59312"/>
                </a:lnTo>
                <a:lnTo>
                  <a:pt x="234764" y="38722"/>
                </a:lnTo>
                <a:lnTo>
                  <a:pt x="277731" y="22209"/>
                </a:lnTo>
                <a:lnTo>
                  <a:pt x="322985" y="10061"/>
                </a:lnTo>
                <a:lnTo>
                  <a:pt x="370213" y="2563"/>
                </a:lnTo>
                <a:lnTo>
                  <a:pt x="419100" y="0"/>
                </a:lnTo>
                <a:lnTo>
                  <a:pt x="467986" y="2563"/>
                </a:lnTo>
                <a:lnTo>
                  <a:pt x="515214" y="10061"/>
                </a:lnTo>
                <a:lnTo>
                  <a:pt x="560468" y="22209"/>
                </a:lnTo>
                <a:lnTo>
                  <a:pt x="603435" y="38722"/>
                </a:lnTo>
                <a:lnTo>
                  <a:pt x="643800" y="59312"/>
                </a:lnTo>
                <a:lnTo>
                  <a:pt x="681250" y="83695"/>
                </a:lnTo>
                <a:lnTo>
                  <a:pt x="715470" y="111585"/>
                </a:lnTo>
                <a:lnTo>
                  <a:pt x="746146" y="142696"/>
                </a:lnTo>
                <a:lnTo>
                  <a:pt x="772965" y="176742"/>
                </a:lnTo>
                <a:lnTo>
                  <a:pt x="795612" y="213437"/>
                </a:lnTo>
                <a:lnTo>
                  <a:pt x="813773" y="252497"/>
                </a:lnTo>
                <a:lnTo>
                  <a:pt x="827134" y="293634"/>
                </a:lnTo>
                <a:lnTo>
                  <a:pt x="835381" y="336563"/>
                </a:lnTo>
                <a:lnTo>
                  <a:pt x="838200" y="380999"/>
                </a:lnTo>
                <a:lnTo>
                  <a:pt x="835381" y="425433"/>
                </a:lnTo>
                <a:lnTo>
                  <a:pt x="827134" y="468361"/>
                </a:lnTo>
                <a:lnTo>
                  <a:pt x="813773" y="509497"/>
                </a:lnTo>
                <a:lnTo>
                  <a:pt x="795612" y="548556"/>
                </a:lnTo>
                <a:lnTo>
                  <a:pt x="772965" y="585252"/>
                </a:lnTo>
                <a:lnTo>
                  <a:pt x="746146" y="619298"/>
                </a:lnTo>
                <a:lnTo>
                  <a:pt x="715470" y="650409"/>
                </a:lnTo>
                <a:lnTo>
                  <a:pt x="681250" y="678300"/>
                </a:lnTo>
                <a:lnTo>
                  <a:pt x="643800" y="702684"/>
                </a:lnTo>
                <a:lnTo>
                  <a:pt x="603435" y="723275"/>
                </a:lnTo>
                <a:lnTo>
                  <a:pt x="560468" y="739788"/>
                </a:lnTo>
                <a:lnTo>
                  <a:pt x="515214" y="751937"/>
                </a:lnTo>
                <a:lnTo>
                  <a:pt x="467986" y="759436"/>
                </a:lnTo>
                <a:lnTo>
                  <a:pt x="419100" y="761999"/>
                </a:lnTo>
                <a:lnTo>
                  <a:pt x="370213" y="759436"/>
                </a:lnTo>
                <a:lnTo>
                  <a:pt x="322985" y="751937"/>
                </a:lnTo>
                <a:lnTo>
                  <a:pt x="277731" y="739788"/>
                </a:lnTo>
                <a:lnTo>
                  <a:pt x="234764" y="723275"/>
                </a:lnTo>
                <a:lnTo>
                  <a:pt x="194399" y="702684"/>
                </a:lnTo>
                <a:lnTo>
                  <a:pt x="156949" y="678300"/>
                </a:lnTo>
                <a:lnTo>
                  <a:pt x="122729" y="650409"/>
                </a:lnTo>
                <a:lnTo>
                  <a:pt x="92053" y="619298"/>
                </a:lnTo>
                <a:lnTo>
                  <a:pt x="65234" y="585252"/>
                </a:lnTo>
                <a:lnTo>
                  <a:pt x="42587" y="548556"/>
                </a:lnTo>
                <a:lnTo>
                  <a:pt x="24426" y="509497"/>
                </a:lnTo>
                <a:lnTo>
                  <a:pt x="11065" y="468361"/>
                </a:lnTo>
                <a:lnTo>
                  <a:pt x="2818" y="425433"/>
                </a:lnTo>
                <a:lnTo>
                  <a:pt x="0" y="380999"/>
                </a:lnTo>
                <a:close/>
              </a:path>
            </a:pathLst>
          </a:custGeom>
          <a:ln w="9144">
            <a:solidFill>
              <a:srgbClr val="000000"/>
            </a:solidFill>
          </a:ln>
        </p:spPr>
        <p:txBody>
          <a:bodyPr wrap="square" lIns="0" tIns="0" rIns="0" bIns="0" rtlCol="0"/>
          <a:lstStyle/>
          <a:p>
            <a:endParaRPr/>
          </a:p>
        </p:txBody>
      </p:sp>
      <p:sp>
        <p:nvSpPr>
          <p:cNvPr id="12" name="object 12"/>
          <p:cNvSpPr/>
          <p:nvPr/>
        </p:nvSpPr>
        <p:spPr>
          <a:xfrm>
            <a:off x="4408835" y="6181523"/>
            <a:ext cx="838200" cy="0"/>
          </a:xfrm>
          <a:custGeom>
            <a:avLst/>
            <a:gdLst/>
            <a:ahLst/>
            <a:cxnLst/>
            <a:rect l="l" t="t" r="r" b="b"/>
            <a:pathLst>
              <a:path w="838200">
                <a:moveTo>
                  <a:pt x="0" y="0"/>
                </a:moveTo>
                <a:lnTo>
                  <a:pt x="838200" y="0"/>
                </a:lnTo>
              </a:path>
            </a:pathLst>
          </a:custGeom>
          <a:ln w="9144">
            <a:solidFill>
              <a:srgbClr val="000000"/>
            </a:solidFill>
          </a:ln>
        </p:spPr>
        <p:txBody>
          <a:bodyPr wrap="square" lIns="0" tIns="0" rIns="0" bIns="0" rtlCol="0"/>
          <a:lstStyle/>
          <a:p>
            <a:endParaRPr/>
          </a:p>
        </p:txBody>
      </p:sp>
      <p:sp>
        <p:nvSpPr>
          <p:cNvPr id="14" name="object 14"/>
          <p:cNvSpPr/>
          <p:nvPr/>
        </p:nvSpPr>
        <p:spPr>
          <a:xfrm>
            <a:off x="4942235" y="5724323"/>
            <a:ext cx="304800" cy="457200"/>
          </a:xfrm>
          <a:custGeom>
            <a:avLst/>
            <a:gdLst/>
            <a:ahLst/>
            <a:cxnLst/>
            <a:rect l="l" t="t" r="r" b="b"/>
            <a:pathLst>
              <a:path w="304800" h="457200">
                <a:moveTo>
                  <a:pt x="304800" y="0"/>
                </a:moveTo>
                <a:lnTo>
                  <a:pt x="0" y="457199"/>
                </a:lnTo>
              </a:path>
            </a:pathLst>
          </a:custGeom>
          <a:ln w="9144">
            <a:solidFill>
              <a:srgbClr val="000000"/>
            </a:solidFill>
          </a:ln>
        </p:spPr>
        <p:txBody>
          <a:bodyPr wrap="square" lIns="0" tIns="0" rIns="0" bIns="0" rtlCol="0"/>
          <a:lstStyle/>
          <a:p>
            <a:endParaRPr/>
          </a:p>
        </p:txBody>
      </p:sp>
      <p:graphicFrame>
        <p:nvGraphicFramePr>
          <p:cNvPr id="15" name="object 15"/>
          <p:cNvGraphicFramePr>
            <a:graphicFrameLocks noGrp="1"/>
          </p:cNvGraphicFramePr>
          <p:nvPr>
            <p:extLst>
              <p:ext uri="{D42A27DB-BD31-4B8C-83A1-F6EECF244321}">
                <p14:modId xmlns:p14="http://schemas.microsoft.com/office/powerpoint/2010/main" val="4199599696"/>
              </p:ext>
            </p:extLst>
          </p:nvPr>
        </p:nvGraphicFramePr>
        <p:xfrm>
          <a:off x="7369622" y="5547347"/>
          <a:ext cx="1676400" cy="76200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tblGrid>
              <a:tr h="381000">
                <a:tc>
                  <a:txBody>
                    <a:bodyPr/>
                    <a:lstStyle/>
                    <a:p>
                      <a:pPr marL="346075">
                        <a:lnSpc>
                          <a:spcPct val="100000"/>
                        </a:lnSpc>
                        <a:spcBef>
                          <a:spcPts val="300"/>
                        </a:spcBef>
                      </a:pPr>
                      <a:r>
                        <a:rPr sz="1800" spc="-5" dirty="0">
                          <a:latin typeface="Times New Roman" panose="02020603050405020304" pitchFamily="18" charset="0"/>
                          <a:cs typeface="Times New Roman" panose="02020603050405020304" pitchFamily="18" charset="0"/>
                        </a:rPr>
                        <a:t>Thẻ </a:t>
                      </a:r>
                      <a:r>
                        <a:rPr sz="1800" dirty="0">
                          <a:latin typeface="Times New Roman" panose="02020603050405020304" pitchFamily="18" charset="0"/>
                          <a:cs typeface="Times New Roman" panose="02020603050405020304" pitchFamily="18" charset="0"/>
                        </a:rPr>
                        <a:t>thư</a:t>
                      </a:r>
                      <a:r>
                        <a:rPr sz="1800" spc="-4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viện</a:t>
                      </a:r>
                      <a:endParaRPr sz="1800" dirty="0">
                        <a:latin typeface="Times New Roman" panose="02020603050405020304" pitchFamily="18" charset="0"/>
                        <a:cs typeface="Times New Roman" panose="02020603050405020304" pitchFamily="18" charset="0"/>
                      </a:endParaRPr>
                    </a:p>
                  </a:txBody>
                  <a:tcPr marL="0" marR="0" marT="381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1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2" name="TextBox 1"/>
          <p:cNvSpPr txBox="1"/>
          <p:nvPr/>
        </p:nvSpPr>
        <p:spPr>
          <a:xfrm>
            <a:off x="4359307" y="5067204"/>
            <a:ext cx="1143000" cy="369332"/>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đơn</a:t>
            </a:r>
            <a:endParaRPr lang="en-US"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4192523" y="6198156"/>
            <a:ext cx="1600199" cy="369332"/>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Thẻ</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viện</a:t>
            </a:r>
            <a:endParaRPr lang="en-US" dirty="0">
              <a:latin typeface="Times New Roman" panose="02020603050405020304" pitchFamily="18" charset="0"/>
              <a:cs typeface="Times New Roman" panose="02020603050405020304" pitchFamily="18" charset="0"/>
            </a:endParaRPr>
          </a:p>
        </p:txBody>
      </p:sp>
      <p:sp>
        <p:nvSpPr>
          <p:cNvPr id="20"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18"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13" name="TextBox 12"/>
          <p:cNvSpPr txBox="1"/>
          <p:nvPr/>
        </p:nvSpPr>
        <p:spPr>
          <a:xfrm>
            <a:off x="10033349" y="4996642"/>
            <a:ext cx="634651" cy="523220"/>
          </a:xfrm>
          <a:prstGeom prst="rect">
            <a:avLst/>
          </a:prstGeom>
          <a:noFill/>
        </p:spPr>
        <p:txBody>
          <a:bodyPr wrap="square" rtlCol="0">
            <a:spAutoFit/>
          </a:bodyPr>
          <a:lstStyle/>
          <a:p>
            <a:r>
              <a:rPr lang="en-US" sz="2800" b="1">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2188625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973973" y="1844093"/>
            <a:ext cx="3591305" cy="3922014"/>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954161" y="1824283"/>
            <a:ext cx="3581400" cy="3912235"/>
          </a:xfrm>
          <a:custGeom>
            <a:avLst/>
            <a:gdLst/>
            <a:ahLst/>
            <a:cxnLst/>
            <a:rect l="l" t="t" r="r" b="b"/>
            <a:pathLst>
              <a:path w="3581400" h="3912234">
                <a:moveTo>
                  <a:pt x="3581400" y="0"/>
                </a:moveTo>
                <a:lnTo>
                  <a:pt x="0" y="0"/>
                </a:lnTo>
                <a:lnTo>
                  <a:pt x="0" y="3700437"/>
                </a:lnTo>
                <a:lnTo>
                  <a:pt x="54815" y="3721111"/>
                </a:lnTo>
                <a:lnTo>
                  <a:pt x="108512" y="3740594"/>
                </a:lnTo>
                <a:lnTo>
                  <a:pt x="161114" y="3758908"/>
                </a:lnTo>
                <a:lnTo>
                  <a:pt x="212645" y="3776072"/>
                </a:lnTo>
                <a:lnTo>
                  <a:pt x="263129" y="3792108"/>
                </a:lnTo>
                <a:lnTo>
                  <a:pt x="312588" y="3807035"/>
                </a:lnTo>
                <a:lnTo>
                  <a:pt x="361046" y="3820873"/>
                </a:lnTo>
                <a:lnTo>
                  <a:pt x="408527" y="3833644"/>
                </a:lnTo>
                <a:lnTo>
                  <a:pt x="455055" y="3845368"/>
                </a:lnTo>
                <a:lnTo>
                  <a:pt x="500653" y="3856065"/>
                </a:lnTo>
                <a:lnTo>
                  <a:pt x="545344" y="3865756"/>
                </a:lnTo>
                <a:lnTo>
                  <a:pt x="589153" y="3874461"/>
                </a:lnTo>
                <a:lnTo>
                  <a:pt x="632102" y="3882200"/>
                </a:lnTo>
                <a:lnTo>
                  <a:pt x="674215" y="3888995"/>
                </a:lnTo>
                <a:lnTo>
                  <a:pt x="715516" y="3894865"/>
                </a:lnTo>
                <a:lnTo>
                  <a:pt x="756028" y="3899830"/>
                </a:lnTo>
                <a:lnTo>
                  <a:pt x="795775" y="3903912"/>
                </a:lnTo>
                <a:lnTo>
                  <a:pt x="834780" y="3907131"/>
                </a:lnTo>
                <a:lnTo>
                  <a:pt x="873068" y="3909507"/>
                </a:lnTo>
                <a:lnTo>
                  <a:pt x="947582" y="3911813"/>
                </a:lnTo>
                <a:lnTo>
                  <a:pt x="983856" y="3911783"/>
                </a:lnTo>
                <a:lnTo>
                  <a:pt x="1054556" y="3909461"/>
                </a:lnTo>
                <a:lnTo>
                  <a:pt x="1122949" y="3904258"/>
                </a:lnTo>
                <a:lnTo>
                  <a:pt x="1189223" y="3896338"/>
                </a:lnTo>
                <a:lnTo>
                  <a:pt x="1253566" y="3885865"/>
                </a:lnTo>
                <a:lnTo>
                  <a:pt x="1316167" y="3873001"/>
                </a:lnTo>
                <a:lnTo>
                  <a:pt x="1377214" y="3857911"/>
                </a:lnTo>
                <a:lnTo>
                  <a:pt x="1436895" y="3840758"/>
                </a:lnTo>
                <a:lnTo>
                  <a:pt x="1495399" y="3821706"/>
                </a:lnTo>
                <a:lnTo>
                  <a:pt x="1552914" y="3800918"/>
                </a:lnTo>
                <a:lnTo>
                  <a:pt x="1609629" y="3778557"/>
                </a:lnTo>
                <a:lnTo>
                  <a:pt x="1665731" y="3754788"/>
                </a:lnTo>
                <a:lnTo>
                  <a:pt x="1721410" y="3729773"/>
                </a:lnTo>
                <a:lnTo>
                  <a:pt x="1776853" y="3703677"/>
                </a:lnTo>
                <a:lnTo>
                  <a:pt x="1859989" y="3662862"/>
                </a:lnTo>
                <a:lnTo>
                  <a:pt x="2115117" y="3533539"/>
                </a:lnTo>
                <a:lnTo>
                  <a:pt x="2174186" y="3504449"/>
                </a:lnTo>
                <a:lnTo>
                  <a:pt x="2234526" y="3475585"/>
                </a:lnTo>
                <a:lnTo>
                  <a:pt x="2296327" y="3447112"/>
                </a:lnTo>
                <a:lnTo>
                  <a:pt x="2359775" y="3419192"/>
                </a:lnTo>
                <a:lnTo>
                  <a:pt x="2425060" y="3391989"/>
                </a:lnTo>
                <a:lnTo>
                  <a:pt x="2492370" y="3365667"/>
                </a:lnTo>
                <a:lnTo>
                  <a:pt x="2561893" y="3340388"/>
                </a:lnTo>
                <a:lnTo>
                  <a:pt x="2633817" y="3316318"/>
                </a:lnTo>
                <a:lnTo>
                  <a:pt x="2670739" y="3304787"/>
                </a:lnTo>
                <a:lnTo>
                  <a:pt x="2708331" y="3293619"/>
                </a:lnTo>
                <a:lnTo>
                  <a:pt x="2746619" y="3282834"/>
                </a:lnTo>
                <a:lnTo>
                  <a:pt x="2785624" y="3272454"/>
                </a:lnTo>
                <a:lnTo>
                  <a:pt x="2825371" y="3262498"/>
                </a:lnTo>
                <a:lnTo>
                  <a:pt x="2865883" y="3252988"/>
                </a:lnTo>
                <a:lnTo>
                  <a:pt x="2907184" y="3243942"/>
                </a:lnTo>
                <a:lnTo>
                  <a:pt x="2949297" y="3235383"/>
                </a:lnTo>
                <a:lnTo>
                  <a:pt x="2992246" y="3227330"/>
                </a:lnTo>
                <a:lnTo>
                  <a:pt x="3036055" y="3219804"/>
                </a:lnTo>
                <a:lnTo>
                  <a:pt x="3080746" y="3212825"/>
                </a:lnTo>
                <a:lnTo>
                  <a:pt x="3126344" y="3206413"/>
                </a:lnTo>
                <a:lnTo>
                  <a:pt x="3172872" y="3200590"/>
                </a:lnTo>
                <a:lnTo>
                  <a:pt x="3220353" y="3195375"/>
                </a:lnTo>
                <a:lnTo>
                  <a:pt x="3268811" y="3190790"/>
                </a:lnTo>
                <a:lnTo>
                  <a:pt x="3318270" y="3186853"/>
                </a:lnTo>
                <a:lnTo>
                  <a:pt x="3368754" y="3183587"/>
                </a:lnTo>
                <a:lnTo>
                  <a:pt x="3420285" y="3181011"/>
                </a:lnTo>
                <a:lnTo>
                  <a:pt x="3472887" y="3179145"/>
                </a:lnTo>
                <a:lnTo>
                  <a:pt x="3526584" y="3178011"/>
                </a:lnTo>
                <a:lnTo>
                  <a:pt x="3581400" y="3177628"/>
                </a:lnTo>
                <a:lnTo>
                  <a:pt x="3581400" y="0"/>
                </a:lnTo>
                <a:close/>
              </a:path>
            </a:pathLst>
          </a:custGeom>
          <a:solidFill>
            <a:srgbClr val="93B6D2"/>
          </a:solidFill>
        </p:spPr>
        <p:txBody>
          <a:bodyPr wrap="square" lIns="0" tIns="0" rIns="0" bIns="0" rtlCol="0"/>
          <a:lstStyle/>
          <a:p>
            <a:endParaRPr/>
          </a:p>
        </p:txBody>
      </p:sp>
      <p:sp>
        <p:nvSpPr>
          <p:cNvPr id="7" name="object 7"/>
          <p:cNvSpPr/>
          <p:nvPr/>
        </p:nvSpPr>
        <p:spPr>
          <a:xfrm>
            <a:off x="1954161" y="1824283"/>
            <a:ext cx="3581400" cy="3912235"/>
          </a:xfrm>
          <a:custGeom>
            <a:avLst/>
            <a:gdLst/>
            <a:ahLst/>
            <a:cxnLst/>
            <a:rect l="l" t="t" r="r" b="b"/>
            <a:pathLst>
              <a:path w="3581400" h="3912234">
                <a:moveTo>
                  <a:pt x="0" y="0"/>
                </a:moveTo>
                <a:lnTo>
                  <a:pt x="3581400" y="0"/>
                </a:lnTo>
                <a:lnTo>
                  <a:pt x="3581400" y="3177628"/>
                </a:lnTo>
                <a:lnTo>
                  <a:pt x="3526584" y="3178011"/>
                </a:lnTo>
                <a:lnTo>
                  <a:pt x="3472887" y="3179145"/>
                </a:lnTo>
                <a:lnTo>
                  <a:pt x="3420285" y="3181011"/>
                </a:lnTo>
                <a:lnTo>
                  <a:pt x="3368754" y="3183587"/>
                </a:lnTo>
                <a:lnTo>
                  <a:pt x="3318270" y="3186853"/>
                </a:lnTo>
                <a:lnTo>
                  <a:pt x="3268811" y="3190790"/>
                </a:lnTo>
                <a:lnTo>
                  <a:pt x="3220353" y="3195375"/>
                </a:lnTo>
                <a:lnTo>
                  <a:pt x="3172872" y="3200590"/>
                </a:lnTo>
                <a:lnTo>
                  <a:pt x="3126344" y="3206413"/>
                </a:lnTo>
                <a:lnTo>
                  <a:pt x="3080746" y="3212825"/>
                </a:lnTo>
                <a:lnTo>
                  <a:pt x="3036055" y="3219804"/>
                </a:lnTo>
                <a:lnTo>
                  <a:pt x="2992246" y="3227330"/>
                </a:lnTo>
                <a:lnTo>
                  <a:pt x="2949297" y="3235383"/>
                </a:lnTo>
                <a:lnTo>
                  <a:pt x="2907184" y="3243942"/>
                </a:lnTo>
                <a:lnTo>
                  <a:pt x="2865883" y="3252988"/>
                </a:lnTo>
                <a:lnTo>
                  <a:pt x="2825371" y="3262498"/>
                </a:lnTo>
                <a:lnTo>
                  <a:pt x="2785624" y="3272454"/>
                </a:lnTo>
                <a:lnTo>
                  <a:pt x="2746619" y="3282834"/>
                </a:lnTo>
                <a:lnTo>
                  <a:pt x="2708331" y="3293619"/>
                </a:lnTo>
                <a:lnTo>
                  <a:pt x="2670739" y="3304787"/>
                </a:lnTo>
                <a:lnTo>
                  <a:pt x="2633817" y="3316318"/>
                </a:lnTo>
                <a:lnTo>
                  <a:pt x="2597543" y="3328192"/>
                </a:lnTo>
                <a:lnTo>
                  <a:pt x="2526843" y="3352887"/>
                </a:lnTo>
                <a:lnTo>
                  <a:pt x="2458450" y="3378707"/>
                </a:lnTo>
                <a:lnTo>
                  <a:pt x="2392176" y="3405490"/>
                </a:lnTo>
                <a:lnTo>
                  <a:pt x="2327833" y="3433072"/>
                </a:lnTo>
                <a:lnTo>
                  <a:pt x="2265232" y="3461289"/>
                </a:lnTo>
                <a:lnTo>
                  <a:pt x="2204185" y="3489978"/>
                </a:lnTo>
                <a:lnTo>
                  <a:pt x="2144504" y="3518976"/>
                </a:lnTo>
                <a:lnTo>
                  <a:pt x="2086000" y="3548117"/>
                </a:lnTo>
                <a:lnTo>
                  <a:pt x="2028485" y="3577241"/>
                </a:lnTo>
                <a:lnTo>
                  <a:pt x="1971770" y="3606181"/>
                </a:lnTo>
                <a:lnTo>
                  <a:pt x="1943654" y="3620532"/>
                </a:lnTo>
                <a:lnTo>
                  <a:pt x="1887787" y="3648893"/>
                </a:lnTo>
                <a:lnTo>
                  <a:pt x="1832250" y="3676662"/>
                </a:lnTo>
                <a:lnTo>
                  <a:pt x="1776853" y="3703677"/>
                </a:lnTo>
                <a:lnTo>
                  <a:pt x="1721410" y="3729773"/>
                </a:lnTo>
                <a:lnTo>
                  <a:pt x="1665731" y="3754788"/>
                </a:lnTo>
                <a:lnTo>
                  <a:pt x="1609629" y="3778557"/>
                </a:lnTo>
                <a:lnTo>
                  <a:pt x="1552914" y="3800918"/>
                </a:lnTo>
                <a:lnTo>
                  <a:pt x="1495399" y="3821706"/>
                </a:lnTo>
                <a:lnTo>
                  <a:pt x="1436895" y="3840758"/>
                </a:lnTo>
                <a:lnTo>
                  <a:pt x="1377214" y="3857911"/>
                </a:lnTo>
                <a:lnTo>
                  <a:pt x="1316167" y="3873001"/>
                </a:lnTo>
                <a:lnTo>
                  <a:pt x="1253566" y="3885865"/>
                </a:lnTo>
                <a:lnTo>
                  <a:pt x="1189223" y="3896338"/>
                </a:lnTo>
                <a:lnTo>
                  <a:pt x="1122949" y="3904258"/>
                </a:lnTo>
                <a:lnTo>
                  <a:pt x="1054556" y="3909461"/>
                </a:lnTo>
                <a:lnTo>
                  <a:pt x="983856" y="3911783"/>
                </a:lnTo>
                <a:lnTo>
                  <a:pt x="947582" y="3911813"/>
                </a:lnTo>
                <a:lnTo>
                  <a:pt x="910660" y="3911061"/>
                </a:lnTo>
                <a:lnTo>
                  <a:pt x="834780" y="3907131"/>
                </a:lnTo>
                <a:lnTo>
                  <a:pt x="795775" y="3903912"/>
                </a:lnTo>
                <a:lnTo>
                  <a:pt x="756028" y="3899830"/>
                </a:lnTo>
                <a:lnTo>
                  <a:pt x="715516" y="3894865"/>
                </a:lnTo>
                <a:lnTo>
                  <a:pt x="674215" y="3888995"/>
                </a:lnTo>
                <a:lnTo>
                  <a:pt x="632102" y="3882200"/>
                </a:lnTo>
                <a:lnTo>
                  <a:pt x="589153" y="3874461"/>
                </a:lnTo>
                <a:lnTo>
                  <a:pt x="545344" y="3865756"/>
                </a:lnTo>
                <a:lnTo>
                  <a:pt x="500653" y="3856065"/>
                </a:lnTo>
                <a:lnTo>
                  <a:pt x="455055" y="3845368"/>
                </a:lnTo>
                <a:lnTo>
                  <a:pt x="408527" y="3833644"/>
                </a:lnTo>
                <a:lnTo>
                  <a:pt x="361046" y="3820873"/>
                </a:lnTo>
                <a:lnTo>
                  <a:pt x="312588" y="3807035"/>
                </a:lnTo>
                <a:lnTo>
                  <a:pt x="263129" y="3792108"/>
                </a:lnTo>
                <a:lnTo>
                  <a:pt x="212645" y="3776072"/>
                </a:lnTo>
                <a:lnTo>
                  <a:pt x="161114" y="3758908"/>
                </a:lnTo>
                <a:lnTo>
                  <a:pt x="108512" y="3740594"/>
                </a:lnTo>
                <a:lnTo>
                  <a:pt x="54815" y="3721111"/>
                </a:lnTo>
                <a:lnTo>
                  <a:pt x="0" y="3700437"/>
                </a:lnTo>
                <a:lnTo>
                  <a:pt x="0" y="0"/>
                </a:lnTo>
                <a:close/>
              </a:path>
            </a:pathLst>
          </a:custGeom>
          <a:ln w="9143">
            <a:solidFill>
              <a:srgbClr val="33CCFF"/>
            </a:solidFill>
          </a:ln>
        </p:spPr>
        <p:txBody>
          <a:bodyPr wrap="square" lIns="0" tIns="0" rIns="0" bIns="0" rtlCol="0"/>
          <a:lstStyle/>
          <a:p>
            <a:endParaRPr/>
          </a:p>
        </p:txBody>
      </p:sp>
      <p:sp>
        <p:nvSpPr>
          <p:cNvPr id="8" name="object 8"/>
          <p:cNvSpPr/>
          <p:nvPr/>
        </p:nvSpPr>
        <p:spPr>
          <a:xfrm>
            <a:off x="3100208" y="1844108"/>
            <a:ext cx="982218" cy="51128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3776864" y="1844108"/>
            <a:ext cx="480834" cy="511289"/>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3952125" y="1844108"/>
            <a:ext cx="462546" cy="511289"/>
          </a:xfrm>
          <a:prstGeom prst="rect">
            <a:avLst/>
          </a:prstGeom>
          <a:blipFill>
            <a:blip r:embed="rId5" cstate="print"/>
            <a:stretch>
              <a:fillRect/>
            </a:stretch>
          </a:blipFill>
        </p:spPr>
        <p:txBody>
          <a:bodyPr wrap="square" lIns="0" tIns="0" rIns="0" bIns="0" rtlCol="0"/>
          <a:lstStyle/>
          <a:p>
            <a:endParaRPr/>
          </a:p>
        </p:txBody>
      </p:sp>
      <p:sp>
        <p:nvSpPr>
          <p:cNvPr id="11" name="object 11"/>
          <p:cNvSpPr txBox="1"/>
          <p:nvPr/>
        </p:nvSpPr>
        <p:spPr>
          <a:xfrm>
            <a:off x="2159392" y="1893624"/>
            <a:ext cx="3182620" cy="1397000"/>
          </a:xfrm>
          <a:prstGeom prst="rect">
            <a:avLst/>
          </a:prstGeom>
        </p:spPr>
        <p:txBody>
          <a:bodyPr vert="horz" wrap="square" lIns="0" tIns="12700" rIns="0" bIns="0" rtlCol="0">
            <a:spAutoFit/>
          </a:bodyPr>
          <a:lstStyle/>
          <a:p>
            <a:pPr marL="1085850">
              <a:spcBef>
                <a:spcPts val="100"/>
              </a:spcBef>
            </a:pPr>
            <a:r>
              <a:rPr lang="vi-VN" b="1" spc="25">
                <a:solidFill>
                  <a:schemeClr val="bg1"/>
                </a:solidFill>
                <a:latin typeface="Trebuchet MS"/>
                <a:cs typeface="Trebuchet MS"/>
              </a:rPr>
              <a:t>HOÁ</a:t>
            </a:r>
            <a:r>
              <a:rPr lang="vi-VN" b="1" spc="-75">
                <a:solidFill>
                  <a:schemeClr val="bg1"/>
                </a:solidFill>
                <a:latin typeface="Trebuchet MS"/>
                <a:cs typeface="Trebuchet MS"/>
              </a:rPr>
              <a:t> </a:t>
            </a:r>
            <a:r>
              <a:rPr lang="vi-VN" b="1" spc="-50">
                <a:solidFill>
                  <a:schemeClr val="bg1"/>
                </a:solidFill>
                <a:latin typeface="Trebuchet MS"/>
                <a:cs typeface="Trebuchet MS"/>
              </a:rPr>
              <a:t>Đ</a:t>
            </a:r>
            <a:r>
              <a:rPr lang="vi-VN" b="1" spc="-50">
                <a:solidFill>
                  <a:schemeClr val="bg1"/>
                </a:solidFill>
                <a:latin typeface="Arial"/>
                <a:cs typeface="Arial"/>
              </a:rPr>
              <a:t>Ơ</a:t>
            </a:r>
            <a:r>
              <a:rPr lang="vi-VN" b="1" spc="-50">
                <a:solidFill>
                  <a:schemeClr val="bg1"/>
                </a:solidFill>
                <a:latin typeface="Trebuchet MS"/>
                <a:cs typeface="Trebuchet MS"/>
              </a:rPr>
              <a:t>N</a:t>
            </a:r>
            <a:endParaRPr lang="vi-VN">
              <a:solidFill>
                <a:schemeClr val="bg1"/>
              </a:solidFill>
              <a:latin typeface="Trebuchet MS"/>
              <a:cs typeface="Trebuchet MS"/>
            </a:endParaRPr>
          </a:p>
          <a:p>
            <a:pPr marL="12700" marR="5080" indent="10160">
              <a:tabLst>
                <a:tab pos="1800225" algn="l"/>
              </a:tabLst>
            </a:pPr>
            <a:r>
              <a:rPr lang="en-US" spc="-75">
                <a:latin typeface="Times New Roman" panose="02020603050405020304" pitchFamily="18" charset="0"/>
                <a:cs typeface="Times New Roman" panose="02020603050405020304" pitchFamily="18" charset="0"/>
              </a:rPr>
              <a:t>Số HĐ:</a:t>
            </a:r>
            <a:r>
              <a:rPr spc="-75">
                <a:latin typeface="Times New Roman" panose="02020603050405020304" pitchFamily="18" charset="0"/>
                <a:cs typeface="Times New Roman" panose="02020603050405020304" pitchFamily="18" charset="0"/>
              </a:rPr>
              <a:t>……	Ngày:../…/…</a:t>
            </a:r>
            <a:r>
              <a:rPr lang="en-US" spc="-75">
                <a:latin typeface="Times New Roman" panose="02020603050405020304" pitchFamily="18" charset="0"/>
                <a:cs typeface="Times New Roman" panose="02020603050405020304" pitchFamily="18" charset="0"/>
              </a:rPr>
              <a:t> </a:t>
            </a:r>
            <a:r>
              <a:rPr spc="-75">
                <a:latin typeface="Times New Roman" panose="02020603050405020304" pitchFamily="18" charset="0"/>
                <a:cs typeface="Times New Roman" panose="02020603050405020304" pitchFamily="18" charset="0"/>
              </a:rPr>
              <a:t>Khách hàng</a:t>
            </a:r>
            <a:r>
              <a:rPr spc="-75" dirty="0">
                <a:latin typeface="Times New Roman" panose="02020603050405020304" pitchFamily="18" charset="0"/>
                <a:cs typeface="Times New Roman" panose="02020603050405020304" pitchFamily="18" charset="0"/>
              </a:rPr>
              <a:t>: </a:t>
            </a:r>
            <a:r>
              <a:rPr spc="-25">
                <a:latin typeface="Times New Roman" panose="02020603050405020304" pitchFamily="18" charset="0"/>
                <a:cs typeface="Times New Roman" panose="02020603050405020304" pitchFamily="18" charset="0"/>
              </a:rPr>
              <a:t>……………………..</a:t>
            </a:r>
            <a:r>
              <a:rPr lang="en-US" spc="-25">
                <a:latin typeface="Times New Roman" panose="02020603050405020304" pitchFamily="18" charset="0"/>
                <a:cs typeface="Times New Roman" panose="02020603050405020304" pitchFamily="18" charset="0"/>
              </a:rPr>
              <a:t> </a:t>
            </a:r>
            <a:r>
              <a:rPr spc="-75">
                <a:latin typeface="Times New Roman" panose="02020603050405020304" pitchFamily="18" charset="0"/>
                <a:cs typeface="Times New Roman" panose="02020603050405020304" pitchFamily="18" charset="0"/>
              </a:rPr>
              <a:t>Địa</a:t>
            </a:r>
            <a:r>
              <a:rPr lang="en-US" spc="-75">
                <a:latin typeface="Times New Roman" panose="02020603050405020304" pitchFamily="18" charset="0"/>
                <a:cs typeface="Times New Roman" panose="02020603050405020304" pitchFamily="18" charset="0"/>
              </a:rPr>
              <a:t> </a:t>
            </a:r>
            <a:r>
              <a:rPr spc="-50">
                <a:latin typeface="Times New Roman" panose="02020603050405020304" pitchFamily="18" charset="0"/>
                <a:cs typeface="Times New Roman" panose="02020603050405020304" pitchFamily="18" charset="0"/>
              </a:rPr>
              <a:t>chỉ</a:t>
            </a:r>
            <a:r>
              <a:rPr spc="-50" dirty="0">
                <a:latin typeface="Times New Roman" panose="02020603050405020304" pitchFamily="18" charset="0"/>
                <a:cs typeface="Times New Roman" panose="02020603050405020304" pitchFamily="18" charset="0"/>
              </a:rPr>
              <a:t>:…………………………..</a:t>
            </a:r>
            <a:r>
              <a:rPr lang="en-US" spc="-50" dirty="0">
                <a:latin typeface="Times New Roman" panose="02020603050405020304" pitchFamily="18" charset="0"/>
                <a:cs typeface="Times New Roman" panose="02020603050405020304" pitchFamily="18" charset="0"/>
              </a:rPr>
              <a:t> </a:t>
            </a:r>
            <a:r>
              <a:rPr spc="-80" dirty="0" err="1">
                <a:latin typeface="Times New Roman" panose="02020603050405020304" pitchFamily="18" charset="0"/>
                <a:cs typeface="Times New Roman" panose="02020603050405020304" pitchFamily="18" charset="0"/>
              </a:rPr>
              <a:t>Người</a:t>
            </a:r>
            <a:r>
              <a:rPr spc="-35" dirty="0">
                <a:latin typeface="Times New Roman" panose="02020603050405020304" pitchFamily="18" charset="0"/>
                <a:cs typeface="Times New Roman" panose="02020603050405020304" pitchFamily="18" charset="0"/>
              </a:rPr>
              <a:t> lập:………………………..</a:t>
            </a:r>
            <a:endParaRPr dirty="0">
              <a:latin typeface="Times New Roman" panose="02020603050405020304" pitchFamily="18" charset="0"/>
              <a:cs typeface="Times New Roman" panose="02020603050405020304" pitchFamily="18" charset="0"/>
            </a:endParaRPr>
          </a:p>
        </p:txBody>
      </p:sp>
      <p:sp>
        <p:nvSpPr>
          <p:cNvPr id="12" name="object 12"/>
          <p:cNvSpPr/>
          <p:nvPr/>
        </p:nvSpPr>
        <p:spPr>
          <a:xfrm>
            <a:off x="2161426" y="3258380"/>
            <a:ext cx="479285" cy="40156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2161426" y="3471740"/>
            <a:ext cx="401561" cy="401561"/>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2618626" y="3258380"/>
            <a:ext cx="518921" cy="401561"/>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2618625" y="3471740"/>
            <a:ext cx="590550" cy="401561"/>
          </a:xfrm>
          <a:prstGeom prst="rect">
            <a:avLst/>
          </a:prstGeom>
          <a:blipFill>
            <a:blip r:embed="rId9" cstate="print"/>
            <a:stretch>
              <a:fillRect/>
            </a:stretch>
          </a:blipFill>
        </p:spPr>
        <p:txBody>
          <a:bodyPr wrap="square" lIns="0" tIns="0" rIns="0" bIns="0" rtlCol="0"/>
          <a:lstStyle/>
          <a:p>
            <a:endParaRPr/>
          </a:p>
        </p:txBody>
      </p:sp>
      <p:sp>
        <p:nvSpPr>
          <p:cNvPr id="16" name="object 16"/>
          <p:cNvSpPr/>
          <p:nvPr/>
        </p:nvSpPr>
        <p:spPr>
          <a:xfrm>
            <a:off x="3228225" y="3258380"/>
            <a:ext cx="1040142" cy="401561"/>
          </a:xfrm>
          <a:prstGeom prst="rect">
            <a:avLst/>
          </a:prstGeom>
          <a:blipFill>
            <a:blip r:embed="rId10" cstate="print"/>
            <a:stretch>
              <a:fillRect/>
            </a:stretch>
          </a:blipFill>
        </p:spPr>
        <p:txBody>
          <a:bodyPr wrap="square" lIns="0" tIns="0" rIns="0" bIns="0" rtlCol="0"/>
          <a:lstStyle/>
          <a:p>
            <a:endParaRPr/>
          </a:p>
        </p:txBody>
      </p:sp>
      <p:sp>
        <p:nvSpPr>
          <p:cNvPr id="17" name="object 17"/>
          <p:cNvSpPr/>
          <p:nvPr/>
        </p:nvSpPr>
        <p:spPr>
          <a:xfrm>
            <a:off x="4069473" y="3258380"/>
            <a:ext cx="662177" cy="401561"/>
          </a:xfrm>
          <a:prstGeom prst="rect">
            <a:avLst/>
          </a:prstGeom>
          <a:blipFill>
            <a:blip r:embed="rId11" cstate="print"/>
            <a:stretch>
              <a:fillRect/>
            </a:stretch>
          </a:blipFill>
        </p:spPr>
        <p:txBody>
          <a:bodyPr wrap="square" lIns="0" tIns="0" rIns="0" bIns="0" rtlCol="0"/>
          <a:lstStyle/>
          <a:p>
            <a:endParaRPr/>
          </a:p>
        </p:txBody>
      </p:sp>
      <p:sp>
        <p:nvSpPr>
          <p:cNvPr id="18" name="object 18"/>
          <p:cNvSpPr/>
          <p:nvPr/>
        </p:nvSpPr>
        <p:spPr>
          <a:xfrm>
            <a:off x="4676025" y="3258380"/>
            <a:ext cx="596646" cy="401561"/>
          </a:xfrm>
          <a:prstGeom prst="rect">
            <a:avLst/>
          </a:prstGeom>
          <a:blipFill>
            <a:blip r:embed="rId12" cstate="print"/>
            <a:stretch>
              <a:fillRect/>
            </a:stretch>
          </a:blipFill>
        </p:spPr>
        <p:txBody>
          <a:bodyPr wrap="square" lIns="0" tIns="0" rIns="0" bIns="0" rtlCol="0"/>
          <a:lstStyle/>
          <a:p>
            <a:endParaRPr/>
          </a:p>
        </p:txBody>
      </p:sp>
      <p:sp>
        <p:nvSpPr>
          <p:cNvPr id="19" name="object 19"/>
          <p:cNvSpPr/>
          <p:nvPr/>
        </p:nvSpPr>
        <p:spPr>
          <a:xfrm>
            <a:off x="4676026" y="3471740"/>
            <a:ext cx="460997" cy="401561"/>
          </a:xfrm>
          <a:prstGeom prst="rect">
            <a:avLst/>
          </a:prstGeom>
          <a:blipFill>
            <a:blip r:embed="rId13" cstate="print"/>
            <a:stretch>
              <a:fillRect/>
            </a:stretch>
          </a:blipFill>
        </p:spPr>
        <p:txBody>
          <a:bodyPr wrap="square" lIns="0" tIns="0" rIns="0" bIns="0" rtlCol="0"/>
          <a:lstStyle/>
          <a:p>
            <a:endParaRPr/>
          </a:p>
        </p:txBody>
      </p:sp>
      <p:sp>
        <p:nvSpPr>
          <p:cNvPr id="20" name="object 20"/>
          <p:cNvSpPr/>
          <p:nvPr/>
        </p:nvSpPr>
        <p:spPr>
          <a:xfrm>
            <a:off x="2161426" y="3776540"/>
            <a:ext cx="511289" cy="401561"/>
          </a:xfrm>
          <a:prstGeom prst="rect">
            <a:avLst/>
          </a:prstGeom>
          <a:blipFill>
            <a:blip r:embed="rId14" cstate="print"/>
            <a:stretch>
              <a:fillRect/>
            </a:stretch>
          </a:blipFill>
        </p:spPr>
        <p:txBody>
          <a:bodyPr wrap="square" lIns="0" tIns="0" rIns="0" bIns="0" rtlCol="0"/>
          <a:lstStyle/>
          <a:p>
            <a:endParaRPr/>
          </a:p>
        </p:txBody>
      </p:sp>
      <p:sp>
        <p:nvSpPr>
          <p:cNvPr id="21" name="object 21"/>
          <p:cNvSpPr/>
          <p:nvPr/>
        </p:nvSpPr>
        <p:spPr>
          <a:xfrm>
            <a:off x="2161426" y="4032572"/>
            <a:ext cx="511289" cy="401561"/>
          </a:xfrm>
          <a:prstGeom prst="rect">
            <a:avLst/>
          </a:prstGeom>
          <a:blipFill>
            <a:blip r:embed="rId15" cstate="print"/>
            <a:stretch>
              <a:fillRect/>
            </a:stretch>
          </a:blipFill>
        </p:spPr>
        <p:txBody>
          <a:bodyPr wrap="square" lIns="0" tIns="0" rIns="0" bIns="0" rtlCol="0"/>
          <a:lstStyle/>
          <a:p>
            <a:endParaRPr/>
          </a:p>
        </p:txBody>
      </p:sp>
      <p:sp>
        <p:nvSpPr>
          <p:cNvPr id="22" name="object 22"/>
          <p:cNvSpPr/>
          <p:nvPr/>
        </p:nvSpPr>
        <p:spPr>
          <a:xfrm>
            <a:off x="2161426" y="4288592"/>
            <a:ext cx="419849" cy="401561"/>
          </a:xfrm>
          <a:prstGeom prst="rect">
            <a:avLst/>
          </a:prstGeom>
          <a:blipFill>
            <a:blip r:embed="rId16" cstate="print"/>
            <a:stretch>
              <a:fillRect/>
            </a:stretch>
          </a:blipFill>
        </p:spPr>
        <p:txBody>
          <a:bodyPr wrap="square" lIns="0" tIns="0" rIns="0" bIns="0" rtlCol="0"/>
          <a:lstStyle/>
          <a:p>
            <a:endParaRPr/>
          </a:p>
        </p:txBody>
      </p:sp>
      <p:sp>
        <p:nvSpPr>
          <p:cNvPr id="23" name="object 23"/>
          <p:cNvSpPr/>
          <p:nvPr/>
        </p:nvSpPr>
        <p:spPr>
          <a:xfrm>
            <a:off x="2618625" y="3776540"/>
            <a:ext cx="459486" cy="401561"/>
          </a:xfrm>
          <a:prstGeom prst="rect">
            <a:avLst/>
          </a:prstGeom>
          <a:blipFill>
            <a:blip r:embed="rId17" cstate="print"/>
            <a:stretch>
              <a:fillRect/>
            </a:stretch>
          </a:blipFill>
        </p:spPr>
        <p:txBody>
          <a:bodyPr wrap="square" lIns="0" tIns="0" rIns="0" bIns="0" rtlCol="0"/>
          <a:lstStyle/>
          <a:p>
            <a:endParaRPr/>
          </a:p>
        </p:txBody>
      </p:sp>
      <p:sp>
        <p:nvSpPr>
          <p:cNvPr id="24" name="object 24"/>
          <p:cNvSpPr/>
          <p:nvPr/>
        </p:nvSpPr>
        <p:spPr>
          <a:xfrm>
            <a:off x="2618625" y="4032572"/>
            <a:ext cx="459486" cy="401561"/>
          </a:xfrm>
          <a:prstGeom prst="rect">
            <a:avLst/>
          </a:prstGeom>
          <a:blipFill>
            <a:blip r:embed="rId18" cstate="print"/>
            <a:stretch>
              <a:fillRect/>
            </a:stretch>
          </a:blipFill>
        </p:spPr>
        <p:txBody>
          <a:bodyPr wrap="square" lIns="0" tIns="0" rIns="0" bIns="0" rtlCol="0"/>
          <a:lstStyle/>
          <a:p>
            <a:endParaRPr/>
          </a:p>
        </p:txBody>
      </p:sp>
      <p:sp>
        <p:nvSpPr>
          <p:cNvPr id="25" name="object 25"/>
          <p:cNvSpPr/>
          <p:nvPr/>
        </p:nvSpPr>
        <p:spPr>
          <a:xfrm>
            <a:off x="2618626" y="4288592"/>
            <a:ext cx="419849" cy="401561"/>
          </a:xfrm>
          <a:prstGeom prst="rect">
            <a:avLst/>
          </a:prstGeom>
          <a:blipFill>
            <a:blip r:embed="rId16" cstate="print"/>
            <a:stretch>
              <a:fillRect/>
            </a:stretch>
          </a:blipFill>
        </p:spPr>
        <p:txBody>
          <a:bodyPr wrap="square" lIns="0" tIns="0" rIns="0" bIns="0" rtlCol="0"/>
          <a:lstStyle/>
          <a:p>
            <a:endParaRPr/>
          </a:p>
        </p:txBody>
      </p:sp>
      <p:sp>
        <p:nvSpPr>
          <p:cNvPr id="26" name="object 26"/>
          <p:cNvSpPr/>
          <p:nvPr/>
        </p:nvSpPr>
        <p:spPr>
          <a:xfrm>
            <a:off x="3228225" y="3776540"/>
            <a:ext cx="489978" cy="401561"/>
          </a:xfrm>
          <a:prstGeom prst="rect">
            <a:avLst/>
          </a:prstGeom>
          <a:blipFill>
            <a:blip r:embed="rId19" cstate="print"/>
            <a:stretch>
              <a:fillRect/>
            </a:stretch>
          </a:blipFill>
        </p:spPr>
        <p:txBody>
          <a:bodyPr wrap="square" lIns="0" tIns="0" rIns="0" bIns="0" rtlCol="0"/>
          <a:lstStyle/>
          <a:p>
            <a:endParaRPr/>
          </a:p>
        </p:txBody>
      </p:sp>
      <p:sp>
        <p:nvSpPr>
          <p:cNvPr id="27" name="object 27"/>
          <p:cNvSpPr/>
          <p:nvPr/>
        </p:nvSpPr>
        <p:spPr>
          <a:xfrm>
            <a:off x="3228225" y="4032572"/>
            <a:ext cx="459486" cy="401561"/>
          </a:xfrm>
          <a:prstGeom prst="rect">
            <a:avLst/>
          </a:prstGeom>
          <a:blipFill>
            <a:blip r:embed="rId20" cstate="print"/>
            <a:stretch>
              <a:fillRect/>
            </a:stretch>
          </a:blipFill>
        </p:spPr>
        <p:txBody>
          <a:bodyPr wrap="square" lIns="0" tIns="0" rIns="0" bIns="0" rtlCol="0"/>
          <a:lstStyle/>
          <a:p>
            <a:endParaRPr/>
          </a:p>
        </p:txBody>
      </p:sp>
      <p:sp>
        <p:nvSpPr>
          <p:cNvPr id="28" name="object 28"/>
          <p:cNvSpPr/>
          <p:nvPr/>
        </p:nvSpPr>
        <p:spPr>
          <a:xfrm>
            <a:off x="3228226" y="4288592"/>
            <a:ext cx="419849" cy="401561"/>
          </a:xfrm>
          <a:prstGeom prst="rect">
            <a:avLst/>
          </a:prstGeom>
          <a:blipFill>
            <a:blip r:embed="rId16" cstate="print"/>
            <a:stretch>
              <a:fillRect/>
            </a:stretch>
          </a:blipFill>
        </p:spPr>
        <p:txBody>
          <a:bodyPr wrap="square" lIns="0" tIns="0" rIns="0" bIns="0" rtlCol="0"/>
          <a:lstStyle/>
          <a:p>
            <a:endParaRPr/>
          </a:p>
        </p:txBody>
      </p:sp>
      <p:sp>
        <p:nvSpPr>
          <p:cNvPr id="29" name="object 29"/>
          <p:cNvSpPr/>
          <p:nvPr/>
        </p:nvSpPr>
        <p:spPr>
          <a:xfrm>
            <a:off x="3837826" y="3776540"/>
            <a:ext cx="511289" cy="401561"/>
          </a:xfrm>
          <a:prstGeom prst="rect">
            <a:avLst/>
          </a:prstGeom>
          <a:blipFill>
            <a:blip r:embed="rId21" cstate="print"/>
            <a:stretch>
              <a:fillRect/>
            </a:stretch>
          </a:blipFill>
        </p:spPr>
        <p:txBody>
          <a:bodyPr wrap="square" lIns="0" tIns="0" rIns="0" bIns="0" rtlCol="0"/>
          <a:lstStyle/>
          <a:p>
            <a:endParaRPr/>
          </a:p>
        </p:txBody>
      </p:sp>
      <p:sp>
        <p:nvSpPr>
          <p:cNvPr id="30" name="object 30"/>
          <p:cNvSpPr/>
          <p:nvPr/>
        </p:nvSpPr>
        <p:spPr>
          <a:xfrm>
            <a:off x="3837825" y="4032572"/>
            <a:ext cx="601218" cy="401561"/>
          </a:xfrm>
          <a:prstGeom prst="rect">
            <a:avLst/>
          </a:prstGeom>
          <a:blipFill>
            <a:blip r:embed="rId22" cstate="print"/>
            <a:stretch>
              <a:fillRect/>
            </a:stretch>
          </a:blipFill>
        </p:spPr>
        <p:txBody>
          <a:bodyPr wrap="square" lIns="0" tIns="0" rIns="0" bIns="0" rtlCol="0"/>
          <a:lstStyle/>
          <a:p>
            <a:endParaRPr/>
          </a:p>
        </p:txBody>
      </p:sp>
      <p:sp>
        <p:nvSpPr>
          <p:cNvPr id="31" name="object 31"/>
          <p:cNvSpPr/>
          <p:nvPr/>
        </p:nvSpPr>
        <p:spPr>
          <a:xfrm>
            <a:off x="3837826" y="4288592"/>
            <a:ext cx="419849" cy="401561"/>
          </a:xfrm>
          <a:prstGeom prst="rect">
            <a:avLst/>
          </a:prstGeom>
          <a:blipFill>
            <a:blip r:embed="rId16" cstate="print"/>
            <a:stretch>
              <a:fillRect/>
            </a:stretch>
          </a:blipFill>
        </p:spPr>
        <p:txBody>
          <a:bodyPr wrap="square" lIns="0" tIns="0" rIns="0" bIns="0" rtlCol="0"/>
          <a:lstStyle/>
          <a:p>
            <a:endParaRPr/>
          </a:p>
        </p:txBody>
      </p:sp>
      <p:sp>
        <p:nvSpPr>
          <p:cNvPr id="32" name="object 32"/>
          <p:cNvSpPr/>
          <p:nvPr/>
        </p:nvSpPr>
        <p:spPr>
          <a:xfrm>
            <a:off x="4676025" y="3776540"/>
            <a:ext cx="601218" cy="401561"/>
          </a:xfrm>
          <a:prstGeom prst="rect">
            <a:avLst/>
          </a:prstGeom>
          <a:blipFill>
            <a:blip r:embed="rId23" cstate="print"/>
            <a:stretch>
              <a:fillRect/>
            </a:stretch>
          </a:blipFill>
        </p:spPr>
        <p:txBody>
          <a:bodyPr wrap="square" lIns="0" tIns="0" rIns="0" bIns="0" rtlCol="0"/>
          <a:lstStyle/>
          <a:p>
            <a:endParaRPr/>
          </a:p>
        </p:txBody>
      </p:sp>
      <p:sp>
        <p:nvSpPr>
          <p:cNvPr id="33" name="object 33"/>
          <p:cNvSpPr/>
          <p:nvPr/>
        </p:nvSpPr>
        <p:spPr>
          <a:xfrm>
            <a:off x="4676025" y="4032572"/>
            <a:ext cx="601218" cy="401561"/>
          </a:xfrm>
          <a:prstGeom prst="rect">
            <a:avLst/>
          </a:prstGeom>
          <a:blipFill>
            <a:blip r:embed="rId24" cstate="print"/>
            <a:stretch>
              <a:fillRect/>
            </a:stretch>
          </a:blipFill>
        </p:spPr>
        <p:txBody>
          <a:bodyPr wrap="square" lIns="0" tIns="0" rIns="0" bIns="0" rtlCol="0"/>
          <a:lstStyle/>
          <a:p>
            <a:endParaRPr/>
          </a:p>
        </p:txBody>
      </p:sp>
      <p:sp>
        <p:nvSpPr>
          <p:cNvPr id="34" name="object 34"/>
          <p:cNvSpPr/>
          <p:nvPr/>
        </p:nvSpPr>
        <p:spPr>
          <a:xfrm>
            <a:off x="4676026" y="4288592"/>
            <a:ext cx="419849" cy="401561"/>
          </a:xfrm>
          <a:prstGeom prst="rect">
            <a:avLst/>
          </a:prstGeom>
          <a:blipFill>
            <a:blip r:embed="rId16" cstate="print"/>
            <a:stretch>
              <a:fillRect/>
            </a:stretch>
          </a:blipFill>
        </p:spPr>
        <p:txBody>
          <a:bodyPr wrap="square" lIns="0" tIns="0" rIns="0" bIns="0" rtlCol="0"/>
          <a:lstStyle/>
          <a:p>
            <a:endParaRPr/>
          </a:p>
        </p:txBody>
      </p:sp>
      <p:graphicFrame>
        <p:nvGraphicFramePr>
          <p:cNvPr id="35" name="object 35"/>
          <p:cNvGraphicFramePr>
            <a:graphicFrameLocks noGrp="1"/>
          </p:cNvGraphicFramePr>
          <p:nvPr>
            <p:extLst>
              <p:ext uri="{D42A27DB-BD31-4B8C-83A1-F6EECF244321}">
                <p14:modId xmlns:p14="http://schemas.microsoft.com/office/powerpoint/2010/main" val="1007339634"/>
              </p:ext>
            </p:extLst>
          </p:nvPr>
        </p:nvGraphicFramePr>
        <p:xfrm>
          <a:off x="2174959" y="3258881"/>
          <a:ext cx="3202303" cy="1423670"/>
        </p:xfrm>
        <a:graphic>
          <a:graphicData uri="http://schemas.openxmlformats.org/drawingml/2006/table">
            <a:tbl>
              <a:tblPr firstRow="1" bandRow="1">
                <a:tableStyleId>{2D5ABB26-0587-4C30-8999-92F81FD0307C}</a:tableStyleId>
              </a:tblPr>
              <a:tblGrid>
                <a:gridCol w="458470">
                  <a:extLst>
                    <a:ext uri="{9D8B030D-6E8A-4147-A177-3AD203B41FA5}">
                      <a16:colId xmlns:a16="http://schemas.microsoft.com/office/drawing/2014/main" val="20000"/>
                    </a:ext>
                  </a:extLst>
                </a:gridCol>
                <a:gridCol w="609599">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686434">
                  <a:extLst>
                    <a:ext uri="{9D8B030D-6E8A-4147-A177-3AD203B41FA5}">
                      <a16:colId xmlns:a16="http://schemas.microsoft.com/office/drawing/2014/main" val="20004"/>
                    </a:ext>
                  </a:extLst>
                </a:gridCol>
              </a:tblGrid>
              <a:tr h="524510">
                <a:tc>
                  <a:txBody>
                    <a:bodyPr/>
                    <a:lstStyle/>
                    <a:p>
                      <a:pPr marL="99060" marR="113030">
                        <a:lnSpc>
                          <a:spcPct val="100000"/>
                        </a:lnSpc>
                        <a:spcBef>
                          <a:spcPts val="320"/>
                        </a:spcBef>
                      </a:pPr>
                      <a:r>
                        <a:rPr sz="1400">
                          <a:solidFill>
                            <a:srgbClr val="00AF50"/>
                          </a:solidFill>
                          <a:latin typeface="Times New Roman"/>
                          <a:cs typeface="Times New Roman"/>
                        </a:rPr>
                        <a:t>Mã</a:t>
                      </a:r>
                      <a:r>
                        <a:rPr lang="en-US" sz="1400">
                          <a:solidFill>
                            <a:srgbClr val="00AF50"/>
                          </a:solidFill>
                          <a:latin typeface="Times New Roman"/>
                          <a:cs typeface="Times New Roman"/>
                        </a:rPr>
                        <a:t> </a:t>
                      </a:r>
                      <a:r>
                        <a:rPr sz="1400" spc="5">
                          <a:solidFill>
                            <a:srgbClr val="00AF50"/>
                          </a:solidFill>
                          <a:latin typeface="Times New Roman"/>
                          <a:cs typeface="Times New Roman"/>
                        </a:rPr>
                        <a:t>số</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marR="155575">
                        <a:lnSpc>
                          <a:spcPct val="100000"/>
                        </a:lnSpc>
                        <a:spcBef>
                          <a:spcPts val="320"/>
                        </a:spcBef>
                      </a:pPr>
                      <a:r>
                        <a:rPr sz="1400" spc="-5" dirty="0" err="1">
                          <a:solidFill>
                            <a:srgbClr val="00AF50"/>
                          </a:solidFill>
                          <a:latin typeface="Times New Roman"/>
                          <a:cs typeface="Times New Roman"/>
                        </a:rPr>
                        <a:t>Tên</a:t>
                      </a:r>
                      <a:r>
                        <a:rPr lang="en-US" sz="1400" spc="-5" dirty="0">
                          <a:solidFill>
                            <a:srgbClr val="00AF50"/>
                          </a:solidFill>
                          <a:latin typeface="Times New Roman"/>
                          <a:cs typeface="Times New Roman"/>
                        </a:rPr>
                        <a:t> </a:t>
                      </a:r>
                      <a:r>
                        <a:rPr sz="1400" dirty="0" err="1">
                          <a:solidFill>
                            <a:srgbClr val="00AF50"/>
                          </a:solidFill>
                          <a:latin typeface="Times New Roman"/>
                          <a:cs typeface="Times New Roman"/>
                        </a:rPr>
                        <a:t>hà</a:t>
                      </a:r>
                      <a:r>
                        <a:rPr sz="1400" spc="5" dirty="0" err="1">
                          <a:solidFill>
                            <a:srgbClr val="00AF50"/>
                          </a:solidFill>
                          <a:latin typeface="Times New Roman"/>
                          <a:cs typeface="Times New Roman"/>
                        </a:rPr>
                        <a:t>n</a:t>
                      </a:r>
                      <a:r>
                        <a:rPr sz="1400" dirty="0" err="1">
                          <a:solidFill>
                            <a:srgbClr val="00AF50"/>
                          </a:solidFill>
                          <a:latin typeface="Times New Roman"/>
                          <a:cs typeface="Times New Roman"/>
                        </a:rPr>
                        <a:t>g</a:t>
                      </a:r>
                      <a:endParaRPr sz="1400" dirty="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a:lnSpc>
                          <a:spcPct val="100000"/>
                        </a:lnSpc>
                        <a:spcBef>
                          <a:spcPts val="320"/>
                        </a:spcBef>
                      </a:pPr>
                      <a:r>
                        <a:rPr sz="1400" spc="-10" dirty="0">
                          <a:solidFill>
                            <a:srgbClr val="00AF50"/>
                          </a:solidFill>
                          <a:latin typeface="Times New Roman"/>
                          <a:cs typeface="Times New Roman"/>
                        </a:rPr>
                        <a:t>ĐVT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a:lnSpc>
                          <a:spcPct val="100000"/>
                        </a:lnSpc>
                        <a:spcBef>
                          <a:spcPts val="320"/>
                        </a:spcBef>
                      </a:pPr>
                      <a:r>
                        <a:rPr sz="1400" spc="-5" dirty="0">
                          <a:solidFill>
                            <a:srgbClr val="00AF50"/>
                          </a:solidFill>
                          <a:latin typeface="Times New Roman"/>
                          <a:cs typeface="Times New Roman"/>
                        </a:rPr>
                        <a:t>Số</a:t>
                      </a:r>
                      <a:r>
                        <a:rPr sz="1400" spc="-35" dirty="0">
                          <a:solidFill>
                            <a:srgbClr val="00AF50"/>
                          </a:solidFill>
                          <a:latin typeface="Times New Roman"/>
                          <a:cs typeface="Times New Roman"/>
                        </a:rPr>
                        <a:t> </a:t>
                      </a:r>
                      <a:r>
                        <a:rPr sz="1400" dirty="0">
                          <a:solidFill>
                            <a:srgbClr val="00AF50"/>
                          </a:solidFill>
                          <a:latin typeface="Times New Roman"/>
                          <a:cs typeface="Times New Roman"/>
                        </a:rPr>
                        <a:t>lượng</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marR="268605">
                        <a:lnSpc>
                          <a:spcPct val="100000"/>
                        </a:lnSpc>
                        <a:spcBef>
                          <a:spcPts val="320"/>
                        </a:spcBef>
                      </a:pPr>
                      <a:r>
                        <a:rPr sz="1400" spc="-10">
                          <a:solidFill>
                            <a:srgbClr val="00AF50"/>
                          </a:solidFill>
                          <a:latin typeface="Times New Roman"/>
                          <a:cs typeface="Times New Roman"/>
                        </a:rPr>
                        <a:t>Đ</a:t>
                      </a:r>
                      <a:r>
                        <a:rPr sz="1400">
                          <a:solidFill>
                            <a:srgbClr val="00AF50"/>
                          </a:solidFill>
                          <a:latin typeface="Times New Roman"/>
                          <a:cs typeface="Times New Roman"/>
                        </a:rPr>
                        <a:t>ơn</a:t>
                      </a:r>
                      <a:r>
                        <a:rPr lang="en-US" sz="1400">
                          <a:solidFill>
                            <a:srgbClr val="00AF50"/>
                          </a:solidFill>
                          <a:latin typeface="Times New Roman"/>
                          <a:cs typeface="Times New Roman"/>
                        </a:rPr>
                        <a:t> </a:t>
                      </a:r>
                      <a:r>
                        <a:rPr sz="1400" spc="5">
                          <a:solidFill>
                            <a:srgbClr val="00AF50"/>
                          </a:solidFill>
                          <a:latin typeface="Times New Roman"/>
                          <a:cs typeface="Times New Roman"/>
                        </a:rPr>
                        <a:t>giá</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816610">
                <a:tc>
                  <a:txBody>
                    <a:bodyPr/>
                    <a:lstStyle/>
                    <a:p>
                      <a:pPr marL="99060">
                        <a:lnSpc>
                          <a:spcPct val="100000"/>
                        </a:lnSpc>
                        <a:spcBef>
                          <a:spcPts val="320"/>
                        </a:spcBef>
                      </a:pPr>
                      <a:r>
                        <a:rPr sz="1400" spc="5" dirty="0">
                          <a:solidFill>
                            <a:srgbClr val="00AF50"/>
                          </a:solidFill>
                          <a:latin typeface="Times New Roman"/>
                          <a:cs typeface="Times New Roman"/>
                        </a:rPr>
                        <a:t>001</a:t>
                      </a:r>
                      <a:endParaRPr sz="1400">
                        <a:latin typeface="Times New Roman"/>
                        <a:cs typeface="Times New Roman"/>
                      </a:endParaRPr>
                    </a:p>
                    <a:p>
                      <a:pPr marL="99060">
                        <a:lnSpc>
                          <a:spcPct val="100000"/>
                        </a:lnSpc>
                        <a:spcBef>
                          <a:spcPts val="340"/>
                        </a:spcBef>
                      </a:pPr>
                      <a:r>
                        <a:rPr sz="1400" spc="5" dirty="0">
                          <a:solidFill>
                            <a:srgbClr val="00AF50"/>
                          </a:solidFill>
                          <a:latin typeface="Times New Roman"/>
                          <a:cs typeface="Times New Roman"/>
                        </a:rPr>
                        <a:t>004</a:t>
                      </a:r>
                      <a:endParaRPr sz="1400">
                        <a:latin typeface="Times New Roman"/>
                        <a:cs typeface="Times New Roman"/>
                      </a:endParaRPr>
                    </a:p>
                    <a:p>
                      <a:pPr marL="99060">
                        <a:lnSpc>
                          <a:spcPct val="100000"/>
                        </a:lnSpc>
                        <a:spcBef>
                          <a:spcPts val="335"/>
                        </a:spcBef>
                      </a:pPr>
                      <a:r>
                        <a:rPr sz="1400" dirty="0">
                          <a:solidFill>
                            <a:srgbClr val="00AF50"/>
                          </a:solidFill>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marR="287020">
                        <a:lnSpc>
                          <a:spcPts val="2020"/>
                        </a:lnSpc>
                        <a:spcBef>
                          <a:spcPts val="105"/>
                        </a:spcBef>
                      </a:pPr>
                      <a:r>
                        <a:rPr sz="1400" spc="-10">
                          <a:solidFill>
                            <a:srgbClr val="00AF50"/>
                          </a:solidFill>
                          <a:latin typeface="Times New Roman"/>
                          <a:cs typeface="Times New Roman"/>
                        </a:rPr>
                        <a:t>H1</a:t>
                      </a:r>
                      <a:r>
                        <a:rPr lang="en-US" sz="1400" spc="-10">
                          <a:solidFill>
                            <a:srgbClr val="00AF50"/>
                          </a:solidFill>
                          <a:latin typeface="Times New Roman"/>
                          <a:cs typeface="Times New Roman"/>
                        </a:rPr>
                        <a:t> </a:t>
                      </a:r>
                      <a:r>
                        <a:rPr sz="1400" spc="-10">
                          <a:solidFill>
                            <a:srgbClr val="00AF50"/>
                          </a:solidFill>
                          <a:latin typeface="Times New Roman"/>
                          <a:cs typeface="Times New Roman"/>
                        </a:rPr>
                        <a:t>H7</a:t>
                      </a:r>
                      <a:endParaRPr sz="1400">
                        <a:latin typeface="Times New Roman"/>
                        <a:cs typeface="Times New Roman"/>
                      </a:endParaRPr>
                    </a:p>
                    <a:p>
                      <a:pPr marL="97790">
                        <a:lnSpc>
                          <a:spcPct val="100000"/>
                        </a:lnSpc>
                        <a:spcBef>
                          <a:spcPts val="210"/>
                        </a:spcBef>
                      </a:pPr>
                      <a:r>
                        <a:rPr sz="1400" dirty="0">
                          <a:solidFill>
                            <a:srgbClr val="00AF50"/>
                          </a:solidFill>
                          <a:latin typeface="Times New Roman"/>
                          <a:cs typeface="Times New Roman"/>
                        </a:rPr>
                        <a:t>…</a:t>
                      </a:r>
                      <a:endParaRPr sz="1400">
                        <a:latin typeface="Times New Roman"/>
                        <a:cs typeface="Times New Roman"/>
                      </a:endParaRPr>
                    </a:p>
                  </a:txBody>
                  <a:tcPr marL="0" marR="0" marT="13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marR="255904">
                        <a:lnSpc>
                          <a:spcPts val="2020"/>
                        </a:lnSpc>
                        <a:spcBef>
                          <a:spcPts val="105"/>
                        </a:spcBef>
                      </a:pPr>
                      <a:r>
                        <a:rPr sz="1400">
                          <a:solidFill>
                            <a:srgbClr val="00AF50"/>
                          </a:solidFill>
                          <a:latin typeface="Times New Roman"/>
                          <a:cs typeface="Times New Roman"/>
                        </a:rPr>
                        <a:t>Cái</a:t>
                      </a:r>
                      <a:r>
                        <a:rPr lang="en-US" sz="1400">
                          <a:solidFill>
                            <a:srgbClr val="00AF50"/>
                          </a:solidFill>
                          <a:latin typeface="Times New Roman"/>
                          <a:cs typeface="Times New Roman"/>
                        </a:rPr>
                        <a:t> </a:t>
                      </a:r>
                      <a:r>
                        <a:rPr sz="1400" spc="-10">
                          <a:solidFill>
                            <a:srgbClr val="00AF50"/>
                          </a:solidFill>
                          <a:latin typeface="Times New Roman"/>
                          <a:cs typeface="Times New Roman"/>
                        </a:rPr>
                        <a:t>Kg</a:t>
                      </a:r>
                      <a:endParaRPr sz="1400">
                        <a:latin typeface="Times New Roman"/>
                        <a:cs typeface="Times New Roman"/>
                      </a:endParaRPr>
                    </a:p>
                    <a:p>
                      <a:pPr marL="97790">
                        <a:lnSpc>
                          <a:spcPct val="100000"/>
                        </a:lnSpc>
                        <a:spcBef>
                          <a:spcPts val="210"/>
                        </a:spcBef>
                      </a:pPr>
                      <a:r>
                        <a:rPr sz="1400" dirty="0">
                          <a:solidFill>
                            <a:srgbClr val="00AF50"/>
                          </a:solidFill>
                          <a:latin typeface="Times New Roman"/>
                          <a:cs typeface="Times New Roman"/>
                        </a:rPr>
                        <a:t>…</a:t>
                      </a:r>
                      <a:endParaRPr sz="1400">
                        <a:latin typeface="Times New Roman"/>
                        <a:cs typeface="Times New Roman"/>
                      </a:endParaRPr>
                    </a:p>
                  </a:txBody>
                  <a:tcPr marL="0" marR="0" marT="13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790">
                        <a:lnSpc>
                          <a:spcPct val="100000"/>
                        </a:lnSpc>
                        <a:spcBef>
                          <a:spcPts val="320"/>
                        </a:spcBef>
                      </a:pPr>
                      <a:r>
                        <a:rPr sz="1400" spc="5" dirty="0">
                          <a:solidFill>
                            <a:srgbClr val="00AF50"/>
                          </a:solidFill>
                          <a:latin typeface="Times New Roman"/>
                          <a:cs typeface="Times New Roman"/>
                        </a:rPr>
                        <a:t>100</a:t>
                      </a:r>
                      <a:endParaRPr sz="1400">
                        <a:latin typeface="Times New Roman"/>
                        <a:cs typeface="Times New Roman"/>
                      </a:endParaRPr>
                    </a:p>
                    <a:p>
                      <a:pPr marL="97790">
                        <a:lnSpc>
                          <a:spcPct val="100000"/>
                        </a:lnSpc>
                        <a:spcBef>
                          <a:spcPts val="340"/>
                        </a:spcBef>
                      </a:pPr>
                      <a:r>
                        <a:rPr sz="1400" spc="5" dirty="0">
                          <a:solidFill>
                            <a:srgbClr val="00AF50"/>
                          </a:solidFill>
                          <a:latin typeface="Times New Roman"/>
                          <a:cs typeface="Times New Roman"/>
                        </a:rPr>
                        <a:t>1000</a:t>
                      </a:r>
                      <a:endParaRPr sz="1400">
                        <a:latin typeface="Times New Roman"/>
                        <a:cs typeface="Times New Roman"/>
                      </a:endParaRPr>
                    </a:p>
                    <a:p>
                      <a:pPr marL="97790">
                        <a:lnSpc>
                          <a:spcPct val="100000"/>
                        </a:lnSpc>
                        <a:spcBef>
                          <a:spcPts val="335"/>
                        </a:spcBef>
                      </a:pPr>
                      <a:r>
                        <a:rPr sz="1400" dirty="0">
                          <a:solidFill>
                            <a:srgbClr val="00AF50"/>
                          </a:solidFill>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8425">
                        <a:lnSpc>
                          <a:spcPct val="100000"/>
                        </a:lnSpc>
                        <a:spcBef>
                          <a:spcPts val="320"/>
                        </a:spcBef>
                      </a:pPr>
                      <a:r>
                        <a:rPr sz="1400" spc="5" dirty="0">
                          <a:solidFill>
                            <a:srgbClr val="00AF50"/>
                          </a:solidFill>
                          <a:latin typeface="Times New Roman"/>
                          <a:cs typeface="Times New Roman"/>
                        </a:rPr>
                        <a:t>2000</a:t>
                      </a:r>
                      <a:endParaRPr sz="1400">
                        <a:latin typeface="Times New Roman"/>
                        <a:cs typeface="Times New Roman"/>
                      </a:endParaRPr>
                    </a:p>
                    <a:p>
                      <a:pPr marL="98425">
                        <a:lnSpc>
                          <a:spcPct val="100000"/>
                        </a:lnSpc>
                        <a:spcBef>
                          <a:spcPts val="340"/>
                        </a:spcBef>
                      </a:pPr>
                      <a:r>
                        <a:rPr sz="1400" spc="5" dirty="0">
                          <a:solidFill>
                            <a:srgbClr val="00AF50"/>
                          </a:solidFill>
                          <a:latin typeface="Times New Roman"/>
                          <a:cs typeface="Times New Roman"/>
                        </a:rPr>
                        <a:t>3000</a:t>
                      </a:r>
                      <a:endParaRPr sz="1400">
                        <a:latin typeface="Times New Roman"/>
                        <a:cs typeface="Times New Roman"/>
                      </a:endParaRPr>
                    </a:p>
                    <a:p>
                      <a:pPr marL="98425">
                        <a:lnSpc>
                          <a:spcPct val="100000"/>
                        </a:lnSpc>
                        <a:spcBef>
                          <a:spcPts val="335"/>
                        </a:spcBef>
                      </a:pPr>
                      <a:r>
                        <a:rPr sz="1400" dirty="0">
                          <a:solidFill>
                            <a:srgbClr val="00AF50"/>
                          </a:solidFill>
                          <a:latin typeface="Times New Roman"/>
                          <a:cs typeface="Times New Roman"/>
                        </a:rPr>
                        <a:t>…</a:t>
                      </a:r>
                      <a:endParaRPr sz="14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2550">
                <a:tc gridSpan="5">
                  <a:txBody>
                    <a:bodyPr/>
                    <a:lstStyle/>
                    <a:p>
                      <a:pPr>
                        <a:lnSpc>
                          <a:spcPct val="100000"/>
                        </a:lnSpc>
                      </a:pPr>
                      <a:endParaRPr sz="300" dirty="0">
                        <a:latin typeface="Times New Roman"/>
                        <a:cs typeface="Times New Roman"/>
                      </a:endParaRPr>
                    </a:p>
                  </a:txBody>
                  <a:tcPr marL="0" marR="0" marT="0" marB="0">
                    <a:lnT w="127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6" name="object 36"/>
          <p:cNvSpPr txBox="1"/>
          <p:nvPr/>
        </p:nvSpPr>
        <p:spPr>
          <a:xfrm>
            <a:off x="3465207" y="4733700"/>
            <a:ext cx="1703070" cy="258404"/>
          </a:xfrm>
          <a:prstGeom prst="rect">
            <a:avLst/>
          </a:prstGeom>
        </p:spPr>
        <p:txBody>
          <a:bodyPr vert="horz" wrap="square" lIns="0" tIns="12065" rIns="0" bIns="0" rtlCol="0">
            <a:spAutoFit/>
          </a:bodyPr>
          <a:lstStyle/>
          <a:p>
            <a:pPr marL="12700">
              <a:spcBef>
                <a:spcPts val="95"/>
              </a:spcBef>
            </a:pPr>
            <a:r>
              <a:rPr sz="1600" spc="-5" dirty="0">
                <a:latin typeface="Times New Roman"/>
                <a:cs typeface="Times New Roman"/>
              </a:rPr>
              <a:t>Tổng trị giá:</a:t>
            </a:r>
            <a:r>
              <a:rPr sz="1600" spc="-30" dirty="0">
                <a:latin typeface="Times New Roman"/>
                <a:cs typeface="Times New Roman"/>
              </a:rPr>
              <a:t> </a:t>
            </a:r>
            <a:r>
              <a:rPr sz="1600" spc="-5" dirty="0">
                <a:latin typeface="Times New Roman"/>
                <a:cs typeface="Times New Roman"/>
              </a:rPr>
              <a:t>………</a:t>
            </a:r>
            <a:endParaRPr sz="1600">
              <a:latin typeface="Times New Roman"/>
              <a:cs typeface="Times New Roman"/>
            </a:endParaRPr>
          </a:p>
        </p:txBody>
      </p:sp>
      <p:sp>
        <p:nvSpPr>
          <p:cNvPr id="37" name="object 37"/>
          <p:cNvSpPr/>
          <p:nvPr/>
        </p:nvSpPr>
        <p:spPr>
          <a:xfrm>
            <a:off x="7973961" y="1519482"/>
            <a:ext cx="1676400" cy="762000"/>
          </a:xfrm>
          <a:custGeom>
            <a:avLst/>
            <a:gdLst/>
            <a:ahLst/>
            <a:cxnLst/>
            <a:rect l="l" t="t" r="r" b="b"/>
            <a:pathLst>
              <a:path w="1676400" h="762000">
                <a:moveTo>
                  <a:pt x="0" y="762000"/>
                </a:moveTo>
                <a:lnTo>
                  <a:pt x="1676400" y="762000"/>
                </a:lnTo>
                <a:lnTo>
                  <a:pt x="1676400" y="0"/>
                </a:lnTo>
                <a:lnTo>
                  <a:pt x="0" y="0"/>
                </a:lnTo>
                <a:lnTo>
                  <a:pt x="0" y="762000"/>
                </a:lnTo>
                <a:close/>
              </a:path>
            </a:pathLst>
          </a:custGeom>
          <a:solidFill>
            <a:srgbClr val="EBDDC3"/>
          </a:solidFill>
        </p:spPr>
        <p:txBody>
          <a:bodyPr wrap="square" lIns="0" tIns="0" rIns="0" bIns="0" rtlCol="0"/>
          <a:lstStyle/>
          <a:p>
            <a:endParaRPr dirty="0"/>
          </a:p>
        </p:txBody>
      </p:sp>
      <p:sp>
        <p:nvSpPr>
          <p:cNvPr id="38" name="object 38"/>
          <p:cNvSpPr/>
          <p:nvPr/>
        </p:nvSpPr>
        <p:spPr>
          <a:xfrm>
            <a:off x="7973961" y="1519482"/>
            <a:ext cx="1676400" cy="762000"/>
          </a:xfrm>
          <a:custGeom>
            <a:avLst/>
            <a:gdLst/>
            <a:ahLst/>
            <a:cxnLst/>
            <a:rect l="l" t="t" r="r" b="b"/>
            <a:pathLst>
              <a:path w="1676400" h="762000">
                <a:moveTo>
                  <a:pt x="0" y="762000"/>
                </a:moveTo>
                <a:lnTo>
                  <a:pt x="1676400" y="762000"/>
                </a:lnTo>
                <a:lnTo>
                  <a:pt x="1676400" y="0"/>
                </a:lnTo>
                <a:lnTo>
                  <a:pt x="0" y="0"/>
                </a:lnTo>
                <a:lnTo>
                  <a:pt x="0" y="762000"/>
                </a:lnTo>
                <a:close/>
              </a:path>
            </a:pathLst>
          </a:custGeom>
          <a:ln w="9144">
            <a:solidFill>
              <a:srgbClr val="000000"/>
            </a:solidFill>
          </a:ln>
        </p:spPr>
        <p:txBody>
          <a:bodyPr wrap="square" lIns="0" tIns="0" rIns="0" bIns="0" rtlCol="0"/>
          <a:lstStyle/>
          <a:p>
            <a:endParaRPr/>
          </a:p>
        </p:txBody>
      </p:sp>
      <p:sp>
        <p:nvSpPr>
          <p:cNvPr id="39" name="object 39"/>
          <p:cNvSpPr txBox="1"/>
          <p:nvPr/>
        </p:nvSpPr>
        <p:spPr>
          <a:xfrm>
            <a:off x="8053463" y="1579624"/>
            <a:ext cx="1596898" cy="253274"/>
          </a:xfrm>
          <a:prstGeom prst="rect">
            <a:avLst/>
          </a:prstGeom>
          <a:solidFill>
            <a:srgbClr val="EBDDC3"/>
          </a:solidFill>
          <a:ln w="9144">
            <a:noFill/>
          </a:ln>
        </p:spPr>
        <p:txBody>
          <a:bodyPr vert="horz" wrap="square" lIns="0" tIns="37465" rIns="0" bIns="0" rtlCol="0">
            <a:spAutoFit/>
          </a:bodyPr>
          <a:lstStyle/>
          <a:p>
            <a:pPr marL="493395">
              <a:spcBef>
                <a:spcPts val="295"/>
              </a:spcBef>
            </a:pPr>
            <a:r>
              <a:rPr sz="1400" spc="-5" dirty="0" err="1">
                <a:latin typeface="Times New Roman" panose="02020603050405020304" pitchFamily="18" charset="0"/>
                <a:cs typeface="Times New Roman" panose="02020603050405020304" pitchFamily="18" charset="0"/>
              </a:rPr>
              <a:t>Ho</a:t>
            </a:r>
            <a:r>
              <a:rPr lang="en-US" sz="1400" spc="-5" dirty="0" err="1">
                <a:latin typeface="Times New Roman" panose="02020603050405020304" pitchFamily="18" charset="0"/>
                <a:cs typeface="Times New Roman" panose="02020603050405020304" pitchFamily="18" charset="0"/>
              </a:rPr>
              <a:t>á</a:t>
            </a:r>
            <a:r>
              <a:rPr sz="1400" spc="-2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đơn</a:t>
            </a:r>
            <a:endParaRPr sz="1400" dirty="0">
              <a:latin typeface="Times New Roman" panose="02020603050405020304" pitchFamily="18" charset="0"/>
              <a:cs typeface="Times New Roman" panose="02020603050405020304" pitchFamily="18" charset="0"/>
            </a:endParaRPr>
          </a:p>
        </p:txBody>
      </p:sp>
      <p:sp>
        <p:nvSpPr>
          <p:cNvPr id="40" name="object 40"/>
          <p:cNvSpPr/>
          <p:nvPr/>
        </p:nvSpPr>
        <p:spPr>
          <a:xfrm>
            <a:off x="7973961" y="19004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41" name="object 41"/>
          <p:cNvSpPr/>
          <p:nvPr/>
        </p:nvSpPr>
        <p:spPr>
          <a:xfrm>
            <a:off x="7973961" y="20909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42" name="object 42"/>
          <p:cNvSpPr/>
          <p:nvPr/>
        </p:nvSpPr>
        <p:spPr>
          <a:xfrm>
            <a:off x="3855224" y="1479352"/>
            <a:ext cx="4119879" cy="511809"/>
          </a:xfrm>
          <a:custGeom>
            <a:avLst/>
            <a:gdLst/>
            <a:ahLst/>
            <a:cxnLst/>
            <a:rect l="l" t="t" r="r" b="b"/>
            <a:pathLst>
              <a:path w="4119879" h="511810">
                <a:moveTo>
                  <a:pt x="109474" y="446532"/>
                </a:moveTo>
                <a:lnTo>
                  <a:pt x="0" y="484378"/>
                </a:lnTo>
                <a:lnTo>
                  <a:pt x="9398" y="511810"/>
                </a:lnTo>
                <a:lnTo>
                  <a:pt x="118871" y="473963"/>
                </a:lnTo>
                <a:lnTo>
                  <a:pt x="109474" y="446532"/>
                </a:lnTo>
                <a:close/>
              </a:path>
              <a:path w="4119879" h="511810">
                <a:moveTo>
                  <a:pt x="301370" y="381000"/>
                </a:moveTo>
                <a:lnTo>
                  <a:pt x="222249" y="407543"/>
                </a:lnTo>
                <a:lnTo>
                  <a:pt x="191516" y="418211"/>
                </a:lnTo>
                <a:lnTo>
                  <a:pt x="201041" y="445516"/>
                </a:lnTo>
                <a:lnTo>
                  <a:pt x="231774" y="434848"/>
                </a:lnTo>
                <a:lnTo>
                  <a:pt x="310515" y="408432"/>
                </a:lnTo>
                <a:lnTo>
                  <a:pt x="301370" y="381000"/>
                </a:lnTo>
                <a:close/>
              </a:path>
              <a:path w="4119879" h="511810">
                <a:moveTo>
                  <a:pt x="494030" y="317119"/>
                </a:moveTo>
                <a:lnTo>
                  <a:pt x="445769" y="332486"/>
                </a:lnTo>
                <a:lnTo>
                  <a:pt x="383667" y="353313"/>
                </a:lnTo>
                <a:lnTo>
                  <a:pt x="392937" y="380746"/>
                </a:lnTo>
                <a:lnTo>
                  <a:pt x="455041" y="359918"/>
                </a:lnTo>
                <a:lnTo>
                  <a:pt x="502793" y="344678"/>
                </a:lnTo>
                <a:lnTo>
                  <a:pt x="494030" y="317119"/>
                </a:lnTo>
                <a:close/>
              </a:path>
              <a:path w="4119879" h="511810">
                <a:moveTo>
                  <a:pt x="687451" y="256032"/>
                </a:moveTo>
                <a:lnTo>
                  <a:pt x="671703" y="260731"/>
                </a:lnTo>
                <a:lnTo>
                  <a:pt x="576833" y="290830"/>
                </a:lnTo>
                <a:lnTo>
                  <a:pt x="585596" y="318516"/>
                </a:lnTo>
                <a:lnTo>
                  <a:pt x="680339" y="288290"/>
                </a:lnTo>
                <a:lnTo>
                  <a:pt x="695706" y="283718"/>
                </a:lnTo>
                <a:lnTo>
                  <a:pt x="687451" y="256032"/>
                </a:lnTo>
                <a:close/>
              </a:path>
              <a:path w="4119879" h="511810">
                <a:moveTo>
                  <a:pt x="882395" y="199517"/>
                </a:moveTo>
                <a:lnTo>
                  <a:pt x="785748" y="226695"/>
                </a:lnTo>
                <a:lnTo>
                  <a:pt x="770762" y="231267"/>
                </a:lnTo>
                <a:lnTo>
                  <a:pt x="779018" y="258953"/>
                </a:lnTo>
                <a:lnTo>
                  <a:pt x="794131" y="254508"/>
                </a:lnTo>
                <a:lnTo>
                  <a:pt x="890269" y="227457"/>
                </a:lnTo>
                <a:lnTo>
                  <a:pt x="882395" y="199517"/>
                </a:lnTo>
                <a:close/>
              </a:path>
              <a:path w="4119879" h="511810">
                <a:moveTo>
                  <a:pt x="1079119" y="148462"/>
                </a:moveTo>
                <a:lnTo>
                  <a:pt x="1017269" y="163575"/>
                </a:lnTo>
                <a:lnTo>
                  <a:pt x="966469" y="177037"/>
                </a:lnTo>
                <a:lnTo>
                  <a:pt x="973962" y="204978"/>
                </a:lnTo>
                <a:lnTo>
                  <a:pt x="1024635" y="191516"/>
                </a:lnTo>
                <a:lnTo>
                  <a:pt x="1085977" y="176657"/>
                </a:lnTo>
                <a:lnTo>
                  <a:pt x="1079119" y="148462"/>
                </a:lnTo>
                <a:close/>
              </a:path>
              <a:path w="4119879" h="511810">
                <a:moveTo>
                  <a:pt x="1277366" y="103632"/>
                </a:moveTo>
                <a:lnTo>
                  <a:pt x="1253617" y="108331"/>
                </a:lnTo>
                <a:lnTo>
                  <a:pt x="1163828" y="128397"/>
                </a:lnTo>
                <a:lnTo>
                  <a:pt x="1170178" y="156718"/>
                </a:lnTo>
                <a:lnTo>
                  <a:pt x="1259967" y="136652"/>
                </a:lnTo>
                <a:lnTo>
                  <a:pt x="1282954" y="132080"/>
                </a:lnTo>
                <a:lnTo>
                  <a:pt x="1277366" y="103632"/>
                </a:lnTo>
                <a:close/>
              </a:path>
              <a:path w="4119879" h="511810">
                <a:moveTo>
                  <a:pt x="1476883" y="66167"/>
                </a:moveTo>
                <a:lnTo>
                  <a:pt x="1374012" y="84328"/>
                </a:lnTo>
                <a:lnTo>
                  <a:pt x="1362583" y="86613"/>
                </a:lnTo>
                <a:lnTo>
                  <a:pt x="1368170" y="115062"/>
                </a:lnTo>
                <a:lnTo>
                  <a:pt x="1379728" y="112775"/>
                </a:lnTo>
                <a:lnTo>
                  <a:pt x="1481835" y="94742"/>
                </a:lnTo>
                <a:lnTo>
                  <a:pt x="1476883" y="66167"/>
                </a:lnTo>
                <a:close/>
              </a:path>
              <a:path w="4119879" h="511810">
                <a:moveTo>
                  <a:pt x="1678178" y="37084"/>
                </a:moveTo>
                <a:lnTo>
                  <a:pt x="1620011" y="44323"/>
                </a:lnTo>
                <a:lnTo>
                  <a:pt x="1563116" y="52832"/>
                </a:lnTo>
                <a:lnTo>
                  <a:pt x="1567307" y="81407"/>
                </a:lnTo>
                <a:lnTo>
                  <a:pt x="1624330" y="72898"/>
                </a:lnTo>
                <a:lnTo>
                  <a:pt x="1681733" y="65912"/>
                </a:lnTo>
                <a:lnTo>
                  <a:pt x="1678178" y="37084"/>
                </a:lnTo>
                <a:close/>
              </a:path>
              <a:path w="4119879" h="511810">
                <a:moveTo>
                  <a:pt x="1880616" y="16129"/>
                </a:moveTo>
                <a:lnTo>
                  <a:pt x="1873758" y="16637"/>
                </a:lnTo>
                <a:lnTo>
                  <a:pt x="1764919" y="26924"/>
                </a:lnTo>
                <a:lnTo>
                  <a:pt x="1767585" y="55753"/>
                </a:lnTo>
                <a:lnTo>
                  <a:pt x="1876552" y="45338"/>
                </a:lnTo>
                <a:lnTo>
                  <a:pt x="1882520" y="44958"/>
                </a:lnTo>
                <a:lnTo>
                  <a:pt x="1880616" y="16129"/>
                </a:lnTo>
                <a:close/>
              </a:path>
              <a:path w="4119879" h="511810">
                <a:moveTo>
                  <a:pt x="2083308" y="4572"/>
                </a:moveTo>
                <a:lnTo>
                  <a:pt x="2003806" y="7874"/>
                </a:lnTo>
                <a:lnTo>
                  <a:pt x="1967230" y="10287"/>
                </a:lnTo>
                <a:lnTo>
                  <a:pt x="1969134" y="39243"/>
                </a:lnTo>
                <a:lnTo>
                  <a:pt x="2005710" y="36703"/>
                </a:lnTo>
                <a:lnTo>
                  <a:pt x="2084451" y="33528"/>
                </a:lnTo>
                <a:lnTo>
                  <a:pt x="2083308" y="4572"/>
                </a:lnTo>
                <a:close/>
              </a:path>
              <a:path w="4119879" h="511810">
                <a:moveTo>
                  <a:pt x="2269871" y="0"/>
                </a:moveTo>
                <a:lnTo>
                  <a:pt x="2170430" y="1778"/>
                </a:lnTo>
                <a:lnTo>
                  <a:pt x="2170937" y="30734"/>
                </a:lnTo>
                <a:lnTo>
                  <a:pt x="2270379" y="28956"/>
                </a:lnTo>
                <a:lnTo>
                  <a:pt x="2286508" y="28956"/>
                </a:lnTo>
                <a:lnTo>
                  <a:pt x="2286635" y="127"/>
                </a:lnTo>
                <a:lnTo>
                  <a:pt x="2269871" y="0"/>
                </a:lnTo>
                <a:close/>
              </a:path>
              <a:path w="4119879" h="511810">
                <a:moveTo>
                  <a:pt x="2286508" y="28956"/>
                </a:moveTo>
                <a:lnTo>
                  <a:pt x="2270379" y="28956"/>
                </a:lnTo>
                <a:lnTo>
                  <a:pt x="2286508" y="29083"/>
                </a:lnTo>
                <a:close/>
              </a:path>
              <a:path w="4119879" h="511810">
                <a:moveTo>
                  <a:pt x="2373503" y="508"/>
                </a:moveTo>
                <a:lnTo>
                  <a:pt x="2373376" y="29463"/>
                </a:lnTo>
                <a:lnTo>
                  <a:pt x="2405507" y="29591"/>
                </a:lnTo>
                <a:lnTo>
                  <a:pt x="2488819" y="31496"/>
                </a:lnTo>
                <a:lnTo>
                  <a:pt x="2489581" y="2540"/>
                </a:lnTo>
                <a:lnTo>
                  <a:pt x="2405634" y="635"/>
                </a:lnTo>
                <a:lnTo>
                  <a:pt x="2373503" y="508"/>
                </a:lnTo>
                <a:close/>
              </a:path>
              <a:path w="4119879" h="511810">
                <a:moveTo>
                  <a:pt x="2576576" y="5080"/>
                </a:moveTo>
                <a:lnTo>
                  <a:pt x="2575433" y="34036"/>
                </a:lnTo>
                <a:lnTo>
                  <a:pt x="2690876" y="38862"/>
                </a:lnTo>
                <a:lnTo>
                  <a:pt x="2692527" y="10033"/>
                </a:lnTo>
                <a:lnTo>
                  <a:pt x="2681732" y="9398"/>
                </a:lnTo>
                <a:lnTo>
                  <a:pt x="2576576" y="5080"/>
                </a:lnTo>
                <a:close/>
              </a:path>
              <a:path w="4119879" h="511810">
                <a:moveTo>
                  <a:pt x="2779268" y="14859"/>
                </a:moveTo>
                <a:lnTo>
                  <a:pt x="2777617" y="43687"/>
                </a:lnTo>
                <a:lnTo>
                  <a:pt x="2820289" y="46100"/>
                </a:lnTo>
                <a:lnTo>
                  <a:pt x="2893060" y="51181"/>
                </a:lnTo>
                <a:lnTo>
                  <a:pt x="2895092" y="22225"/>
                </a:lnTo>
                <a:lnTo>
                  <a:pt x="2821940" y="17145"/>
                </a:lnTo>
                <a:lnTo>
                  <a:pt x="2779268" y="14859"/>
                </a:lnTo>
                <a:close/>
              </a:path>
              <a:path w="4119879" h="511810">
                <a:moveTo>
                  <a:pt x="2981833" y="28575"/>
                </a:moveTo>
                <a:lnTo>
                  <a:pt x="2979547" y="57404"/>
                </a:lnTo>
                <a:lnTo>
                  <a:pt x="3094990" y="66802"/>
                </a:lnTo>
                <a:lnTo>
                  <a:pt x="3097276" y="37846"/>
                </a:lnTo>
                <a:lnTo>
                  <a:pt x="2981833" y="28575"/>
                </a:lnTo>
                <a:close/>
              </a:path>
              <a:path w="4119879" h="511810">
                <a:moveTo>
                  <a:pt x="3184017" y="45720"/>
                </a:moveTo>
                <a:lnTo>
                  <a:pt x="3181349" y="74549"/>
                </a:lnTo>
                <a:lnTo>
                  <a:pt x="3246501" y="80518"/>
                </a:lnTo>
                <a:lnTo>
                  <a:pt x="3296411" y="85598"/>
                </a:lnTo>
                <a:lnTo>
                  <a:pt x="3299459" y="56769"/>
                </a:lnTo>
                <a:lnTo>
                  <a:pt x="3249041" y="51562"/>
                </a:lnTo>
                <a:lnTo>
                  <a:pt x="3184017" y="45720"/>
                </a:lnTo>
                <a:close/>
              </a:path>
              <a:path w="4119879" h="511810">
                <a:moveTo>
                  <a:pt x="3385820" y="65786"/>
                </a:moveTo>
                <a:lnTo>
                  <a:pt x="3382899" y="94487"/>
                </a:lnTo>
                <a:lnTo>
                  <a:pt x="3498087" y="106425"/>
                </a:lnTo>
                <a:lnTo>
                  <a:pt x="3501008" y="77597"/>
                </a:lnTo>
                <a:lnTo>
                  <a:pt x="3385820" y="65786"/>
                </a:lnTo>
                <a:close/>
              </a:path>
              <a:path w="4119879" h="511810">
                <a:moveTo>
                  <a:pt x="3587623" y="87122"/>
                </a:moveTo>
                <a:lnTo>
                  <a:pt x="3584321" y="115950"/>
                </a:lnTo>
                <a:lnTo>
                  <a:pt x="3699382" y="129159"/>
                </a:lnTo>
                <a:lnTo>
                  <a:pt x="3702684" y="100330"/>
                </a:lnTo>
                <a:lnTo>
                  <a:pt x="3587623" y="87122"/>
                </a:lnTo>
                <a:close/>
              </a:path>
              <a:path w="4119879" h="511810">
                <a:moveTo>
                  <a:pt x="3788917" y="110236"/>
                </a:moveTo>
                <a:lnTo>
                  <a:pt x="3785615" y="139065"/>
                </a:lnTo>
                <a:lnTo>
                  <a:pt x="3900551" y="152654"/>
                </a:lnTo>
                <a:lnTo>
                  <a:pt x="3903979" y="123952"/>
                </a:lnTo>
                <a:lnTo>
                  <a:pt x="3788917" y="110236"/>
                </a:lnTo>
                <a:close/>
              </a:path>
              <a:path w="4119879" h="511810">
                <a:moveTo>
                  <a:pt x="4036169" y="169004"/>
                </a:moveTo>
                <a:lnTo>
                  <a:pt x="3985640" y="190881"/>
                </a:lnTo>
                <a:lnTo>
                  <a:pt x="3982211" y="199390"/>
                </a:lnTo>
                <a:lnTo>
                  <a:pt x="3985386" y="206629"/>
                </a:lnTo>
                <a:lnTo>
                  <a:pt x="3988561" y="213995"/>
                </a:lnTo>
                <a:lnTo>
                  <a:pt x="3997198" y="217424"/>
                </a:lnTo>
                <a:lnTo>
                  <a:pt x="4094354" y="175387"/>
                </a:lnTo>
                <a:lnTo>
                  <a:pt x="4089273" y="175387"/>
                </a:lnTo>
                <a:lnTo>
                  <a:pt x="4036169" y="169004"/>
                </a:lnTo>
                <a:close/>
              </a:path>
              <a:path w="4119879" h="511810">
                <a:moveTo>
                  <a:pt x="4062493" y="157598"/>
                </a:moveTo>
                <a:lnTo>
                  <a:pt x="4036169" y="169004"/>
                </a:lnTo>
                <a:lnTo>
                  <a:pt x="4089273" y="175387"/>
                </a:lnTo>
                <a:lnTo>
                  <a:pt x="4089619" y="172593"/>
                </a:lnTo>
                <a:lnTo>
                  <a:pt x="4082287" y="172593"/>
                </a:lnTo>
                <a:lnTo>
                  <a:pt x="4062493" y="157598"/>
                </a:lnTo>
                <a:close/>
              </a:path>
              <a:path w="4119879" h="511810">
                <a:moveTo>
                  <a:pt x="4013200" y="83947"/>
                </a:moveTo>
                <a:lnTo>
                  <a:pt x="4004182" y="85217"/>
                </a:lnTo>
                <a:lnTo>
                  <a:pt x="3994530" y="97917"/>
                </a:lnTo>
                <a:lnTo>
                  <a:pt x="3995674" y="107061"/>
                </a:lnTo>
                <a:lnTo>
                  <a:pt x="4002151" y="111887"/>
                </a:lnTo>
                <a:lnTo>
                  <a:pt x="4039545" y="140214"/>
                </a:lnTo>
                <a:lnTo>
                  <a:pt x="4092829" y="146685"/>
                </a:lnTo>
                <a:lnTo>
                  <a:pt x="4089273" y="175387"/>
                </a:lnTo>
                <a:lnTo>
                  <a:pt x="4094354" y="175387"/>
                </a:lnTo>
                <a:lnTo>
                  <a:pt x="4119626" y="164465"/>
                </a:lnTo>
                <a:lnTo>
                  <a:pt x="4013200" y="83947"/>
                </a:lnTo>
                <a:close/>
              </a:path>
              <a:path w="4119879" h="511810">
                <a:moveTo>
                  <a:pt x="4085335" y="147700"/>
                </a:moveTo>
                <a:lnTo>
                  <a:pt x="4062493" y="157598"/>
                </a:lnTo>
                <a:lnTo>
                  <a:pt x="4082287" y="172593"/>
                </a:lnTo>
                <a:lnTo>
                  <a:pt x="4085335" y="147700"/>
                </a:lnTo>
                <a:close/>
              </a:path>
              <a:path w="4119879" h="511810">
                <a:moveTo>
                  <a:pt x="4092703" y="147700"/>
                </a:moveTo>
                <a:lnTo>
                  <a:pt x="4085335" y="147700"/>
                </a:lnTo>
                <a:lnTo>
                  <a:pt x="4082287" y="172593"/>
                </a:lnTo>
                <a:lnTo>
                  <a:pt x="4089619" y="172593"/>
                </a:lnTo>
                <a:lnTo>
                  <a:pt x="4092703" y="147700"/>
                </a:lnTo>
                <a:close/>
              </a:path>
              <a:path w="4119879" h="511810">
                <a:moveTo>
                  <a:pt x="3990339" y="134238"/>
                </a:moveTo>
                <a:lnTo>
                  <a:pt x="3986783" y="163068"/>
                </a:lnTo>
                <a:lnTo>
                  <a:pt x="4036169" y="169004"/>
                </a:lnTo>
                <a:lnTo>
                  <a:pt x="4062493" y="157598"/>
                </a:lnTo>
                <a:lnTo>
                  <a:pt x="4039545" y="140214"/>
                </a:lnTo>
                <a:lnTo>
                  <a:pt x="3990339" y="134238"/>
                </a:lnTo>
                <a:close/>
              </a:path>
              <a:path w="4119879" h="511810">
                <a:moveTo>
                  <a:pt x="4039545" y="140214"/>
                </a:moveTo>
                <a:lnTo>
                  <a:pt x="4062493" y="157598"/>
                </a:lnTo>
                <a:lnTo>
                  <a:pt x="4085335" y="147700"/>
                </a:lnTo>
                <a:lnTo>
                  <a:pt x="4092703" y="147700"/>
                </a:lnTo>
                <a:lnTo>
                  <a:pt x="4092829" y="146685"/>
                </a:lnTo>
                <a:lnTo>
                  <a:pt x="4039545" y="140214"/>
                </a:lnTo>
                <a:close/>
              </a:path>
            </a:pathLst>
          </a:custGeom>
          <a:solidFill>
            <a:srgbClr val="FF0066"/>
          </a:solidFill>
        </p:spPr>
        <p:txBody>
          <a:bodyPr wrap="square" lIns="0" tIns="0" rIns="0" bIns="0" rtlCol="0"/>
          <a:lstStyle/>
          <a:p>
            <a:endParaRPr/>
          </a:p>
        </p:txBody>
      </p:sp>
      <p:sp>
        <p:nvSpPr>
          <p:cNvPr id="43" name="object 43"/>
          <p:cNvSpPr/>
          <p:nvPr/>
        </p:nvSpPr>
        <p:spPr>
          <a:xfrm>
            <a:off x="2031122" y="2434644"/>
            <a:ext cx="3276600" cy="609600"/>
          </a:xfrm>
          <a:custGeom>
            <a:avLst/>
            <a:gdLst/>
            <a:ahLst/>
            <a:cxnLst/>
            <a:rect l="l" t="t" r="r" b="b"/>
            <a:pathLst>
              <a:path w="3276600" h="609600">
                <a:moveTo>
                  <a:pt x="0" y="304800"/>
                </a:moveTo>
                <a:lnTo>
                  <a:pt x="14956" y="263453"/>
                </a:lnTo>
                <a:lnTo>
                  <a:pt x="58525" y="223793"/>
                </a:lnTo>
                <a:lnTo>
                  <a:pt x="102503" y="198470"/>
                </a:lnTo>
                <a:lnTo>
                  <a:pt x="157750" y="174166"/>
                </a:lnTo>
                <a:lnTo>
                  <a:pt x="223689" y="150988"/>
                </a:lnTo>
                <a:lnTo>
                  <a:pt x="260487" y="139856"/>
                </a:lnTo>
                <a:lnTo>
                  <a:pt x="299741" y="129046"/>
                </a:lnTo>
                <a:lnTo>
                  <a:pt x="341378" y="118571"/>
                </a:lnTo>
                <a:lnTo>
                  <a:pt x="385327" y="108446"/>
                </a:lnTo>
                <a:lnTo>
                  <a:pt x="431515" y="98683"/>
                </a:lnTo>
                <a:lnTo>
                  <a:pt x="479869" y="89296"/>
                </a:lnTo>
                <a:lnTo>
                  <a:pt x="530318" y="80299"/>
                </a:lnTo>
                <a:lnTo>
                  <a:pt x="582788" y="71705"/>
                </a:lnTo>
                <a:lnTo>
                  <a:pt x="637209" y="63527"/>
                </a:lnTo>
                <a:lnTo>
                  <a:pt x="693507" y="55779"/>
                </a:lnTo>
                <a:lnTo>
                  <a:pt x="751609" y="48475"/>
                </a:lnTo>
                <a:lnTo>
                  <a:pt x="811445" y="41627"/>
                </a:lnTo>
                <a:lnTo>
                  <a:pt x="872941" y="35250"/>
                </a:lnTo>
                <a:lnTo>
                  <a:pt x="936025" y="29357"/>
                </a:lnTo>
                <a:lnTo>
                  <a:pt x="1000625" y="23961"/>
                </a:lnTo>
                <a:lnTo>
                  <a:pt x="1066668" y="19076"/>
                </a:lnTo>
                <a:lnTo>
                  <a:pt x="1134082" y="14715"/>
                </a:lnTo>
                <a:lnTo>
                  <a:pt x="1202795" y="10892"/>
                </a:lnTo>
                <a:lnTo>
                  <a:pt x="1272735" y="7620"/>
                </a:lnTo>
                <a:lnTo>
                  <a:pt x="1343829" y="4912"/>
                </a:lnTo>
                <a:lnTo>
                  <a:pt x="1416005" y="2783"/>
                </a:lnTo>
                <a:lnTo>
                  <a:pt x="1489190" y="1246"/>
                </a:lnTo>
                <a:lnTo>
                  <a:pt x="1563312" y="313"/>
                </a:lnTo>
                <a:lnTo>
                  <a:pt x="1638300" y="0"/>
                </a:lnTo>
                <a:lnTo>
                  <a:pt x="1713287" y="313"/>
                </a:lnTo>
                <a:lnTo>
                  <a:pt x="1787409" y="1246"/>
                </a:lnTo>
                <a:lnTo>
                  <a:pt x="1860594" y="2783"/>
                </a:lnTo>
                <a:lnTo>
                  <a:pt x="1932770" y="4912"/>
                </a:lnTo>
                <a:lnTo>
                  <a:pt x="2003864" y="7620"/>
                </a:lnTo>
                <a:lnTo>
                  <a:pt x="2073804" y="10892"/>
                </a:lnTo>
                <a:lnTo>
                  <a:pt x="2142517" y="14715"/>
                </a:lnTo>
                <a:lnTo>
                  <a:pt x="2209931" y="19076"/>
                </a:lnTo>
                <a:lnTo>
                  <a:pt x="2275974" y="23961"/>
                </a:lnTo>
                <a:lnTo>
                  <a:pt x="2340574" y="29357"/>
                </a:lnTo>
                <a:lnTo>
                  <a:pt x="2403658" y="35250"/>
                </a:lnTo>
                <a:lnTo>
                  <a:pt x="2465154" y="41627"/>
                </a:lnTo>
                <a:lnTo>
                  <a:pt x="2524990" y="48475"/>
                </a:lnTo>
                <a:lnTo>
                  <a:pt x="2583092" y="55779"/>
                </a:lnTo>
                <a:lnTo>
                  <a:pt x="2639390" y="63527"/>
                </a:lnTo>
                <a:lnTo>
                  <a:pt x="2693811" y="71705"/>
                </a:lnTo>
                <a:lnTo>
                  <a:pt x="2746281" y="80299"/>
                </a:lnTo>
                <a:lnTo>
                  <a:pt x="2796730" y="89296"/>
                </a:lnTo>
                <a:lnTo>
                  <a:pt x="2845084" y="98683"/>
                </a:lnTo>
                <a:lnTo>
                  <a:pt x="2891272" y="108446"/>
                </a:lnTo>
                <a:lnTo>
                  <a:pt x="2935221" y="118571"/>
                </a:lnTo>
                <a:lnTo>
                  <a:pt x="2976858" y="129046"/>
                </a:lnTo>
                <a:lnTo>
                  <a:pt x="3016112" y="139856"/>
                </a:lnTo>
                <a:lnTo>
                  <a:pt x="3052910" y="150988"/>
                </a:lnTo>
                <a:lnTo>
                  <a:pt x="3118849" y="174166"/>
                </a:lnTo>
                <a:lnTo>
                  <a:pt x="3174096" y="198470"/>
                </a:lnTo>
                <a:lnTo>
                  <a:pt x="3218074" y="223793"/>
                </a:lnTo>
                <a:lnTo>
                  <a:pt x="3250202" y="250027"/>
                </a:lnTo>
                <a:lnTo>
                  <a:pt x="3274914" y="290852"/>
                </a:lnTo>
                <a:lnTo>
                  <a:pt x="3276600" y="304800"/>
                </a:lnTo>
                <a:lnTo>
                  <a:pt x="3274914" y="318747"/>
                </a:lnTo>
                <a:lnTo>
                  <a:pt x="3250202" y="359572"/>
                </a:lnTo>
                <a:lnTo>
                  <a:pt x="3218074" y="385806"/>
                </a:lnTo>
                <a:lnTo>
                  <a:pt x="3174096" y="411129"/>
                </a:lnTo>
                <a:lnTo>
                  <a:pt x="3118849" y="435433"/>
                </a:lnTo>
                <a:lnTo>
                  <a:pt x="3052910" y="458611"/>
                </a:lnTo>
                <a:lnTo>
                  <a:pt x="3016112" y="469743"/>
                </a:lnTo>
                <a:lnTo>
                  <a:pt x="2976858" y="480553"/>
                </a:lnTo>
                <a:lnTo>
                  <a:pt x="2935221" y="491028"/>
                </a:lnTo>
                <a:lnTo>
                  <a:pt x="2891272" y="501153"/>
                </a:lnTo>
                <a:lnTo>
                  <a:pt x="2845084" y="510916"/>
                </a:lnTo>
                <a:lnTo>
                  <a:pt x="2796730" y="520303"/>
                </a:lnTo>
                <a:lnTo>
                  <a:pt x="2746281" y="529300"/>
                </a:lnTo>
                <a:lnTo>
                  <a:pt x="2693811" y="537894"/>
                </a:lnTo>
                <a:lnTo>
                  <a:pt x="2639390" y="546072"/>
                </a:lnTo>
                <a:lnTo>
                  <a:pt x="2583092" y="553820"/>
                </a:lnTo>
                <a:lnTo>
                  <a:pt x="2524990" y="561124"/>
                </a:lnTo>
                <a:lnTo>
                  <a:pt x="2465154" y="567972"/>
                </a:lnTo>
                <a:lnTo>
                  <a:pt x="2403658" y="574349"/>
                </a:lnTo>
                <a:lnTo>
                  <a:pt x="2340574" y="580242"/>
                </a:lnTo>
                <a:lnTo>
                  <a:pt x="2275974" y="585638"/>
                </a:lnTo>
                <a:lnTo>
                  <a:pt x="2209931" y="590523"/>
                </a:lnTo>
                <a:lnTo>
                  <a:pt x="2142517" y="594884"/>
                </a:lnTo>
                <a:lnTo>
                  <a:pt x="2073804" y="598707"/>
                </a:lnTo>
                <a:lnTo>
                  <a:pt x="2003864" y="601979"/>
                </a:lnTo>
                <a:lnTo>
                  <a:pt x="1932770" y="604687"/>
                </a:lnTo>
                <a:lnTo>
                  <a:pt x="1860594" y="606816"/>
                </a:lnTo>
                <a:lnTo>
                  <a:pt x="1787409" y="608353"/>
                </a:lnTo>
                <a:lnTo>
                  <a:pt x="1713287" y="609286"/>
                </a:lnTo>
                <a:lnTo>
                  <a:pt x="1638300" y="609600"/>
                </a:lnTo>
                <a:lnTo>
                  <a:pt x="1563312" y="609286"/>
                </a:lnTo>
                <a:lnTo>
                  <a:pt x="1489190" y="608353"/>
                </a:lnTo>
                <a:lnTo>
                  <a:pt x="1416005" y="606816"/>
                </a:lnTo>
                <a:lnTo>
                  <a:pt x="1343829" y="604687"/>
                </a:lnTo>
                <a:lnTo>
                  <a:pt x="1272735" y="601979"/>
                </a:lnTo>
                <a:lnTo>
                  <a:pt x="1202795" y="598707"/>
                </a:lnTo>
                <a:lnTo>
                  <a:pt x="1134082" y="594884"/>
                </a:lnTo>
                <a:lnTo>
                  <a:pt x="1066668" y="590523"/>
                </a:lnTo>
                <a:lnTo>
                  <a:pt x="1000625" y="585638"/>
                </a:lnTo>
                <a:lnTo>
                  <a:pt x="936025" y="580242"/>
                </a:lnTo>
                <a:lnTo>
                  <a:pt x="872941" y="574349"/>
                </a:lnTo>
                <a:lnTo>
                  <a:pt x="811445" y="567972"/>
                </a:lnTo>
                <a:lnTo>
                  <a:pt x="751609" y="561124"/>
                </a:lnTo>
                <a:lnTo>
                  <a:pt x="693507" y="553820"/>
                </a:lnTo>
                <a:lnTo>
                  <a:pt x="637209" y="546072"/>
                </a:lnTo>
                <a:lnTo>
                  <a:pt x="582788" y="537894"/>
                </a:lnTo>
                <a:lnTo>
                  <a:pt x="530318" y="529300"/>
                </a:lnTo>
                <a:lnTo>
                  <a:pt x="479869" y="520303"/>
                </a:lnTo>
                <a:lnTo>
                  <a:pt x="431515" y="510916"/>
                </a:lnTo>
                <a:lnTo>
                  <a:pt x="385327" y="501153"/>
                </a:lnTo>
                <a:lnTo>
                  <a:pt x="341378" y="491028"/>
                </a:lnTo>
                <a:lnTo>
                  <a:pt x="299741" y="480553"/>
                </a:lnTo>
                <a:lnTo>
                  <a:pt x="260487" y="469743"/>
                </a:lnTo>
                <a:lnTo>
                  <a:pt x="223689" y="458611"/>
                </a:lnTo>
                <a:lnTo>
                  <a:pt x="157750" y="435433"/>
                </a:lnTo>
                <a:lnTo>
                  <a:pt x="102503" y="411129"/>
                </a:lnTo>
                <a:lnTo>
                  <a:pt x="58525" y="385806"/>
                </a:lnTo>
                <a:lnTo>
                  <a:pt x="26397" y="359572"/>
                </a:lnTo>
                <a:lnTo>
                  <a:pt x="1685" y="318747"/>
                </a:lnTo>
                <a:lnTo>
                  <a:pt x="0" y="304800"/>
                </a:lnTo>
                <a:close/>
              </a:path>
            </a:pathLst>
          </a:custGeom>
          <a:ln w="19812">
            <a:solidFill>
              <a:srgbClr val="FF0066"/>
            </a:solidFill>
            <a:prstDash val="sysDashDot"/>
          </a:ln>
        </p:spPr>
        <p:txBody>
          <a:bodyPr wrap="square" lIns="0" tIns="0" rIns="0" bIns="0" rtlCol="0"/>
          <a:lstStyle/>
          <a:p>
            <a:endParaRPr/>
          </a:p>
        </p:txBody>
      </p:sp>
      <p:sp>
        <p:nvSpPr>
          <p:cNvPr id="44" name="object 44"/>
          <p:cNvSpPr/>
          <p:nvPr/>
        </p:nvSpPr>
        <p:spPr>
          <a:xfrm>
            <a:off x="7973961" y="2891082"/>
            <a:ext cx="1676400" cy="762000"/>
          </a:xfrm>
          <a:custGeom>
            <a:avLst/>
            <a:gdLst/>
            <a:ahLst/>
            <a:cxnLst/>
            <a:rect l="l" t="t" r="r" b="b"/>
            <a:pathLst>
              <a:path w="1676400" h="762000">
                <a:moveTo>
                  <a:pt x="0" y="762000"/>
                </a:moveTo>
                <a:lnTo>
                  <a:pt x="1676400" y="762000"/>
                </a:lnTo>
                <a:lnTo>
                  <a:pt x="1676400" y="0"/>
                </a:lnTo>
                <a:lnTo>
                  <a:pt x="0" y="0"/>
                </a:lnTo>
                <a:lnTo>
                  <a:pt x="0" y="762000"/>
                </a:lnTo>
                <a:close/>
              </a:path>
            </a:pathLst>
          </a:custGeom>
          <a:solidFill>
            <a:srgbClr val="EBDDC3"/>
          </a:solidFill>
        </p:spPr>
        <p:txBody>
          <a:bodyPr wrap="square" lIns="0" tIns="0" rIns="0" bIns="0" rtlCol="0"/>
          <a:lstStyle/>
          <a:p>
            <a:endParaRPr/>
          </a:p>
        </p:txBody>
      </p:sp>
      <p:sp>
        <p:nvSpPr>
          <p:cNvPr id="45" name="object 45"/>
          <p:cNvSpPr/>
          <p:nvPr/>
        </p:nvSpPr>
        <p:spPr>
          <a:xfrm>
            <a:off x="7973961" y="2891082"/>
            <a:ext cx="1676400" cy="762000"/>
          </a:xfrm>
          <a:custGeom>
            <a:avLst/>
            <a:gdLst/>
            <a:ahLst/>
            <a:cxnLst/>
            <a:rect l="l" t="t" r="r" b="b"/>
            <a:pathLst>
              <a:path w="1676400" h="762000">
                <a:moveTo>
                  <a:pt x="0" y="762000"/>
                </a:moveTo>
                <a:lnTo>
                  <a:pt x="1676400" y="762000"/>
                </a:lnTo>
                <a:lnTo>
                  <a:pt x="1676400" y="0"/>
                </a:lnTo>
                <a:lnTo>
                  <a:pt x="0" y="0"/>
                </a:lnTo>
                <a:lnTo>
                  <a:pt x="0" y="762000"/>
                </a:lnTo>
                <a:close/>
              </a:path>
            </a:pathLst>
          </a:custGeom>
          <a:ln w="9144">
            <a:solidFill>
              <a:srgbClr val="000000"/>
            </a:solidFill>
          </a:ln>
        </p:spPr>
        <p:txBody>
          <a:bodyPr wrap="square" lIns="0" tIns="0" rIns="0" bIns="0" rtlCol="0"/>
          <a:lstStyle/>
          <a:p>
            <a:endParaRPr/>
          </a:p>
        </p:txBody>
      </p:sp>
      <p:sp>
        <p:nvSpPr>
          <p:cNvPr id="46" name="object 46"/>
          <p:cNvSpPr txBox="1"/>
          <p:nvPr/>
        </p:nvSpPr>
        <p:spPr>
          <a:xfrm>
            <a:off x="7973961" y="2891082"/>
            <a:ext cx="1676400" cy="253916"/>
          </a:xfrm>
          <a:prstGeom prst="rect">
            <a:avLst/>
          </a:prstGeom>
          <a:solidFill>
            <a:srgbClr val="EBDDC3"/>
          </a:solidFill>
          <a:ln w="9144">
            <a:solidFill>
              <a:srgbClr val="000000"/>
            </a:solidFill>
          </a:ln>
        </p:spPr>
        <p:txBody>
          <a:bodyPr vert="horz" wrap="square" lIns="0" tIns="38100" rIns="0" bIns="0" rtlCol="0">
            <a:spAutoFit/>
          </a:bodyPr>
          <a:lstStyle/>
          <a:p>
            <a:pPr marL="364490">
              <a:spcBef>
                <a:spcPts val="300"/>
              </a:spcBef>
            </a:pPr>
            <a:r>
              <a:rPr sz="1400" dirty="0">
                <a:latin typeface="Arial"/>
                <a:cs typeface="Arial"/>
              </a:rPr>
              <a:t>Khách</a:t>
            </a:r>
            <a:r>
              <a:rPr sz="1400" spc="-40" dirty="0">
                <a:latin typeface="Arial"/>
                <a:cs typeface="Arial"/>
              </a:rPr>
              <a:t> </a:t>
            </a:r>
            <a:r>
              <a:rPr sz="1400" dirty="0">
                <a:latin typeface="Arial"/>
                <a:cs typeface="Arial"/>
              </a:rPr>
              <a:t>hàng</a:t>
            </a:r>
          </a:p>
        </p:txBody>
      </p:sp>
      <p:sp>
        <p:nvSpPr>
          <p:cNvPr id="47" name="object 47"/>
          <p:cNvSpPr/>
          <p:nvPr/>
        </p:nvSpPr>
        <p:spPr>
          <a:xfrm>
            <a:off x="7973961" y="32720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48" name="object 48"/>
          <p:cNvSpPr/>
          <p:nvPr/>
        </p:nvSpPr>
        <p:spPr>
          <a:xfrm>
            <a:off x="7973961" y="34625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49" name="object 49"/>
          <p:cNvSpPr/>
          <p:nvPr/>
        </p:nvSpPr>
        <p:spPr>
          <a:xfrm>
            <a:off x="4845062" y="2802311"/>
            <a:ext cx="2901315" cy="537845"/>
          </a:xfrm>
          <a:custGeom>
            <a:avLst/>
            <a:gdLst/>
            <a:ahLst/>
            <a:cxnLst/>
            <a:rect l="l" t="t" r="r" b="b"/>
            <a:pathLst>
              <a:path w="2901315" h="537845">
                <a:moveTo>
                  <a:pt x="10922" y="0"/>
                </a:moveTo>
                <a:lnTo>
                  <a:pt x="0" y="26669"/>
                </a:lnTo>
                <a:lnTo>
                  <a:pt x="107061" y="70866"/>
                </a:lnTo>
                <a:lnTo>
                  <a:pt x="118110" y="44068"/>
                </a:lnTo>
                <a:lnTo>
                  <a:pt x="10922" y="0"/>
                </a:lnTo>
                <a:close/>
              </a:path>
              <a:path w="2901315" h="537845">
                <a:moveTo>
                  <a:pt x="198374" y="76835"/>
                </a:moveTo>
                <a:lnTo>
                  <a:pt x="187579" y="103759"/>
                </a:lnTo>
                <a:lnTo>
                  <a:pt x="278130" y="139954"/>
                </a:lnTo>
                <a:lnTo>
                  <a:pt x="295402" y="146557"/>
                </a:lnTo>
                <a:lnTo>
                  <a:pt x="305816" y="119634"/>
                </a:lnTo>
                <a:lnTo>
                  <a:pt x="218821" y="85217"/>
                </a:lnTo>
                <a:lnTo>
                  <a:pt x="198374" y="76835"/>
                </a:lnTo>
                <a:close/>
              </a:path>
              <a:path w="2901315" h="537845">
                <a:moveTo>
                  <a:pt x="386842" y="150622"/>
                </a:moveTo>
                <a:lnTo>
                  <a:pt x="376555" y="177800"/>
                </a:lnTo>
                <a:lnTo>
                  <a:pt x="420751" y="194310"/>
                </a:lnTo>
                <a:lnTo>
                  <a:pt x="485521" y="217678"/>
                </a:lnTo>
                <a:lnTo>
                  <a:pt x="495300" y="190500"/>
                </a:lnTo>
                <a:lnTo>
                  <a:pt x="431038" y="167259"/>
                </a:lnTo>
                <a:lnTo>
                  <a:pt x="386842" y="150622"/>
                </a:lnTo>
                <a:close/>
              </a:path>
              <a:path w="2901315" h="537845">
                <a:moveTo>
                  <a:pt x="576961" y="218694"/>
                </a:moveTo>
                <a:lnTo>
                  <a:pt x="568071" y="246253"/>
                </a:lnTo>
                <a:lnTo>
                  <a:pt x="642874" y="270763"/>
                </a:lnTo>
                <a:lnTo>
                  <a:pt x="678561" y="281686"/>
                </a:lnTo>
                <a:lnTo>
                  <a:pt x="687070" y="254000"/>
                </a:lnTo>
                <a:lnTo>
                  <a:pt x="651891" y="243205"/>
                </a:lnTo>
                <a:lnTo>
                  <a:pt x="576961" y="218694"/>
                </a:lnTo>
                <a:close/>
              </a:path>
              <a:path w="2901315" h="537845">
                <a:moveTo>
                  <a:pt x="770128" y="278638"/>
                </a:moveTo>
                <a:lnTo>
                  <a:pt x="762127" y="306450"/>
                </a:lnTo>
                <a:lnTo>
                  <a:pt x="798195" y="316865"/>
                </a:lnTo>
                <a:lnTo>
                  <a:pt x="874141" y="336931"/>
                </a:lnTo>
                <a:lnTo>
                  <a:pt x="881634" y="308991"/>
                </a:lnTo>
                <a:lnTo>
                  <a:pt x="806196" y="288925"/>
                </a:lnTo>
                <a:lnTo>
                  <a:pt x="770128" y="278638"/>
                </a:lnTo>
                <a:close/>
              </a:path>
              <a:path w="2901315" h="537845">
                <a:moveTo>
                  <a:pt x="965708" y="329311"/>
                </a:moveTo>
                <a:lnTo>
                  <a:pt x="958850" y="357505"/>
                </a:lnTo>
                <a:lnTo>
                  <a:pt x="1003300" y="367411"/>
                </a:lnTo>
                <a:lnTo>
                  <a:pt x="1072642" y="381888"/>
                </a:lnTo>
                <a:lnTo>
                  <a:pt x="1078357" y="353568"/>
                </a:lnTo>
                <a:lnTo>
                  <a:pt x="1051814" y="348234"/>
                </a:lnTo>
                <a:lnTo>
                  <a:pt x="967867" y="329819"/>
                </a:lnTo>
                <a:lnTo>
                  <a:pt x="965708" y="329311"/>
                </a:lnTo>
                <a:close/>
              </a:path>
              <a:path w="2901315" h="537845">
                <a:moveTo>
                  <a:pt x="1163447" y="369443"/>
                </a:moveTo>
                <a:lnTo>
                  <a:pt x="1158367" y="397891"/>
                </a:lnTo>
                <a:lnTo>
                  <a:pt x="1177290" y="401319"/>
                </a:lnTo>
                <a:lnTo>
                  <a:pt x="1222375" y="408559"/>
                </a:lnTo>
                <a:lnTo>
                  <a:pt x="1273175" y="416051"/>
                </a:lnTo>
                <a:lnTo>
                  <a:pt x="1277366" y="387476"/>
                </a:lnTo>
                <a:lnTo>
                  <a:pt x="1226947" y="379984"/>
                </a:lnTo>
                <a:lnTo>
                  <a:pt x="1182370" y="372744"/>
                </a:lnTo>
                <a:lnTo>
                  <a:pt x="1163447" y="369443"/>
                </a:lnTo>
                <a:close/>
              </a:path>
              <a:path w="2901315" h="537845">
                <a:moveTo>
                  <a:pt x="1363218" y="399034"/>
                </a:moveTo>
                <a:lnTo>
                  <a:pt x="1359662" y="427736"/>
                </a:lnTo>
                <a:lnTo>
                  <a:pt x="1408938" y="433831"/>
                </a:lnTo>
                <a:lnTo>
                  <a:pt x="1474978" y="440817"/>
                </a:lnTo>
                <a:lnTo>
                  <a:pt x="1478026" y="411988"/>
                </a:lnTo>
                <a:lnTo>
                  <a:pt x="1412621" y="405130"/>
                </a:lnTo>
                <a:lnTo>
                  <a:pt x="1363218" y="399034"/>
                </a:lnTo>
                <a:close/>
              </a:path>
              <a:path w="2901315" h="537845">
                <a:moveTo>
                  <a:pt x="1564259" y="420116"/>
                </a:moveTo>
                <a:lnTo>
                  <a:pt x="1561719" y="449072"/>
                </a:lnTo>
                <a:lnTo>
                  <a:pt x="1604899" y="452881"/>
                </a:lnTo>
                <a:lnTo>
                  <a:pt x="1677416" y="458088"/>
                </a:lnTo>
                <a:lnTo>
                  <a:pt x="1679448" y="429260"/>
                </a:lnTo>
                <a:lnTo>
                  <a:pt x="1607566" y="424053"/>
                </a:lnTo>
                <a:lnTo>
                  <a:pt x="1564259" y="420116"/>
                </a:lnTo>
                <a:close/>
              </a:path>
              <a:path w="2901315" h="537845">
                <a:moveTo>
                  <a:pt x="1765935" y="434848"/>
                </a:moveTo>
                <a:lnTo>
                  <a:pt x="1764284" y="463676"/>
                </a:lnTo>
                <a:lnTo>
                  <a:pt x="1808861" y="466471"/>
                </a:lnTo>
                <a:lnTo>
                  <a:pt x="1880108" y="469900"/>
                </a:lnTo>
                <a:lnTo>
                  <a:pt x="1881505" y="440944"/>
                </a:lnTo>
                <a:lnTo>
                  <a:pt x="1810639" y="437515"/>
                </a:lnTo>
                <a:lnTo>
                  <a:pt x="1765935" y="434848"/>
                </a:lnTo>
                <a:close/>
              </a:path>
              <a:path w="2901315" h="537845">
                <a:moveTo>
                  <a:pt x="1968119" y="444500"/>
                </a:moveTo>
                <a:lnTo>
                  <a:pt x="1966976" y="473456"/>
                </a:lnTo>
                <a:lnTo>
                  <a:pt x="2019427" y="475488"/>
                </a:lnTo>
                <a:lnTo>
                  <a:pt x="2082927" y="477138"/>
                </a:lnTo>
                <a:lnTo>
                  <a:pt x="2083689" y="448182"/>
                </a:lnTo>
                <a:lnTo>
                  <a:pt x="2020570" y="446531"/>
                </a:lnTo>
                <a:lnTo>
                  <a:pt x="1968119" y="444500"/>
                </a:lnTo>
                <a:close/>
              </a:path>
              <a:path w="2901315" h="537845">
                <a:moveTo>
                  <a:pt x="2170557" y="450342"/>
                </a:moveTo>
                <a:lnTo>
                  <a:pt x="2169795" y="479298"/>
                </a:lnTo>
                <a:lnTo>
                  <a:pt x="2235327" y="480949"/>
                </a:lnTo>
                <a:lnTo>
                  <a:pt x="2285746" y="481711"/>
                </a:lnTo>
                <a:lnTo>
                  <a:pt x="2286127" y="452755"/>
                </a:lnTo>
                <a:lnTo>
                  <a:pt x="2235962" y="452119"/>
                </a:lnTo>
                <a:lnTo>
                  <a:pt x="2170557" y="450342"/>
                </a:lnTo>
                <a:close/>
              </a:path>
              <a:path w="2901315" h="537845">
                <a:moveTo>
                  <a:pt x="2372995" y="453898"/>
                </a:moveTo>
                <a:lnTo>
                  <a:pt x="2372614" y="482854"/>
                </a:lnTo>
                <a:lnTo>
                  <a:pt x="2488565" y="483997"/>
                </a:lnTo>
                <a:lnTo>
                  <a:pt x="2488692" y="455041"/>
                </a:lnTo>
                <a:lnTo>
                  <a:pt x="2372995" y="453898"/>
                </a:lnTo>
                <a:close/>
              </a:path>
              <a:path w="2901315" h="537845">
                <a:moveTo>
                  <a:pt x="2575560" y="455422"/>
                </a:moveTo>
                <a:lnTo>
                  <a:pt x="2575433" y="484378"/>
                </a:lnTo>
                <a:lnTo>
                  <a:pt x="2691257" y="484886"/>
                </a:lnTo>
                <a:lnTo>
                  <a:pt x="2691384" y="455930"/>
                </a:lnTo>
                <a:lnTo>
                  <a:pt x="2575560" y="455422"/>
                </a:lnTo>
                <a:close/>
              </a:path>
              <a:path w="2901315" h="537845">
                <a:moveTo>
                  <a:pt x="2785999" y="403225"/>
                </a:moveTo>
                <a:lnTo>
                  <a:pt x="2777109" y="405511"/>
                </a:lnTo>
                <a:lnTo>
                  <a:pt x="2773045" y="412496"/>
                </a:lnTo>
                <a:lnTo>
                  <a:pt x="2768980" y="419354"/>
                </a:lnTo>
                <a:lnTo>
                  <a:pt x="2771394" y="428244"/>
                </a:lnTo>
                <a:lnTo>
                  <a:pt x="2818840" y="455984"/>
                </a:lnTo>
                <a:lnTo>
                  <a:pt x="2872359" y="456056"/>
                </a:lnTo>
                <a:lnTo>
                  <a:pt x="2872359" y="485013"/>
                </a:lnTo>
                <a:lnTo>
                  <a:pt x="2818746" y="485013"/>
                </a:lnTo>
                <a:lnTo>
                  <a:pt x="2778252" y="508635"/>
                </a:lnTo>
                <a:lnTo>
                  <a:pt x="2771267" y="512572"/>
                </a:lnTo>
                <a:lnTo>
                  <a:pt x="2768980" y="521462"/>
                </a:lnTo>
                <a:lnTo>
                  <a:pt x="2772918" y="528447"/>
                </a:lnTo>
                <a:lnTo>
                  <a:pt x="2776982" y="535305"/>
                </a:lnTo>
                <a:lnTo>
                  <a:pt x="2785872" y="537591"/>
                </a:lnTo>
                <a:lnTo>
                  <a:pt x="2876310" y="485013"/>
                </a:lnTo>
                <a:lnTo>
                  <a:pt x="2872359" y="485013"/>
                </a:lnTo>
                <a:lnTo>
                  <a:pt x="2876434" y="484940"/>
                </a:lnTo>
                <a:lnTo>
                  <a:pt x="2901188" y="470535"/>
                </a:lnTo>
                <a:lnTo>
                  <a:pt x="2785999" y="403225"/>
                </a:lnTo>
                <a:close/>
              </a:path>
              <a:path w="2901315" h="537845">
                <a:moveTo>
                  <a:pt x="2843675" y="470471"/>
                </a:moveTo>
                <a:lnTo>
                  <a:pt x="2818870" y="484940"/>
                </a:lnTo>
                <a:lnTo>
                  <a:pt x="2872359" y="485013"/>
                </a:lnTo>
                <a:lnTo>
                  <a:pt x="2872359" y="482981"/>
                </a:lnTo>
                <a:lnTo>
                  <a:pt x="2865120" y="482981"/>
                </a:lnTo>
                <a:lnTo>
                  <a:pt x="2843675" y="470471"/>
                </a:lnTo>
                <a:close/>
              </a:path>
              <a:path w="2901315" h="537845">
                <a:moveTo>
                  <a:pt x="2778252" y="455930"/>
                </a:moveTo>
                <a:lnTo>
                  <a:pt x="2778125" y="484886"/>
                </a:lnTo>
                <a:lnTo>
                  <a:pt x="2818870" y="484940"/>
                </a:lnTo>
                <a:lnTo>
                  <a:pt x="2843675" y="470471"/>
                </a:lnTo>
                <a:lnTo>
                  <a:pt x="2818840" y="455984"/>
                </a:lnTo>
                <a:lnTo>
                  <a:pt x="2778252" y="455930"/>
                </a:lnTo>
                <a:close/>
              </a:path>
              <a:path w="2901315" h="537845">
                <a:moveTo>
                  <a:pt x="2865120" y="457962"/>
                </a:moveTo>
                <a:lnTo>
                  <a:pt x="2843675" y="470471"/>
                </a:lnTo>
                <a:lnTo>
                  <a:pt x="2865120" y="482981"/>
                </a:lnTo>
                <a:lnTo>
                  <a:pt x="2865120" y="457962"/>
                </a:lnTo>
                <a:close/>
              </a:path>
              <a:path w="2901315" h="537845">
                <a:moveTo>
                  <a:pt x="2872359" y="457962"/>
                </a:moveTo>
                <a:lnTo>
                  <a:pt x="2865120" y="457962"/>
                </a:lnTo>
                <a:lnTo>
                  <a:pt x="2865120" y="482981"/>
                </a:lnTo>
                <a:lnTo>
                  <a:pt x="2872359" y="482981"/>
                </a:lnTo>
                <a:lnTo>
                  <a:pt x="2872359" y="457962"/>
                </a:lnTo>
                <a:close/>
              </a:path>
              <a:path w="2901315" h="537845">
                <a:moveTo>
                  <a:pt x="2818840" y="455984"/>
                </a:moveTo>
                <a:lnTo>
                  <a:pt x="2843675" y="470471"/>
                </a:lnTo>
                <a:lnTo>
                  <a:pt x="2865120" y="457962"/>
                </a:lnTo>
                <a:lnTo>
                  <a:pt x="2872359" y="457962"/>
                </a:lnTo>
                <a:lnTo>
                  <a:pt x="2872359" y="456056"/>
                </a:lnTo>
                <a:lnTo>
                  <a:pt x="2818840" y="455984"/>
                </a:lnTo>
                <a:close/>
              </a:path>
            </a:pathLst>
          </a:custGeom>
          <a:solidFill>
            <a:srgbClr val="FF0066"/>
          </a:solidFill>
        </p:spPr>
        <p:txBody>
          <a:bodyPr wrap="square" lIns="0" tIns="0" rIns="0" bIns="0" rtlCol="0"/>
          <a:lstStyle/>
          <a:p>
            <a:endParaRPr/>
          </a:p>
        </p:txBody>
      </p:sp>
      <p:sp>
        <p:nvSpPr>
          <p:cNvPr id="50" name="object 50"/>
          <p:cNvSpPr/>
          <p:nvPr/>
        </p:nvSpPr>
        <p:spPr>
          <a:xfrm>
            <a:off x="7973961" y="4491282"/>
            <a:ext cx="1676400" cy="762000"/>
          </a:xfrm>
          <a:custGeom>
            <a:avLst/>
            <a:gdLst/>
            <a:ahLst/>
            <a:cxnLst/>
            <a:rect l="l" t="t" r="r" b="b"/>
            <a:pathLst>
              <a:path w="1676400" h="762000">
                <a:moveTo>
                  <a:pt x="0" y="761999"/>
                </a:moveTo>
                <a:lnTo>
                  <a:pt x="1676400" y="761999"/>
                </a:lnTo>
                <a:lnTo>
                  <a:pt x="1676400" y="0"/>
                </a:lnTo>
                <a:lnTo>
                  <a:pt x="0" y="0"/>
                </a:lnTo>
                <a:lnTo>
                  <a:pt x="0" y="761999"/>
                </a:lnTo>
                <a:close/>
              </a:path>
            </a:pathLst>
          </a:custGeom>
          <a:solidFill>
            <a:srgbClr val="EBDDC3"/>
          </a:solidFill>
        </p:spPr>
        <p:txBody>
          <a:bodyPr wrap="square" lIns="0" tIns="0" rIns="0" bIns="0" rtlCol="0"/>
          <a:lstStyle/>
          <a:p>
            <a:endParaRPr/>
          </a:p>
        </p:txBody>
      </p:sp>
      <p:sp>
        <p:nvSpPr>
          <p:cNvPr id="51" name="object 51"/>
          <p:cNvSpPr/>
          <p:nvPr/>
        </p:nvSpPr>
        <p:spPr>
          <a:xfrm>
            <a:off x="7973961" y="4491282"/>
            <a:ext cx="1676400" cy="762000"/>
          </a:xfrm>
          <a:custGeom>
            <a:avLst/>
            <a:gdLst/>
            <a:ahLst/>
            <a:cxnLst/>
            <a:rect l="l" t="t" r="r" b="b"/>
            <a:pathLst>
              <a:path w="1676400" h="762000">
                <a:moveTo>
                  <a:pt x="0" y="761999"/>
                </a:moveTo>
                <a:lnTo>
                  <a:pt x="1676400" y="761999"/>
                </a:lnTo>
                <a:lnTo>
                  <a:pt x="1676400" y="0"/>
                </a:lnTo>
                <a:lnTo>
                  <a:pt x="0" y="0"/>
                </a:lnTo>
                <a:lnTo>
                  <a:pt x="0" y="761999"/>
                </a:lnTo>
                <a:close/>
              </a:path>
            </a:pathLst>
          </a:custGeom>
          <a:ln w="9144">
            <a:solidFill>
              <a:srgbClr val="000000"/>
            </a:solidFill>
          </a:ln>
        </p:spPr>
        <p:txBody>
          <a:bodyPr wrap="square" lIns="0" tIns="0" rIns="0" bIns="0" rtlCol="0"/>
          <a:lstStyle/>
          <a:p>
            <a:endParaRPr/>
          </a:p>
        </p:txBody>
      </p:sp>
      <p:sp>
        <p:nvSpPr>
          <p:cNvPr id="52" name="object 52"/>
          <p:cNvSpPr txBox="1"/>
          <p:nvPr/>
        </p:nvSpPr>
        <p:spPr>
          <a:xfrm>
            <a:off x="7973961" y="4491282"/>
            <a:ext cx="1676400" cy="253916"/>
          </a:xfrm>
          <a:prstGeom prst="rect">
            <a:avLst/>
          </a:prstGeom>
          <a:solidFill>
            <a:srgbClr val="EBDDC3"/>
          </a:solidFill>
          <a:ln w="9144">
            <a:solidFill>
              <a:srgbClr val="000000"/>
            </a:solidFill>
          </a:ln>
        </p:spPr>
        <p:txBody>
          <a:bodyPr vert="horz" wrap="square" lIns="0" tIns="38100" rIns="0" bIns="0" rtlCol="0">
            <a:spAutoFit/>
          </a:bodyPr>
          <a:lstStyle/>
          <a:p>
            <a:pPr marL="1905" algn="ctr">
              <a:spcBef>
                <a:spcPts val="300"/>
              </a:spcBef>
            </a:pPr>
            <a:r>
              <a:rPr sz="1400" spc="-5" dirty="0">
                <a:latin typeface="Arial"/>
                <a:cs typeface="Arial"/>
              </a:rPr>
              <a:t>Hàng</a:t>
            </a:r>
            <a:endParaRPr sz="1400" dirty="0">
              <a:latin typeface="Arial"/>
              <a:cs typeface="Arial"/>
            </a:endParaRPr>
          </a:p>
        </p:txBody>
      </p:sp>
      <p:sp>
        <p:nvSpPr>
          <p:cNvPr id="53" name="object 53"/>
          <p:cNvSpPr/>
          <p:nvPr/>
        </p:nvSpPr>
        <p:spPr>
          <a:xfrm>
            <a:off x="7973961" y="48722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54" name="object 54"/>
          <p:cNvSpPr/>
          <p:nvPr/>
        </p:nvSpPr>
        <p:spPr>
          <a:xfrm>
            <a:off x="7973961" y="50627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55" name="object 55"/>
          <p:cNvSpPr/>
          <p:nvPr/>
        </p:nvSpPr>
        <p:spPr>
          <a:xfrm>
            <a:off x="2107322" y="3196644"/>
            <a:ext cx="1752600" cy="1600200"/>
          </a:xfrm>
          <a:custGeom>
            <a:avLst/>
            <a:gdLst/>
            <a:ahLst/>
            <a:cxnLst/>
            <a:rect l="l" t="t" r="r" b="b"/>
            <a:pathLst>
              <a:path w="1752600" h="1600200">
                <a:moveTo>
                  <a:pt x="0" y="800100"/>
                </a:moveTo>
                <a:lnTo>
                  <a:pt x="1387" y="754702"/>
                </a:lnTo>
                <a:lnTo>
                  <a:pt x="5499" y="709968"/>
                </a:lnTo>
                <a:lnTo>
                  <a:pt x="12261" y="665966"/>
                </a:lnTo>
                <a:lnTo>
                  <a:pt x="21601" y="622762"/>
                </a:lnTo>
                <a:lnTo>
                  <a:pt x="33444" y="580425"/>
                </a:lnTo>
                <a:lnTo>
                  <a:pt x="47716" y="539023"/>
                </a:lnTo>
                <a:lnTo>
                  <a:pt x="64343" y="498621"/>
                </a:lnTo>
                <a:lnTo>
                  <a:pt x="83251" y="459290"/>
                </a:lnTo>
                <a:lnTo>
                  <a:pt x="104367" y="421094"/>
                </a:lnTo>
                <a:lnTo>
                  <a:pt x="127616" y="384104"/>
                </a:lnTo>
                <a:lnTo>
                  <a:pt x="152923" y="348385"/>
                </a:lnTo>
                <a:lnTo>
                  <a:pt x="180217" y="314006"/>
                </a:lnTo>
                <a:lnTo>
                  <a:pt x="209421" y="281034"/>
                </a:lnTo>
                <a:lnTo>
                  <a:pt x="240464" y="249537"/>
                </a:lnTo>
                <a:lnTo>
                  <a:pt x="273269" y="219582"/>
                </a:lnTo>
                <a:lnTo>
                  <a:pt x="307764" y="191237"/>
                </a:lnTo>
                <a:lnTo>
                  <a:pt x="343875" y="164569"/>
                </a:lnTo>
                <a:lnTo>
                  <a:pt x="381527" y="139646"/>
                </a:lnTo>
                <a:lnTo>
                  <a:pt x="420647" y="116537"/>
                </a:lnTo>
                <a:lnTo>
                  <a:pt x="461161" y="95307"/>
                </a:lnTo>
                <a:lnTo>
                  <a:pt x="502995" y="76025"/>
                </a:lnTo>
                <a:lnTo>
                  <a:pt x="546074" y="58758"/>
                </a:lnTo>
                <a:lnTo>
                  <a:pt x="590325" y="43575"/>
                </a:lnTo>
                <a:lnTo>
                  <a:pt x="635674" y="30542"/>
                </a:lnTo>
                <a:lnTo>
                  <a:pt x="682047" y="19727"/>
                </a:lnTo>
                <a:lnTo>
                  <a:pt x="729370" y="11197"/>
                </a:lnTo>
                <a:lnTo>
                  <a:pt x="777569" y="5021"/>
                </a:lnTo>
                <a:lnTo>
                  <a:pt x="826570" y="1266"/>
                </a:lnTo>
                <a:lnTo>
                  <a:pt x="876300" y="0"/>
                </a:lnTo>
                <a:lnTo>
                  <a:pt x="926029" y="1266"/>
                </a:lnTo>
                <a:lnTo>
                  <a:pt x="975030" y="5021"/>
                </a:lnTo>
                <a:lnTo>
                  <a:pt x="1023229" y="11197"/>
                </a:lnTo>
                <a:lnTo>
                  <a:pt x="1070552" y="19727"/>
                </a:lnTo>
                <a:lnTo>
                  <a:pt x="1116925" y="30542"/>
                </a:lnTo>
                <a:lnTo>
                  <a:pt x="1162274" y="43575"/>
                </a:lnTo>
                <a:lnTo>
                  <a:pt x="1206525" y="58758"/>
                </a:lnTo>
                <a:lnTo>
                  <a:pt x="1249604" y="76025"/>
                </a:lnTo>
                <a:lnTo>
                  <a:pt x="1291438" y="95307"/>
                </a:lnTo>
                <a:lnTo>
                  <a:pt x="1331952" y="116537"/>
                </a:lnTo>
                <a:lnTo>
                  <a:pt x="1371072" y="139646"/>
                </a:lnTo>
                <a:lnTo>
                  <a:pt x="1408724" y="164569"/>
                </a:lnTo>
                <a:lnTo>
                  <a:pt x="1444835" y="191237"/>
                </a:lnTo>
                <a:lnTo>
                  <a:pt x="1479330" y="219582"/>
                </a:lnTo>
                <a:lnTo>
                  <a:pt x="1512135" y="249537"/>
                </a:lnTo>
                <a:lnTo>
                  <a:pt x="1543178" y="281034"/>
                </a:lnTo>
                <a:lnTo>
                  <a:pt x="1572382" y="314006"/>
                </a:lnTo>
                <a:lnTo>
                  <a:pt x="1599676" y="348385"/>
                </a:lnTo>
                <a:lnTo>
                  <a:pt x="1624983" y="384104"/>
                </a:lnTo>
                <a:lnTo>
                  <a:pt x="1648232" y="421094"/>
                </a:lnTo>
                <a:lnTo>
                  <a:pt x="1669348" y="459290"/>
                </a:lnTo>
                <a:lnTo>
                  <a:pt x="1688256" y="498621"/>
                </a:lnTo>
                <a:lnTo>
                  <a:pt x="1704883" y="539023"/>
                </a:lnTo>
                <a:lnTo>
                  <a:pt x="1719155" y="580425"/>
                </a:lnTo>
                <a:lnTo>
                  <a:pt x="1730998" y="622762"/>
                </a:lnTo>
                <a:lnTo>
                  <a:pt x="1740338" y="665966"/>
                </a:lnTo>
                <a:lnTo>
                  <a:pt x="1747100" y="709968"/>
                </a:lnTo>
                <a:lnTo>
                  <a:pt x="1751212" y="754702"/>
                </a:lnTo>
                <a:lnTo>
                  <a:pt x="1752600" y="800100"/>
                </a:lnTo>
                <a:lnTo>
                  <a:pt x="1751212" y="845497"/>
                </a:lnTo>
                <a:lnTo>
                  <a:pt x="1747100" y="890231"/>
                </a:lnTo>
                <a:lnTo>
                  <a:pt x="1740338" y="934233"/>
                </a:lnTo>
                <a:lnTo>
                  <a:pt x="1730998" y="977437"/>
                </a:lnTo>
                <a:lnTo>
                  <a:pt x="1719155" y="1019774"/>
                </a:lnTo>
                <a:lnTo>
                  <a:pt x="1704883" y="1061176"/>
                </a:lnTo>
                <a:lnTo>
                  <a:pt x="1688256" y="1101578"/>
                </a:lnTo>
                <a:lnTo>
                  <a:pt x="1669348" y="1140909"/>
                </a:lnTo>
                <a:lnTo>
                  <a:pt x="1648232" y="1179105"/>
                </a:lnTo>
                <a:lnTo>
                  <a:pt x="1624983" y="1216095"/>
                </a:lnTo>
                <a:lnTo>
                  <a:pt x="1599676" y="1251814"/>
                </a:lnTo>
                <a:lnTo>
                  <a:pt x="1572382" y="1286193"/>
                </a:lnTo>
                <a:lnTo>
                  <a:pt x="1543178" y="1319165"/>
                </a:lnTo>
                <a:lnTo>
                  <a:pt x="1512135" y="1350662"/>
                </a:lnTo>
                <a:lnTo>
                  <a:pt x="1479330" y="1380617"/>
                </a:lnTo>
                <a:lnTo>
                  <a:pt x="1444835" y="1408962"/>
                </a:lnTo>
                <a:lnTo>
                  <a:pt x="1408724" y="1435630"/>
                </a:lnTo>
                <a:lnTo>
                  <a:pt x="1371072" y="1460553"/>
                </a:lnTo>
                <a:lnTo>
                  <a:pt x="1331952" y="1483662"/>
                </a:lnTo>
                <a:lnTo>
                  <a:pt x="1291438" y="1504892"/>
                </a:lnTo>
                <a:lnTo>
                  <a:pt x="1249604" y="1524174"/>
                </a:lnTo>
                <a:lnTo>
                  <a:pt x="1206525" y="1541441"/>
                </a:lnTo>
                <a:lnTo>
                  <a:pt x="1162274" y="1556624"/>
                </a:lnTo>
                <a:lnTo>
                  <a:pt x="1116925" y="1569657"/>
                </a:lnTo>
                <a:lnTo>
                  <a:pt x="1070552" y="1580472"/>
                </a:lnTo>
                <a:lnTo>
                  <a:pt x="1023229" y="1589002"/>
                </a:lnTo>
                <a:lnTo>
                  <a:pt x="975030" y="1595178"/>
                </a:lnTo>
                <a:lnTo>
                  <a:pt x="926029" y="1598933"/>
                </a:lnTo>
                <a:lnTo>
                  <a:pt x="876300" y="1600200"/>
                </a:lnTo>
                <a:lnTo>
                  <a:pt x="826570" y="1598933"/>
                </a:lnTo>
                <a:lnTo>
                  <a:pt x="777569" y="1595178"/>
                </a:lnTo>
                <a:lnTo>
                  <a:pt x="729370" y="1589002"/>
                </a:lnTo>
                <a:lnTo>
                  <a:pt x="682047" y="1580472"/>
                </a:lnTo>
                <a:lnTo>
                  <a:pt x="635674" y="1569657"/>
                </a:lnTo>
                <a:lnTo>
                  <a:pt x="590325" y="1556624"/>
                </a:lnTo>
                <a:lnTo>
                  <a:pt x="546074" y="1541441"/>
                </a:lnTo>
                <a:lnTo>
                  <a:pt x="502995" y="1524174"/>
                </a:lnTo>
                <a:lnTo>
                  <a:pt x="461161" y="1504892"/>
                </a:lnTo>
                <a:lnTo>
                  <a:pt x="420647" y="1483662"/>
                </a:lnTo>
                <a:lnTo>
                  <a:pt x="381527" y="1460553"/>
                </a:lnTo>
                <a:lnTo>
                  <a:pt x="343875" y="1435630"/>
                </a:lnTo>
                <a:lnTo>
                  <a:pt x="307764" y="1408962"/>
                </a:lnTo>
                <a:lnTo>
                  <a:pt x="273269" y="1380617"/>
                </a:lnTo>
                <a:lnTo>
                  <a:pt x="240464" y="1350662"/>
                </a:lnTo>
                <a:lnTo>
                  <a:pt x="209421" y="1319165"/>
                </a:lnTo>
                <a:lnTo>
                  <a:pt x="180217" y="1286193"/>
                </a:lnTo>
                <a:lnTo>
                  <a:pt x="152923" y="1251814"/>
                </a:lnTo>
                <a:lnTo>
                  <a:pt x="127616" y="1216095"/>
                </a:lnTo>
                <a:lnTo>
                  <a:pt x="104367" y="1179105"/>
                </a:lnTo>
                <a:lnTo>
                  <a:pt x="83251" y="1140909"/>
                </a:lnTo>
                <a:lnTo>
                  <a:pt x="64343" y="1101578"/>
                </a:lnTo>
                <a:lnTo>
                  <a:pt x="47716" y="1061176"/>
                </a:lnTo>
                <a:lnTo>
                  <a:pt x="33444" y="1019774"/>
                </a:lnTo>
                <a:lnTo>
                  <a:pt x="21601" y="977437"/>
                </a:lnTo>
                <a:lnTo>
                  <a:pt x="12261" y="934233"/>
                </a:lnTo>
                <a:lnTo>
                  <a:pt x="5499" y="890231"/>
                </a:lnTo>
                <a:lnTo>
                  <a:pt x="1387" y="845497"/>
                </a:lnTo>
                <a:lnTo>
                  <a:pt x="0" y="800100"/>
                </a:lnTo>
                <a:close/>
              </a:path>
            </a:pathLst>
          </a:custGeom>
          <a:ln w="19812">
            <a:solidFill>
              <a:srgbClr val="FF0066"/>
            </a:solidFill>
            <a:prstDash val="sysDash"/>
          </a:ln>
        </p:spPr>
        <p:txBody>
          <a:bodyPr wrap="square" lIns="0" tIns="0" rIns="0" bIns="0" rtlCol="0"/>
          <a:lstStyle/>
          <a:p>
            <a:endParaRPr/>
          </a:p>
        </p:txBody>
      </p:sp>
      <p:sp>
        <p:nvSpPr>
          <p:cNvPr id="56" name="object 56"/>
          <p:cNvSpPr/>
          <p:nvPr/>
        </p:nvSpPr>
        <p:spPr>
          <a:xfrm>
            <a:off x="3626878" y="4325930"/>
            <a:ext cx="4196080" cy="770255"/>
          </a:xfrm>
          <a:custGeom>
            <a:avLst/>
            <a:gdLst/>
            <a:ahLst/>
            <a:cxnLst/>
            <a:rect l="l" t="t" r="r" b="b"/>
            <a:pathLst>
              <a:path w="4196080" h="770254">
                <a:moveTo>
                  <a:pt x="8889" y="0"/>
                </a:moveTo>
                <a:lnTo>
                  <a:pt x="0" y="27431"/>
                </a:lnTo>
                <a:lnTo>
                  <a:pt x="109981" y="63499"/>
                </a:lnTo>
                <a:lnTo>
                  <a:pt x="118998" y="35940"/>
                </a:lnTo>
                <a:lnTo>
                  <a:pt x="8889" y="0"/>
                </a:lnTo>
                <a:close/>
              </a:path>
              <a:path w="4196080" h="770254">
                <a:moveTo>
                  <a:pt x="201548" y="62864"/>
                </a:moveTo>
                <a:lnTo>
                  <a:pt x="192658" y="90423"/>
                </a:lnTo>
                <a:lnTo>
                  <a:pt x="302767" y="126364"/>
                </a:lnTo>
                <a:lnTo>
                  <a:pt x="311657" y="98805"/>
                </a:lnTo>
                <a:lnTo>
                  <a:pt x="201548" y="62864"/>
                </a:lnTo>
                <a:close/>
              </a:path>
              <a:path w="4196080" h="770254">
                <a:moveTo>
                  <a:pt x="394335" y="125475"/>
                </a:moveTo>
                <a:lnTo>
                  <a:pt x="385444" y="153034"/>
                </a:lnTo>
                <a:lnTo>
                  <a:pt x="495680" y="188467"/>
                </a:lnTo>
                <a:lnTo>
                  <a:pt x="504570" y="160908"/>
                </a:lnTo>
                <a:lnTo>
                  <a:pt x="394335" y="125475"/>
                </a:lnTo>
                <a:close/>
              </a:path>
              <a:path w="4196080" h="770254">
                <a:moveTo>
                  <a:pt x="587248" y="187451"/>
                </a:moveTo>
                <a:lnTo>
                  <a:pt x="578612" y="215137"/>
                </a:lnTo>
                <a:lnTo>
                  <a:pt x="689101" y="249681"/>
                </a:lnTo>
                <a:lnTo>
                  <a:pt x="697738" y="221995"/>
                </a:lnTo>
                <a:lnTo>
                  <a:pt x="587248" y="187451"/>
                </a:lnTo>
                <a:close/>
              </a:path>
              <a:path w="4196080" h="770254">
                <a:moveTo>
                  <a:pt x="780668" y="247903"/>
                </a:moveTo>
                <a:lnTo>
                  <a:pt x="772032" y="275564"/>
                </a:lnTo>
                <a:lnTo>
                  <a:pt x="847216" y="299084"/>
                </a:lnTo>
                <a:lnTo>
                  <a:pt x="882776" y="309829"/>
                </a:lnTo>
                <a:lnTo>
                  <a:pt x="891158" y="282105"/>
                </a:lnTo>
                <a:lnTo>
                  <a:pt x="780668" y="247903"/>
                </a:lnTo>
                <a:close/>
              </a:path>
              <a:path w="4196080" h="770254">
                <a:moveTo>
                  <a:pt x="974343" y="307238"/>
                </a:moveTo>
                <a:lnTo>
                  <a:pt x="965962" y="334962"/>
                </a:lnTo>
                <a:lnTo>
                  <a:pt x="1077087" y="367830"/>
                </a:lnTo>
                <a:lnTo>
                  <a:pt x="1085341" y="340055"/>
                </a:lnTo>
                <a:lnTo>
                  <a:pt x="974343" y="307238"/>
                </a:lnTo>
                <a:close/>
              </a:path>
              <a:path w="4196080" h="770254">
                <a:moveTo>
                  <a:pt x="1168527" y="364197"/>
                </a:moveTo>
                <a:lnTo>
                  <a:pt x="1160652" y="392048"/>
                </a:lnTo>
                <a:lnTo>
                  <a:pt x="1272286" y="423633"/>
                </a:lnTo>
                <a:lnTo>
                  <a:pt x="1279905" y="395693"/>
                </a:lnTo>
                <a:lnTo>
                  <a:pt x="1273428" y="393928"/>
                </a:lnTo>
                <a:lnTo>
                  <a:pt x="1168527" y="364197"/>
                </a:lnTo>
                <a:close/>
              </a:path>
              <a:path w="4196080" h="770254">
                <a:moveTo>
                  <a:pt x="1363726" y="418553"/>
                </a:moveTo>
                <a:lnTo>
                  <a:pt x="1356105" y="446493"/>
                </a:lnTo>
                <a:lnTo>
                  <a:pt x="1403603" y="459447"/>
                </a:lnTo>
                <a:lnTo>
                  <a:pt x="1468119" y="476288"/>
                </a:lnTo>
                <a:lnTo>
                  <a:pt x="1475486" y="448271"/>
                </a:lnTo>
                <a:lnTo>
                  <a:pt x="1411224" y="431520"/>
                </a:lnTo>
                <a:lnTo>
                  <a:pt x="1363726" y="418553"/>
                </a:lnTo>
                <a:close/>
              </a:path>
              <a:path w="4196080" h="770254">
                <a:moveTo>
                  <a:pt x="1559432" y="469963"/>
                </a:moveTo>
                <a:lnTo>
                  <a:pt x="1552448" y="498081"/>
                </a:lnTo>
                <a:lnTo>
                  <a:pt x="1664969" y="525703"/>
                </a:lnTo>
                <a:lnTo>
                  <a:pt x="1671827" y="497585"/>
                </a:lnTo>
                <a:lnTo>
                  <a:pt x="1559432" y="469963"/>
                </a:lnTo>
                <a:close/>
              </a:path>
              <a:path w="4196080" h="770254">
                <a:moveTo>
                  <a:pt x="1756282" y="517270"/>
                </a:moveTo>
                <a:lnTo>
                  <a:pt x="1749805" y="545490"/>
                </a:lnTo>
                <a:lnTo>
                  <a:pt x="1812416" y="559981"/>
                </a:lnTo>
                <a:lnTo>
                  <a:pt x="1862963" y="570763"/>
                </a:lnTo>
                <a:lnTo>
                  <a:pt x="1869058" y="542442"/>
                </a:lnTo>
                <a:lnTo>
                  <a:pt x="1819020" y="531774"/>
                </a:lnTo>
                <a:lnTo>
                  <a:pt x="1756282" y="517270"/>
                </a:lnTo>
                <a:close/>
              </a:path>
              <a:path w="4196080" h="770254">
                <a:moveTo>
                  <a:pt x="1953767" y="560489"/>
                </a:moveTo>
                <a:lnTo>
                  <a:pt x="1948179" y="588911"/>
                </a:lnTo>
                <a:lnTo>
                  <a:pt x="2061972" y="611073"/>
                </a:lnTo>
                <a:lnTo>
                  <a:pt x="2067432" y="582650"/>
                </a:lnTo>
                <a:lnTo>
                  <a:pt x="1953767" y="560489"/>
                </a:lnTo>
                <a:close/>
              </a:path>
              <a:path w="4196080" h="770254">
                <a:moveTo>
                  <a:pt x="2152650" y="597877"/>
                </a:moveTo>
                <a:lnTo>
                  <a:pt x="2147697" y="626414"/>
                </a:lnTo>
                <a:lnTo>
                  <a:pt x="2211704" y="637578"/>
                </a:lnTo>
                <a:lnTo>
                  <a:pt x="2262251" y="645299"/>
                </a:lnTo>
                <a:lnTo>
                  <a:pt x="2266695" y="616673"/>
                </a:lnTo>
                <a:lnTo>
                  <a:pt x="2216785" y="609053"/>
                </a:lnTo>
                <a:lnTo>
                  <a:pt x="2152650" y="597877"/>
                </a:lnTo>
                <a:close/>
              </a:path>
              <a:path w="4196080" h="770254">
                <a:moveTo>
                  <a:pt x="2352293" y="629627"/>
                </a:moveTo>
                <a:lnTo>
                  <a:pt x="2348483" y="658342"/>
                </a:lnTo>
                <a:lnTo>
                  <a:pt x="2463291" y="673430"/>
                </a:lnTo>
                <a:lnTo>
                  <a:pt x="2467102" y="644715"/>
                </a:lnTo>
                <a:lnTo>
                  <a:pt x="2352293" y="629627"/>
                </a:lnTo>
                <a:close/>
              </a:path>
              <a:path w="4196080" h="770254">
                <a:moveTo>
                  <a:pt x="2553080" y="654494"/>
                </a:moveTo>
                <a:lnTo>
                  <a:pt x="2549905" y="683259"/>
                </a:lnTo>
                <a:lnTo>
                  <a:pt x="2599943" y="688847"/>
                </a:lnTo>
                <a:lnTo>
                  <a:pt x="2665476" y="694855"/>
                </a:lnTo>
                <a:lnTo>
                  <a:pt x="2668016" y="666026"/>
                </a:lnTo>
                <a:lnTo>
                  <a:pt x="2603118" y="660069"/>
                </a:lnTo>
                <a:lnTo>
                  <a:pt x="2553080" y="654494"/>
                </a:lnTo>
                <a:close/>
              </a:path>
              <a:path w="4196080" h="770254">
                <a:moveTo>
                  <a:pt x="2754376" y="673519"/>
                </a:moveTo>
                <a:lnTo>
                  <a:pt x="2752216" y="702398"/>
                </a:lnTo>
                <a:lnTo>
                  <a:pt x="2853054" y="709955"/>
                </a:lnTo>
                <a:lnTo>
                  <a:pt x="2868041" y="710806"/>
                </a:lnTo>
                <a:lnTo>
                  <a:pt x="2869691" y="681901"/>
                </a:lnTo>
                <a:lnTo>
                  <a:pt x="2855214" y="681075"/>
                </a:lnTo>
                <a:lnTo>
                  <a:pt x="2754376" y="673519"/>
                </a:lnTo>
                <a:close/>
              </a:path>
              <a:path w="4196080" h="770254">
                <a:moveTo>
                  <a:pt x="2956305" y="686854"/>
                </a:moveTo>
                <a:lnTo>
                  <a:pt x="2954654" y="715771"/>
                </a:lnTo>
                <a:lnTo>
                  <a:pt x="2978150" y="717105"/>
                </a:lnTo>
                <a:lnTo>
                  <a:pt x="3070605" y="721017"/>
                </a:lnTo>
                <a:lnTo>
                  <a:pt x="3071876" y="692086"/>
                </a:lnTo>
                <a:lnTo>
                  <a:pt x="2979801" y="688200"/>
                </a:lnTo>
                <a:lnTo>
                  <a:pt x="2956305" y="686854"/>
                </a:lnTo>
                <a:close/>
              </a:path>
              <a:path w="4196080" h="770254">
                <a:moveTo>
                  <a:pt x="3158490" y="694994"/>
                </a:moveTo>
                <a:lnTo>
                  <a:pt x="3157601" y="723938"/>
                </a:lnTo>
                <a:lnTo>
                  <a:pt x="3225800" y="725893"/>
                </a:lnTo>
                <a:lnTo>
                  <a:pt x="3273679" y="726630"/>
                </a:lnTo>
                <a:lnTo>
                  <a:pt x="3274060" y="697687"/>
                </a:lnTo>
                <a:lnTo>
                  <a:pt x="3226689" y="696950"/>
                </a:lnTo>
                <a:lnTo>
                  <a:pt x="3158490" y="694994"/>
                </a:lnTo>
                <a:close/>
              </a:path>
              <a:path w="4196080" h="770254">
                <a:moveTo>
                  <a:pt x="3360801" y="698906"/>
                </a:moveTo>
                <a:lnTo>
                  <a:pt x="3360674" y="727862"/>
                </a:lnTo>
                <a:lnTo>
                  <a:pt x="3470910" y="728370"/>
                </a:lnTo>
                <a:lnTo>
                  <a:pt x="3476625" y="728319"/>
                </a:lnTo>
                <a:lnTo>
                  <a:pt x="3476371" y="699414"/>
                </a:lnTo>
                <a:lnTo>
                  <a:pt x="3471037" y="699414"/>
                </a:lnTo>
                <a:lnTo>
                  <a:pt x="3360801" y="698906"/>
                </a:lnTo>
                <a:close/>
              </a:path>
              <a:path w="4196080" h="770254">
                <a:moveTo>
                  <a:pt x="3476370" y="699363"/>
                </a:moveTo>
                <a:lnTo>
                  <a:pt x="3471037" y="699414"/>
                </a:lnTo>
                <a:lnTo>
                  <a:pt x="3476371" y="699414"/>
                </a:lnTo>
                <a:close/>
              </a:path>
              <a:path w="4196080" h="770254">
                <a:moveTo>
                  <a:pt x="3679062" y="697534"/>
                </a:moveTo>
                <a:lnTo>
                  <a:pt x="3563239" y="698588"/>
                </a:lnTo>
                <a:lnTo>
                  <a:pt x="3563492" y="727544"/>
                </a:lnTo>
                <a:lnTo>
                  <a:pt x="3679317" y="726490"/>
                </a:lnTo>
                <a:lnTo>
                  <a:pt x="3679062" y="697534"/>
                </a:lnTo>
                <a:close/>
              </a:path>
              <a:path w="4196080" h="770254">
                <a:moveTo>
                  <a:pt x="3881501" y="693508"/>
                </a:moveTo>
                <a:lnTo>
                  <a:pt x="3765804" y="696074"/>
                </a:lnTo>
                <a:lnTo>
                  <a:pt x="3766438" y="725017"/>
                </a:lnTo>
                <a:lnTo>
                  <a:pt x="3882135" y="722464"/>
                </a:lnTo>
                <a:lnTo>
                  <a:pt x="3881501" y="693508"/>
                </a:lnTo>
                <a:close/>
              </a:path>
              <a:path w="4196080" h="770254">
                <a:moveTo>
                  <a:pt x="4138078" y="701137"/>
                </a:moveTo>
                <a:lnTo>
                  <a:pt x="4066921" y="745388"/>
                </a:lnTo>
                <a:lnTo>
                  <a:pt x="4064888" y="754316"/>
                </a:lnTo>
                <a:lnTo>
                  <a:pt x="4073271" y="767892"/>
                </a:lnTo>
                <a:lnTo>
                  <a:pt x="4082287" y="769975"/>
                </a:lnTo>
                <a:lnTo>
                  <a:pt x="4173811" y="713041"/>
                </a:lnTo>
                <a:lnTo>
                  <a:pt x="4159884" y="713041"/>
                </a:lnTo>
                <a:lnTo>
                  <a:pt x="4138078" y="701137"/>
                </a:lnTo>
                <a:close/>
              </a:path>
              <a:path w="4196080" h="770254">
                <a:moveTo>
                  <a:pt x="4084066" y="688200"/>
                </a:moveTo>
                <a:lnTo>
                  <a:pt x="3968242" y="691502"/>
                </a:lnTo>
                <a:lnTo>
                  <a:pt x="3969130" y="720445"/>
                </a:lnTo>
                <a:lnTo>
                  <a:pt x="4084954" y="717143"/>
                </a:lnTo>
                <a:lnTo>
                  <a:pt x="4084066" y="688200"/>
                </a:lnTo>
                <a:close/>
              </a:path>
              <a:path w="4196080" h="770254">
                <a:moveTo>
                  <a:pt x="4159123" y="688035"/>
                </a:moveTo>
                <a:lnTo>
                  <a:pt x="4138078" y="701137"/>
                </a:lnTo>
                <a:lnTo>
                  <a:pt x="4159884" y="713041"/>
                </a:lnTo>
                <a:lnTo>
                  <a:pt x="4159123" y="688035"/>
                </a:lnTo>
                <a:close/>
              </a:path>
              <a:path w="4196080" h="770254">
                <a:moveTo>
                  <a:pt x="4174527" y="688035"/>
                </a:moveTo>
                <a:lnTo>
                  <a:pt x="4159123" y="688035"/>
                </a:lnTo>
                <a:lnTo>
                  <a:pt x="4159884" y="713041"/>
                </a:lnTo>
                <a:lnTo>
                  <a:pt x="4173811" y="713041"/>
                </a:lnTo>
                <a:lnTo>
                  <a:pt x="4195572" y="699515"/>
                </a:lnTo>
                <a:lnTo>
                  <a:pt x="4174527" y="688035"/>
                </a:lnTo>
                <a:close/>
              </a:path>
              <a:path w="4196080" h="770254">
                <a:moveTo>
                  <a:pt x="4078478" y="635609"/>
                </a:moveTo>
                <a:lnTo>
                  <a:pt x="4069587" y="638200"/>
                </a:lnTo>
                <a:lnTo>
                  <a:pt x="4061968" y="652233"/>
                </a:lnTo>
                <a:lnTo>
                  <a:pt x="4064507" y="661034"/>
                </a:lnTo>
                <a:lnTo>
                  <a:pt x="4138078" y="701137"/>
                </a:lnTo>
                <a:lnTo>
                  <a:pt x="4159123" y="688035"/>
                </a:lnTo>
                <a:lnTo>
                  <a:pt x="4174527" y="688035"/>
                </a:lnTo>
                <a:lnTo>
                  <a:pt x="4078478" y="635609"/>
                </a:lnTo>
                <a:close/>
              </a:path>
            </a:pathLst>
          </a:custGeom>
          <a:solidFill>
            <a:srgbClr val="FF0066"/>
          </a:solidFill>
        </p:spPr>
        <p:txBody>
          <a:bodyPr wrap="square" lIns="0" tIns="0" rIns="0" bIns="0" rtlCol="0"/>
          <a:lstStyle/>
          <a:p>
            <a:endParaRPr/>
          </a:p>
        </p:txBody>
      </p:sp>
      <p:sp>
        <p:nvSpPr>
          <p:cNvPr id="57" name="object 57"/>
          <p:cNvSpPr/>
          <p:nvPr/>
        </p:nvSpPr>
        <p:spPr>
          <a:xfrm>
            <a:off x="5764160" y="3576882"/>
            <a:ext cx="1676400" cy="762000"/>
          </a:xfrm>
          <a:custGeom>
            <a:avLst/>
            <a:gdLst/>
            <a:ahLst/>
            <a:cxnLst/>
            <a:rect l="l" t="t" r="r" b="b"/>
            <a:pathLst>
              <a:path w="1676400" h="762000">
                <a:moveTo>
                  <a:pt x="0" y="762000"/>
                </a:moveTo>
                <a:lnTo>
                  <a:pt x="1676400" y="762000"/>
                </a:lnTo>
                <a:lnTo>
                  <a:pt x="1676400" y="0"/>
                </a:lnTo>
                <a:lnTo>
                  <a:pt x="0" y="0"/>
                </a:lnTo>
                <a:lnTo>
                  <a:pt x="0" y="762000"/>
                </a:lnTo>
                <a:close/>
              </a:path>
            </a:pathLst>
          </a:custGeom>
          <a:solidFill>
            <a:srgbClr val="EBDDC3"/>
          </a:solidFill>
        </p:spPr>
        <p:txBody>
          <a:bodyPr wrap="square" lIns="0" tIns="0" rIns="0" bIns="0" rtlCol="0"/>
          <a:lstStyle/>
          <a:p>
            <a:endParaRPr/>
          </a:p>
        </p:txBody>
      </p:sp>
      <p:sp>
        <p:nvSpPr>
          <p:cNvPr id="58" name="object 58"/>
          <p:cNvSpPr/>
          <p:nvPr/>
        </p:nvSpPr>
        <p:spPr>
          <a:xfrm>
            <a:off x="5764160" y="3576882"/>
            <a:ext cx="1676400" cy="762000"/>
          </a:xfrm>
          <a:custGeom>
            <a:avLst/>
            <a:gdLst/>
            <a:ahLst/>
            <a:cxnLst/>
            <a:rect l="l" t="t" r="r" b="b"/>
            <a:pathLst>
              <a:path w="1676400" h="762000">
                <a:moveTo>
                  <a:pt x="0" y="762000"/>
                </a:moveTo>
                <a:lnTo>
                  <a:pt x="1676400" y="762000"/>
                </a:lnTo>
                <a:lnTo>
                  <a:pt x="1676400" y="0"/>
                </a:lnTo>
                <a:lnTo>
                  <a:pt x="0" y="0"/>
                </a:lnTo>
                <a:lnTo>
                  <a:pt x="0" y="762000"/>
                </a:lnTo>
                <a:close/>
              </a:path>
            </a:pathLst>
          </a:custGeom>
          <a:ln w="9144">
            <a:solidFill>
              <a:srgbClr val="000000"/>
            </a:solidFill>
          </a:ln>
        </p:spPr>
        <p:txBody>
          <a:bodyPr wrap="square" lIns="0" tIns="0" rIns="0" bIns="0" rtlCol="0"/>
          <a:lstStyle/>
          <a:p>
            <a:endParaRPr/>
          </a:p>
        </p:txBody>
      </p:sp>
      <p:sp>
        <p:nvSpPr>
          <p:cNvPr id="59" name="object 59"/>
          <p:cNvSpPr txBox="1"/>
          <p:nvPr/>
        </p:nvSpPr>
        <p:spPr>
          <a:xfrm>
            <a:off x="5764160" y="3576882"/>
            <a:ext cx="1676400" cy="253916"/>
          </a:xfrm>
          <a:prstGeom prst="rect">
            <a:avLst/>
          </a:prstGeom>
          <a:solidFill>
            <a:srgbClr val="EBDDC3"/>
          </a:solidFill>
          <a:ln w="9144">
            <a:solidFill>
              <a:srgbClr val="000000"/>
            </a:solidFill>
          </a:ln>
        </p:spPr>
        <p:txBody>
          <a:bodyPr vert="horz" wrap="square" lIns="0" tIns="38100" rIns="0" bIns="0" rtlCol="0">
            <a:spAutoFit/>
          </a:bodyPr>
          <a:lstStyle/>
          <a:p>
            <a:pPr marL="409575">
              <a:spcBef>
                <a:spcPts val="300"/>
              </a:spcBef>
            </a:pPr>
            <a:r>
              <a:rPr sz="1400" spc="-5" dirty="0">
                <a:latin typeface="Arial"/>
                <a:cs typeface="Arial"/>
              </a:rPr>
              <a:t>Chi tiết</a:t>
            </a:r>
            <a:r>
              <a:rPr sz="1400" spc="-35" dirty="0">
                <a:latin typeface="Arial"/>
                <a:cs typeface="Arial"/>
              </a:rPr>
              <a:t> </a:t>
            </a:r>
            <a:r>
              <a:rPr sz="1400" spc="-5" dirty="0">
                <a:latin typeface="Arial"/>
                <a:cs typeface="Arial"/>
              </a:rPr>
              <a:t>HĐ</a:t>
            </a:r>
            <a:endParaRPr sz="1400">
              <a:latin typeface="Arial"/>
              <a:cs typeface="Arial"/>
            </a:endParaRPr>
          </a:p>
        </p:txBody>
      </p:sp>
      <p:sp>
        <p:nvSpPr>
          <p:cNvPr id="60" name="object 60"/>
          <p:cNvSpPr/>
          <p:nvPr/>
        </p:nvSpPr>
        <p:spPr>
          <a:xfrm>
            <a:off x="5764160" y="39578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61" name="object 61"/>
          <p:cNvSpPr/>
          <p:nvPr/>
        </p:nvSpPr>
        <p:spPr>
          <a:xfrm>
            <a:off x="5764160" y="414838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a:p>
        </p:txBody>
      </p:sp>
      <p:sp>
        <p:nvSpPr>
          <p:cNvPr id="62" name="object 62"/>
          <p:cNvSpPr/>
          <p:nvPr/>
        </p:nvSpPr>
        <p:spPr>
          <a:xfrm>
            <a:off x="3783723" y="3349044"/>
            <a:ext cx="1371600" cy="1219200"/>
          </a:xfrm>
          <a:custGeom>
            <a:avLst/>
            <a:gdLst/>
            <a:ahLst/>
            <a:cxnLst/>
            <a:rect l="l" t="t" r="r" b="b"/>
            <a:pathLst>
              <a:path w="1371600" h="1219200">
                <a:moveTo>
                  <a:pt x="0" y="609600"/>
                </a:moveTo>
                <a:lnTo>
                  <a:pt x="1881" y="564104"/>
                </a:lnTo>
                <a:lnTo>
                  <a:pt x="7436" y="519516"/>
                </a:lnTo>
                <a:lnTo>
                  <a:pt x="16533" y="475955"/>
                </a:lnTo>
                <a:lnTo>
                  <a:pt x="29039" y="433537"/>
                </a:lnTo>
                <a:lnTo>
                  <a:pt x="44821" y="392382"/>
                </a:lnTo>
                <a:lnTo>
                  <a:pt x="63746" y="352606"/>
                </a:lnTo>
                <a:lnTo>
                  <a:pt x="85683" y="314327"/>
                </a:lnTo>
                <a:lnTo>
                  <a:pt x="110497" y="277664"/>
                </a:lnTo>
                <a:lnTo>
                  <a:pt x="138057" y="242734"/>
                </a:lnTo>
                <a:lnTo>
                  <a:pt x="168229" y="209655"/>
                </a:lnTo>
                <a:lnTo>
                  <a:pt x="200882" y="178546"/>
                </a:lnTo>
                <a:lnTo>
                  <a:pt x="235882" y="149523"/>
                </a:lnTo>
                <a:lnTo>
                  <a:pt x="273096" y="122704"/>
                </a:lnTo>
                <a:lnTo>
                  <a:pt x="312393" y="98209"/>
                </a:lnTo>
                <a:lnTo>
                  <a:pt x="353639" y="76154"/>
                </a:lnTo>
                <a:lnTo>
                  <a:pt x="396702" y="56657"/>
                </a:lnTo>
                <a:lnTo>
                  <a:pt x="441449" y="39836"/>
                </a:lnTo>
                <a:lnTo>
                  <a:pt x="487747" y="25809"/>
                </a:lnTo>
                <a:lnTo>
                  <a:pt x="535464" y="14694"/>
                </a:lnTo>
                <a:lnTo>
                  <a:pt x="584467" y="6609"/>
                </a:lnTo>
                <a:lnTo>
                  <a:pt x="634623" y="1672"/>
                </a:lnTo>
                <a:lnTo>
                  <a:pt x="685799" y="0"/>
                </a:lnTo>
                <a:lnTo>
                  <a:pt x="736976" y="1672"/>
                </a:lnTo>
                <a:lnTo>
                  <a:pt x="787132" y="6609"/>
                </a:lnTo>
                <a:lnTo>
                  <a:pt x="836135" y="14694"/>
                </a:lnTo>
                <a:lnTo>
                  <a:pt x="883852" y="25809"/>
                </a:lnTo>
                <a:lnTo>
                  <a:pt x="930150" y="39836"/>
                </a:lnTo>
                <a:lnTo>
                  <a:pt x="974897" y="56657"/>
                </a:lnTo>
                <a:lnTo>
                  <a:pt x="1017960" y="76154"/>
                </a:lnTo>
                <a:lnTo>
                  <a:pt x="1059206" y="98209"/>
                </a:lnTo>
                <a:lnTo>
                  <a:pt x="1098503" y="122704"/>
                </a:lnTo>
                <a:lnTo>
                  <a:pt x="1135717" y="149523"/>
                </a:lnTo>
                <a:lnTo>
                  <a:pt x="1170717" y="178546"/>
                </a:lnTo>
                <a:lnTo>
                  <a:pt x="1203370" y="209655"/>
                </a:lnTo>
                <a:lnTo>
                  <a:pt x="1233542" y="242734"/>
                </a:lnTo>
                <a:lnTo>
                  <a:pt x="1261102" y="277664"/>
                </a:lnTo>
                <a:lnTo>
                  <a:pt x="1285916" y="314327"/>
                </a:lnTo>
                <a:lnTo>
                  <a:pt x="1307853" y="352606"/>
                </a:lnTo>
                <a:lnTo>
                  <a:pt x="1326778" y="392382"/>
                </a:lnTo>
                <a:lnTo>
                  <a:pt x="1342560" y="433537"/>
                </a:lnTo>
                <a:lnTo>
                  <a:pt x="1355066" y="475955"/>
                </a:lnTo>
                <a:lnTo>
                  <a:pt x="1364163" y="519516"/>
                </a:lnTo>
                <a:lnTo>
                  <a:pt x="1369718" y="564104"/>
                </a:lnTo>
                <a:lnTo>
                  <a:pt x="1371599" y="609600"/>
                </a:lnTo>
                <a:lnTo>
                  <a:pt x="1369718" y="655095"/>
                </a:lnTo>
                <a:lnTo>
                  <a:pt x="1364163" y="699683"/>
                </a:lnTo>
                <a:lnTo>
                  <a:pt x="1355066" y="743244"/>
                </a:lnTo>
                <a:lnTo>
                  <a:pt x="1342560" y="785662"/>
                </a:lnTo>
                <a:lnTo>
                  <a:pt x="1326778" y="826817"/>
                </a:lnTo>
                <a:lnTo>
                  <a:pt x="1307853" y="866593"/>
                </a:lnTo>
                <a:lnTo>
                  <a:pt x="1285916" y="904872"/>
                </a:lnTo>
                <a:lnTo>
                  <a:pt x="1261102" y="941535"/>
                </a:lnTo>
                <a:lnTo>
                  <a:pt x="1233542" y="976465"/>
                </a:lnTo>
                <a:lnTo>
                  <a:pt x="1203370" y="1009544"/>
                </a:lnTo>
                <a:lnTo>
                  <a:pt x="1170717" y="1040653"/>
                </a:lnTo>
                <a:lnTo>
                  <a:pt x="1135717" y="1069676"/>
                </a:lnTo>
                <a:lnTo>
                  <a:pt x="1098503" y="1096495"/>
                </a:lnTo>
                <a:lnTo>
                  <a:pt x="1059206" y="1120990"/>
                </a:lnTo>
                <a:lnTo>
                  <a:pt x="1017960" y="1143045"/>
                </a:lnTo>
                <a:lnTo>
                  <a:pt x="974897" y="1162542"/>
                </a:lnTo>
                <a:lnTo>
                  <a:pt x="930150" y="1179363"/>
                </a:lnTo>
                <a:lnTo>
                  <a:pt x="883852" y="1193390"/>
                </a:lnTo>
                <a:lnTo>
                  <a:pt x="836135" y="1204505"/>
                </a:lnTo>
                <a:lnTo>
                  <a:pt x="787132" y="1212590"/>
                </a:lnTo>
                <a:lnTo>
                  <a:pt x="736976" y="1217527"/>
                </a:lnTo>
                <a:lnTo>
                  <a:pt x="685799" y="1219200"/>
                </a:lnTo>
                <a:lnTo>
                  <a:pt x="634623" y="1217527"/>
                </a:lnTo>
                <a:lnTo>
                  <a:pt x="584467" y="1212590"/>
                </a:lnTo>
                <a:lnTo>
                  <a:pt x="535464" y="1204505"/>
                </a:lnTo>
                <a:lnTo>
                  <a:pt x="487747" y="1193390"/>
                </a:lnTo>
                <a:lnTo>
                  <a:pt x="441449" y="1179363"/>
                </a:lnTo>
                <a:lnTo>
                  <a:pt x="396702" y="1162542"/>
                </a:lnTo>
                <a:lnTo>
                  <a:pt x="353639" y="1143045"/>
                </a:lnTo>
                <a:lnTo>
                  <a:pt x="312393" y="1120990"/>
                </a:lnTo>
                <a:lnTo>
                  <a:pt x="273096" y="1096495"/>
                </a:lnTo>
                <a:lnTo>
                  <a:pt x="235882" y="1069676"/>
                </a:lnTo>
                <a:lnTo>
                  <a:pt x="200882" y="1040653"/>
                </a:lnTo>
                <a:lnTo>
                  <a:pt x="168229" y="1009544"/>
                </a:lnTo>
                <a:lnTo>
                  <a:pt x="138057" y="976465"/>
                </a:lnTo>
                <a:lnTo>
                  <a:pt x="110497" y="941535"/>
                </a:lnTo>
                <a:lnTo>
                  <a:pt x="85683" y="904872"/>
                </a:lnTo>
                <a:lnTo>
                  <a:pt x="63746" y="866593"/>
                </a:lnTo>
                <a:lnTo>
                  <a:pt x="44821" y="826817"/>
                </a:lnTo>
                <a:lnTo>
                  <a:pt x="29039" y="785662"/>
                </a:lnTo>
                <a:lnTo>
                  <a:pt x="16533" y="743244"/>
                </a:lnTo>
                <a:lnTo>
                  <a:pt x="7436" y="699683"/>
                </a:lnTo>
                <a:lnTo>
                  <a:pt x="1881" y="655095"/>
                </a:lnTo>
                <a:lnTo>
                  <a:pt x="0" y="609600"/>
                </a:lnTo>
                <a:close/>
              </a:path>
            </a:pathLst>
          </a:custGeom>
          <a:ln w="19812">
            <a:solidFill>
              <a:srgbClr val="FF0066"/>
            </a:solidFill>
            <a:prstDash val="sysDash"/>
          </a:ln>
        </p:spPr>
        <p:txBody>
          <a:bodyPr wrap="square" lIns="0" tIns="0" rIns="0" bIns="0" rtlCol="0"/>
          <a:lstStyle/>
          <a:p>
            <a:endParaRPr/>
          </a:p>
        </p:txBody>
      </p:sp>
      <p:sp>
        <p:nvSpPr>
          <p:cNvPr id="63" name="object 63"/>
          <p:cNvSpPr/>
          <p:nvPr/>
        </p:nvSpPr>
        <p:spPr>
          <a:xfrm>
            <a:off x="5152784" y="3865936"/>
            <a:ext cx="535305" cy="174625"/>
          </a:xfrm>
          <a:custGeom>
            <a:avLst/>
            <a:gdLst/>
            <a:ahLst/>
            <a:cxnLst/>
            <a:rect l="l" t="t" r="r" b="b"/>
            <a:pathLst>
              <a:path w="535304" h="174625">
                <a:moveTo>
                  <a:pt x="48895" y="148081"/>
                </a:moveTo>
                <a:lnTo>
                  <a:pt x="0" y="162051"/>
                </a:lnTo>
                <a:lnTo>
                  <a:pt x="3556" y="174244"/>
                </a:lnTo>
                <a:lnTo>
                  <a:pt x="52324" y="160274"/>
                </a:lnTo>
                <a:lnTo>
                  <a:pt x="48895" y="148081"/>
                </a:lnTo>
                <a:close/>
              </a:path>
              <a:path w="535304" h="174625">
                <a:moveTo>
                  <a:pt x="134365" y="123698"/>
                </a:moveTo>
                <a:lnTo>
                  <a:pt x="85471" y="137668"/>
                </a:lnTo>
                <a:lnTo>
                  <a:pt x="89026" y="149860"/>
                </a:lnTo>
                <a:lnTo>
                  <a:pt x="137795" y="135890"/>
                </a:lnTo>
                <a:lnTo>
                  <a:pt x="134365" y="123698"/>
                </a:lnTo>
                <a:close/>
              </a:path>
              <a:path w="535304" h="174625">
                <a:moveTo>
                  <a:pt x="219837" y="99187"/>
                </a:moveTo>
                <a:lnTo>
                  <a:pt x="170942" y="113156"/>
                </a:lnTo>
                <a:lnTo>
                  <a:pt x="174498" y="125349"/>
                </a:lnTo>
                <a:lnTo>
                  <a:pt x="223265" y="111506"/>
                </a:lnTo>
                <a:lnTo>
                  <a:pt x="219837" y="99187"/>
                </a:lnTo>
                <a:close/>
              </a:path>
              <a:path w="535304" h="174625">
                <a:moveTo>
                  <a:pt x="305308" y="74803"/>
                </a:moveTo>
                <a:lnTo>
                  <a:pt x="256412" y="88773"/>
                </a:lnTo>
                <a:lnTo>
                  <a:pt x="259969" y="100965"/>
                </a:lnTo>
                <a:lnTo>
                  <a:pt x="308863" y="86994"/>
                </a:lnTo>
                <a:lnTo>
                  <a:pt x="305308" y="74803"/>
                </a:lnTo>
                <a:close/>
              </a:path>
              <a:path w="535304" h="174625">
                <a:moveTo>
                  <a:pt x="390778" y="50418"/>
                </a:moveTo>
                <a:lnTo>
                  <a:pt x="342011" y="64388"/>
                </a:lnTo>
                <a:lnTo>
                  <a:pt x="345439" y="76581"/>
                </a:lnTo>
                <a:lnTo>
                  <a:pt x="394335" y="62611"/>
                </a:lnTo>
                <a:lnTo>
                  <a:pt x="390778" y="50418"/>
                </a:lnTo>
                <a:close/>
              </a:path>
              <a:path w="535304" h="174625">
                <a:moveTo>
                  <a:pt x="522827" y="27050"/>
                </a:moveTo>
                <a:lnTo>
                  <a:pt x="472313" y="27050"/>
                </a:lnTo>
                <a:lnTo>
                  <a:pt x="475869" y="39243"/>
                </a:lnTo>
                <a:lnTo>
                  <a:pt x="463640" y="42766"/>
                </a:lnTo>
                <a:lnTo>
                  <a:pt x="472313" y="73279"/>
                </a:lnTo>
                <a:lnTo>
                  <a:pt x="522827" y="27050"/>
                </a:lnTo>
                <a:close/>
              </a:path>
              <a:path w="535304" h="174625">
                <a:moveTo>
                  <a:pt x="460161" y="30527"/>
                </a:moveTo>
                <a:lnTo>
                  <a:pt x="427482" y="39878"/>
                </a:lnTo>
                <a:lnTo>
                  <a:pt x="430911" y="52197"/>
                </a:lnTo>
                <a:lnTo>
                  <a:pt x="463640" y="42766"/>
                </a:lnTo>
                <a:lnTo>
                  <a:pt x="460161" y="30527"/>
                </a:lnTo>
                <a:close/>
              </a:path>
              <a:path w="535304" h="174625">
                <a:moveTo>
                  <a:pt x="472313" y="27050"/>
                </a:moveTo>
                <a:lnTo>
                  <a:pt x="460161" y="30527"/>
                </a:lnTo>
                <a:lnTo>
                  <a:pt x="463640" y="42766"/>
                </a:lnTo>
                <a:lnTo>
                  <a:pt x="475869" y="39243"/>
                </a:lnTo>
                <a:lnTo>
                  <a:pt x="472313" y="27050"/>
                </a:lnTo>
                <a:close/>
              </a:path>
              <a:path w="535304" h="174625">
                <a:moveTo>
                  <a:pt x="451485" y="0"/>
                </a:moveTo>
                <a:lnTo>
                  <a:pt x="460161" y="30527"/>
                </a:lnTo>
                <a:lnTo>
                  <a:pt x="472313" y="27050"/>
                </a:lnTo>
                <a:lnTo>
                  <a:pt x="522827" y="27050"/>
                </a:lnTo>
                <a:lnTo>
                  <a:pt x="535177" y="15748"/>
                </a:lnTo>
                <a:lnTo>
                  <a:pt x="451485" y="0"/>
                </a:lnTo>
                <a:close/>
              </a:path>
            </a:pathLst>
          </a:custGeom>
          <a:solidFill>
            <a:srgbClr val="FF0066"/>
          </a:solidFill>
        </p:spPr>
        <p:txBody>
          <a:bodyPr wrap="square" lIns="0" tIns="0" rIns="0" bIns="0" rtlCol="0"/>
          <a:lstStyle/>
          <a:p>
            <a:endParaRPr/>
          </a:p>
        </p:txBody>
      </p:sp>
      <p:sp>
        <p:nvSpPr>
          <p:cNvPr id="64" name="object 64"/>
          <p:cNvSpPr/>
          <p:nvPr/>
        </p:nvSpPr>
        <p:spPr>
          <a:xfrm>
            <a:off x="8812161" y="2281482"/>
            <a:ext cx="0" cy="609600"/>
          </a:xfrm>
          <a:custGeom>
            <a:avLst/>
            <a:gdLst/>
            <a:ahLst/>
            <a:cxnLst/>
            <a:rect l="l" t="t" r="r" b="b"/>
            <a:pathLst>
              <a:path h="609600">
                <a:moveTo>
                  <a:pt x="0" y="0"/>
                </a:moveTo>
                <a:lnTo>
                  <a:pt x="0" y="609600"/>
                </a:lnTo>
              </a:path>
            </a:pathLst>
          </a:custGeom>
          <a:ln w="9144">
            <a:solidFill>
              <a:srgbClr val="000000"/>
            </a:solidFill>
          </a:ln>
        </p:spPr>
        <p:txBody>
          <a:bodyPr wrap="square" lIns="0" tIns="0" rIns="0" bIns="0" rtlCol="0"/>
          <a:lstStyle/>
          <a:p>
            <a:endParaRPr/>
          </a:p>
        </p:txBody>
      </p:sp>
      <p:sp>
        <p:nvSpPr>
          <p:cNvPr id="65" name="object 65"/>
          <p:cNvSpPr/>
          <p:nvPr/>
        </p:nvSpPr>
        <p:spPr>
          <a:xfrm>
            <a:off x="6526160" y="1976682"/>
            <a:ext cx="0" cy="1600200"/>
          </a:xfrm>
          <a:custGeom>
            <a:avLst/>
            <a:gdLst/>
            <a:ahLst/>
            <a:cxnLst/>
            <a:rect l="l" t="t" r="r" b="b"/>
            <a:pathLst>
              <a:path h="1600200">
                <a:moveTo>
                  <a:pt x="0" y="0"/>
                </a:moveTo>
                <a:lnTo>
                  <a:pt x="0" y="1600200"/>
                </a:lnTo>
              </a:path>
            </a:pathLst>
          </a:custGeom>
          <a:ln w="9144">
            <a:solidFill>
              <a:srgbClr val="000000"/>
            </a:solidFill>
          </a:ln>
        </p:spPr>
        <p:txBody>
          <a:bodyPr wrap="square" lIns="0" tIns="0" rIns="0" bIns="0" rtlCol="0"/>
          <a:lstStyle/>
          <a:p>
            <a:endParaRPr/>
          </a:p>
        </p:txBody>
      </p:sp>
      <p:sp>
        <p:nvSpPr>
          <p:cNvPr id="66" name="object 66"/>
          <p:cNvSpPr/>
          <p:nvPr/>
        </p:nvSpPr>
        <p:spPr>
          <a:xfrm>
            <a:off x="6526160" y="1976682"/>
            <a:ext cx="1447800" cy="0"/>
          </a:xfrm>
          <a:custGeom>
            <a:avLst/>
            <a:gdLst/>
            <a:ahLst/>
            <a:cxnLst/>
            <a:rect l="l" t="t" r="r" b="b"/>
            <a:pathLst>
              <a:path w="1447800">
                <a:moveTo>
                  <a:pt x="0" y="0"/>
                </a:moveTo>
                <a:lnTo>
                  <a:pt x="1447800" y="0"/>
                </a:lnTo>
              </a:path>
            </a:pathLst>
          </a:custGeom>
          <a:ln w="9144">
            <a:solidFill>
              <a:srgbClr val="000000"/>
            </a:solidFill>
          </a:ln>
        </p:spPr>
        <p:txBody>
          <a:bodyPr wrap="square" lIns="0" tIns="0" rIns="0" bIns="0" rtlCol="0"/>
          <a:lstStyle/>
          <a:p>
            <a:endParaRPr/>
          </a:p>
        </p:txBody>
      </p:sp>
      <p:sp>
        <p:nvSpPr>
          <p:cNvPr id="67" name="object 67"/>
          <p:cNvSpPr/>
          <p:nvPr/>
        </p:nvSpPr>
        <p:spPr>
          <a:xfrm>
            <a:off x="6526160" y="4338882"/>
            <a:ext cx="0" cy="533400"/>
          </a:xfrm>
          <a:custGeom>
            <a:avLst/>
            <a:gdLst/>
            <a:ahLst/>
            <a:cxnLst/>
            <a:rect l="l" t="t" r="r" b="b"/>
            <a:pathLst>
              <a:path h="533400">
                <a:moveTo>
                  <a:pt x="0" y="0"/>
                </a:moveTo>
                <a:lnTo>
                  <a:pt x="0" y="533400"/>
                </a:lnTo>
              </a:path>
            </a:pathLst>
          </a:custGeom>
          <a:ln w="9144">
            <a:solidFill>
              <a:srgbClr val="000000"/>
            </a:solidFill>
          </a:ln>
        </p:spPr>
        <p:txBody>
          <a:bodyPr wrap="square" lIns="0" tIns="0" rIns="0" bIns="0" rtlCol="0"/>
          <a:lstStyle/>
          <a:p>
            <a:endParaRPr/>
          </a:p>
        </p:txBody>
      </p:sp>
      <p:sp>
        <p:nvSpPr>
          <p:cNvPr id="68" name="object 68"/>
          <p:cNvSpPr/>
          <p:nvPr/>
        </p:nvSpPr>
        <p:spPr>
          <a:xfrm>
            <a:off x="6526160" y="4872282"/>
            <a:ext cx="1447800" cy="0"/>
          </a:xfrm>
          <a:custGeom>
            <a:avLst/>
            <a:gdLst/>
            <a:ahLst/>
            <a:cxnLst/>
            <a:rect l="l" t="t" r="r" b="b"/>
            <a:pathLst>
              <a:path w="1447800">
                <a:moveTo>
                  <a:pt x="0" y="0"/>
                </a:moveTo>
                <a:lnTo>
                  <a:pt x="1447800" y="0"/>
                </a:lnTo>
              </a:path>
            </a:pathLst>
          </a:custGeom>
          <a:ln w="9144">
            <a:solidFill>
              <a:srgbClr val="000000"/>
            </a:solidFill>
          </a:ln>
        </p:spPr>
        <p:txBody>
          <a:bodyPr wrap="square" lIns="0" tIns="0" rIns="0" bIns="0" rtlCol="0"/>
          <a:lstStyle/>
          <a:p>
            <a:endParaRPr/>
          </a:p>
        </p:txBody>
      </p:sp>
      <p:sp>
        <p:nvSpPr>
          <p:cNvPr id="71"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70"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69" name="TextBox 68"/>
          <p:cNvSpPr txBox="1"/>
          <p:nvPr/>
        </p:nvSpPr>
        <p:spPr>
          <a:xfrm>
            <a:off x="10972800" y="2972586"/>
            <a:ext cx="634651" cy="523220"/>
          </a:xfrm>
          <a:prstGeom prst="rect">
            <a:avLst/>
          </a:prstGeom>
          <a:noFill/>
        </p:spPr>
        <p:txBody>
          <a:bodyPr wrap="square" rtlCol="0">
            <a:spAutoFit/>
          </a:bodyPr>
          <a:lstStyle/>
          <a:p>
            <a:r>
              <a:rPr lang="en-US" sz="2800" b="1">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38000022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14127"/>
            <a:ext cx="12191999" cy="643766"/>
          </a:xfrm>
          <a:prstGeom prst="rect">
            <a:avLst/>
          </a:prstGeom>
        </p:spPr>
        <p:txBody>
          <a:bodyPr vert="horz" wrap="square" lIns="0" tIns="88900" rIns="0" bIns="0" rtlCol="0">
            <a:spAutoFit/>
          </a:bodyPr>
          <a:lstStyle/>
          <a:p>
            <a:pPr marL="720725" marR="5080" indent="-342900">
              <a:lnSpc>
                <a:spcPct val="150000"/>
              </a:lnSpc>
              <a:spcBef>
                <a:spcPts val="605"/>
              </a:spcBef>
              <a:buFont typeface="Arial" panose="020B0604020202020204" pitchFamily="34" charset="0"/>
              <a:buChar char="•"/>
            </a:pPr>
            <a:r>
              <a:rPr sz="2400">
                <a:latin typeface="Times New Roman" panose="02020603050405020304" pitchFamily="18" charset="0"/>
                <a:cs typeface="Times New Roman" panose="02020603050405020304" pitchFamily="18" charset="0"/>
              </a:rPr>
              <a:t>Đối </a:t>
            </a:r>
            <a:r>
              <a:rPr sz="2400" dirty="0">
                <a:latin typeface="Times New Roman" panose="02020603050405020304" pitchFamily="18" charset="0"/>
                <a:cs typeface="Times New Roman" panose="02020603050405020304" pitchFamily="18" charset="0"/>
              </a:rPr>
              <a:t>với thực thể </a:t>
            </a:r>
            <a:r>
              <a:rPr sz="2400" dirty="0">
                <a:solidFill>
                  <a:srgbClr val="00B050"/>
                </a:solidFill>
                <a:latin typeface="Times New Roman" panose="02020603050405020304" pitchFamily="18" charset="0"/>
                <a:cs typeface="Times New Roman" panose="02020603050405020304" pitchFamily="18" charset="0"/>
              </a:rPr>
              <a:t>thừa tác viên </a:t>
            </a:r>
            <a:r>
              <a:rPr sz="2400" dirty="0">
                <a:latin typeface="Times New Roman" panose="02020603050405020304" pitchFamily="18" charset="0"/>
                <a:cs typeface="Times New Roman" panose="02020603050405020304" pitchFamily="18" charset="0"/>
              </a:rPr>
              <a:t>và </a:t>
            </a:r>
            <a:r>
              <a:rPr sz="2400" dirty="0">
                <a:solidFill>
                  <a:srgbClr val="00B050"/>
                </a:solidFill>
                <a:latin typeface="Times New Roman" panose="02020603050405020304" pitchFamily="18" charset="0"/>
                <a:cs typeface="Times New Roman" panose="02020603050405020304" pitchFamily="18" charset="0"/>
              </a:rPr>
              <a:t>các thực thể </a:t>
            </a:r>
            <a:r>
              <a:rPr sz="2400" dirty="0" err="1">
                <a:solidFill>
                  <a:srgbClr val="00B050"/>
                </a:solidFill>
                <a:latin typeface="Times New Roman" panose="02020603050405020304" pitchFamily="18" charset="0"/>
                <a:cs typeface="Times New Roman" panose="02020603050405020304" pitchFamily="18" charset="0"/>
              </a:rPr>
              <a:t>tổ</a:t>
            </a:r>
            <a:r>
              <a:rPr sz="2400" dirty="0">
                <a:solidFill>
                  <a:srgbClr val="00B050"/>
                </a:solidFill>
                <a:latin typeface="Times New Roman" panose="02020603050405020304" pitchFamily="18" charset="0"/>
                <a:cs typeface="Times New Roman" panose="02020603050405020304" pitchFamily="18" charset="0"/>
              </a:rPr>
              <a:t> </a:t>
            </a:r>
            <a:r>
              <a:rPr sz="2400" err="1">
                <a:solidFill>
                  <a:srgbClr val="00B050"/>
                </a:solidFill>
                <a:latin typeface="Times New Roman" panose="02020603050405020304" pitchFamily="18" charset="0"/>
                <a:cs typeface="Times New Roman" panose="02020603050405020304" pitchFamily="18" charset="0"/>
              </a:rPr>
              <a:t>chức</a:t>
            </a:r>
            <a:r>
              <a:rPr lang="en-US" sz="2400">
                <a:solidFill>
                  <a:srgbClr val="00B050"/>
                </a:solidFill>
                <a:latin typeface="Times New Roman" panose="02020603050405020304" pitchFamily="18" charset="0"/>
                <a:cs typeface="Times New Roman" panose="02020603050405020304" pitchFamily="18" charset="0"/>
              </a:rPr>
              <a:t> </a:t>
            </a:r>
            <a:r>
              <a:rPr sz="2400">
                <a:solidFill>
                  <a:srgbClr val="00B050"/>
                </a:solidFill>
                <a:latin typeface="Times New Roman" panose="02020603050405020304" pitchFamily="18" charset="0"/>
                <a:cs typeface="Times New Roman" panose="02020603050405020304" pitchFamily="18" charset="0"/>
              </a:rPr>
              <a:t>khác</a:t>
            </a:r>
            <a:endParaRPr sz="2400" dirty="0">
              <a:solidFill>
                <a:srgbClr val="00B050"/>
              </a:solidFill>
              <a:latin typeface="Times New Roman" panose="02020603050405020304" pitchFamily="18" charset="0"/>
              <a:cs typeface="Times New Roman" panose="02020603050405020304" pitchFamily="18" charset="0"/>
            </a:endParaRPr>
          </a:p>
        </p:txBody>
      </p:sp>
      <p:sp>
        <p:nvSpPr>
          <p:cNvPr id="4" name="object 4"/>
          <p:cNvSpPr/>
          <p:nvPr/>
        </p:nvSpPr>
        <p:spPr>
          <a:xfrm>
            <a:off x="2314955" y="2946528"/>
            <a:ext cx="762000" cy="762000"/>
          </a:xfrm>
          <a:custGeom>
            <a:avLst/>
            <a:gdLst/>
            <a:ahLst/>
            <a:cxnLst/>
            <a:rect l="l" t="t" r="r" b="b"/>
            <a:pathLst>
              <a:path w="762000" h="762000">
                <a:moveTo>
                  <a:pt x="0" y="381000"/>
                </a:moveTo>
                <a:lnTo>
                  <a:pt x="2968" y="333204"/>
                </a:lnTo>
                <a:lnTo>
                  <a:pt x="11635" y="287181"/>
                </a:lnTo>
                <a:lnTo>
                  <a:pt x="25644" y="243288"/>
                </a:lnTo>
                <a:lnTo>
                  <a:pt x="44638" y="201881"/>
                </a:lnTo>
                <a:lnTo>
                  <a:pt x="68260" y="163318"/>
                </a:lnTo>
                <a:lnTo>
                  <a:pt x="96153" y="127955"/>
                </a:lnTo>
                <a:lnTo>
                  <a:pt x="127960" y="96149"/>
                </a:lnTo>
                <a:lnTo>
                  <a:pt x="163323" y="68257"/>
                </a:lnTo>
                <a:lnTo>
                  <a:pt x="201887" y="44636"/>
                </a:lnTo>
                <a:lnTo>
                  <a:pt x="243293" y="25643"/>
                </a:lnTo>
                <a:lnTo>
                  <a:pt x="287185" y="11634"/>
                </a:lnTo>
                <a:lnTo>
                  <a:pt x="333207" y="2968"/>
                </a:lnTo>
                <a:lnTo>
                  <a:pt x="381000" y="0"/>
                </a:lnTo>
                <a:lnTo>
                  <a:pt x="428795" y="2968"/>
                </a:lnTo>
                <a:lnTo>
                  <a:pt x="474818" y="11634"/>
                </a:lnTo>
                <a:lnTo>
                  <a:pt x="518711" y="25643"/>
                </a:lnTo>
                <a:lnTo>
                  <a:pt x="560118" y="44636"/>
                </a:lnTo>
                <a:lnTo>
                  <a:pt x="598681" y="68257"/>
                </a:lnTo>
                <a:lnTo>
                  <a:pt x="634044" y="96149"/>
                </a:lnTo>
                <a:lnTo>
                  <a:pt x="665850" y="127955"/>
                </a:lnTo>
                <a:lnTo>
                  <a:pt x="693742" y="163318"/>
                </a:lnTo>
                <a:lnTo>
                  <a:pt x="717363" y="201881"/>
                </a:lnTo>
                <a:lnTo>
                  <a:pt x="736356" y="243288"/>
                </a:lnTo>
                <a:lnTo>
                  <a:pt x="750365" y="287181"/>
                </a:lnTo>
                <a:lnTo>
                  <a:pt x="759031" y="333204"/>
                </a:lnTo>
                <a:lnTo>
                  <a:pt x="762000" y="381000"/>
                </a:lnTo>
                <a:lnTo>
                  <a:pt x="759031" y="428795"/>
                </a:lnTo>
                <a:lnTo>
                  <a:pt x="750365" y="474818"/>
                </a:lnTo>
                <a:lnTo>
                  <a:pt x="736356" y="518711"/>
                </a:lnTo>
                <a:lnTo>
                  <a:pt x="717363" y="560118"/>
                </a:lnTo>
                <a:lnTo>
                  <a:pt x="693742" y="598681"/>
                </a:lnTo>
                <a:lnTo>
                  <a:pt x="665850" y="634044"/>
                </a:lnTo>
                <a:lnTo>
                  <a:pt x="634044" y="665850"/>
                </a:lnTo>
                <a:lnTo>
                  <a:pt x="598681" y="693742"/>
                </a:lnTo>
                <a:lnTo>
                  <a:pt x="560118" y="717363"/>
                </a:lnTo>
                <a:lnTo>
                  <a:pt x="518711" y="736356"/>
                </a:lnTo>
                <a:lnTo>
                  <a:pt x="474818" y="750365"/>
                </a:lnTo>
                <a:lnTo>
                  <a:pt x="428795" y="759031"/>
                </a:lnTo>
                <a:lnTo>
                  <a:pt x="381000" y="762000"/>
                </a:lnTo>
                <a:lnTo>
                  <a:pt x="333207" y="759031"/>
                </a:lnTo>
                <a:lnTo>
                  <a:pt x="287185" y="750365"/>
                </a:lnTo>
                <a:lnTo>
                  <a:pt x="243293" y="736356"/>
                </a:lnTo>
                <a:lnTo>
                  <a:pt x="201887" y="717363"/>
                </a:lnTo>
                <a:lnTo>
                  <a:pt x="163323" y="693742"/>
                </a:lnTo>
                <a:lnTo>
                  <a:pt x="127960" y="665850"/>
                </a:lnTo>
                <a:lnTo>
                  <a:pt x="96153" y="634044"/>
                </a:lnTo>
                <a:lnTo>
                  <a:pt x="68260" y="598681"/>
                </a:lnTo>
                <a:lnTo>
                  <a:pt x="44638" y="560118"/>
                </a:lnTo>
                <a:lnTo>
                  <a:pt x="25644" y="518711"/>
                </a:lnTo>
                <a:lnTo>
                  <a:pt x="11635" y="474818"/>
                </a:lnTo>
                <a:lnTo>
                  <a:pt x="2968" y="428795"/>
                </a:lnTo>
                <a:lnTo>
                  <a:pt x="0" y="3810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p:nvPr/>
        </p:nvSpPr>
        <p:spPr>
          <a:xfrm>
            <a:off x="2695955" y="2870328"/>
            <a:ext cx="76200" cy="76200"/>
          </a:xfrm>
          <a:custGeom>
            <a:avLst/>
            <a:gdLst/>
            <a:ahLst/>
            <a:cxnLst/>
            <a:rect l="l" t="t" r="r" b="b"/>
            <a:pathLst>
              <a:path w="76200" h="76200">
                <a:moveTo>
                  <a:pt x="76200" y="0"/>
                </a:moveTo>
                <a:lnTo>
                  <a:pt x="0" y="76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2695955" y="2946528"/>
            <a:ext cx="76200" cy="76200"/>
          </a:xfrm>
          <a:custGeom>
            <a:avLst/>
            <a:gdLst/>
            <a:ahLst/>
            <a:cxnLst/>
            <a:rect l="l" t="t" r="r" b="b"/>
            <a:pathLst>
              <a:path w="76200" h="76200">
                <a:moveTo>
                  <a:pt x="0" y="0"/>
                </a:moveTo>
                <a:lnTo>
                  <a:pt x="76200" y="76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2538983" y="3094356"/>
            <a:ext cx="313944" cy="466344"/>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2772155" y="3403728"/>
            <a:ext cx="304800" cy="304800"/>
          </a:xfrm>
          <a:custGeom>
            <a:avLst/>
            <a:gdLst/>
            <a:ahLst/>
            <a:cxnLst/>
            <a:rect l="l" t="t" r="r" b="b"/>
            <a:pathLst>
              <a:path w="304800" h="304800">
                <a:moveTo>
                  <a:pt x="304800" y="0"/>
                </a:moveTo>
                <a:lnTo>
                  <a:pt x="0" y="3048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txBox="1"/>
          <p:nvPr/>
        </p:nvSpPr>
        <p:spPr>
          <a:xfrm>
            <a:off x="1996541" y="3863213"/>
            <a:ext cx="1841500" cy="258404"/>
          </a:xfrm>
          <a:prstGeom prst="rect">
            <a:avLst/>
          </a:prstGeom>
        </p:spPr>
        <p:txBody>
          <a:bodyPr vert="horz" wrap="square" lIns="0" tIns="12065" rIns="0" bIns="0" rtlCol="0">
            <a:spAutoFit/>
          </a:bodyPr>
          <a:lstStyle/>
          <a:p>
            <a:pPr marL="12700">
              <a:spcBef>
                <a:spcPts val="95"/>
              </a:spcBef>
            </a:pPr>
            <a:r>
              <a:rPr sz="1600" spc="-5" dirty="0">
                <a:latin typeface="Times New Roman" panose="02020603050405020304" pitchFamily="18" charset="0"/>
                <a:cs typeface="Times New Roman" panose="02020603050405020304" pitchFamily="18" charset="0"/>
              </a:rPr>
              <a:t>Nhân viên bán</a:t>
            </a:r>
            <a:r>
              <a:rPr sz="1600" spc="-5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hàng</a:t>
            </a:r>
            <a:endParaRPr sz="1600">
              <a:latin typeface="Times New Roman" panose="02020603050405020304" pitchFamily="18" charset="0"/>
              <a:cs typeface="Times New Roman" panose="02020603050405020304" pitchFamily="18" charset="0"/>
            </a:endParaRPr>
          </a:p>
        </p:txBody>
      </p:sp>
      <p:sp>
        <p:nvSpPr>
          <p:cNvPr id="10" name="object 10"/>
          <p:cNvSpPr/>
          <p:nvPr/>
        </p:nvSpPr>
        <p:spPr>
          <a:xfrm>
            <a:off x="4434839" y="2973960"/>
            <a:ext cx="762000" cy="762000"/>
          </a:xfrm>
          <a:custGeom>
            <a:avLst/>
            <a:gdLst/>
            <a:ahLst/>
            <a:cxnLst/>
            <a:rect l="l" t="t" r="r" b="b"/>
            <a:pathLst>
              <a:path w="762000" h="762000">
                <a:moveTo>
                  <a:pt x="0" y="380999"/>
                </a:moveTo>
                <a:lnTo>
                  <a:pt x="2968" y="333204"/>
                </a:lnTo>
                <a:lnTo>
                  <a:pt x="11634" y="287181"/>
                </a:lnTo>
                <a:lnTo>
                  <a:pt x="25643" y="243288"/>
                </a:lnTo>
                <a:lnTo>
                  <a:pt x="44636" y="201881"/>
                </a:lnTo>
                <a:lnTo>
                  <a:pt x="68257" y="163318"/>
                </a:lnTo>
                <a:lnTo>
                  <a:pt x="96149" y="127955"/>
                </a:lnTo>
                <a:lnTo>
                  <a:pt x="127955" y="96149"/>
                </a:lnTo>
                <a:lnTo>
                  <a:pt x="163318" y="68257"/>
                </a:lnTo>
                <a:lnTo>
                  <a:pt x="201881" y="44636"/>
                </a:lnTo>
                <a:lnTo>
                  <a:pt x="243288" y="25643"/>
                </a:lnTo>
                <a:lnTo>
                  <a:pt x="287181" y="11634"/>
                </a:lnTo>
                <a:lnTo>
                  <a:pt x="333204" y="2968"/>
                </a:lnTo>
                <a:lnTo>
                  <a:pt x="381000" y="0"/>
                </a:lnTo>
                <a:lnTo>
                  <a:pt x="428795" y="2968"/>
                </a:lnTo>
                <a:lnTo>
                  <a:pt x="474818" y="11634"/>
                </a:lnTo>
                <a:lnTo>
                  <a:pt x="518711" y="25643"/>
                </a:lnTo>
                <a:lnTo>
                  <a:pt x="560118" y="44636"/>
                </a:lnTo>
                <a:lnTo>
                  <a:pt x="598681" y="68257"/>
                </a:lnTo>
                <a:lnTo>
                  <a:pt x="634044" y="96149"/>
                </a:lnTo>
                <a:lnTo>
                  <a:pt x="665850" y="127955"/>
                </a:lnTo>
                <a:lnTo>
                  <a:pt x="693742" y="163318"/>
                </a:lnTo>
                <a:lnTo>
                  <a:pt x="717363" y="201881"/>
                </a:lnTo>
                <a:lnTo>
                  <a:pt x="736356" y="243288"/>
                </a:lnTo>
                <a:lnTo>
                  <a:pt x="750365" y="287181"/>
                </a:lnTo>
                <a:lnTo>
                  <a:pt x="759031" y="333204"/>
                </a:lnTo>
                <a:lnTo>
                  <a:pt x="762000" y="380999"/>
                </a:lnTo>
                <a:lnTo>
                  <a:pt x="759031" y="428795"/>
                </a:lnTo>
                <a:lnTo>
                  <a:pt x="750365" y="474818"/>
                </a:lnTo>
                <a:lnTo>
                  <a:pt x="736356" y="518711"/>
                </a:lnTo>
                <a:lnTo>
                  <a:pt x="717363" y="560118"/>
                </a:lnTo>
                <a:lnTo>
                  <a:pt x="693742" y="598681"/>
                </a:lnTo>
                <a:lnTo>
                  <a:pt x="665850" y="634044"/>
                </a:lnTo>
                <a:lnTo>
                  <a:pt x="634044" y="665850"/>
                </a:lnTo>
                <a:lnTo>
                  <a:pt x="598681" y="693742"/>
                </a:lnTo>
                <a:lnTo>
                  <a:pt x="560118" y="717363"/>
                </a:lnTo>
                <a:lnTo>
                  <a:pt x="518711" y="736356"/>
                </a:lnTo>
                <a:lnTo>
                  <a:pt x="474818" y="750365"/>
                </a:lnTo>
                <a:lnTo>
                  <a:pt x="428795" y="759031"/>
                </a:lnTo>
                <a:lnTo>
                  <a:pt x="381000" y="761999"/>
                </a:lnTo>
                <a:lnTo>
                  <a:pt x="333204" y="759031"/>
                </a:lnTo>
                <a:lnTo>
                  <a:pt x="287181" y="750365"/>
                </a:lnTo>
                <a:lnTo>
                  <a:pt x="243288" y="736356"/>
                </a:lnTo>
                <a:lnTo>
                  <a:pt x="201881" y="717363"/>
                </a:lnTo>
                <a:lnTo>
                  <a:pt x="163318" y="693742"/>
                </a:lnTo>
                <a:lnTo>
                  <a:pt x="127955" y="665850"/>
                </a:lnTo>
                <a:lnTo>
                  <a:pt x="96149" y="634044"/>
                </a:lnTo>
                <a:lnTo>
                  <a:pt x="68257" y="598681"/>
                </a:lnTo>
                <a:lnTo>
                  <a:pt x="44636" y="560118"/>
                </a:lnTo>
                <a:lnTo>
                  <a:pt x="25643" y="518711"/>
                </a:lnTo>
                <a:lnTo>
                  <a:pt x="11634" y="474818"/>
                </a:lnTo>
                <a:lnTo>
                  <a:pt x="2968" y="428795"/>
                </a:lnTo>
                <a:lnTo>
                  <a:pt x="0" y="380999"/>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4815840" y="2897760"/>
            <a:ext cx="76200" cy="76200"/>
          </a:xfrm>
          <a:custGeom>
            <a:avLst/>
            <a:gdLst/>
            <a:ahLst/>
            <a:cxnLst/>
            <a:rect l="l" t="t" r="r" b="b"/>
            <a:pathLst>
              <a:path w="76200" h="76200">
                <a:moveTo>
                  <a:pt x="76200" y="0"/>
                </a:moveTo>
                <a:lnTo>
                  <a:pt x="0" y="76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4815840" y="2973960"/>
            <a:ext cx="76200" cy="76200"/>
          </a:xfrm>
          <a:custGeom>
            <a:avLst/>
            <a:gdLst/>
            <a:ahLst/>
            <a:cxnLst/>
            <a:rect l="l" t="t" r="r" b="b"/>
            <a:pathLst>
              <a:path w="76200" h="76200">
                <a:moveTo>
                  <a:pt x="0" y="0"/>
                </a:moveTo>
                <a:lnTo>
                  <a:pt x="76200" y="76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4658867" y="3121787"/>
            <a:ext cx="313944" cy="466344"/>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4892040" y="3431160"/>
            <a:ext cx="304800" cy="304800"/>
          </a:xfrm>
          <a:custGeom>
            <a:avLst/>
            <a:gdLst/>
            <a:ahLst/>
            <a:cxnLst/>
            <a:rect l="l" t="t" r="r" b="b"/>
            <a:pathLst>
              <a:path w="304800" h="304800">
                <a:moveTo>
                  <a:pt x="304800" y="0"/>
                </a:moveTo>
                <a:lnTo>
                  <a:pt x="0" y="3048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txBox="1"/>
          <p:nvPr/>
        </p:nvSpPr>
        <p:spPr>
          <a:xfrm>
            <a:off x="4117594" y="3890264"/>
            <a:ext cx="1649730" cy="258404"/>
          </a:xfrm>
          <a:prstGeom prst="rect">
            <a:avLst/>
          </a:prstGeom>
        </p:spPr>
        <p:txBody>
          <a:bodyPr vert="horz" wrap="square" lIns="0" tIns="12065" rIns="0" bIns="0" rtlCol="0">
            <a:spAutoFit/>
          </a:bodyPr>
          <a:lstStyle/>
          <a:p>
            <a:pPr marL="12700">
              <a:spcBef>
                <a:spcPts val="95"/>
              </a:spcBef>
            </a:pPr>
            <a:r>
              <a:rPr sz="1600" spc="-10" dirty="0">
                <a:latin typeface="Times New Roman" panose="02020603050405020304" pitchFamily="18" charset="0"/>
                <a:cs typeface="Times New Roman" panose="02020603050405020304" pitchFamily="18" charset="0"/>
              </a:rPr>
              <a:t>Nhân </a:t>
            </a:r>
            <a:r>
              <a:rPr sz="1600" spc="-5" dirty="0">
                <a:latin typeface="Times New Roman" panose="02020603050405020304" pitchFamily="18" charset="0"/>
                <a:cs typeface="Times New Roman" panose="02020603050405020304" pitchFamily="18" charset="0"/>
              </a:rPr>
              <a:t>viên </a:t>
            </a:r>
            <a:r>
              <a:rPr sz="1600" spc="-10" dirty="0">
                <a:latin typeface="Times New Roman" panose="02020603050405020304" pitchFamily="18" charset="0"/>
                <a:cs typeface="Times New Roman" panose="02020603050405020304" pitchFamily="18" charset="0"/>
              </a:rPr>
              <a:t>quản</a:t>
            </a:r>
            <a:r>
              <a:rPr sz="1600" spc="-40"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lý</a:t>
            </a:r>
            <a:endParaRPr sz="1600">
              <a:latin typeface="Times New Roman" panose="02020603050405020304" pitchFamily="18" charset="0"/>
              <a:cs typeface="Times New Roman" panose="02020603050405020304" pitchFamily="18" charset="0"/>
            </a:endParaRPr>
          </a:p>
        </p:txBody>
      </p:sp>
      <p:sp>
        <p:nvSpPr>
          <p:cNvPr id="16" name="object 16"/>
          <p:cNvSpPr/>
          <p:nvPr/>
        </p:nvSpPr>
        <p:spPr>
          <a:xfrm>
            <a:off x="6426708" y="2960243"/>
            <a:ext cx="762000" cy="762000"/>
          </a:xfrm>
          <a:custGeom>
            <a:avLst/>
            <a:gdLst/>
            <a:ahLst/>
            <a:cxnLst/>
            <a:rect l="l" t="t" r="r" b="b"/>
            <a:pathLst>
              <a:path w="762000" h="762000">
                <a:moveTo>
                  <a:pt x="0" y="381000"/>
                </a:moveTo>
                <a:lnTo>
                  <a:pt x="2968" y="333204"/>
                </a:lnTo>
                <a:lnTo>
                  <a:pt x="11634" y="287181"/>
                </a:lnTo>
                <a:lnTo>
                  <a:pt x="25643" y="243288"/>
                </a:lnTo>
                <a:lnTo>
                  <a:pt x="44636" y="201881"/>
                </a:lnTo>
                <a:lnTo>
                  <a:pt x="68257" y="163318"/>
                </a:lnTo>
                <a:lnTo>
                  <a:pt x="96149" y="127955"/>
                </a:lnTo>
                <a:lnTo>
                  <a:pt x="127955" y="96149"/>
                </a:lnTo>
                <a:lnTo>
                  <a:pt x="163318" y="68257"/>
                </a:lnTo>
                <a:lnTo>
                  <a:pt x="201881" y="44636"/>
                </a:lnTo>
                <a:lnTo>
                  <a:pt x="243288" y="25643"/>
                </a:lnTo>
                <a:lnTo>
                  <a:pt x="287181" y="11634"/>
                </a:lnTo>
                <a:lnTo>
                  <a:pt x="333204" y="2968"/>
                </a:lnTo>
                <a:lnTo>
                  <a:pt x="381000" y="0"/>
                </a:lnTo>
                <a:lnTo>
                  <a:pt x="428795" y="2968"/>
                </a:lnTo>
                <a:lnTo>
                  <a:pt x="474818" y="11634"/>
                </a:lnTo>
                <a:lnTo>
                  <a:pt x="518711" y="25643"/>
                </a:lnTo>
                <a:lnTo>
                  <a:pt x="560118" y="44636"/>
                </a:lnTo>
                <a:lnTo>
                  <a:pt x="598681" y="68257"/>
                </a:lnTo>
                <a:lnTo>
                  <a:pt x="634044" y="96149"/>
                </a:lnTo>
                <a:lnTo>
                  <a:pt x="665850" y="127955"/>
                </a:lnTo>
                <a:lnTo>
                  <a:pt x="693742" y="163318"/>
                </a:lnTo>
                <a:lnTo>
                  <a:pt x="717363" y="201881"/>
                </a:lnTo>
                <a:lnTo>
                  <a:pt x="736356" y="243288"/>
                </a:lnTo>
                <a:lnTo>
                  <a:pt x="750365" y="287181"/>
                </a:lnTo>
                <a:lnTo>
                  <a:pt x="759031" y="333204"/>
                </a:lnTo>
                <a:lnTo>
                  <a:pt x="762000" y="381000"/>
                </a:lnTo>
                <a:lnTo>
                  <a:pt x="759031" y="428795"/>
                </a:lnTo>
                <a:lnTo>
                  <a:pt x="750365" y="474818"/>
                </a:lnTo>
                <a:lnTo>
                  <a:pt x="736356" y="518711"/>
                </a:lnTo>
                <a:lnTo>
                  <a:pt x="717363" y="560118"/>
                </a:lnTo>
                <a:lnTo>
                  <a:pt x="693742" y="598681"/>
                </a:lnTo>
                <a:lnTo>
                  <a:pt x="665850" y="634044"/>
                </a:lnTo>
                <a:lnTo>
                  <a:pt x="634044" y="665850"/>
                </a:lnTo>
                <a:lnTo>
                  <a:pt x="598681" y="693742"/>
                </a:lnTo>
                <a:lnTo>
                  <a:pt x="560118" y="717363"/>
                </a:lnTo>
                <a:lnTo>
                  <a:pt x="518711" y="736356"/>
                </a:lnTo>
                <a:lnTo>
                  <a:pt x="474818" y="750365"/>
                </a:lnTo>
                <a:lnTo>
                  <a:pt x="428795" y="759031"/>
                </a:lnTo>
                <a:lnTo>
                  <a:pt x="381000" y="762000"/>
                </a:lnTo>
                <a:lnTo>
                  <a:pt x="333204" y="759031"/>
                </a:lnTo>
                <a:lnTo>
                  <a:pt x="287181" y="750365"/>
                </a:lnTo>
                <a:lnTo>
                  <a:pt x="243288" y="736356"/>
                </a:lnTo>
                <a:lnTo>
                  <a:pt x="201881" y="717363"/>
                </a:lnTo>
                <a:lnTo>
                  <a:pt x="163318" y="693742"/>
                </a:lnTo>
                <a:lnTo>
                  <a:pt x="127955" y="665850"/>
                </a:lnTo>
                <a:lnTo>
                  <a:pt x="96149" y="634044"/>
                </a:lnTo>
                <a:lnTo>
                  <a:pt x="68257" y="598681"/>
                </a:lnTo>
                <a:lnTo>
                  <a:pt x="44636" y="560118"/>
                </a:lnTo>
                <a:lnTo>
                  <a:pt x="25643" y="518711"/>
                </a:lnTo>
                <a:lnTo>
                  <a:pt x="11634" y="474818"/>
                </a:lnTo>
                <a:lnTo>
                  <a:pt x="2968" y="428795"/>
                </a:lnTo>
                <a:lnTo>
                  <a:pt x="0" y="3810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6807708" y="2884044"/>
            <a:ext cx="76200" cy="76200"/>
          </a:xfrm>
          <a:custGeom>
            <a:avLst/>
            <a:gdLst/>
            <a:ahLst/>
            <a:cxnLst/>
            <a:rect l="l" t="t" r="r" b="b"/>
            <a:pathLst>
              <a:path w="76200" h="76200">
                <a:moveTo>
                  <a:pt x="76200" y="0"/>
                </a:moveTo>
                <a:lnTo>
                  <a:pt x="0" y="76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6807708" y="2960243"/>
            <a:ext cx="76200" cy="76200"/>
          </a:xfrm>
          <a:custGeom>
            <a:avLst/>
            <a:gdLst/>
            <a:ahLst/>
            <a:cxnLst/>
            <a:rect l="l" t="t" r="r" b="b"/>
            <a:pathLst>
              <a:path w="76200" h="76200">
                <a:moveTo>
                  <a:pt x="0" y="0"/>
                </a:moveTo>
                <a:lnTo>
                  <a:pt x="76200" y="76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6650735" y="3108072"/>
            <a:ext cx="313944" cy="466344"/>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6883908" y="3417443"/>
            <a:ext cx="304800" cy="304800"/>
          </a:xfrm>
          <a:custGeom>
            <a:avLst/>
            <a:gdLst/>
            <a:ahLst/>
            <a:cxnLst/>
            <a:rect l="l" t="t" r="r" b="b"/>
            <a:pathLst>
              <a:path w="304800" h="304800">
                <a:moveTo>
                  <a:pt x="304800" y="0"/>
                </a:moveTo>
                <a:lnTo>
                  <a:pt x="0" y="304799"/>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txBox="1"/>
          <p:nvPr/>
        </p:nvSpPr>
        <p:spPr>
          <a:xfrm>
            <a:off x="6442329" y="3904616"/>
            <a:ext cx="760095" cy="258404"/>
          </a:xfrm>
          <a:prstGeom prst="rect">
            <a:avLst/>
          </a:prstGeom>
        </p:spPr>
        <p:txBody>
          <a:bodyPr vert="horz" wrap="square" lIns="0" tIns="12065" rIns="0" bIns="0" rtlCol="0">
            <a:spAutoFit/>
          </a:bodyPr>
          <a:lstStyle/>
          <a:p>
            <a:pPr marL="12700">
              <a:spcBef>
                <a:spcPts val="95"/>
              </a:spcBef>
            </a:pPr>
            <a:r>
              <a:rPr sz="1600" spc="-5" dirty="0">
                <a:latin typeface="Times New Roman" panose="02020603050405020304" pitchFamily="18" charset="0"/>
                <a:cs typeface="Times New Roman" panose="02020603050405020304" pitchFamily="18" charset="0"/>
              </a:rPr>
              <a:t>Thủ</a:t>
            </a:r>
            <a:r>
              <a:rPr sz="1600" spc="-60"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kho</a:t>
            </a:r>
            <a:endParaRPr sz="1600">
              <a:latin typeface="Times New Roman" panose="02020603050405020304" pitchFamily="18" charset="0"/>
              <a:cs typeface="Times New Roman" panose="02020603050405020304" pitchFamily="18" charset="0"/>
            </a:endParaRPr>
          </a:p>
        </p:txBody>
      </p:sp>
      <p:sp>
        <p:nvSpPr>
          <p:cNvPr id="22" name="object 22"/>
          <p:cNvSpPr/>
          <p:nvPr/>
        </p:nvSpPr>
        <p:spPr>
          <a:xfrm>
            <a:off x="1905000" y="4241928"/>
            <a:ext cx="5486400" cy="304800"/>
          </a:xfrm>
          <a:custGeom>
            <a:avLst/>
            <a:gdLst/>
            <a:ahLst/>
            <a:cxnLst/>
            <a:rect l="l" t="t" r="r" b="b"/>
            <a:pathLst>
              <a:path w="5486400" h="304800">
                <a:moveTo>
                  <a:pt x="5486400" y="0"/>
                </a:moveTo>
                <a:lnTo>
                  <a:pt x="5467040" y="44027"/>
                </a:lnTo>
                <a:lnTo>
                  <a:pt x="5412735" y="82997"/>
                </a:lnTo>
                <a:lnTo>
                  <a:pt x="5374246" y="99998"/>
                </a:lnTo>
                <a:lnTo>
                  <a:pt x="5329145" y="115029"/>
                </a:lnTo>
                <a:lnTo>
                  <a:pt x="5278137" y="127855"/>
                </a:lnTo>
                <a:lnTo>
                  <a:pt x="5221931" y="138240"/>
                </a:lnTo>
                <a:lnTo>
                  <a:pt x="5161234" y="145950"/>
                </a:lnTo>
                <a:lnTo>
                  <a:pt x="5096755" y="150748"/>
                </a:lnTo>
                <a:lnTo>
                  <a:pt x="5029200" y="152400"/>
                </a:lnTo>
                <a:lnTo>
                  <a:pt x="3200400" y="152400"/>
                </a:lnTo>
                <a:lnTo>
                  <a:pt x="3132844" y="154051"/>
                </a:lnTo>
                <a:lnTo>
                  <a:pt x="3068365" y="158849"/>
                </a:lnTo>
                <a:lnTo>
                  <a:pt x="3007668" y="166559"/>
                </a:lnTo>
                <a:lnTo>
                  <a:pt x="2951462" y="176944"/>
                </a:lnTo>
                <a:lnTo>
                  <a:pt x="2900454" y="189770"/>
                </a:lnTo>
                <a:lnTo>
                  <a:pt x="2855353" y="204801"/>
                </a:lnTo>
                <a:lnTo>
                  <a:pt x="2816864" y="221802"/>
                </a:lnTo>
                <a:lnTo>
                  <a:pt x="2762559" y="260772"/>
                </a:lnTo>
                <a:lnTo>
                  <a:pt x="2743200" y="304800"/>
                </a:lnTo>
                <a:lnTo>
                  <a:pt x="2738242" y="282272"/>
                </a:lnTo>
                <a:lnTo>
                  <a:pt x="2700702" y="240537"/>
                </a:lnTo>
                <a:lnTo>
                  <a:pt x="2631046" y="204801"/>
                </a:lnTo>
                <a:lnTo>
                  <a:pt x="2585945" y="189770"/>
                </a:lnTo>
                <a:lnTo>
                  <a:pt x="2534937" y="176944"/>
                </a:lnTo>
                <a:lnTo>
                  <a:pt x="2478731" y="166559"/>
                </a:lnTo>
                <a:lnTo>
                  <a:pt x="2418034" y="158849"/>
                </a:lnTo>
                <a:lnTo>
                  <a:pt x="2353555" y="154051"/>
                </a:lnTo>
                <a:lnTo>
                  <a:pt x="2286000" y="152400"/>
                </a:lnTo>
                <a:lnTo>
                  <a:pt x="457200" y="152400"/>
                </a:lnTo>
                <a:lnTo>
                  <a:pt x="389639" y="150748"/>
                </a:lnTo>
                <a:lnTo>
                  <a:pt x="325155" y="145950"/>
                </a:lnTo>
                <a:lnTo>
                  <a:pt x="264457" y="138240"/>
                </a:lnTo>
                <a:lnTo>
                  <a:pt x="208251" y="127855"/>
                </a:lnTo>
                <a:lnTo>
                  <a:pt x="157244" y="115029"/>
                </a:lnTo>
                <a:lnTo>
                  <a:pt x="112144" y="99998"/>
                </a:lnTo>
                <a:lnTo>
                  <a:pt x="73658" y="82997"/>
                </a:lnTo>
                <a:lnTo>
                  <a:pt x="19357" y="44027"/>
                </a:lnTo>
                <a:lnTo>
                  <a:pt x="4957" y="22527"/>
                </a:lnTo>
                <a:lnTo>
                  <a:pt x="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23" name="object 23"/>
          <p:cNvGraphicFramePr>
            <a:graphicFrameLocks noGrp="1"/>
          </p:cNvGraphicFramePr>
          <p:nvPr>
            <p:extLst>
              <p:ext uri="{D42A27DB-BD31-4B8C-83A1-F6EECF244321}">
                <p14:modId xmlns:p14="http://schemas.microsoft.com/office/powerpoint/2010/main" val="3125273308"/>
              </p:ext>
            </p:extLst>
          </p:nvPr>
        </p:nvGraphicFramePr>
        <p:xfrm>
          <a:off x="3957827" y="4749419"/>
          <a:ext cx="1676400" cy="76200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tblGrid>
              <a:tr h="381000">
                <a:tc>
                  <a:txBody>
                    <a:bodyPr/>
                    <a:lstStyle/>
                    <a:p>
                      <a:pPr marL="444500">
                        <a:lnSpc>
                          <a:spcPct val="100000"/>
                        </a:lnSpc>
                        <a:spcBef>
                          <a:spcPts val="295"/>
                        </a:spcBef>
                      </a:pPr>
                      <a:r>
                        <a:rPr sz="1400" spc="-5" dirty="0">
                          <a:latin typeface="Arial"/>
                          <a:cs typeface="Arial"/>
                        </a:rPr>
                        <a:t>Nhân</a:t>
                      </a:r>
                      <a:r>
                        <a:rPr sz="1400" spc="-30" dirty="0">
                          <a:latin typeface="Arial"/>
                          <a:cs typeface="Arial"/>
                        </a:rPr>
                        <a:t> </a:t>
                      </a:r>
                      <a:r>
                        <a:rPr sz="1400" spc="-5" dirty="0">
                          <a:latin typeface="Arial"/>
                          <a:cs typeface="Arial"/>
                        </a:rPr>
                        <a:t>viên</a:t>
                      </a:r>
                      <a:endParaRPr sz="1400">
                        <a:latin typeface="Arial"/>
                        <a:cs typeface="Arial"/>
                      </a:endParaRPr>
                    </a:p>
                  </a:txBody>
                  <a:tcPr marL="0" marR="0" marT="374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24" name="object 24"/>
          <p:cNvSpPr txBox="1"/>
          <p:nvPr/>
        </p:nvSpPr>
        <p:spPr>
          <a:xfrm>
            <a:off x="7852028" y="3966464"/>
            <a:ext cx="713740" cy="258404"/>
          </a:xfrm>
          <a:prstGeom prst="rect">
            <a:avLst/>
          </a:prstGeom>
        </p:spPr>
        <p:txBody>
          <a:bodyPr vert="horz" wrap="square" lIns="0" tIns="12065" rIns="0" bIns="0" rtlCol="0">
            <a:spAutoFit/>
          </a:bodyPr>
          <a:lstStyle/>
          <a:p>
            <a:pPr marL="12700">
              <a:spcBef>
                <a:spcPts val="95"/>
              </a:spcBef>
            </a:pPr>
            <a:r>
              <a:rPr sz="1600" spc="-10" dirty="0">
                <a:latin typeface="Times New Roman" panose="02020603050405020304" pitchFamily="18" charset="0"/>
                <a:cs typeface="Times New Roman" panose="02020603050405020304" pitchFamily="18" charset="0"/>
              </a:rPr>
              <a:t>Độc</a:t>
            </a:r>
            <a:r>
              <a:rPr sz="1600" spc="-6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giả</a:t>
            </a:r>
            <a:endParaRPr sz="1600">
              <a:latin typeface="Times New Roman" panose="02020603050405020304" pitchFamily="18" charset="0"/>
              <a:cs typeface="Times New Roman" panose="02020603050405020304" pitchFamily="18" charset="0"/>
            </a:endParaRPr>
          </a:p>
        </p:txBody>
      </p:sp>
      <p:sp>
        <p:nvSpPr>
          <p:cNvPr id="25" name="object 25"/>
          <p:cNvSpPr/>
          <p:nvPr/>
        </p:nvSpPr>
        <p:spPr>
          <a:xfrm>
            <a:off x="8077200" y="3022728"/>
            <a:ext cx="304800" cy="304800"/>
          </a:xfrm>
          <a:custGeom>
            <a:avLst/>
            <a:gdLst/>
            <a:ahLst/>
            <a:cxnLst/>
            <a:rect l="l" t="t" r="r" b="b"/>
            <a:pathLst>
              <a:path w="304800" h="304800">
                <a:moveTo>
                  <a:pt x="0" y="152400"/>
                </a:moveTo>
                <a:lnTo>
                  <a:pt x="7766" y="104217"/>
                </a:lnTo>
                <a:lnTo>
                  <a:pt x="29394" y="62380"/>
                </a:lnTo>
                <a:lnTo>
                  <a:pt x="62380" y="29394"/>
                </a:lnTo>
                <a:lnTo>
                  <a:pt x="104217" y="7766"/>
                </a:lnTo>
                <a:lnTo>
                  <a:pt x="152400" y="0"/>
                </a:lnTo>
                <a:lnTo>
                  <a:pt x="200582" y="7766"/>
                </a:lnTo>
                <a:lnTo>
                  <a:pt x="242419" y="29394"/>
                </a:lnTo>
                <a:lnTo>
                  <a:pt x="275405" y="62380"/>
                </a:lnTo>
                <a:lnTo>
                  <a:pt x="297033" y="104217"/>
                </a:lnTo>
                <a:lnTo>
                  <a:pt x="304800" y="152400"/>
                </a:lnTo>
                <a:lnTo>
                  <a:pt x="297033" y="200582"/>
                </a:lnTo>
                <a:lnTo>
                  <a:pt x="275405" y="242419"/>
                </a:lnTo>
                <a:lnTo>
                  <a:pt x="242419" y="275405"/>
                </a:lnTo>
                <a:lnTo>
                  <a:pt x="200582" y="297033"/>
                </a:lnTo>
                <a:lnTo>
                  <a:pt x="152400" y="304800"/>
                </a:lnTo>
                <a:lnTo>
                  <a:pt x="104217" y="297033"/>
                </a:lnTo>
                <a:lnTo>
                  <a:pt x="62380" y="275405"/>
                </a:lnTo>
                <a:lnTo>
                  <a:pt x="29394" y="242419"/>
                </a:lnTo>
                <a:lnTo>
                  <a:pt x="7766" y="200582"/>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6" name="object 26"/>
          <p:cNvSpPr/>
          <p:nvPr/>
        </p:nvSpPr>
        <p:spPr>
          <a:xfrm>
            <a:off x="8258556" y="3098928"/>
            <a:ext cx="76200" cy="228600"/>
          </a:xfrm>
          <a:custGeom>
            <a:avLst/>
            <a:gdLst/>
            <a:ahLst/>
            <a:cxnLst/>
            <a:rect l="l" t="t" r="r" b="b"/>
            <a:pathLst>
              <a:path w="76200" h="228600">
                <a:moveTo>
                  <a:pt x="76200" y="0"/>
                </a:moveTo>
                <a:lnTo>
                  <a:pt x="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7" name="object 27"/>
          <p:cNvSpPr/>
          <p:nvPr/>
        </p:nvSpPr>
        <p:spPr>
          <a:xfrm>
            <a:off x="8229600" y="3327528"/>
            <a:ext cx="0" cy="228600"/>
          </a:xfrm>
          <a:custGeom>
            <a:avLst/>
            <a:gdLst/>
            <a:ahLst/>
            <a:cxnLst/>
            <a:rect l="l" t="t" r="r" b="b"/>
            <a:pathLst>
              <a:path h="228600">
                <a:moveTo>
                  <a:pt x="0" y="0"/>
                </a:moveTo>
                <a:lnTo>
                  <a:pt x="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8" name="object 28"/>
          <p:cNvSpPr/>
          <p:nvPr/>
        </p:nvSpPr>
        <p:spPr>
          <a:xfrm>
            <a:off x="8001000" y="3556128"/>
            <a:ext cx="228600" cy="228600"/>
          </a:xfrm>
          <a:custGeom>
            <a:avLst/>
            <a:gdLst/>
            <a:ahLst/>
            <a:cxnLst/>
            <a:rect l="l" t="t" r="r" b="b"/>
            <a:pathLst>
              <a:path w="228600" h="228600">
                <a:moveTo>
                  <a:pt x="228600" y="0"/>
                </a:moveTo>
                <a:lnTo>
                  <a:pt x="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9" name="object 29"/>
          <p:cNvSpPr/>
          <p:nvPr/>
        </p:nvSpPr>
        <p:spPr>
          <a:xfrm>
            <a:off x="8229600" y="3556128"/>
            <a:ext cx="228600" cy="228600"/>
          </a:xfrm>
          <a:custGeom>
            <a:avLst/>
            <a:gdLst/>
            <a:ahLst/>
            <a:cxnLst/>
            <a:rect l="l" t="t" r="r" b="b"/>
            <a:pathLst>
              <a:path w="228600" h="228600">
                <a:moveTo>
                  <a:pt x="0" y="0"/>
                </a:moveTo>
                <a:lnTo>
                  <a:pt x="22860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0" name="object 30"/>
          <p:cNvSpPr/>
          <p:nvPr/>
        </p:nvSpPr>
        <p:spPr>
          <a:xfrm>
            <a:off x="8106156" y="3403728"/>
            <a:ext cx="228600" cy="0"/>
          </a:xfrm>
          <a:custGeom>
            <a:avLst/>
            <a:gdLst/>
            <a:ahLst/>
            <a:cxnLst/>
            <a:rect l="l" t="t" r="r" b="b"/>
            <a:pathLst>
              <a:path w="228600">
                <a:moveTo>
                  <a:pt x="0" y="0"/>
                </a:moveTo>
                <a:lnTo>
                  <a:pt x="2286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31" name="object 31"/>
          <p:cNvGraphicFramePr>
            <a:graphicFrameLocks noGrp="1"/>
          </p:cNvGraphicFramePr>
          <p:nvPr>
            <p:extLst>
              <p:ext uri="{D42A27DB-BD31-4B8C-83A1-F6EECF244321}">
                <p14:modId xmlns:p14="http://schemas.microsoft.com/office/powerpoint/2010/main" val="232844764"/>
              </p:ext>
            </p:extLst>
          </p:nvPr>
        </p:nvGraphicFramePr>
        <p:xfrm>
          <a:off x="7691628" y="4705224"/>
          <a:ext cx="1143000" cy="762000"/>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20000"/>
                    </a:ext>
                  </a:extLst>
                </a:gridCol>
              </a:tblGrid>
              <a:tr h="381000">
                <a:tc>
                  <a:txBody>
                    <a:bodyPr/>
                    <a:lstStyle/>
                    <a:p>
                      <a:pPr marL="274320">
                        <a:lnSpc>
                          <a:spcPct val="100000"/>
                        </a:lnSpc>
                        <a:spcBef>
                          <a:spcPts val="300"/>
                        </a:spcBef>
                      </a:pPr>
                      <a:r>
                        <a:rPr sz="1400" spc="-5">
                          <a:latin typeface="Arial"/>
                          <a:cs typeface="Arial"/>
                        </a:rPr>
                        <a:t>Đ</a:t>
                      </a:r>
                      <a:r>
                        <a:rPr lang="en-US" sz="1400" spc="-5">
                          <a:latin typeface="Arial"/>
                          <a:cs typeface="Arial"/>
                        </a:rPr>
                        <a:t>ộc</a:t>
                      </a:r>
                      <a:r>
                        <a:rPr sz="1400" spc="-20">
                          <a:latin typeface="Arial"/>
                          <a:cs typeface="Arial"/>
                        </a:rPr>
                        <a:t> </a:t>
                      </a:r>
                      <a:r>
                        <a:rPr sz="1400" spc="-5" dirty="0">
                          <a:latin typeface="Arial"/>
                          <a:cs typeface="Arial"/>
                        </a:rPr>
                        <a:t>giả</a:t>
                      </a:r>
                      <a:endParaRPr sz="1400">
                        <a:latin typeface="Arial"/>
                        <a:cs typeface="Arial"/>
                      </a:endParaRPr>
                    </a:p>
                  </a:txBody>
                  <a:tcPr marL="0" marR="0" marT="381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32" name="object 32"/>
          <p:cNvSpPr txBox="1"/>
          <p:nvPr/>
        </p:nvSpPr>
        <p:spPr>
          <a:xfrm>
            <a:off x="9376410" y="3966464"/>
            <a:ext cx="746125" cy="258404"/>
          </a:xfrm>
          <a:prstGeom prst="rect">
            <a:avLst/>
          </a:prstGeom>
        </p:spPr>
        <p:txBody>
          <a:bodyPr vert="horz" wrap="square" lIns="0" tIns="12065" rIns="0" bIns="0" rtlCol="0">
            <a:spAutoFit/>
          </a:bodyPr>
          <a:lstStyle/>
          <a:p>
            <a:pPr marL="12700">
              <a:spcBef>
                <a:spcPts val="95"/>
              </a:spcBef>
            </a:pPr>
            <a:r>
              <a:rPr sz="1600" spc="-10" dirty="0">
                <a:latin typeface="Times New Roman" panose="02020603050405020304" pitchFamily="18" charset="0"/>
                <a:cs typeface="Times New Roman" panose="02020603050405020304" pitchFamily="18" charset="0"/>
              </a:rPr>
              <a:t>Nhà</a:t>
            </a:r>
            <a:r>
              <a:rPr sz="1600" spc="-75"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CC</a:t>
            </a:r>
            <a:endParaRPr sz="1600">
              <a:latin typeface="Times New Roman" panose="02020603050405020304" pitchFamily="18" charset="0"/>
              <a:cs typeface="Times New Roman" panose="02020603050405020304" pitchFamily="18" charset="0"/>
            </a:endParaRPr>
          </a:p>
        </p:txBody>
      </p:sp>
      <p:sp>
        <p:nvSpPr>
          <p:cNvPr id="33" name="object 33"/>
          <p:cNvSpPr/>
          <p:nvPr/>
        </p:nvSpPr>
        <p:spPr>
          <a:xfrm>
            <a:off x="9601200" y="3022728"/>
            <a:ext cx="304800" cy="304800"/>
          </a:xfrm>
          <a:custGeom>
            <a:avLst/>
            <a:gdLst/>
            <a:ahLst/>
            <a:cxnLst/>
            <a:rect l="l" t="t" r="r" b="b"/>
            <a:pathLst>
              <a:path w="304800" h="304800">
                <a:moveTo>
                  <a:pt x="0" y="152400"/>
                </a:moveTo>
                <a:lnTo>
                  <a:pt x="7766" y="104217"/>
                </a:lnTo>
                <a:lnTo>
                  <a:pt x="29394" y="62380"/>
                </a:lnTo>
                <a:lnTo>
                  <a:pt x="62380" y="29394"/>
                </a:lnTo>
                <a:lnTo>
                  <a:pt x="104217" y="7766"/>
                </a:lnTo>
                <a:lnTo>
                  <a:pt x="152400" y="0"/>
                </a:lnTo>
                <a:lnTo>
                  <a:pt x="200582" y="7766"/>
                </a:lnTo>
                <a:lnTo>
                  <a:pt x="242419" y="29394"/>
                </a:lnTo>
                <a:lnTo>
                  <a:pt x="275405" y="62380"/>
                </a:lnTo>
                <a:lnTo>
                  <a:pt x="297033" y="104217"/>
                </a:lnTo>
                <a:lnTo>
                  <a:pt x="304800" y="152400"/>
                </a:lnTo>
                <a:lnTo>
                  <a:pt x="297033" y="200582"/>
                </a:lnTo>
                <a:lnTo>
                  <a:pt x="275405" y="242419"/>
                </a:lnTo>
                <a:lnTo>
                  <a:pt x="242419" y="275405"/>
                </a:lnTo>
                <a:lnTo>
                  <a:pt x="200582" y="297033"/>
                </a:lnTo>
                <a:lnTo>
                  <a:pt x="152400" y="304800"/>
                </a:lnTo>
                <a:lnTo>
                  <a:pt x="104217" y="297033"/>
                </a:lnTo>
                <a:lnTo>
                  <a:pt x="62380" y="275405"/>
                </a:lnTo>
                <a:lnTo>
                  <a:pt x="29394" y="242419"/>
                </a:lnTo>
                <a:lnTo>
                  <a:pt x="7766" y="200582"/>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4" name="object 34"/>
          <p:cNvSpPr/>
          <p:nvPr/>
        </p:nvSpPr>
        <p:spPr>
          <a:xfrm>
            <a:off x="9782556" y="3098928"/>
            <a:ext cx="76200" cy="228600"/>
          </a:xfrm>
          <a:custGeom>
            <a:avLst/>
            <a:gdLst/>
            <a:ahLst/>
            <a:cxnLst/>
            <a:rect l="l" t="t" r="r" b="b"/>
            <a:pathLst>
              <a:path w="76200" h="228600">
                <a:moveTo>
                  <a:pt x="76200" y="0"/>
                </a:moveTo>
                <a:lnTo>
                  <a:pt x="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5" name="object 35"/>
          <p:cNvSpPr/>
          <p:nvPr/>
        </p:nvSpPr>
        <p:spPr>
          <a:xfrm>
            <a:off x="9753600" y="3327528"/>
            <a:ext cx="0" cy="228600"/>
          </a:xfrm>
          <a:custGeom>
            <a:avLst/>
            <a:gdLst/>
            <a:ahLst/>
            <a:cxnLst/>
            <a:rect l="l" t="t" r="r" b="b"/>
            <a:pathLst>
              <a:path h="228600">
                <a:moveTo>
                  <a:pt x="0" y="0"/>
                </a:moveTo>
                <a:lnTo>
                  <a:pt x="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6" name="object 36"/>
          <p:cNvSpPr/>
          <p:nvPr/>
        </p:nvSpPr>
        <p:spPr>
          <a:xfrm>
            <a:off x="9525000" y="3556128"/>
            <a:ext cx="228600" cy="228600"/>
          </a:xfrm>
          <a:custGeom>
            <a:avLst/>
            <a:gdLst/>
            <a:ahLst/>
            <a:cxnLst/>
            <a:rect l="l" t="t" r="r" b="b"/>
            <a:pathLst>
              <a:path w="228600" h="228600">
                <a:moveTo>
                  <a:pt x="228600" y="0"/>
                </a:moveTo>
                <a:lnTo>
                  <a:pt x="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7" name="object 37"/>
          <p:cNvSpPr/>
          <p:nvPr/>
        </p:nvSpPr>
        <p:spPr>
          <a:xfrm>
            <a:off x="9753600" y="3556128"/>
            <a:ext cx="228600" cy="228600"/>
          </a:xfrm>
          <a:custGeom>
            <a:avLst/>
            <a:gdLst/>
            <a:ahLst/>
            <a:cxnLst/>
            <a:rect l="l" t="t" r="r" b="b"/>
            <a:pathLst>
              <a:path w="228600" h="228600">
                <a:moveTo>
                  <a:pt x="0" y="0"/>
                </a:moveTo>
                <a:lnTo>
                  <a:pt x="228600" y="2286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8" name="object 38"/>
          <p:cNvSpPr/>
          <p:nvPr/>
        </p:nvSpPr>
        <p:spPr>
          <a:xfrm>
            <a:off x="9630156" y="3403728"/>
            <a:ext cx="228600" cy="0"/>
          </a:xfrm>
          <a:custGeom>
            <a:avLst/>
            <a:gdLst/>
            <a:ahLst/>
            <a:cxnLst/>
            <a:rect l="l" t="t" r="r" b="b"/>
            <a:pathLst>
              <a:path w="228600">
                <a:moveTo>
                  <a:pt x="0" y="0"/>
                </a:moveTo>
                <a:lnTo>
                  <a:pt x="2286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39" name="object 39"/>
          <p:cNvGraphicFramePr>
            <a:graphicFrameLocks noGrp="1"/>
          </p:cNvGraphicFramePr>
          <p:nvPr>
            <p:extLst>
              <p:ext uri="{D42A27DB-BD31-4B8C-83A1-F6EECF244321}">
                <p14:modId xmlns:p14="http://schemas.microsoft.com/office/powerpoint/2010/main" val="112642085"/>
              </p:ext>
            </p:extLst>
          </p:nvPr>
        </p:nvGraphicFramePr>
        <p:xfrm>
          <a:off x="9168383" y="4705224"/>
          <a:ext cx="1143000" cy="762000"/>
        </p:xfrm>
        <a:graphic>
          <a:graphicData uri="http://schemas.openxmlformats.org/drawingml/2006/table">
            <a:tbl>
              <a:tblPr firstRow="1" bandRow="1">
                <a:tableStyleId>{2D5ABB26-0587-4C30-8999-92F81FD0307C}</a:tableStyleId>
              </a:tblPr>
              <a:tblGrid>
                <a:gridCol w="1143000">
                  <a:extLst>
                    <a:ext uri="{9D8B030D-6E8A-4147-A177-3AD203B41FA5}">
                      <a16:colId xmlns:a16="http://schemas.microsoft.com/office/drawing/2014/main" val="20000"/>
                    </a:ext>
                  </a:extLst>
                </a:gridCol>
              </a:tblGrid>
              <a:tr h="381000">
                <a:tc>
                  <a:txBody>
                    <a:bodyPr/>
                    <a:lstStyle/>
                    <a:p>
                      <a:pPr marL="161290">
                        <a:lnSpc>
                          <a:spcPct val="100000"/>
                        </a:lnSpc>
                        <a:spcBef>
                          <a:spcPts val="300"/>
                        </a:spcBef>
                      </a:pPr>
                      <a:r>
                        <a:rPr sz="1400" spc="-5" dirty="0">
                          <a:latin typeface="Arial"/>
                          <a:cs typeface="Arial"/>
                        </a:rPr>
                        <a:t>Nhà</a:t>
                      </a:r>
                      <a:r>
                        <a:rPr sz="1400" spc="-35" dirty="0">
                          <a:latin typeface="Arial"/>
                          <a:cs typeface="Arial"/>
                        </a:rPr>
                        <a:t> </a:t>
                      </a:r>
                      <a:r>
                        <a:rPr sz="1400" spc="-5" dirty="0">
                          <a:latin typeface="Arial"/>
                          <a:cs typeface="Arial"/>
                        </a:rPr>
                        <a:t>CCấp</a:t>
                      </a:r>
                      <a:endParaRPr sz="1400">
                        <a:latin typeface="Arial"/>
                        <a:cs typeface="Arial"/>
                      </a:endParaRPr>
                    </a:p>
                  </a:txBody>
                  <a:tcPr marL="0" marR="0" marT="381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0"/>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1"/>
                  </a:ext>
                </a:extLst>
              </a:tr>
              <a:tr h="190500">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40" name="object 40"/>
          <p:cNvSpPr/>
          <p:nvPr/>
        </p:nvSpPr>
        <p:spPr>
          <a:xfrm>
            <a:off x="7620000" y="4241928"/>
            <a:ext cx="1143000" cy="304800"/>
          </a:xfrm>
          <a:custGeom>
            <a:avLst/>
            <a:gdLst/>
            <a:ahLst/>
            <a:cxnLst/>
            <a:rect l="l" t="t" r="r" b="b"/>
            <a:pathLst>
              <a:path w="1143000" h="304800">
                <a:moveTo>
                  <a:pt x="1143000" y="0"/>
                </a:moveTo>
                <a:lnTo>
                  <a:pt x="1135510" y="59334"/>
                </a:lnTo>
                <a:lnTo>
                  <a:pt x="1115091" y="107775"/>
                </a:lnTo>
                <a:lnTo>
                  <a:pt x="1084814" y="140428"/>
                </a:lnTo>
                <a:lnTo>
                  <a:pt x="1047750" y="152400"/>
                </a:lnTo>
                <a:lnTo>
                  <a:pt x="666750" y="152400"/>
                </a:lnTo>
                <a:lnTo>
                  <a:pt x="629685" y="164371"/>
                </a:lnTo>
                <a:lnTo>
                  <a:pt x="599408" y="197024"/>
                </a:lnTo>
                <a:lnTo>
                  <a:pt x="578989" y="245465"/>
                </a:lnTo>
                <a:lnTo>
                  <a:pt x="571500" y="304800"/>
                </a:lnTo>
                <a:lnTo>
                  <a:pt x="564010" y="245465"/>
                </a:lnTo>
                <a:lnTo>
                  <a:pt x="543591" y="197024"/>
                </a:lnTo>
                <a:lnTo>
                  <a:pt x="513314" y="164371"/>
                </a:lnTo>
                <a:lnTo>
                  <a:pt x="476250" y="152400"/>
                </a:lnTo>
                <a:lnTo>
                  <a:pt x="95250" y="152400"/>
                </a:lnTo>
                <a:lnTo>
                  <a:pt x="58185" y="140428"/>
                </a:lnTo>
                <a:lnTo>
                  <a:pt x="27908" y="107775"/>
                </a:lnTo>
                <a:lnTo>
                  <a:pt x="7489" y="59334"/>
                </a:lnTo>
                <a:lnTo>
                  <a:pt x="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1" name="object 41"/>
          <p:cNvSpPr/>
          <p:nvPr/>
        </p:nvSpPr>
        <p:spPr>
          <a:xfrm>
            <a:off x="9144000" y="4165728"/>
            <a:ext cx="1143000" cy="304800"/>
          </a:xfrm>
          <a:custGeom>
            <a:avLst/>
            <a:gdLst/>
            <a:ahLst/>
            <a:cxnLst/>
            <a:rect l="l" t="t" r="r" b="b"/>
            <a:pathLst>
              <a:path w="1143000" h="304800">
                <a:moveTo>
                  <a:pt x="1143000" y="0"/>
                </a:moveTo>
                <a:lnTo>
                  <a:pt x="1135510" y="59334"/>
                </a:lnTo>
                <a:lnTo>
                  <a:pt x="1115091" y="107775"/>
                </a:lnTo>
                <a:lnTo>
                  <a:pt x="1084814" y="140428"/>
                </a:lnTo>
                <a:lnTo>
                  <a:pt x="1047750" y="152400"/>
                </a:lnTo>
                <a:lnTo>
                  <a:pt x="666750" y="152400"/>
                </a:lnTo>
                <a:lnTo>
                  <a:pt x="629685" y="164371"/>
                </a:lnTo>
                <a:lnTo>
                  <a:pt x="599408" y="197024"/>
                </a:lnTo>
                <a:lnTo>
                  <a:pt x="578989" y="245465"/>
                </a:lnTo>
                <a:lnTo>
                  <a:pt x="571500" y="304800"/>
                </a:lnTo>
                <a:lnTo>
                  <a:pt x="564010" y="245465"/>
                </a:lnTo>
                <a:lnTo>
                  <a:pt x="543591" y="197024"/>
                </a:lnTo>
                <a:lnTo>
                  <a:pt x="513314" y="164371"/>
                </a:lnTo>
                <a:lnTo>
                  <a:pt x="476250" y="152400"/>
                </a:lnTo>
                <a:lnTo>
                  <a:pt x="95250" y="152400"/>
                </a:lnTo>
                <a:lnTo>
                  <a:pt x="58185" y="140428"/>
                </a:lnTo>
                <a:lnTo>
                  <a:pt x="27908" y="107775"/>
                </a:lnTo>
                <a:lnTo>
                  <a:pt x="7489" y="59334"/>
                </a:lnTo>
                <a:lnTo>
                  <a:pt x="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4"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43"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6610092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3698874" y="1608329"/>
            <a:ext cx="164592" cy="306324"/>
          </a:xfrm>
          <a:prstGeom prst="rect">
            <a:avLst/>
          </a:prstGeom>
          <a:blipFill>
            <a:blip r:embed="rId2" cstate="print"/>
            <a:stretch>
              <a:fillRect/>
            </a:stretch>
          </a:blipFill>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5" name="object 5"/>
          <p:cNvSpPr/>
          <p:nvPr/>
        </p:nvSpPr>
        <p:spPr>
          <a:xfrm>
            <a:off x="3650869" y="1807211"/>
            <a:ext cx="254635" cy="0"/>
          </a:xfrm>
          <a:custGeom>
            <a:avLst/>
            <a:gdLst/>
            <a:ahLst/>
            <a:cxnLst/>
            <a:rect l="l" t="t" r="r" b="b"/>
            <a:pathLst>
              <a:path w="254635">
                <a:moveTo>
                  <a:pt x="0" y="0"/>
                </a:moveTo>
                <a:lnTo>
                  <a:pt x="254508" y="0"/>
                </a:lnTo>
              </a:path>
            </a:pathLst>
          </a:custGeom>
          <a:ln w="4572">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6" name="object 6"/>
          <p:cNvSpPr/>
          <p:nvPr/>
        </p:nvSpPr>
        <p:spPr>
          <a:xfrm>
            <a:off x="3600576" y="1912367"/>
            <a:ext cx="353695" cy="173990"/>
          </a:xfrm>
          <a:custGeom>
            <a:avLst/>
            <a:gdLst/>
            <a:ahLst/>
            <a:cxnLst/>
            <a:rect l="l" t="t" r="r" b="b"/>
            <a:pathLst>
              <a:path w="353695" h="173989">
                <a:moveTo>
                  <a:pt x="0" y="173736"/>
                </a:moveTo>
                <a:lnTo>
                  <a:pt x="176783" y="0"/>
                </a:lnTo>
                <a:lnTo>
                  <a:pt x="353568" y="173736"/>
                </a:lnTo>
              </a:path>
            </a:pathLst>
          </a:custGeom>
          <a:ln w="4572">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7" name="object 7"/>
          <p:cNvSpPr/>
          <p:nvPr/>
        </p:nvSpPr>
        <p:spPr>
          <a:xfrm>
            <a:off x="5657977" y="1647192"/>
            <a:ext cx="467995" cy="448309"/>
          </a:xfrm>
          <a:custGeom>
            <a:avLst/>
            <a:gdLst/>
            <a:ahLst/>
            <a:cxnLst/>
            <a:rect l="l" t="t" r="r" b="b"/>
            <a:pathLst>
              <a:path w="467995" h="448310">
                <a:moveTo>
                  <a:pt x="0" y="224027"/>
                </a:moveTo>
                <a:lnTo>
                  <a:pt x="4754" y="178886"/>
                </a:lnTo>
                <a:lnTo>
                  <a:pt x="18389" y="136838"/>
                </a:lnTo>
                <a:lnTo>
                  <a:pt x="39962" y="98784"/>
                </a:lnTo>
                <a:lnTo>
                  <a:pt x="68532" y="65627"/>
                </a:lnTo>
                <a:lnTo>
                  <a:pt x="103156" y="38268"/>
                </a:lnTo>
                <a:lnTo>
                  <a:pt x="142892" y="17609"/>
                </a:lnTo>
                <a:lnTo>
                  <a:pt x="186799" y="4552"/>
                </a:lnTo>
                <a:lnTo>
                  <a:pt x="233933" y="0"/>
                </a:lnTo>
                <a:lnTo>
                  <a:pt x="281068" y="4552"/>
                </a:lnTo>
                <a:lnTo>
                  <a:pt x="324975" y="17609"/>
                </a:lnTo>
                <a:lnTo>
                  <a:pt x="364711" y="38268"/>
                </a:lnTo>
                <a:lnTo>
                  <a:pt x="399335" y="65627"/>
                </a:lnTo>
                <a:lnTo>
                  <a:pt x="427905" y="98784"/>
                </a:lnTo>
                <a:lnTo>
                  <a:pt x="449478" y="136838"/>
                </a:lnTo>
                <a:lnTo>
                  <a:pt x="463113" y="178886"/>
                </a:lnTo>
                <a:lnTo>
                  <a:pt x="467867" y="224027"/>
                </a:lnTo>
                <a:lnTo>
                  <a:pt x="463113" y="269169"/>
                </a:lnTo>
                <a:lnTo>
                  <a:pt x="449478" y="311217"/>
                </a:lnTo>
                <a:lnTo>
                  <a:pt x="427905" y="349271"/>
                </a:lnTo>
                <a:lnTo>
                  <a:pt x="399335" y="382428"/>
                </a:lnTo>
                <a:lnTo>
                  <a:pt x="364711" y="409787"/>
                </a:lnTo>
                <a:lnTo>
                  <a:pt x="324975" y="430446"/>
                </a:lnTo>
                <a:lnTo>
                  <a:pt x="281068" y="443503"/>
                </a:lnTo>
                <a:lnTo>
                  <a:pt x="233933" y="448055"/>
                </a:lnTo>
                <a:lnTo>
                  <a:pt x="186799" y="443503"/>
                </a:lnTo>
                <a:lnTo>
                  <a:pt x="142892" y="430446"/>
                </a:lnTo>
                <a:lnTo>
                  <a:pt x="103156" y="409787"/>
                </a:lnTo>
                <a:lnTo>
                  <a:pt x="68532" y="382428"/>
                </a:lnTo>
                <a:lnTo>
                  <a:pt x="39962" y="349271"/>
                </a:lnTo>
                <a:lnTo>
                  <a:pt x="18389" y="311217"/>
                </a:lnTo>
                <a:lnTo>
                  <a:pt x="4754" y="269169"/>
                </a:lnTo>
                <a:lnTo>
                  <a:pt x="0" y="224027"/>
                </a:lnTo>
                <a:close/>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8" name="object 8"/>
          <p:cNvSpPr/>
          <p:nvPr/>
        </p:nvSpPr>
        <p:spPr>
          <a:xfrm>
            <a:off x="5894196" y="1866646"/>
            <a:ext cx="231775" cy="228600"/>
          </a:xfrm>
          <a:custGeom>
            <a:avLst/>
            <a:gdLst/>
            <a:ahLst/>
            <a:cxnLst/>
            <a:rect l="l" t="t" r="r" b="b"/>
            <a:pathLst>
              <a:path w="231775" h="228600">
                <a:moveTo>
                  <a:pt x="231648" y="0"/>
                </a:moveTo>
                <a:lnTo>
                  <a:pt x="0" y="228600"/>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9" name="object 9"/>
          <p:cNvSpPr/>
          <p:nvPr/>
        </p:nvSpPr>
        <p:spPr>
          <a:xfrm>
            <a:off x="5843904" y="1610615"/>
            <a:ext cx="102235" cy="41275"/>
          </a:xfrm>
          <a:custGeom>
            <a:avLst/>
            <a:gdLst/>
            <a:ahLst/>
            <a:cxnLst/>
            <a:rect l="l" t="t" r="r" b="b"/>
            <a:pathLst>
              <a:path w="102235" h="41275">
                <a:moveTo>
                  <a:pt x="102108" y="0"/>
                </a:moveTo>
                <a:lnTo>
                  <a:pt x="0" y="41148"/>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0" name="object 10"/>
          <p:cNvSpPr/>
          <p:nvPr/>
        </p:nvSpPr>
        <p:spPr>
          <a:xfrm>
            <a:off x="5845428" y="1651763"/>
            <a:ext cx="102235" cy="43180"/>
          </a:xfrm>
          <a:custGeom>
            <a:avLst/>
            <a:gdLst/>
            <a:ahLst/>
            <a:cxnLst/>
            <a:rect l="l" t="t" r="r" b="b"/>
            <a:pathLst>
              <a:path w="102235" h="43180">
                <a:moveTo>
                  <a:pt x="102107" y="42672"/>
                </a:moveTo>
                <a:lnTo>
                  <a:pt x="0" y="0"/>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1" name="object 11"/>
          <p:cNvSpPr/>
          <p:nvPr/>
        </p:nvSpPr>
        <p:spPr>
          <a:xfrm>
            <a:off x="5891148" y="1919987"/>
            <a:ext cx="71755" cy="71755"/>
          </a:xfrm>
          <a:custGeom>
            <a:avLst/>
            <a:gdLst/>
            <a:ahLst/>
            <a:cxnLst/>
            <a:rect l="l" t="t" r="r" b="b"/>
            <a:pathLst>
              <a:path w="71754" h="71755">
                <a:moveTo>
                  <a:pt x="71628" y="71627"/>
                </a:moveTo>
                <a:lnTo>
                  <a:pt x="0" y="0"/>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2" name="object 12"/>
          <p:cNvSpPr/>
          <p:nvPr/>
        </p:nvSpPr>
        <p:spPr>
          <a:xfrm>
            <a:off x="5821045" y="1919987"/>
            <a:ext cx="71755" cy="71755"/>
          </a:xfrm>
          <a:custGeom>
            <a:avLst/>
            <a:gdLst/>
            <a:ahLst/>
            <a:cxnLst/>
            <a:rect l="l" t="t" r="r" b="b"/>
            <a:pathLst>
              <a:path w="71754" h="71755">
                <a:moveTo>
                  <a:pt x="0" y="71627"/>
                </a:moveTo>
                <a:lnTo>
                  <a:pt x="71627" y="0"/>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3" name="object 13"/>
          <p:cNvSpPr/>
          <p:nvPr/>
        </p:nvSpPr>
        <p:spPr>
          <a:xfrm>
            <a:off x="5891148" y="1827023"/>
            <a:ext cx="1905" cy="96520"/>
          </a:xfrm>
          <a:custGeom>
            <a:avLst/>
            <a:gdLst/>
            <a:ahLst/>
            <a:cxnLst/>
            <a:rect l="l" t="t" r="r" b="b"/>
            <a:pathLst>
              <a:path w="1904" h="96519">
                <a:moveTo>
                  <a:pt x="0" y="0"/>
                </a:moveTo>
                <a:lnTo>
                  <a:pt x="1524" y="96012"/>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4" name="object 14"/>
          <p:cNvSpPr/>
          <p:nvPr/>
        </p:nvSpPr>
        <p:spPr>
          <a:xfrm>
            <a:off x="5827139" y="1846835"/>
            <a:ext cx="128270" cy="0"/>
          </a:xfrm>
          <a:custGeom>
            <a:avLst/>
            <a:gdLst/>
            <a:ahLst/>
            <a:cxnLst/>
            <a:rect l="l" t="t" r="r" b="b"/>
            <a:pathLst>
              <a:path w="128270">
                <a:moveTo>
                  <a:pt x="0" y="0"/>
                </a:moveTo>
                <a:lnTo>
                  <a:pt x="128015" y="0"/>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5" name="object 15"/>
          <p:cNvSpPr/>
          <p:nvPr/>
        </p:nvSpPr>
        <p:spPr>
          <a:xfrm>
            <a:off x="5856095" y="1753870"/>
            <a:ext cx="73660" cy="73660"/>
          </a:xfrm>
          <a:custGeom>
            <a:avLst/>
            <a:gdLst/>
            <a:ahLst/>
            <a:cxnLst/>
            <a:rect l="l" t="t" r="r" b="b"/>
            <a:pathLst>
              <a:path w="73660" h="73660">
                <a:moveTo>
                  <a:pt x="0" y="36575"/>
                </a:moveTo>
                <a:lnTo>
                  <a:pt x="2875" y="22342"/>
                </a:lnTo>
                <a:lnTo>
                  <a:pt x="10715" y="10715"/>
                </a:lnTo>
                <a:lnTo>
                  <a:pt x="22342" y="2875"/>
                </a:lnTo>
                <a:lnTo>
                  <a:pt x="36575" y="0"/>
                </a:lnTo>
                <a:lnTo>
                  <a:pt x="50809" y="2875"/>
                </a:lnTo>
                <a:lnTo>
                  <a:pt x="62436" y="10715"/>
                </a:lnTo>
                <a:lnTo>
                  <a:pt x="70276" y="22342"/>
                </a:lnTo>
                <a:lnTo>
                  <a:pt x="73151" y="36575"/>
                </a:lnTo>
                <a:lnTo>
                  <a:pt x="70276" y="50809"/>
                </a:lnTo>
                <a:lnTo>
                  <a:pt x="62436" y="62436"/>
                </a:lnTo>
                <a:lnTo>
                  <a:pt x="50809" y="70276"/>
                </a:lnTo>
                <a:lnTo>
                  <a:pt x="36575" y="73152"/>
                </a:lnTo>
                <a:lnTo>
                  <a:pt x="22342" y="70276"/>
                </a:lnTo>
                <a:lnTo>
                  <a:pt x="10715" y="62436"/>
                </a:lnTo>
                <a:lnTo>
                  <a:pt x="2875" y="50809"/>
                </a:lnTo>
                <a:lnTo>
                  <a:pt x="0" y="36575"/>
                </a:lnTo>
                <a:close/>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6" name="object 16"/>
          <p:cNvSpPr/>
          <p:nvPr/>
        </p:nvSpPr>
        <p:spPr>
          <a:xfrm>
            <a:off x="4210176" y="2982214"/>
            <a:ext cx="455930" cy="455930"/>
          </a:xfrm>
          <a:custGeom>
            <a:avLst/>
            <a:gdLst/>
            <a:ahLst/>
            <a:cxnLst/>
            <a:rect l="l" t="t" r="r" b="b"/>
            <a:pathLst>
              <a:path w="455929" h="455929">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7" name="object 17"/>
          <p:cNvSpPr/>
          <p:nvPr/>
        </p:nvSpPr>
        <p:spPr>
          <a:xfrm>
            <a:off x="4210176" y="3437892"/>
            <a:ext cx="457200" cy="1905"/>
          </a:xfrm>
          <a:custGeom>
            <a:avLst/>
            <a:gdLst/>
            <a:ahLst/>
            <a:cxnLst/>
            <a:rect l="l" t="t" r="r" b="b"/>
            <a:pathLst>
              <a:path w="457200" h="1904">
                <a:moveTo>
                  <a:pt x="0" y="0"/>
                </a:moveTo>
                <a:lnTo>
                  <a:pt x="457200" y="1524"/>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18" name="object 18"/>
          <p:cNvSpPr txBox="1"/>
          <p:nvPr/>
        </p:nvSpPr>
        <p:spPr>
          <a:xfrm>
            <a:off x="3892550" y="3532633"/>
            <a:ext cx="1405889"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Hồ </a:t>
            </a:r>
            <a:r>
              <a:rPr sz="1400" dirty="0">
                <a:latin typeface="Times New Roman" panose="02020603050405020304" pitchFamily="18" charset="0"/>
                <a:cs typeface="Times New Roman" panose="02020603050405020304" pitchFamily="18" charset="0"/>
              </a:rPr>
              <a:t>sơ khách</a:t>
            </a:r>
            <a:r>
              <a:rPr sz="1400" spc="-10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hàng</a:t>
            </a:r>
            <a:endParaRPr sz="1400">
              <a:latin typeface="Times New Roman" panose="02020603050405020304" pitchFamily="18" charset="0"/>
              <a:cs typeface="Times New Roman" panose="02020603050405020304" pitchFamily="18" charset="0"/>
            </a:endParaRPr>
          </a:p>
        </p:txBody>
      </p:sp>
      <p:sp>
        <p:nvSpPr>
          <p:cNvPr id="19" name="object 19"/>
          <p:cNvSpPr/>
          <p:nvPr/>
        </p:nvSpPr>
        <p:spPr>
          <a:xfrm>
            <a:off x="5657976" y="2982214"/>
            <a:ext cx="455930" cy="455930"/>
          </a:xfrm>
          <a:custGeom>
            <a:avLst/>
            <a:gdLst/>
            <a:ahLst/>
            <a:cxnLst/>
            <a:rect l="l" t="t" r="r" b="b"/>
            <a:pathLst>
              <a:path w="455929" h="455929">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0" name="object 20"/>
          <p:cNvSpPr/>
          <p:nvPr/>
        </p:nvSpPr>
        <p:spPr>
          <a:xfrm>
            <a:off x="5657976" y="3437892"/>
            <a:ext cx="457200" cy="1905"/>
          </a:xfrm>
          <a:custGeom>
            <a:avLst/>
            <a:gdLst/>
            <a:ahLst/>
            <a:cxnLst/>
            <a:rect l="l" t="t" r="r" b="b"/>
            <a:pathLst>
              <a:path w="457200" h="1904">
                <a:moveTo>
                  <a:pt x="0" y="0"/>
                </a:moveTo>
                <a:lnTo>
                  <a:pt x="457200" y="1524"/>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1" name="object 21"/>
          <p:cNvSpPr txBox="1"/>
          <p:nvPr/>
        </p:nvSpPr>
        <p:spPr>
          <a:xfrm>
            <a:off x="5620383" y="3521964"/>
            <a:ext cx="615950"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Hoá</a:t>
            </a:r>
            <a:r>
              <a:rPr sz="1400" spc="-9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đơn</a:t>
            </a:r>
            <a:endParaRPr sz="1400">
              <a:latin typeface="Times New Roman" panose="02020603050405020304" pitchFamily="18" charset="0"/>
              <a:cs typeface="Times New Roman" panose="02020603050405020304" pitchFamily="18" charset="0"/>
            </a:endParaRPr>
          </a:p>
        </p:txBody>
      </p:sp>
      <p:sp>
        <p:nvSpPr>
          <p:cNvPr id="22" name="object 22"/>
          <p:cNvSpPr/>
          <p:nvPr/>
        </p:nvSpPr>
        <p:spPr>
          <a:xfrm>
            <a:off x="7181975" y="2982214"/>
            <a:ext cx="455930" cy="455930"/>
          </a:xfrm>
          <a:custGeom>
            <a:avLst/>
            <a:gdLst/>
            <a:ahLst/>
            <a:cxnLst/>
            <a:rect l="l" t="t" r="r" b="b"/>
            <a:pathLst>
              <a:path w="455929" h="455929">
                <a:moveTo>
                  <a:pt x="0" y="227837"/>
                </a:moveTo>
                <a:lnTo>
                  <a:pt x="4627" y="181913"/>
                </a:lnTo>
                <a:lnTo>
                  <a:pt x="17901" y="139142"/>
                </a:lnTo>
                <a:lnTo>
                  <a:pt x="38904" y="100440"/>
                </a:lnTo>
                <a:lnTo>
                  <a:pt x="66722" y="66722"/>
                </a:lnTo>
                <a:lnTo>
                  <a:pt x="100440" y="38904"/>
                </a:lnTo>
                <a:lnTo>
                  <a:pt x="139142" y="17901"/>
                </a:lnTo>
                <a:lnTo>
                  <a:pt x="181913" y="4627"/>
                </a:lnTo>
                <a:lnTo>
                  <a:pt x="227837" y="0"/>
                </a:lnTo>
                <a:lnTo>
                  <a:pt x="273762" y="4627"/>
                </a:lnTo>
                <a:lnTo>
                  <a:pt x="316533" y="17901"/>
                </a:lnTo>
                <a:lnTo>
                  <a:pt x="355235" y="38904"/>
                </a:lnTo>
                <a:lnTo>
                  <a:pt x="388953" y="66722"/>
                </a:lnTo>
                <a:lnTo>
                  <a:pt x="416771" y="100440"/>
                </a:lnTo>
                <a:lnTo>
                  <a:pt x="437774" y="139142"/>
                </a:lnTo>
                <a:lnTo>
                  <a:pt x="451048" y="181913"/>
                </a:lnTo>
                <a:lnTo>
                  <a:pt x="455675" y="227837"/>
                </a:lnTo>
                <a:lnTo>
                  <a:pt x="451048" y="273762"/>
                </a:lnTo>
                <a:lnTo>
                  <a:pt x="437774" y="316533"/>
                </a:lnTo>
                <a:lnTo>
                  <a:pt x="416771" y="355235"/>
                </a:lnTo>
                <a:lnTo>
                  <a:pt x="388953" y="388953"/>
                </a:lnTo>
                <a:lnTo>
                  <a:pt x="355235" y="416771"/>
                </a:lnTo>
                <a:lnTo>
                  <a:pt x="316533" y="437774"/>
                </a:lnTo>
                <a:lnTo>
                  <a:pt x="273762" y="451048"/>
                </a:lnTo>
                <a:lnTo>
                  <a:pt x="227837" y="455675"/>
                </a:lnTo>
                <a:lnTo>
                  <a:pt x="181913" y="451048"/>
                </a:lnTo>
                <a:lnTo>
                  <a:pt x="139142" y="437774"/>
                </a:lnTo>
                <a:lnTo>
                  <a:pt x="100440" y="416771"/>
                </a:lnTo>
                <a:lnTo>
                  <a:pt x="66722" y="388953"/>
                </a:lnTo>
                <a:lnTo>
                  <a:pt x="38904" y="355235"/>
                </a:lnTo>
                <a:lnTo>
                  <a:pt x="17901" y="316533"/>
                </a:lnTo>
                <a:lnTo>
                  <a:pt x="4627" y="273762"/>
                </a:lnTo>
                <a:lnTo>
                  <a:pt x="0" y="227837"/>
                </a:lnTo>
                <a:close/>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3" name="object 23"/>
          <p:cNvSpPr/>
          <p:nvPr/>
        </p:nvSpPr>
        <p:spPr>
          <a:xfrm>
            <a:off x="7181975" y="3437892"/>
            <a:ext cx="457200" cy="1905"/>
          </a:xfrm>
          <a:custGeom>
            <a:avLst/>
            <a:gdLst/>
            <a:ahLst/>
            <a:cxnLst/>
            <a:rect l="l" t="t" r="r" b="b"/>
            <a:pathLst>
              <a:path w="457200" h="1904">
                <a:moveTo>
                  <a:pt x="0" y="0"/>
                </a:moveTo>
                <a:lnTo>
                  <a:pt x="457200" y="1524"/>
                </a:lnTo>
              </a:path>
            </a:pathLst>
          </a:custGeom>
          <a:ln w="3175">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4" name="object 24"/>
          <p:cNvSpPr txBox="1"/>
          <p:nvPr/>
        </p:nvSpPr>
        <p:spPr>
          <a:xfrm>
            <a:off x="6788402" y="3532633"/>
            <a:ext cx="2197228" cy="228268"/>
          </a:xfrm>
          <a:prstGeom prst="rect">
            <a:avLst/>
          </a:prstGeom>
        </p:spPr>
        <p:txBody>
          <a:bodyPr vert="horz" wrap="square" lIns="0" tIns="12700" rIns="0" bIns="0" rtlCol="0">
            <a:spAutoFit/>
          </a:bodyPr>
          <a:lstStyle/>
          <a:p>
            <a:pPr marL="12700">
              <a:spcBef>
                <a:spcPts val="100"/>
              </a:spcBef>
            </a:pPr>
            <a:r>
              <a:rPr sz="1400" dirty="0">
                <a:latin typeface="Times New Roman" panose="02020603050405020304" pitchFamily="18" charset="0"/>
                <a:cs typeface="Times New Roman" panose="02020603050405020304" pitchFamily="18" charset="0"/>
              </a:rPr>
              <a:t>Thẻ khách hàng thân</a:t>
            </a:r>
            <a:r>
              <a:rPr sz="1400" spc="-16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thiết</a:t>
            </a:r>
            <a:endParaRPr sz="1400">
              <a:latin typeface="Times New Roman" panose="02020603050405020304" pitchFamily="18" charset="0"/>
              <a:cs typeface="Times New Roman" panose="02020603050405020304" pitchFamily="18" charset="0"/>
            </a:endParaRPr>
          </a:p>
        </p:txBody>
      </p:sp>
      <p:sp>
        <p:nvSpPr>
          <p:cNvPr id="25" name="object 25"/>
          <p:cNvSpPr/>
          <p:nvPr/>
        </p:nvSpPr>
        <p:spPr>
          <a:xfrm>
            <a:off x="3980814" y="1838452"/>
            <a:ext cx="1676400" cy="0"/>
          </a:xfrm>
          <a:custGeom>
            <a:avLst/>
            <a:gdLst/>
            <a:ahLst/>
            <a:cxnLst/>
            <a:rect l="l" t="t" r="r" b="b"/>
            <a:pathLst>
              <a:path w="1676400">
                <a:moveTo>
                  <a:pt x="0" y="0"/>
                </a:moveTo>
                <a:lnTo>
                  <a:pt x="1676400"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6" name="object 26"/>
          <p:cNvSpPr/>
          <p:nvPr/>
        </p:nvSpPr>
        <p:spPr>
          <a:xfrm>
            <a:off x="4590414" y="2067052"/>
            <a:ext cx="1066800" cy="914400"/>
          </a:xfrm>
          <a:custGeom>
            <a:avLst/>
            <a:gdLst/>
            <a:ahLst/>
            <a:cxnLst/>
            <a:rect l="l" t="t" r="r" b="b"/>
            <a:pathLst>
              <a:path w="1066800" h="914400">
                <a:moveTo>
                  <a:pt x="1066800" y="0"/>
                </a:moveTo>
                <a:lnTo>
                  <a:pt x="0" y="91440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7" name="object 27"/>
          <p:cNvSpPr/>
          <p:nvPr/>
        </p:nvSpPr>
        <p:spPr>
          <a:xfrm>
            <a:off x="5885814" y="2409952"/>
            <a:ext cx="0" cy="571500"/>
          </a:xfrm>
          <a:custGeom>
            <a:avLst/>
            <a:gdLst/>
            <a:ahLst/>
            <a:cxnLst/>
            <a:rect l="l" t="t" r="r" b="b"/>
            <a:pathLst>
              <a:path h="571500">
                <a:moveTo>
                  <a:pt x="0" y="0"/>
                </a:moveTo>
                <a:lnTo>
                  <a:pt x="0" y="57150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8" name="object 28"/>
          <p:cNvSpPr/>
          <p:nvPr/>
        </p:nvSpPr>
        <p:spPr>
          <a:xfrm>
            <a:off x="6343014" y="2067052"/>
            <a:ext cx="838200" cy="1028700"/>
          </a:xfrm>
          <a:custGeom>
            <a:avLst/>
            <a:gdLst/>
            <a:ahLst/>
            <a:cxnLst/>
            <a:rect l="l" t="t" r="r" b="b"/>
            <a:pathLst>
              <a:path w="838200" h="1028700">
                <a:moveTo>
                  <a:pt x="0" y="0"/>
                </a:moveTo>
                <a:lnTo>
                  <a:pt x="838199" y="102870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29" name="object 29"/>
          <p:cNvSpPr txBox="1"/>
          <p:nvPr/>
        </p:nvSpPr>
        <p:spPr>
          <a:xfrm>
            <a:off x="3570350" y="1863600"/>
            <a:ext cx="935608" cy="571951"/>
          </a:xfrm>
          <a:prstGeom prst="rect">
            <a:avLst/>
          </a:prstGeom>
        </p:spPr>
        <p:txBody>
          <a:bodyPr vert="horz" wrap="square" lIns="0" tIns="12700" rIns="0" bIns="0" rtlCol="0">
            <a:spAutoFit/>
          </a:bodyPr>
          <a:lstStyle/>
          <a:p>
            <a:pPr marL="487045">
              <a:spcBef>
                <a:spcPts val="100"/>
              </a:spcBef>
            </a:pPr>
            <a:r>
              <a:rPr sz="1400" dirty="0">
                <a:latin typeface="Times New Roman" panose="02020603050405020304" pitchFamily="18" charset="0"/>
                <a:cs typeface="Times New Roman" panose="02020603050405020304" pitchFamily="18" charset="0"/>
              </a:rPr>
              <a:t>0..n</a:t>
            </a:r>
          </a:p>
          <a:p>
            <a:pPr marL="12700">
              <a:spcBef>
                <a:spcPts val="960"/>
              </a:spcBef>
            </a:pPr>
            <a:r>
              <a:rPr sz="1400" dirty="0">
                <a:latin typeface="Times New Roman" panose="02020603050405020304" pitchFamily="18" charset="0"/>
                <a:cs typeface="Times New Roman" panose="02020603050405020304" pitchFamily="18" charset="0"/>
              </a:rPr>
              <a:t>Khách</a:t>
            </a:r>
            <a:r>
              <a:rPr sz="1400" spc="-9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hàng</a:t>
            </a:r>
          </a:p>
        </p:txBody>
      </p:sp>
      <p:sp>
        <p:nvSpPr>
          <p:cNvPr id="30" name="object 30"/>
          <p:cNvSpPr txBox="1"/>
          <p:nvPr/>
        </p:nvSpPr>
        <p:spPr>
          <a:xfrm>
            <a:off x="5187950" y="1863599"/>
            <a:ext cx="110489"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p:txBody>
      </p:sp>
      <p:sp>
        <p:nvSpPr>
          <p:cNvPr id="31" name="object 31"/>
          <p:cNvSpPr txBox="1"/>
          <p:nvPr/>
        </p:nvSpPr>
        <p:spPr>
          <a:xfrm>
            <a:off x="5264150" y="2435352"/>
            <a:ext cx="110489"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p:txBody>
      </p:sp>
      <p:sp>
        <p:nvSpPr>
          <p:cNvPr id="32" name="object 32"/>
          <p:cNvSpPr txBox="1"/>
          <p:nvPr/>
        </p:nvSpPr>
        <p:spPr>
          <a:xfrm>
            <a:off x="4349749" y="2778252"/>
            <a:ext cx="280670"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0</a:t>
            </a:r>
            <a:r>
              <a:rPr sz="1400" dirty="0">
                <a:latin typeface="Times New Roman" panose="02020603050405020304" pitchFamily="18" charset="0"/>
                <a:cs typeface="Times New Roman" panose="02020603050405020304" pitchFamily="18" charset="0"/>
              </a:rPr>
              <a:t>..</a:t>
            </a:r>
            <a:r>
              <a:rPr sz="1400" spc="-5" dirty="0">
                <a:latin typeface="Times New Roman" panose="02020603050405020304" pitchFamily="18" charset="0"/>
                <a:cs typeface="Times New Roman" panose="02020603050405020304" pitchFamily="18" charset="0"/>
              </a:rPr>
              <a:t>n</a:t>
            </a:r>
            <a:endParaRPr sz="1400">
              <a:latin typeface="Times New Roman" panose="02020603050405020304" pitchFamily="18" charset="0"/>
              <a:cs typeface="Times New Roman" panose="02020603050405020304" pitchFamily="18" charset="0"/>
            </a:endParaRPr>
          </a:p>
        </p:txBody>
      </p:sp>
      <p:sp>
        <p:nvSpPr>
          <p:cNvPr id="33" name="object 33"/>
          <p:cNvSpPr txBox="1"/>
          <p:nvPr/>
        </p:nvSpPr>
        <p:spPr>
          <a:xfrm>
            <a:off x="5874002" y="2778252"/>
            <a:ext cx="280670"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0</a:t>
            </a:r>
            <a:r>
              <a:rPr sz="1400" dirty="0">
                <a:latin typeface="Times New Roman" panose="02020603050405020304" pitchFamily="18" charset="0"/>
                <a:cs typeface="Times New Roman" panose="02020603050405020304" pitchFamily="18" charset="0"/>
              </a:rPr>
              <a:t>..</a:t>
            </a:r>
            <a:r>
              <a:rPr sz="1400" spc="-5" dirty="0">
                <a:latin typeface="Times New Roman" panose="02020603050405020304" pitchFamily="18" charset="0"/>
                <a:cs typeface="Times New Roman" panose="02020603050405020304" pitchFamily="18" charset="0"/>
              </a:rPr>
              <a:t>n</a:t>
            </a:r>
            <a:endParaRPr sz="1400">
              <a:latin typeface="Times New Roman" panose="02020603050405020304" pitchFamily="18" charset="0"/>
              <a:cs typeface="Times New Roman" panose="02020603050405020304" pitchFamily="18" charset="0"/>
            </a:endParaRPr>
          </a:p>
        </p:txBody>
      </p:sp>
      <p:sp>
        <p:nvSpPr>
          <p:cNvPr id="34" name="object 34"/>
          <p:cNvSpPr txBox="1"/>
          <p:nvPr/>
        </p:nvSpPr>
        <p:spPr>
          <a:xfrm>
            <a:off x="7093202" y="2778252"/>
            <a:ext cx="280670"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0</a:t>
            </a:r>
            <a:r>
              <a:rPr sz="1400" dirty="0">
                <a:latin typeface="Times New Roman" panose="02020603050405020304" pitchFamily="18" charset="0"/>
                <a:cs typeface="Times New Roman" panose="02020603050405020304" pitchFamily="18" charset="0"/>
              </a:rPr>
              <a:t>..</a:t>
            </a:r>
            <a:r>
              <a:rPr sz="1400" spc="-5" dirty="0">
                <a:latin typeface="Times New Roman" panose="02020603050405020304" pitchFamily="18" charset="0"/>
                <a:cs typeface="Times New Roman" panose="02020603050405020304" pitchFamily="18" charset="0"/>
              </a:rPr>
              <a:t>n</a:t>
            </a:r>
            <a:endParaRPr sz="1400">
              <a:latin typeface="Times New Roman" panose="02020603050405020304" pitchFamily="18" charset="0"/>
              <a:cs typeface="Times New Roman" panose="02020603050405020304" pitchFamily="18" charset="0"/>
            </a:endParaRPr>
          </a:p>
        </p:txBody>
      </p:sp>
      <p:sp>
        <p:nvSpPr>
          <p:cNvPr id="35" name="object 35"/>
          <p:cNvSpPr txBox="1"/>
          <p:nvPr/>
        </p:nvSpPr>
        <p:spPr>
          <a:xfrm>
            <a:off x="5874003" y="2435352"/>
            <a:ext cx="110489"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p:txBody>
      </p:sp>
      <p:sp>
        <p:nvSpPr>
          <p:cNvPr id="36" name="object 36"/>
          <p:cNvSpPr txBox="1"/>
          <p:nvPr/>
        </p:nvSpPr>
        <p:spPr>
          <a:xfrm>
            <a:off x="5404935" y="1977900"/>
            <a:ext cx="1112704" cy="443711"/>
          </a:xfrm>
          <a:prstGeom prst="rect">
            <a:avLst/>
          </a:prstGeom>
        </p:spPr>
        <p:txBody>
          <a:bodyPr vert="horz" wrap="square" lIns="0" tIns="12700" rIns="0" bIns="0" rtlCol="0">
            <a:spAutoFit/>
          </a:bodyPr>
          <a:lstStyle/>
          <a:p>
            <a:pPr marR="5080" algn="r">
              <a:spcBef>
                <a:spcPts val="100"/>
              </a:spcBef>
            </a:pPr>
            <a:r>
              <a:rPr sz="1400" spc="-5" dirty="0">
                <a:latin typeface="Times New Roman" panose="02020603050405020304" pitchFamily="18" charset="0"/>
                <a:cs typeface="Times New Roman" panose="02020603050405020304" pitchFamily="18" charset="0"/>
              </a:rPr>
              <a:t>1</a:t>
            </a:r>
            <a:endParaRPr sz="1400" dirty="0">
              <a:latin typeface="Times New Roman" panose="02020603050405020304" pitchFamily="18" charset="0"/>
              <a:cs typeface="Times New Roman" panose="02020603050405020304" pitchFamily="18" charset="0"/>
            </a:endParaRPr>
          </a:p>
          <a:p>
            <a:pPr marR="31115" algn="r"/>
            <a:r>
              <a:rPr sz="1400" spc="-5" dirty="0" err="1">
                <a:latin typeface="Times New Roman" panose="02020603050405020304" pitchFamily="18" charset="0"/>
                <a:cs typeface="Times New Roman" panose="02020603050405020304" pitchFamily="18" charset="0"/>
              </a:rPr>
              <a:t>Ngườ</a:t>
            </a:r>
            <a:r>
              <a:rPr lang="en-US" sz="1400" spc="-5" dirty="0" err="1">
                <a:latin typeface="Times New Roman" panose="02020603050405020304" pitchFamily="18" charset="0"/>
                <a:cs typeface="Times New Roman" panose="02020603050405020304" pitchFamily="18" charset="0"/>
              </a:rPr>
              <a:t>i</a:t>
            </a:r>
            <a:r>
              <a:rPr sz="1400" spc="-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quản</a:t>
            </a:r>
            <a:r>
              <a:rPr sz="1400" spc="-10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lý</a:t>
            </a:r>
            <a:endParaRPr sz="1400" dirty="0">
              <a:latin typeface="Times New Roman" panose="02020603050405020304" pitchFamily="18" charset="0"/>
              <a:cs typeface="Times New Roman" panose="02020603050405020304" pitchFamily="18" charset="0"/>
            </a:endParaRPr>
          </a:p>
        </p:txBody>
      </p:sp>
      <p:sp>
        <p:nvSpPr>
          <p:cNvPr id="37" name="object 37"/>
          <p:cNvSpPr/>
          <p:nvPr/>
        </p:nvSpPr>
        <p:spPr>
          <a:xfrm>
            <a:off x="3904614" y="4086352"/>
            <a:ext cx="1219200" cy="762000"/>
          </a:xfrm>
          <a:custGeom>
            <a:avLst/>
            <a:gdLst/>
            <a:ahLst/>
            <a:cxnLst/>
            <a:rect l="l" t="t" r="r" b="b"/>
            <a:pathLst>
              <a:path w="1219200" h="762000">
                <a:moveTo>
                  <a:pt x="0" y="762000"/>
                </a:moveTo>
                <a:lnTo>
                  <a:pt x="1219200" y="762000"/>
                </a:lnTo>
                <a:lnTo>
                  <a:pt x="1219200" y="0"/>
                </a:lnTo>
                <a:lnTo>
                  <a:pt x="0" y="0"/>
                </a:lnTo>
                <a:lnTo>
                  <a:pt x="0" y="762000"/>
                </a:lnTo>
                <a:close/>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38" name="object 38"/>
          <p:cNvSpPr txBox="1"/>
          <p:nvPr/>
        </p:nvSpPr>
        <p:spPr>
          <a:xfrm>
            <a:off x="3904614" y="4086353"/>
            <a:ext cx="1219200" cy="252633"/>
          </a:xfrm>
          <a:prstGeom prst="rect">
            <a:avLst/>
          </a:prstGeom>
          <a:ln w="9144">
            <a:solidFill>
              <a:srgbClr val="000000"/>
            </a:solidFill>
          </a:ln>
        </p:spPr>
        <p:txBody>
          <a:bodyPr vert="horz" wrap="square" lIns="0" tIns="36830" rIns="0" bIns="0" rtlCol="0">
            <a:spAutoFit/>
          </a:bodyPr>
          <a:lstStyle/>
          <a:p>
            <a:pPr marL="135255">
              <a:spcBef>
                <a:spcPts val="290"/>
              </a:spcBef>
            </a:pPr>
            <a:r>
              <a:rPr sz="1400" dirty="0">
                <a:latin typeface="Times New Roman" panose="02020603050405020304" pitchFamily="18" charset="0"/>
                <a:cs typeface="Times New Roman" panose="02020603050405020304" pitchFamily="18" charset="0"/>
              </a:rPr>
              <a:t>Khách</a:t>
            </a:r>
            <a:r>
              <a:rPr sz="1400" spc="-55"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hàng</a:t>
            </a:r>
            <a:endParaRPr sz="1400">
              <a:latin typeface="Times New Roman" panose="02020603050405020304" pitchFamily="18" charset="0"/>
              <a:cs typeface="Times New Roman" panose="02020603050405020304" pitchFamily="18" charset="0"/>
            </a:endParaRPr>
          </a:p>
        </p:txBody>
      </p:sp>
      <p:sp>
        <p:nvSpPr>
          <p:cNvPr id="39" name="object 39"/>
          <p:cNvSpPr/>
          <p:nvPr/>
        </p:nvSpPr>
        <p:spPr>
          <a:xfrm>
            <a:off x="3904614" y="4467352"/>
            <a:ext cx="1219200" cy="0"/>
          </a:xfrm>
          <a:custGeom>
            <a:avLst/>
            <a:gdLst/>
            <a:ahLst/>
            <a:cxnLst/>
            <a:rect l="l" t="t" r="r" b="b"/>
            <a:pathLst>
              <a:path w="1219200">
                <a:moveTo>
                  <a:pt x="0" y="0"/>
                </a:moveTo>
                <a:lnTo>
                  <a:pt x="1219200"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0" name="object 40"/>
          <p:cNvSpPr/>
          <p:nvPr/>
        </p:nvSpPr>
        <p:spPr>
          <a:xfrm>
            <a:off x="3904614" y="4657852"/>
            <a:ext cx="1219200" cy="0"/>
          </a:xfrm>
          <a:custGeom>
            <a:avLst/>
            <a:gdLst/>
            <a:ahLst/>
            <a:cxnLst/>
            <a:rect l="l" t="t" r="r" b="b"/>
            <a:pathLst>
              <a:path w="1219200">
                <a:moveTo>
                  <a:pt x="0" y="0"/>
                </a:moveTo>
                <a:lnTo>
                  <a:pt x="1219200"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1" name="object 41"/>
          <p:cNvSpPr/>
          <p:nvPr/>
        </p:nvSpPr>
        <p:spPr>
          <a:xfrm>
            <a:off x="3904614" y="5381752"/>
            <a:ext cx="1219200" cy="762000"/>
          </a:xfrm>
          <a:custGeom>
            <a:avLst/>
            <a:gdLst/>
            <a:ahLst/>
            <a:cxnLst/>
            <a:rect l="l" t="t" r="r" b="b"/>
            <a:pathLst>
              <a:path w="1219200" h="762000">
                <a:moveTo>
                  <a:pt x="0" y="762000"/>
                </a:moveTo>
                <a:lnTo>
                  <a:pt x="1219200" y="762000"/>
                </a:lnTo>
                <a:lnTo>
                  <a:pt x="1219200" y="0"/>
                </a:lnTo>
                <a:lnTo>
                  <a:pt x="0" y="0"/>
                </a:lnTo>
                <a:lnTo>
                  <a:pt x="0" y="762000"/>
                </a:lnTo>
                <a:close/>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2" name="object 42"/>
          <p:cNvSpPr txBox="1"/>
          <p:nvPr/>
        </p:nvSpPr>
        <p:spPr>
          <a:xfrm>
            <a:off x="3904614" y="5381752"/>
            <a:ext cx="1219200" cy="253274"/>
          </a:xfrm>
          <a:prstGeom prst="rect">
            <a:avLst/>
          </a:prstGeom>
          <a:ln w="9144">
            <a:solidFill>
              <a:srgbClr val="000000"/>
            </a:solidFill>
          </a:ln>
        </p:spPr>
        <p:txBody>
          <a:bodyPr vert="horz" wrap="square" lIns="0" tIns="37465" rIns="0" bIns="0" rtlCol="0">
            <a:spAutoFit/>
          </a:bodyPr>
          <a:lstStyle/>
          <a:p>
            <a:pPr marL="264795">
              <a:spcBef>
                <a:spcPts val="295"/>
              </a:spcBef>
            </a:pPr>
            <a:r>
              <a:rPr sz="1400" spc="-5" dirty="0">
                <a:latin typeface="Times New Roman" panose="02020603050405020304" pitchFamily="18" charset="0"/>
                <a:cs typeface="Times New Roman" panose="02020603050405020304" pitchFamily="18" charset="0"/>
              </a:rPr>
              <a:t>Hoá</a:t>
            </a:r>
            <a:r>
              <a:rPr sz="1400" spc="-25"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đơn</a:t>
            </a:r>
            <a:endParaRPr sz="1400">
              <a:latin typeface="Times New Roman" panose="02020603050405020304" pitchFamily="18" charset="0"/>
              <a:cs typeface="Times New Roman" panose="02020603050405020304" pitchFamily="18" charset="0"/>
            </a:endParaRPr>
          </a:p>
        </p:txBody>
      </p:sp>
      <p:sp>
        <p:nvSpPr>
          <p:cNvPr id="43" name="object 43"/>
          <p:cNvSpPr/>
          <p:nvPr/>
        </p:nvSpPr>
        <p:spPr>
          <a:xfrm>
            <a:off x="3904614" y="5762752"/>
            <a:ext cx="1219200" cy="0"/>
          </a:xfrm>
          <a:custGeom>
            <a:avLst/>
            <a:gdLst/>
            <a:ahLst/>
            <a:cxnLst/>
            <a:rect l="l" t="t" r="r" b="b"/>
            <a:pathLst>
              <a:path w="1219200">
                <a:moveTo>
                  <a:pt x="0" y="0"/>
                </a:moveTo>
                <a:lnTo>
                  <a:pt x="1219200"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4" name="object 44"/>
          <p:cNvSpPr/>
          <p:nvPr/>
        </p:nvSpPr>
        <p:spPr>
          <a:xfrm>
            <a:off x="3904614" y="5953252"/>
            <a:ext cx="1219200" cy="0"/>
          </a:xfrm>
          <a:custGeom>
            <a:avLst/>
            <a:gdLst/>
            <a:ahLst/>
            <a:cxnLst/>
            <a:rect l="l" t="t" r="r" b="b"/>
            <a:pathLst>
              <a:path w="1219200">
                <a:moveTo>
                  <a:pt x="0" y="0"/>
                </a:moveTo>
                <a:lnTo>
                  <a:pt x="1219200"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5" name="object 45"/>
          <p:cNvSpPr/>
          <p:nvPr/>
        </p:nvSpPr>
        <p:spPr>
          <a:xfrm>
            <a:off x="6571614" y="4086352"/>
            <a:ext cx="1219200" cy="762000"/>
          </a:xfrm>
          <a:custGeom>
            <a:avLst/>
            <a:gdLst/>
            <a:ahLst/>
            <a:cxnLst/>
            <a:rect l="l" t="t" r="r" b="b"/>
            <a:pathLst>
              <a:path w="1219200" h="762000">
                <a:moveTo>
                  <a:pt x="0" y="762000"/>
                </a:moveTo>
                <a:lnTo>
                  <a:pt x="1219200" y="762000"/>
                </a:lnTo>
                <a:lnTo>
                  <a:pt x="1219200" y="0"/>
                </a:lnTo>
                <a:lnTo>
                  <a:pt x="0" y="0"/>
                </a:lnTo>
                <a:lnTo>
                  <a:pt x="0" y="762000"/>
                </a:lnTo>
                <a:close/>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6" name="object 46"/>
          <p:cNvSpPr txBox="1"/>
          <p:nvPr/>
        </p:nvSpPr>
        <p:spPr>
          <a:xfrm>
            <a:off x="6571614" y="4086353"/>
            <a:ext cx="1219200" cy="252633"/>
          </a:xfrm>
          <a:prstGeom prst="rect">
            <a:avLst/>
          </a:prstGeom>
          <a:ln w="9144">
            <a:solidFill>
              <a:srgbClr val="000000"/>
            </a:solidFill>
          </a:ln>
        </p:spPr>
        <p:txBody>
          <a:bodyPr vert="horz" wrap="square" lIns="0" tIns="36830" rIns="0" bIns="0" rtlCol="0">
            <a:spAutoFit/>
          </a:bodyPr>
          <a:lstStyle/>
          <a:p>
            <a:pPr marL="200660">
              <a:spcBef>
                <a:spcPts val="290"/>
              </a:spcBef>
            </a:pPr>
            <a:r>
              <a:rPr sz="1400" spc="-5" dirty="0">
                <a:latin typeface="Times New Roman" panose="02020603050405020304" pitchFamily="18" charset="0"/>
                <a:cs typeface="Times New Roman" panose="02020603050405020304" pitchFamily="18" charset="0"/>
              </a:rPr>
              <a:t>Thẻ</a:t>
            </a:r>
            <a:r>
              <a:rPr sz="1400" spc="-4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KHTT</a:t>
            </a:r>
            <a:endParaRPr sz="1400">
              <a:latin typeface="Times New Roman" panose="02020603050405020304" pitchFamily="18" charset="0"/>
              <a:cs typeface="Times New Roman" panose="02020603050405020304" pitchFamily="18" charset="0"/>
            </a:endParaRPr>
          </a:p>
        </p:txBody>
      </p:sp>
      <p:sp>
        <p:nvSpPr>
          <p:cNvPr id="47" name="object 47"/>
          <p:cNvSpPr/>
          <p:nvPr/>
        </p:nvSpPr>
        <p:spPr>
          <a:xfrm>
            <a:off x="6571614" y="4467352"/>
            <a:ext cx="1219200" cy="0"/>
          </a:xfrm>
          <a:custGeom>
            <a:avLst/>
            <a:gdLst/>
            <a:ahLst/>
            <a:cxnLst/>
            <a:rect l="l" t="t" r="r" b="b"/>
            <a:pathLst>
              <a:path w="1219200">
                <a:moveTo>
                  <a:pt x="0" y="0"/>
                </a:moveTo>
                <a:lnTo>
                  <a:pt x="1219199"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8" name="object 48"/>
          <p:cNvSpPr/>
          <p:nvPr/>
        </p:nvSpPr>
        <p:spPr>
          <a:xfrm>
            <a:off x="6571614" y="4657852"/>
            <a:ext cx="1219200" cy="0"/>
          </a:xfrm>
          <a:custGeom>
            <a:avLst/>
            <a:gdLst/>
            <a:ahLst/>
            <a:cxnLst/>
            <a:rect l="l" t="t" r="r" b="b"/>
            <a:pathLst>
              <a:path w="1219200">
                <a:moveTo>
                  <a:pt x="0" y="0"/>
                </a:moveTo>
                <a:lnTo>
                  <a:pt x="1219199"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49" name="object 49"/>
          <p:cNvSpPr/>
          <p:nvPr/>
        </p:nvSpPr>
        <p:spPr>
          <a:xfrm>
            <a:off x="5123814" y="4467352"/>
            <a:ext cx="1447800" cy="0"/>
          </a:xfrm>
          <a:custGeom>
            <a:avLst/>
            <a:gdLst/>
            <a:ahLst/>
            <a:cxnLst/>
            <a:rect l="l" t="t" r="r" b="b"/>
            <a:pathLst>
              <a:path w="1447800">
                <a:moveTo>
                  <a:pt x="0" y="0"/>
                </a:moveTo>
                <a:lnTo>
                  <a:pt x="1447800" y="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50" name="object 50"/>
          <p:cNvSpPr/>
          <p:nvPr/>
        </p:nvSpPr>
        <p:spPr>
          <a:xfrm>
            <a:off x="4514214" y="4848352"/>
            <a:ext cx="0" cy="533400"/>
          </a:xfrm>
          <a:custGeom>
            <a:avLst/>
            <a:gdLst/>
            <a:ahLst/>
            <a:cxnLst/>
            <a:rect l="l" t="t" r="r" b="b"/>
            <a:pathLst>
              <a:path h="533400">
                <a:moveTo>
                  <a:pt x="0" y="0"/>
                </a:moveTo>
                <a:lnTo>
                  <a:pt x="0" y="533400"/>
                </a:lnTo>
              </a:path>
            </a:pathLst>
          </a:custGeom>
          <a:ln w="9144">
            <a:solidFill>
              <a:srgbClr val="000000"/>
            </a:solidFill>
          </a:ln>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51" name="object 51"/>
          <p:cNvSpPr/>
          <p:nvPr/>
        </p:nvSpPr>
        <p:spPr>
          <a:xfrm>
            <a:off x="3505200" y="2482852"/>
            <a:ext cx="342265" cy="1909445"/>
          </a:xfrm>
          <a:custGeom>
            <a:avLst/>
            <a:gdLst/>
            <a:ahLst/>
            <a:cxnLst/>
            <a:rect l="l" t="t" r="r" b="b"/>
            <a:pathLst>
              <a:path w="342264" h="1909445">
                <a:moveTo>
                  <a:pt x="157480" y="0"/>
                </a:moveTo>
                <a:lnTo>
                  <a:pt x="124587" y="110998"/>
                </a:lnTo>
                <a:lnTo>
                  <a:pt x="152400" y="119252"/>
                </a:lnTo>
                <a:lnTo>
                  <a:pt x="185293" y="8127"/>
                </a:lnTo>
                <a:lnTo>
                  <a:pt x="157480" y="0"/>
                </a:lnTo>
                <a:close/>
              </a:path>
              <a:path w="342264" h="1909445">
                <a:moveTo>
                  <a:pt x="100711" y="194817"/>
                </a:moveTo>
                <a:lnTo>
                  <a:pt x="92456" y="224281"/>
                </a:lnTo>
                <a:lnTo>
                  <a:pt x="77343" y="280797"/>
                </a:lnTo>
                <a:lnTo>
                  <a:pt x="70866" y="307086"/>
                </a:lnTo>
                <a:lnTo>
                  <a:pt x="98932" y="314070"/>
                </a:lnTo>
                <a:lnTo>
                  <a:pt x="105410" y="288163"/>
                </a:lnTo>
                <a:lnTo>
                  <a:pt x="120395" y="232028"/>
                </a:lnTo>
                <a:lnTo>
                  <a:pt x="128650" y="202564"/>
                </a:lnTo>
                <a:lnTo>
                  <a:pt x="100711" y="194817"/>
                </a:lnTo>
                <a:close/>
              </a:path>
              <a:path w="342264" h="1909445">
                <a:moveTo>
                  <a:pt x="50545" y="391794"/>
                </a:moveTo>
                <a:lnTo>
                  <a:pt x="37973" y="451103"/>
                </a:lnTo>
                <a:lnTo>
                  <a:pt x="27686" y="505967"/>
                </a:lnTo>
                <a:lnTo>
                  <a:pt x="56133" y="511301"/>
                </a:lnTo>
                <a:lnTo>
                  <a:pt x="66293" y="457073"/>
                </a:lnTo>
                <a:lnTo>
                  <a:pt x="78231" y="400685"/>
                </a:lnTo>
                <a:lnTo>
                  <a:pt x="78739" y="398399"/>
                </a:lnTo>
                <a:lnTo>
                  <a:pt x="50545" y="391794"/>
                </a:lnTo>
                <a:close/>
              </a:path>
              <a:path w="342264" h="1909445">
                <a:moveTo>
                  <a:pt x="14605" y="592582"/>
                </a:moveTo>
                <a:lnTo>
                  <a:pt x="10541" y="623951"/>
                </a:lnTo>
                <a:lnTo>
                  <a:pt x="4953" y="682244"/>
                </a:lnTo>
                <a:lnTo>
                  <a:pt x="3301" y="708913"/>
                </a:lnTo>
                <a:lnTo>
                  <a:pt x="32131" y="710691"/>
                </a:lnTo>
                <a:lnTo>
                  <a:pt x="33781" y="685038"/>
                </a:lnTo>
                <a:lnTo>
                  <a:pt x="39243" y="627760"/>
                </a:lnTo>
                <a:lnTo>
                  <a:pt x="43306" y="596391"/>
                </a:lnTo>
                <a:lnTo>
                  <a:pt x="14605" y="592582"/>
                </a:lnTo>
                <a:close/>
              </a:path>
              <a:path w="342264" h="1909445">
                <a:moveTo>
                  <a:pt x="0" y="796289"/>
                </a:moveTo>
                <a:lnTo>
                  <a:pt x="0" y="829690"/>
                </a:lnTo>
                <a:lnTo>
                  <a:pt x="888" y="859535"/>
                </a:lnTo>
                <a:lnTo>
                  <a:pt x="2286" y="889381"/>
                </a:lnTo>
                <a:lnTo>
                  <a:pt x="3937" y="913257"/>
                </a:lnTo>
                <a:lnTo>
                  <a:pt x="32766" y="911225"/>
                </a:lnTo>
                <a:lnTo>
                  <a:pt x="31114" y="888110"/>
                </a:lnTo>
                <a:lnTo>
                  <a:pt x="29844" y="858646"/>
                </a:lnTo>
                <a:lnTo>
                  <a:pt x="28956" y="829690"/>
                </a:lnTo>
                <a:lnTo>
                  <a:pt x="28956" y="796670"/>
                </a:lnTo>
                <a:lnTo>
                  <a:pt x="0" y="796289"/>
                </a:lnTo>
                <a:close/>
              </a:path>
              <a:path w="342264" h="1909445">
                <a:moveTo>
                  <a:pt x="41910" y="996695"/>
                </a:moveTo>
                <a:lnTo>
                  <a:pt x="13207" y="1000506"/>
                </a:lnTo>
                <a:lnTo>
                  <a:pt x="14478" y="1010157"/>
                </a:lnTo>
                <a:lnTo>
                  <a:pt x="19176" y="1040510"/>
                </a:lnTo>
                <a:lnTo>
                  <a:pt x="24383" y="1071117"/>
                </a:lnTo>
                <a:lnTo>
                  <a:pt x="30225" y="1101597"/>
                </a:lnTo>
                <a:lnTo>
                  <a:pt x="33274" y="1115821"/>
                </a:lnTo>
                <a:lnTo>
                  <a:pt x="61594" y="1109726"/>
                </a:lnTo>
                <a:lnTo>
                  <a:pt x="58674" y="1096264"/>
                </a:lnTo>
                <a:lnTo>
                  <a:pt x="52958" y="1066164"/>
                </a:lnTo>
                <a:lnTo>
                  <a:pt x="47751" y="1036192"/>
                </a:lnTo>
                <a:lnTo>
                  <a:pt x="43180" y="1006347"/>
                </a:lnTo>
                <a:lnTo>
                  <a:pt x="41910" y="996695"/>
                </a:lnTo>
                <a:close/>
              </a:path>
              <a:path w="342264" h="1909445">
                <a:moveTo>
                  <a:pt x="80899" y="1193927"/>
                </a:moveTo>
                <a:lnTo>
                  <a:pt x="52705" y="1200784"/>
                </a:lnTo>
                <a:lnTo>
                  <a:pt x="58674" y="1224660"/>
                </a:lnTo>
                <a:lnTo>
                  <a:pt x="75692" y="1286509"/>
                </a:lnTo>
                <a:lnTo>
                  <a:pt x="83693" y="1313179"/>
                </a:lnTo>
                <a:lnTo>
                  <a:pt x="111506" y="1304797"/>
                </a:lnTo>
                <a:lnTo>
                  <a:pt x="103631" y="1278889"/>
                </a:lnTo>
                <a:lnTo>
                  <a:pt x="86741" y="1217676"/>
                </a:lnTo>
                <a:lnTo>
                  <a:pt x="80899" y="1193927"/>
                </a:lnTo>
                <a:close/>
              </a:path>
              <a:path w="342264" h="1909445">
                <a:moveTo>
                  <a:pt x="137541" y="1387347"/>
                </a:moveTo>
                <a:lnTo>
                  <a:pt x="109981" y="1396364"/>
                </a:lnTo>
                <a:lnTo>
                  <a:pt x="114807" y="1411096"/>
                </a:lnTo>
                <a:lnTo>
                  <a:pt x="136270" y="1473708"/>
                </a:lnTo>
                <a:lnTo>
                  <a:pt x="148081" y="1506220"/>
                </a:lnTo>
                <a:lnTo>
                  <a:pt x="175260" y="1496314"/>
                </a:lnTo>
                <a:lnTo>
                  <a:pt x="163703" y="1464309"/>
                </a:lnTo>
                <a:lnTo>
                  <a:pt x="142239" y="1402079"/>
                </a:lnTo>
                <a:lnTo>
                  <a:pt x="137541" y="1387347"/>
                </a:lnTo>
                <a:close/>
              </a:path>
              <a:path w="342264" h="1909445">
                <a:moveTo>
                  <a:pt x="205485" y="1577594"/>
                </a:moveTo>
                <a:lnTo>
                  <a:pt x="178435" y="1587753"/>
                </a:lnTo>
                <a:lnTo>
                  <a:pt x="182753" y="1599310"/>
                </a:lnTo>
                <a:lnTo>
                  <a:pt x="207391" y="1662176"/>
                </a:lnTo>
                <a:lnTo>
                  <a:pt x="220853" y="1695958"/>
                </a:lnTo>
                <a:lnTo>
                  <a:pt x="247777" y="1685163"/>
                </a:lnTo>
                <a:lnTo>
                  <a:pt x="234315" y="1651634"/>
                </a:lnTo>
                <a:lnTo>
                  <a:pt x="205485" y="1577594"/>
                </a:lnTo>
                <a:close/>
              </a:path>
              <a:path w="342264" h="1909445">
                <a:moveTo>
                  <a:pt x="235457" y="1805304"/>
                </a:moveTo>
                <a:lnTo>
                  <a:pt x="226314" y="1806575"/>
                </a:lnTo>
                <a:lnTo>
                  <a:pt x="216661" y="1819275"/>
                </a:lnTo>
                <a:lnTo>
                  <a:pt x="217805" y="1828291"/>
                </a:lnTo>
                <a:lnTo>
                  <a:pt x="323977" y="1909064"/>
                </a:lnTo>
                <a:lnTo>
                  <a:pt x="327474" y="1883537"/>
                </a:lnTo>
                <a:lnTo>
                  <a:pt x="297815" y="1883537"/>
                </a:lnTo>
                <a:lnTo>
                  <a:pt x="279188" y="1838617"/>
                </a:lnTo>
                <a:lnTo>
                  <a:pt x="235457" y="1805304"/>
                </a:lnTo>
                <a:close/>
              </a:path>
              <a:path w="342264" h="1909445">
                <a:moveTo>
                  <a:pt x="279188" y="1838617"/>
                </a:moveTo>
                <a:lnTo>
                  <a:pt x="297815" y="1883537"/>
                </a:lnTo>
                <a:lnTo>
                  <a:pt x="304865" y="1880615"/>
                </a:lnTo>
                <a:lnTo>
                  <a:pt x="298704" y="1880615"/>
                </a:lnTo>
                <a:lnTo>
                  <a:pt x="302054" y="1856035"/>
                </a:lnTo>
                <a:lnTo>
                  <a:pt x="279188" y="1838617"/>
                </a:lnTo>
                <a:close/>
              </a:path>
              <a:path w="342264" h="1909445">
                <a:moveTo>
                  <a:pt x="320675" y="1767458"/>
                </a:moveTo>
                <a:lnTo>
                  <a:pt x="313435" y="1773046"/>
                </a:lnTo>
                <a:lnTo>
                  <a:pt x="312293" y="1780920"/>
                </a:lnTo>
                <a:lnTo>
                  <a:pt x="305939" y="1827534"/>
                </a:lnTo>
                <a:lnTo>
                  <a:pt x="324484" y="1872488"/>
                </a:lnTo>
                <a:lnTo>
                  <a:pt x="297815" y="1883537"/>
                </a:lnTo>
                <a:lnTo>
                  <a:pt x="327474" y="1883537"/>
                </a:lnTo>
                <a:lnTo>
                  <a:pt x="340994" y="1784858"/>
                </a:lnTo>
                <a:lnTo>
                  <a:pt x="342138" y="1776983"/>
                </a:lnTo>
                <a:lnTo>
                  <a:pt x="336550" y="1769617"/>
                </a:lnTo>
                <a:lnTo>
                  <a:pt x="328548" y="1768602"/>
                </a:lnTo>
                <a:lnTo>
                  <a:pt x="320675" y="1767458"/>
                </a:lnTo>
                <a:close/>
              </a:path>
              <a:path w="342264" h="1909445">
                <a:moveTo>
                  <a:pt x="302054" y="1856035"/>
                </a:moveTo>
                <a:lnTo>
                  <a:pt x="298704" y="1880615"/>
                </a:lnTo>
                <a:lnTo>
                  <a:pt x="321818" y="1871090"/>
                </a:lnTo>
                <a:lnTo>
                  <a:pt x="302054" y="1856035"/>
                </a:lnTo>
                <a:close/>
              </a:path>
              <a:path w="342264" h="1909445">
                <a:moveTo>
                  <a:pt x="305939" y="1827534"/>
                </a:moveTo>
                <a:lnTo>
                  <a:pt x="302054" y="1856035"/>
                </a:lnTo>
                <a:lnTo>
                  <a:pt x="321818" y="1871090"/>
                </a:lnTo>
                <a:lnTo>
                  <a:pt x="298704" y="1880615"/>
                </a:lnTo>
                <a:lnTo>
                  <a:pt x="304865" y="1880615"/>
                </a:lnTo>
                <a:lnTo>
                  <a:pt x="324484" y="1872488"/>
                </a:lnTo>
                <a:lnTo>
                  <a:pt x="305939" y="1827534"/>
                </a:lnTo>
                <a:close/>
              </a:path>
              <a:path w="342264" h="1909445">
                <a:moveTo>
                  <a:pt x="280289" y="1765553"/>
                </a:moveTo>
                <a:lnTo>
                  <a:pt x="253492" y="1776476"/>
                </a:lnTo>
                <a:lnTo>
                  <a:pt x="258318" y="1788287"/>
                </a:lnTo>
                <a:lnTo>
                  <a:pt x="279188" y="1838617"/>
                </a:lnTo>
                <a:lnTo>
                  <a:pt x="302054" y="1856035"/>
                </a:lnTo>
                <a:lnTo>
                  <a:pt x="305939" y="1827534"/>
                </a:lnTo>
                <a:lnTo>
                  <a:pt x="285242" y="1777364"/>
                </a:lnTo>
                <a:lnTo>
                  <a:pt x="280289" y="1765553"/>
                </a:lnTo>
                <a:close/>
              </a:path>
            </a:pathLst>
          </a:custGeom>
          <a:solidFill>
            <a:srgbClr val="FF0066"/>
          </a:solidFill>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52" name="object 52"/>
          <p:cNvSpPr/>
          <p:nvPr/>
        </p:nvSpPr>
        <p:spPr>
          <a:xfrm>
            <a:off x="4371594" y="3782314"/>
            <a:ext cx="134365" cy="228726"/>
          </a:xfrm>
          <a:prstGeom prst="rect">
            <a:avLst/>
          </a:prstGeom>
          <a:blipFill>
            <a:blip r:embed="rId3" cstate="print"/>
            <a:stretch>
              <a:fillRect/>
            </a:stretch>
          </a:blipFill>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53" name="object 53"/>
          <p:cNvSpPr/>
          <p:nvPr/>
        </p:nvSpPr>
        <p:spPr>
          <a:xfrm>
            <a:off x="7343394" y="3782314"/>
            <a:ext cx="134365" cy="228726"/>
          </a:xfrm>
          <a:prstGeom prst="rect">
            <a:avLst/>
          </a:prstGeom>
          <a:blipFill>
            <a:blip r:embed="rId3" cstate="print"/>
            <a:stretch>
              <a:fillRect/>
            </a:stretch>
          </a:blipFill>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54" name="object 54"/>
          <p:cNvSpPr/>
          <p:nvPr/>
        </p:nvSpPr>
        <p:spPr>
          <a:xfrm>
            <a:off x="5200776" y="3854706"/>
            <a:ext cx="699770" cy="1680845"/>
          </a:xfrm>
          <a:custGeom>
            <a:avLst/>
            <a:gdLst/>
            <a:ahLst/>
            <a:cxnLst/>
            <a:rect l="l" t="t" r="r" b="b"/>
            <a:pathLst>
              <a:path w="699770" h="1680845">
                <a:moveTo>
                  <a:pt x="671829" y="0"/>
                </a:moveTo>
                <a:lnTo>
                  <a:pt x="641857" y="111887"/>
                </a:lnTo>
                <a:lnTo>
                  <a:pt x="669798" y="119380"/>
                </a:lnTo>
                <a:lnTo>
                  <a:pt x="699769" y="7619"/>
                </a:lnTo>
                <a:lnTo>
                  <a:pt x="671829" y="0"/>
                </a:lnTo>
                <a:close/>
              </a:path>
              <a:path w="699770" h="1680845">
                <a:moveTo>
                  <a:pt x="619125" y="195706"/>
                </a:moveTo>
                <a:lnTo>
                  <a:pt x="600075" y="265556"/>
                </a:lnTo>
                <a:lnTo>
                  <a:pt x="588517" y="307340"/>
                </a:lnTo>
                <a:lnTo>
                  <a:pt x="616457" y="315087"/>
                </a:lnTo>
                <a:lnTo>
                  <a:pt x="628014" y="273177"/>
                </a:lnTo>
                <a:lnTo>
                  <a:pt x="647064" y="203327"/>
                </a:lnTo>
                <a:lnTo>
                  <a:pt x="619125" y="195706"/>
                </a:lnTo>
                <a:close/>
              </a:path>
              <a:path w="699770" h="1680845">
                <a:moveTo>
                  <a:pt x="565023" y="390906"/>
                </a:moveTo>
                <a:lnTo>
                  <a:pt x="563626" y="395986"/>
                </a:lnTo>
                <a:lnTo>
                  <a:pt x="545338" y="460121"/>
                </a:lnTo>
                <a:lnTo>
                  <a:pt x="533018" y="502031"/>
                </a:lnTo>
                <a:lnTo>
                  <a:pt x="560704" y="510286"/>
                </a:lnTo>
                <a:lnTo>
                  <a:pt x="573151" y="468122"/>
                </a:lnTo>
                <a:lnTo>
                  <a:pt x="591565" y="403733"/>
                </a:lnTo>
                <a:lnTo>
                  <a:pt x="592963" y="398780"/>
                </a:lnTo>
                <a:lnTo>
                  <a:pt x="565023" y="390906"/>
                </a:lnTo>
                <a:close/>
              </a:path>
              <a:path w="699770" h="1680845">
                <a:moveTo>
                  <a:pt x="508126" y="585216"/>
                </a:moveTo>
                <a:lnTo>
                  <a:pt x="507873" y="586232"/>
                </a:lnTo>
                <a:lnTo>
                  <a:pt x="488695" y="647700"/>
                </a:lnTo>
                <a:lnTo>
                  <a:pt x="473455" y="695452"/>
                </a:lnTo>
                <a:lnTo>
                  <a:pt x="501014" y="704215"/>
                </a:lnTo>
                <a:lnTo>
                  <a:pt x="516381" y="656336"/>
                </a:lnTo>
                <a:lnTo>
                  <a:pt x="535558" y="594487"/>
                </a:lnTo>
                <a:lnTo>
                  <a:pt x="535813" y="593598"/>
                </a:lnTo>
                <a:lnTo>
                  <a:pt x="508126" y="585216"/>
                </a:lnTo>
                <a:close/>
              </a:path>
              <a:path w="699770" h="1680845">
                <a:moveTo>
                  <a:pt x="446150" y="777494"/>
                </a:moveTo>
                <a:lnTo>
                  <a:pt x="429767" y="824992"/>
                </a:lnTo>
                <a:lnTo>
                  <a:pt x="409448" y="881253"/>
                </a:lnTo>
                <a:lnTo>
                  <a:pt x="407542" y="886333"/>
                </a:lnTo>
                <a:lnTo>
                  <a:pt x="434593" y="896493"/>
                </a:lnTo>
                <a:lnTo>
                  <a:pt x="436625" y="891159"/>
                </a:lnTo>
                <a:lnTo>
                  <a:pt x="457073" y="834517"/>
                </a:lnTo>
                <a:lnTo>
                  <a:pt x="473582" y="787019"/>
                </a:lnTo>
                <a:lnTo>
                  <a:pt x="446150" y="777494"/>
                </a:lnTo>
                <a:close/>
              </a:path>
              <a:path w="699770" h="1680845">
                <a:moveTo>
                  <a:pt x="376300" y="967105"/>
                </a:moveTo>
                <a:lnTo>
                  <a:pt x="367538" y="989076"/>
                </a:lnTo>
                <a:lnTo>
                  <a:pt x="346075" y="1040384"/>
                </a:lnTo>
                <a:lnTo>
                  <a:pt x="331469" y="1073277"/>
                </a:lnTo>
                <a:lnTo>
                  <a:pt x="357886" y="1084961"/>
                </a:lnTo>
                <a:lnTo>
                  <a:pt x="372744" y="1051560"/>
                </a:lnTo>
                <a:lnTo>
                  <a:pt x="394462" y="999744"/>
                </a:lnTo>
                <a:lnTo>
                  <a:pt x="403225" y="977773"/>
                </a:lnTo>
                <a:lnTo>
                  <a:pt x="376300" y="967105"/>
                </a:lnTo>
                <a:close/>
              </a:path>
              <a:path w="699770" h="1680845">
                <a:moveTo>
                  <a:pt x="295020" y="1151636"/>
                </a:moveTo>
                <a:lnTo>
                  <a:pt x="279018" y="1184529"/>
                </a:lnTo>
                <a:lnTo>
                  <a:pt x="256031" y="1229766"/>
                </a:lnTo>
                <a:lnTo>
                  <a:pt x="242950" y="1254404"/>
                </a:lnTo>
                <a:lnTo>
                  <a:pt x="268477" y="1267993"/>
                </a:lnTo>
                <a:lnTo>
                  <a:pt x="281813" y="1242910"/>
                </a:lnTo>
                <a:lnTo>
                  <a:pt x="305053" y="1197229"/>
                </a:lnTo>
                <a:lnTo>
                  <a:pt x="321055" y="1164209"/>
                </a:lnTo>
                <a:lnTo>
                  <a:pt x="295020" y="1151636"/>
                </a:lnTo>
                <a:close/>
              </a:path>
              <a:path w="699770" h="1680845">
                <a:moveTo>
                  <a:pt x="201294" y="1330185"/>
                </a:moveTo>
                <a:lnTo>
                  <a:pt x="185038" y="1358709"/>
                </a:lnTo>
                <a:lnTo>
                  <a:pt x="160908" y="1399806"/>
                </a:lnTo>
                <a:lnTo>
                  <a:pt x="142875" y="1429727"/>
                </a:lnTo>
                <a:lnTo>
                  <a:pt x="167639" y="1444713"/>
                </a:lnTo>
                <a:lnTo>
                  <a:pt x="185927" y="1414449"/>
                </a:lnTo>
                <a:lnTo>
                  <a:pt x="210184" y="1373047"/>
                </a:lnTo>
                <a:lnTo>
                  <a:pt x="226440" y="1344523"/>
                </a:lnTo>
                <a:lnTo>
                  <a:pt x="201294" y="1330185"/>
                </a:lnTo>
                <a:close/>
              </a:path>
              <a:path w="699770" h="1680845">
                <a:moveTo>
                  <a:pt x="13715" y="1540929"/>
                </a:moveTo>
                <a:lnTo>
                  <a:pt x="6857" y="1547063"/>
                </a:lnTo>
                <a:lnTo>
                  <a:pt x="6398" y="1556562"/>
                </a:lnTo>
                <a:lnTo>
                  <a:pt x="0" y="1680260"/>
                </a:lnTo>
                <a:lnTo>
                  <a:pt x="46663" y="1656981"/>
                </a:lnTo>
                <a:lnTo>
                  <a:pt x="30225" y="1656981"/>
                </a:lnTo>
                <a:lnTo>
                  <a:pt x="9270" y="1643278"/>
                </a:lnTo>
                <a:lnTo>
                  <a:pt x="31511" y="1632192"/>
                </a:lnTo>
                <a:lnTo>
                  <a:pt x="35505" y="1555051"/>
                </a:lnTo>
                <a:lnTo>
                  <a:pt x="35813" y="1548574"/>
                </a:lnTo>
                <a:lnTo>
                  <a:pt x="29717" y="1541754"/>
                </a:lnTo>
                <a:lnTo>
                  <a:pt x="13715" y="1540929"/>
                </a:lnTo>
                <a:close/>
              </a:path>
              <a:path w="699770" h="1680845">
                <a:moveTo>
                  <a:pt x="31511" y="1632192"/>
                </a:moveTo>
                <a:lnTo>
                  <a:pt x="9270" y="1643278"/>
                </a:lnTo>
                <a:lnTo>
                  <a:pt x="30225" y="1656981"/>
                </a:lnTo>
                <a:lnTo>
                  <a:pt x="31511" y="1632192"/>
                </a:lnTo>
                <a:close/>
              </a:path>
              <a:path w="699770" h="1680845">
                <a:moveTo>
                  <a:pt x="106425" y="1594827"/>
                </a:moveTo>
                <a:lnTo>
                  <a:pt x="31511" y="1632192"/>
                </a:lnTo>
                <a:lnTo>
                  <a:pt x="30225" y="1656981"/>
                </a:lnTo>
                <a:lnTo>
                  <a:pt x="46663" y="1656981"/>
                </a:lnTo>
                <a:lnTo>
                  <a:pt x="119379" y="1620748"/>
                </a:lnTo>
                <a:lnTo>
                  <a:pt x="122300" y="1612049"/>
                </a:lnTo>
                <a:lnTo>
                  <a:pt x="118617" y="1604899"/>
                </a:lnTo>
                <a:lnTo>
                  <a:pt x="115062" y="1597736"/>
                </a:lnTo>
                <a:lnTo>
                  <a:pt x="106425" y="1594827"/>
                </a:lnTo>
                <a:close/>
              </a:path>
              <a:path w="699770" h="1680845">
                <a:moveTo>
                  <a:pt x="97281" y="1503375"/>
                </a:moveTo>
                <a:lnTo>
                  <a:pt x="87502" y="1518958"/>
                </a:lnTo>
                <a:lnTo>
                  <a:pt x="37845" y="1596072"/>
                </a:lnTo>
                <a:lnTo>
                  <a:pt x="34798" y="1600619"/>
                </a:lnTo>
                <a:lnTo>
                  <a:pt x="59054" y="1616494"/>
                </a:lnTo>
                <a:lnTo>
                  <a:pt x="62229" y="1611744"/>
                </a:lnTo>
                <a:lnTo>
                  <a:pt x="112013" y="1534375"/>
                </a:lnTo>
                <a:lnTo>
                  <a:pt x="121792" y="1518780"/>
                </a:lnTo>
                <a:lnTo>
                  <a:pt x="97281" y="1503375"/>
                </a:lnTo>
                <a:close/>
              </a:path>
            </a:pathLst>
          </a:custGeom>
          <a:solidFill>
            <a:srgbClr val="FF0066"/>
          </a:solidFill>
        </p:spPr>
        <p:txBody>
          <a:bodyPr wrap="square" lIns="0" tIns="0" rIns="0" bIns="0" rtlCol="0"/>
          <a:lstStyle/>
          <a:p>
            <a:endParaRPr sz="1400">
              <a:latin typeface="Times New Roman" panose="02020603050405020304" pitchFamily="18" charset="0"/>
              <a:cs typeface="Times New Roman" panose="02020603050405020304" pitchFamily="18" charset="0"/>
            </a:endParaRPr>
          </a:p>
        </p:txBody>
      </p:sp>
      <p:sp>
        <p:nvSpPr>
          <p:cNvPr id="55" name="object 55"/>
          <p:cNvSpPr txBox="1"/>
          <p:nvPr/>
        </p:nvSpPr>
        <p:spPr>
          <a:xfrm>
            <a:off x="6194043" y="4185158"/>
            <a:ext cx="303530" cy="228268"/>
          </a:xfrm>
          <a:prstGeom prst="rect">
            <a:avLst/>
          </a:prstGeom>
        </p:spPr>
        <p:txBody>
          <a:bodyPr vert="horz" wrap="square" lIns="0" tIns="12700" rIns="0" bIns="0" rtlCol="0">
            <a:spAutoFit/>
          </a:bodyPr>
          <a:lstStyle/>
          <a:p>
            <a:pPr marL="12700">
              <a:spcBef>
                <a:spcPts val="100"/>
              </a:spcBef>
            </a:pPr>
            <a:r>
              <a:rPr sz="1400" spc="-40" dirty="0">
                <a:latin typeface="Times New Roman" panose="02020603050405020304" pitchFamily="18" charset="0"/>
                <a:cs typeface="Times New Roman" panose="02020603050405020304" pitchFamily="18" charset="0"/>
              </a:rPr>
              <a:t>0..1</a:t>
            </a:r>
            <a:endParaRPr sz="1400">
              <a:latin typeface="Times New Roman" panose="02020603050405020304" pitchFamily="18" charset="0"/>
              <a:cs typeface="Times New Roman" panose="02020603050405020304" pitchFamily="18" charset="0"/>
            </a:endParaRPr>
          </a:p>
        </p:txBody>
      </p:sp>
      <p:sp>
        <p:nvSpPr>
          <p:cNvPr id="56" name="object 56"/>
          <p:cNvSpPr txBox="1"/>
          <p:nvPr/>
        </p:nvSpPr>
        <p:spPr>
          <a:xfrm>
            <a:off x="4136390" y="4413758"/>
            <a:ext cx="1190625" cy="971550"/>
          </a:xfrm>
          <a:prstGeom prst="rect">
            <a:avLst/>
          </a:prstGeom>
        </p:spPr>
        <p:txBody>
          <a:bodyPr vert="horz" wrap="square" lIns="0" tIns="12700" rIns="0" bIns="0" rtlCol="0">
            <a:spAutoFit/>
          </a:bodyPr>
          <a:lstStyle/>
          <a:p>
            <a:pPr marR="5080" algn="r">
              <a:spcBef>
                <a:spcPts val="100"/>
              </a:spcBef>
            </a:pPr>
            <a:r>
              <a:rPr sz="1400" spc="-5"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a:p>
            <a:pPr>
              <a:spcBef>
                <a:spcPts val="15"/>
              </a:spcBef>
            </a:pPr>
            <a:endParaRPr sz="1400">
              <a:latin typeface="Times New Roman" panose="02020603050405020304" pitchFamily="18" charset="0"/>
              <a:cs typeface="Times New Roman" panose="02020603050405020304" pitchFamily="18" charset="0"/>
            </a:endParaRPr>
          </a:p>
          <a:p>
            <a:pPr marR="144780" algn="ctr">
              <a:spcBef>
                <a:spcPts val="5"/>
              </a:spcBef>
            </a:pPr>
            <a:r>
              <a:rPr sz="1400" spc="-5"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a:p>
            <a:pPr marL="12700">
              <a:spcBef>
                <a:spcPts val="720"/>
              </a:spcBef>
            </a:pPr>
            <a:r>
              <a:rPr sz="1400" spc="-80" dirty="0">
                <a:latin typeface="Times New Roman" panose="02020603050405020304" pitchFamily="18" charset="0"/>
                <a:cs typeface="Times New Roman" panose="02020603050405020304" pitchFamily="18" charset="0"/>
              </a:rPr>
              <a:t>1..n</a:t>
            </a:r>
            <a:endParaRPr sz="1400">
              <a:latin typeface="Times New Roman" panose="02020603050405020304" pitchFamily="18" charset="0"/>
              <a:cs typeface="Times New Roman" panose="02020603050405020304" pitchFamily="18" charset="0"/>
            </a:endParaRPr>
          </a:p>
        </p:txBody>
      </p:sp>
      <p:sp>
        <p:nvSpPr>
          <p:cNvPr id="57" name="object 57"/>
          <p:cNvSpPr txBox="1"/>
          <p:nvPr/>
        </p:nvSpPr>
        <p:spPr>
          <a:xfrm>
            <a:off x="12877800" y="7086600"/>
            <a:ext cx="187325" cy="197490"/>
          </a:xfrm>
          <a:prstGeom prst="rect">
            <a:avLst/>
          </a:prstGeom>
        </p:spPr>
        <p:txBody>
          <a:bodyPr vert="horz" wrap="square" lIns="0" tIns="12700" rIns="0" bIns="0" rtlCol="0">
            <a:spAutoFit/>
          </a:bodyPr>
          <a:lstStyle/>
          <a:p>
            <a:pPr marL="12700">
              <a:spcBef>
                <a:spcPts val="100"/>
              </a:spcBef>
            </a:pPr>
            <a:r>
              <a:rPr sz="1200" b="1" spc="-75" dirty="0">
                <a:solidFill>
                  <a:srgbClr val="FFFFFF"/>
                </a:solidFill>
                <a:latin typeface="Trebuchet MS"/>
                <a:cs typeface="Trebuchet MS"/>
              </a:rPr>
              <a:t>27</a:t>
            </a:r>
            <a:endParaRPr sz="1200">
              <a:latin typeface="Trebuchet MS"/>
              <a:cs typeface="Trebuchet MS"/>
            </a:endParaRPr>
          </a:p>
        </p:txBody>
      </p:sp>
      <p:sp>
        <p:nvSpPr>
          <p:cNvPr id="58"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tượng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tt</a:t>
            </a:r>
            <a:r>
              <a:rPr lang="en-US" sz="320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
        <p:nvSpPr>
          <p:cNvPr id="59"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9678353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601"/>
            <a:ext cx="12192000" cy="2568011"/>
          </a:xfrm>
          <a:prstGeom prst="rect">
            <a:avLst/>
          </a:prstGeom>
        </p:spPr>
        <p:txBody>
          <a:bodyPr vert="horz" wrap="square" lIns="0" tIns="104775" rIns="0" bIns="0" rtlCol="0">
            <a:spAutoFit/>
          </a:bodyPr>
          <a:lstStyle/>
          <a:p>
            <a:pPr marL="355600" indent="-342900">
              <a:lnSpc>
                <a:spcPct val="150000"/>
              </a:lnSpc>
              <a:spcBef>
                <a:spcPts val="825"/>
              </a:spcBef>
              <a:buSzPct val="100000"/>
              <a:buFont typeface="Wingdings" panose="05000000000000000000" pitchFamily="2" charset="2"/>
              <a:buChar char="§"/>
              <a:tabLst>
                <a:tab pos="332105" algn="l"/>
                <a:tab pos="332740" algn="l"/>
              </a:tabLst>
            </a:pPr>
            <a:r>
              <a:rPr sz="2800" b="1" spc="-25">
                <a:solidFill>
                  <a:srgbClr val="FF0000"/>
                </a:solidFill>
                <a:latin typeface="Times New Roman" panose="02020603050405020304" pitchFamily="18" charset="0"/>
                <a:cs typeface="Times New Roman" panose="02020603050405020304" pitchFamily="18" charset="0"/>
              </a:rPr>
              <a:t>Tiếp </a:t>
            </a:r>
            <a:r>
              <a:rPr sz="2800" b="1">
                <a:solidFill>
                  <a:srgbClr val="FF0000"/>
                </a:solidFill>
                <a:latin typeface="Times New Roman" panose="02020603050405020304" pitchFamily="18" charset="0"/>
                <a:cs typeface="Times New Roman" panose="02020603050405020304" pitchFamily="18" charset="0"/>
              </a:rPr>
              <a:t>cận theo cụm </a:t>
            </a:r>
            <a:r>
              <a:rPr sz="2800" b="1" spc="-5">
                <a:solidFill>
                  <a:srgbClr val="FF0000"/>
                </a:solidFill>
                <a:latin typeface="Times New Roman" panose="02020603050405020304" pitchFamily="18" charset="0"/>
                <a:cs typeface="Times New Roman" panose="02020603050405020304" pitchFamily="18" charset="0"/>
              </a:rPr>
              <a:t>danh </a:t>
            </a:r>
            <a:r>
              <a:rPr sz="2800" b="1">
                <a:solidFill>
                  <a:srgbClr val="FF0000"/>
                </a:solidFill>
                <a:latin typeface="Times New Roman" panose="02020603050405020304" pitchFamily="18" charset="0"/>
                <a:cs typeface="Times New Roman" panose="02020603050405020304" pitchFamily="18" charset="0"/>
              </a:rPr>
              <a:t>từ (noun </a:t>
            </a:r>
            <a:r>
              <a:rPr sz="2800" b="1" spc="-5">
                <a:solidFill>
                  <a:srgbClr val="FF0000"/>
                </a:solidFill>
                <a:latin typeface="Times New Roman" panose="02020603050405020304" pitchFamily="18" charset="0"/>
                <a:cs typeface="Times New Roman" panose="02020603050405020304" pitchFamily="18" charset="0"/>
              </a:rPr>
              <a:t>–</a:t>
            </a:r>
            <a:r>
              <a:rPr lang="en-US" sz="2800" b="1" spc="-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phrase)</a:t>
            </a:r>
            <a:endParaRPr sz="2800" b="1">
              <a:solidFill>
                <a:srgbClr val="FF0000"/>
              </a:solidFill>
              <a:latin typeface="Times New Roman" panose="02020603050405020304" pitchFamily="18" charset="0"/>
              <a:cs typeface="Times New Roman" panose="02020603050405020304" pitchFamily="18" charset="0"/>
            </a:endParaRPr>
          </a:p>
          <a:p>
            <a:pPr marL="1177925" marR="252095" lvl="2" indent="-342900">
              <a:lnSpc>
                <a:spcPct val="150000"/>
              </a:lnSpc>
              <a:spcBef>
                <a:spcPts val="605"/>
              </a:spcBef>
              <a:buSzPct val="100000"/>
              <a:buFont typeface="Arial" panose="020B0604020202020204" pitchFamily="34" charset="0"/>
              <a:buChar char="•"/>
              <a:tabLst>
                <a:tab pos="625475" algn="l"/>
              </a:tabLst>
            </a:pPr>
            <a:r>
              <a:rPr lang="vi-VN" sz="2400">
                <a:latin typeface="Times New Roman" panose="02020603050405020304" pitchFamily="18" charset="0"/>
                <a:cs typeface="Times New Roman" panose="02020603050405020304" pitchFamily="18" charset="0"/>
              </a:rPr>
              <a:t>Đề xuất bởi Rebecca Wirfs-Brock, Brian Wilkerson, </a:t>
            </a:r>
            <a:r>
              <a:rPr lang="vi-VN" sz="2400" spc="-5">
                <a:latin typeface="Times New Roman" panose="02020603050405020304" pitchFamily="18" charset="0"/>
                <a:cs typeface="Times New Roman" panose="02020603050405020304" pitchFamily="18" charset="0"/>
              </a:rPr>
              <a:t>và </a:t>
            </a:r>
            <a:r>
              <a:rPr lang="vi-VN" sz="2400" spc="-60">
                <a:latin typeface="Times New Roman" panose="02020603050405020304" pitchFamily="18" charset="0"/>
                <a:cs typeface="Times New Roman" panose="02020603050405020304" pitchFamily="18" charset="0"/>
              </a:rPr>
              <a:t>Lauren </a:t>
            </a:r>
            <a:r>
              <a:rPr lang="vi-VN" sz="2400">
                <a:latin typeface="Times New Roman" panose="02020603050405020304" pitchFamily="18" charset="0"/>
                <a:cs typeface="Times New Roman" panose="02020603050405020304" pitchFamily="18" charset="0"/>
              </a:rPr>
              <a:t>Wiener</a:t>
            </a:r>
          </a:p>
          <a:p>
            <a:pPr marL="1177925" marR="252095" lvl="2" indent="-342900" algn="just">
              <a:lnSpc>
                <a:spcPct val="150000"/>
              </a:lnSpc>
              <a:spcBef>
                <a:spcPts val="605"/>
              </a:spcBef>
              <a:buSzPct val="100000"/>
              <a:buFont typeface="Arial" panose="020B0604020202020204" pitchFamily="34" charset="0"/>
              <a:buChar char="•"/>
              <a:tabLst>
                <a:tab pos="625475" algn="l"/>
              </a:tabLst>
            </a:pPr>
            <a:r>
              <a:rPr lang="vi-VN" sz="2400">
                <a:latin typeface="Times New Roman" panose="02020603050405020304" pitchFamily="18" charset="0"/>
                <a:cs typeface="Times New Roman" panose="02020603050405020304" pitchFamily="18" charset="0"/>
              </a:rPr>
              <a:t>Ý tưởng: xác định các lớp thông qua việc đọc trong </a:t>
            </a:r>
            <a:r>
              <a:rPr lang="vi-VN" sz="2400" i="1">
                <a:solidFill>
                  <a:schemeClr val="accent4">
                    <a:lumMod val="50000"/>
                    <a:lumOff val="50000"/>
                  </a:schemeClr>
                </a:solidFill>
                <a:latin typeface="Times New Roman" panose="02020603050405020304" pitchFamily="18" charset="0"/>
                <a:cs typeface="Times New Roman" panose="02020603050405020304" pitchFamily="18" charset="0"/>
              </a:rPr>
              <a:t>các văn bản mô tả Use Case hoặc các mô tả yêu cầu để tìm kiếm và trích lọc các cụm danh từ</a:t>
            </a:r>
            <a:endParaRPr lang="vi-VN" sz="2400" i="1" dirty="0">
              <a:solidFill>
                <a:schemeClr val="accent4">
                  <a:lumMod val="50000"/>
                  <a:lumOff val="50000"/>
                </a:schemeClr>
              </a:solidFill>
              <a:latin typeface="Times New Roman" panose="02020603050405020304" pitchFamily="18" charset="0"/>
              <a:cs typeface="Times New Roman" panose="02020603050405020304" pitchFamily="18" charset="0"/>
            </a:endParaRPr>
          </a:p>
        </p:txBody>
      </p:sp>
      <p:sp>
        <p:nvSpPr>
          <p:cNvPr id="12"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11"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0651347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83043"/>
            <a:ext cx="7762321" cy="443711"/>
          </a:xfrm>
          <a:prstGeom prst="rect">
            <a:avLst/>
          </a:prstGeom>
        </p:spPr>
        <p:txBody>
          <a:bodyPr vert="horz" wrap="square" lIns="0" tIns="12700" rIns="0" bIns="0" rtlCol="0">
            <a:spAutoFit/>
          </a:bodyPr>
          <a:lstStyle/>
          <a:p>
            <a:pPr marL="233363" indent="-220663">
              <a:spcBef>
                <a:spcPts val="100"/>
              </a:spcBef>
              <a:buSzPct val="100000"/>
              <a:buFont typeface="Wingdings" panose="05000000000000000000" pitchFamily="2" charset="2"/>
              <a:buChar char="§"/>
              <a:tabLst>
                <a:tab pos="569913" algn="l"/>
              </a:tabLst>
            </a:pPr>
            <a:r>
              <a:rPr sz="2800" b="1" spc="-25" dirty="0">
                <a:solidFill>
                  <a:srgbClr val="FF0000"/>
                </a:solidFill>
                <a:latin typeface="Times New Roman" panose="02020603050405020304" pitchFamily="18" charset="0"/>
                <a:cs typeface="Times New Roman" panose="02020603050405020304" pitchFamily="18" charset="0"/>
              </a:rPr>
              <a:t>Tiếp </a:t>
            </a:r>
            <a:r>
              <a:rPr sz="2800" b="1" dirty="0">
                <a:solidFill>
                  <a:srgbClr val="FF0000"/>
                </a:solidFill>
                <a:latin typeface="Times New Roman" panose="02020603050405020304" pitchFamily="18" charset="0"/>
                <a:cs typeface="Times New Roman" panose="02020603050405020304" pitchFamily="18" charset="0"/>
              </a:rPr>
              <a:t>cận </a:t>
            </a:r>
            <a:r>
              <a:rPr sz="2800" b="1" spc="-5" dirty="0">
                <a:solidFill>
                  <a:srgbClr val="FF0000"/>
                </a:solidFill>
                <a:latin typeface="Times New Roman" panose="02020603050405020304" pitchFamily="18" charset="0"/>
                <a:cs typeface="Times New Roman" panose="02020603050405020304" pitchFamily="18" charset="0"/>
              </a:rPr>
              <a:t>theo </a:t>
            </a:r>
            <a:r>
              <a:rPr sz="2800" b="1" dirty="0">
                <a:solidFill>
                  <a:srgbClr val="FF0000"/>
                </a:solidFill>
                <a:latin typeface="Times New Roman" panose="02020603050405020304" pitchFamily="18" charset="0"/>
                <a:cs typeface="Times New Roman" panose="02020603050405020304" pitchFamily="18" charset="0"/>
              </a:rPr>
              <a:t>cụm </a:t>
            </a:r>
            <a:r>
              <a:rPr sz="2800" b="1" spc="-5" dirty="0">
                <a:solidFill>
                  <a:srgbClr val="FF0000"/>
                </a:solidFill>
                <a:latin typeface="Times New Roman" panose="02020603050405020304" pitchFamily="18" charset="0"/>
                <a:cs typeface="Times New Roman" panose="02020603050405020304" pitchFamily="18" charset="0"/>
              </a:rPr>
              <a:t>danh </a:t>
            </a:r>
            <a:r>
              <a:rPr sz="2800" b="1" dirty="0">
                <a:solidFill>
                  <a:srgbClr val="FF0000"/>
                </a:solidFill>
                <a:latin typeface="Times New Roman" panose="02020603050405020304" pitchFamily="18" charset="0"/>
                <a:cs typeface="Times New Roman" panose="02020603050405020304" pitchFamily="18" charset="0"/>
              </a:rPr>
              <a:t>từ </a:t>
            </a:r>
            <a:r>
              <a:rPr sz="2800" b="1" spc="-5" dirty="0">
                <a:solidFill>
                  <a:srgbClr val="FF0000"/>
                </a:solidFill>
                <a:latin typeface="Times New Roman" panose="02020603050405020304" pitchFamily="18" charset="0"/>
                <a:cs typeface="Times New Roman" panose="02020603050405020304" pitchFamily="18" charset="0"/>
              </a:rPr>
              <a:t>(</a:t>
            </a:r>
            <a:r>
              <a:rPr sz="2800" b="1" spc="-5">
                <a:solidFill>
                  <a:srgbClr val="FF0000"/>
                </a:solidFill>
                <a:latin typeface="Times New Roman" panose="02020603050405020304" pitchFamily="18" charset="0"/>
                <a:cs typeface="Times New Roman" panose="02020603050405020304" pitchFamily="18" charset="0"/>
              </a:rPr>
              <a:t>noun</a:t>
            </a:r>
            <a:r>
              <a:rPr sz="2800" b="1" spc="1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a:t>
            </a:r>
            <a:r>
              <a:rPr lang="en-US" sz="2800" b="1" spc="-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phrase</a:t>
            </a:r>
            <a:r>
              <a:rPr sz="2800" b="1" spc="-5" dirty="0">
                <a:solidFill>
                  <a:srgbClr val="FF0000"/>
                </a:solidFill>
                <a:latin typeface="Times New Roman" panose="02020603050405020304" pitchFamily="18" charset="0"/>
                <a:cs typeface="Times New Roman" panose="02020603050405020304" pitchFamily="18" charset="0"/>
              </a:rPr>
              <a:t>)</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4" name="object 4"/>
          <p:cNvSpPr/>
          <p:nvPr/>
        </p:nvSpPr>
        <p:spPr>
          <a:xfrm>
            <a:off x="3014472" y="1622935"/>
            <a:ext cx="1754886" cy="950213"/>
          </a:xfrm>
          <a:prstGeom prst="rect">
            <a:avLst/>
          </a:prstGeom>
          <a:blipFill>
            <a:blip r:embed="rId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 name="object 5"/>
          <p:cNvSpPr/>
          <p:nvPr/>
        </p:nvSpPr>
        <p:spPr>
          <a:xfrm>
            <a:off x="2994660" y="1603122"/>
            <a:ext cx="1744980" cy="940435"/>
          </a:xfrm>
          <a:custGeom>
            <a:avLst/>
            <a:gdLst/>
            <a:ahLst/>
            <a:cxnLst/>
            <a:rect l="l" t="t" r="r" b="b"/>
            <a:pathLst>
              <a:path w="1744980" h="940435">
                <a:moveTo>
                  <a:pt x="0" y="0"/>
                </a:moveTo>
                <a:lnTo>
                  <a:pt x="1744979" y="0"/>
                </a:lnTo>
                <a:lnTo>
                  <a:pt x="1744979" y="763904"/>
                </a:lnTo>
                <a:lnTo>
                  <a:pt x="1681151" y="764438"/>
                </a:lnTo>
                <a:lnTo>
                  <a:pt x="1620432" y="765993"/>
                </a:lnTo>
                <a:lnTo>
                  <a:pt x="1562656" y="768499"/>
                </a:lnTo>
                <a:lnTo>
                  <a:pt x="1507662" y="771886"/>
                </a:lnTo>
                <a:lnTo>
                  <a:pt x="1455286" y="776084"/>
                </a:lnTo>
                <a:lnTo>
                  <a:pt x="1405363" y="781022"/>
                </a:lnTo>
                <a:lnTo>
                  <a:pt x="1357730" y="786631"/>
                </a:lnTo>
                <a:lnTo>
                  <a:pt x="1312224" y="792841"/>
                </a:lnTo>
                <a:lnTo>
                  <a:pt x="1268682" y="799582"/>
                </a:lnTo>
                <a:lnTo>
                  <a:pt x="1226939" y="806783"/>
                </a:lnTo>
                <a:lnTo>
                  <a:pt x="1186831" y="814375"/>
                </a:lnTo>
                <a:lnTo>
                  <a:pt x="1148196" y="822287"/>
                </a:lnTo>
                <a:lnTo>
                  <a:pt x="1110870" y="830449"/>
                </a:lnTo>
                <a:lnTo>
                  <a:pt x="1039490" y="847245"/>
                </a:lnTo>
                <a:lnTo>
                  <a:pt x="971381" y="864202"/>
                </a:lnTo>
                <a:lnTo>
                  <a:pt x="938144" y="872566"/>
                </a:lnTo>
                <a:lnTo>
                  <a:pt x="905235" y="880760"/>
                </a:lnTo>
                <a:lnTo>
                  <a:pt x="839744" y="896358"/>
                </a:lnTo>
                <a:lnTo>
                  <a:pt x="773598" y="910435"/>
                </a:lnTo>
                <a:lnTo>
                  <a:pt x="705489" y="922431"/>
                </a:lnTo>
                <a:lnTo>
                  <a:pt x="634109" y="931786"/>
                </a:lnTo>
                <a:lnTo>
                  <a:pt x="558148" y="937940"/>
                </a:lnTo>
                <a:lnTo>
                  <a:pt x="518040" y="939641"/>
                </a:lnTo>
                <a:lnTo>
                  <a:pt x="476297" y="940331"/>
                </a:lnTo>
                <a:lnTo>
                  <a:pt x="432755" y="939941"/>
                </a:lnTo>
                <a:lnTo>
                  <a:pt x="387249" y="938400"/>
                </a:lnTo>
                <a:lnTo>
                  <a:pt x="339616" y="935638"/>
                </a:lnTo>
                <a:lnTo>
                  <a:pt x="289693" y="931585"/>
                </a:lnTo>
                <a:lnTo>
                  <a:pt x="237317" y="926172"/>
                </a:lnTo>
                <a:lnTo>
                  <a:pt x="182323" y="919327"/>
                </a:lnTo>
                <a:lnTo>
                  <a:pt x="124547" y="910982"/>
                </a:lnTo>
                <a:lnTo>
                  <a:pt x="63828" y="901065"/>
                </a:lnTo>
                <a:lnTo>
                  <a:pt x="0" y="889507"/>
                </a:lnTo>
                <a:lnTo>
                  <a:pt x="0" y="0"/>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 name="object 6"/>
          <p:cNvSpPr/>
          <p:nvPr/>
        </p:nvSpPr>
        <p:spPr>
          <a:xfrm>
            <a:off x="3148583" y="1956691"/>
            <a:ext cx="167640" cy="246887"/>
          </a:xfrm>
          <a:prstGeom prst="rect">
            <a:avLst/>
          </a:prstGeom>
          <a:blipFill>
            <a:blip r:embed="rId3"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 name="object 7"/>
          <p:cNvSpPr/>
          <p:nvPr/>
        </p:nvSpPr>
        <p:spPr>
          <a:xfrm>
            <a:off x="3787139" y="1721993"/>
            <a:ext cx="318770" cy="120650"/>
          </a:xfrm>
          <a:custGeom>
            <a:avLst/>
            <a:gdLst/>
            <a:ahLst/>
            <a:cxnLst/>
            <a:rect l="l" t="t" r="r" b="b"/>
            <a:pathLst>
              <a:path w="318769" h="120650">
                <a:moveTo>
                  <a:pt x="0" y="60198"/>
                </a:moveTo>
                <a:lnTo>
                  <a:pt x="12507" y="36754"/>
                </a:lnTo>
                <a:lnTo>
                  <a:pt x="46624" y="17621"/>
                </a:lnTo>
                <a:lnTo>
                  <a:pt x="97244" y="4726"/>
                </a:lnTo>
                <a:lnTo>
                  <a:pt x="159258" y="0"/>
                </a:lnTo>
                <a:lnTo>
                  <a:pt x="221271" y="4726"/>
                </a:lnTo>
                <a:lnTo>
                  <a:pt x="271891" y="17621"/>
                </a:lnTo>
                <a:lnTo>
                  <a:pt x="306008" y="36754"/>
                </a:lnTo>
                <a:lnTo>
                  <a:pt x="318516" y="60198"/>
                </a:lnTo>
                <a:lnTo>
                  <a:pt x="306008" y="83641"/>
                </a:lnTo>
                <a:lnTo>
                  <a:pt x="271891" y="102774"/>
                </a:lnTo>
                <a:lnTo>
                  <a:pt x="221271" y="115669"/>
                </a:lnTo>
                <a:lnTo>
                  <a:pt x="159258" y="120396"/>
                </a:lnTo>
                <a:lnTo>
                  <a:pt x="97244" y="115669"/>
                </a:lnTo>
                <a:lnTo>
                  <a:pt x="46624" y="102774"/>
                </a:lnTo>
                <a:lnTo>
                  <a:pt x="12507" y="83641"/>
                </a:lnTo>
                <a:lnTo>
                  <a:pt x="0" y="60198"/>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 name="object 8"/>
          <p:cNvSpPr/>
          <p:nvPr/>
        </p:nvSpPr>
        <p:spPr>
          <a:xfrm>
            <a:off x="3787139" y="1961262"/>
            <a:ext cx="318770" cy="119380"/>
          </a:xfrm>
          <a:custGeom>
            <a:avLst/>
            <a:gdLst/>
            <a:ahLst/>
            <a:cxnLst/>
            <a:rect l="l" t="t" r="r" b="b"/>
            <a:pathLst>
              <a:path w="318769" h="119380">
                <a:moveTo>
                  <a:pt x="0" y="59436"/>
                </a:moveTo>
                <a:lnTo>
                  <a:pt x="12507" y="36325"/>
                </a:lnTo>
                <a:lnTo>
                  <a:pt x="46624" y="17430"/>
                </a:lnTo>
                <a:lnTo>
                  <a:pt x="97244" y="4679"/>
                </a:lnTo>
                <a:lnTo>
                  <a:pt x="159258" y="0"/>
                </a:lnTo>
                <a:lnTo>
                  <a:pt x="221271" y="4679"/>
                </a:lnTo>
                <a:lnTo>
                  <a:pt x="271891" y="17430"/>
                </a:lnTo>
                <a:lnTo>
                  <a:pt x="306008" y="36325"/>
                </a:lnTo>
                <a:lnTo>
                  <a:pt x="318516" y="59436"/>
                </a:lnTo>
                <a:lnTo>
                  <a:pt x="306008" y="82546"/>
                </a:lnTo>
                <a:lnTo>
                  <a:pt x="271891" y="101441"/>
                </a:lnTo>
                <a:lnTo>
                  <a:pt x="221271" y="114192"/>
                </a:lnTo>
                <a:lnTo>
                  <a:pt x="159258" y="118872"/>
                </a:lnTo>
                <a:lnTo>
                  <a:pt x="97244" y="114192"/>
                </a:lnTo>
                <a:lnTo>
                  <a:pt x="46624" y="101441"/>
                </a:lnTo>
                <a:lnTo>
                  <a:pt x="12507" y="82546"/>
                </a:lnTo>
                <a:lnTo>
                  <a:pt x="0" y="59436"/>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9" name="object 9"/>
          <p:cNvSpPr/>
          <p:nvPr/>
        </p:nvSpPr>
        <p:spPr>
          <a:xfrm>
            <a:off x="3787139" y="2199006"/>
            <a:ext cx="318770" cy="119380"/>
          </a:xfrm>
          <a:custGeom>
            <a:avLst/>
            <a:gdLst/>
            <a:ahLst/>
            <a:cxnLst/>
            <a:rect l="l" t="t" r="r" b="b"/>
            <a:pathLst>
              <a:path w="318769" h="119380">
                <a:moveTo>
                  <a:pt x="0" y="59436"/>
                </a:moveTo>
                <a:lnTo>
                  <a:pt x="12507" y="36325"/>
                </a:lnTo>
                <a:lnTo>
                  <a:pt x="46624" y="17430"/>
                </a:lnTo>
                <a:lnTo>
                  <a:pt x="97244" y="4679"/>
                </a:lnTo>
                <a:lnTo>
                  <a:pt x="159258" y="0"/>
                </a:lnTo>
                <a:lnTo>
                  <a:pt x="221271" y="4679"/>
                </a:lnTo>
                <a:lnTo>
                  <a:pt x="271891" y="17430"/>
                </a:lnTo>
                <a:lnTo>
                  <a:pt x="306008" y="36325"/>
                </a:lnTo>
                <a:lnTo>
                  <a:pt x="318516" y="59436"/>
                </a:lnTo>
                <a:lnTo>
                  <a:pt x="306008" y="82546"/>
                </a:lnTo>
                <a:lnTo>
                  <a:pt x="271891" y="101441"/>
                </a:lnTo>
                <a:lnTo>
                  <a:pt x="221271" y="114192"/>
                </a:lnTo>
                <a:lnTo>
                  <a:pt x="159258" y="118872"/>
                </a:lnTo>
                <a:lnTo>
                  <a:pt x="97244" y="114192"/>
                </a:lnTo>
                <a:lnTo>
                  <a:pt x="46624" y="101441"/>
                </a:lnTo>
                <a:lnTo>
                  <a:pt x="12507" y="82546"/>
                </a:lnTo>
                <a:lnTo>
                  <a:pt x="0" y="59436"/>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0" name="object 10"/>
          <p:cNvSpPr/>
          <p:nvPr/>
        </p:nvSpPr>
        <p:spPr>
          <a:xfrm>
            <a:off x="4418076" y="1956691"/>
            <a:ext cx="167640" cy="246887"/>
          </a:xfrm>
          <a:prstGeom prst="rect">
            <a:avLst/>
          </a:prstGeom>
          <a:blipFill>
            <a:blip r:embed="rId3"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1" name="object 11"/>
          <p:cNvSpPr/>
          <p:nvPr/>
        </p:nvSpPr>
        <p:spPr>
          <a:xfrm>
            <a:off x="3311652" y="1842391"/>
            <a:ext cx="475615" cy="238125"/>
          </a:xfrm>
          <a:custGeom>
            <a:avLst/>
            <a:gdLst/>
            <a:ahLst/>
            <a:cxnLst/>
            <a:rect l="l" t="t" r="r" b="b"/>
            <a:pathLst>
              <a:path w="475614" h="238125">
                <a:moveTo>
                  <a:pt x="0" y="237744"/>
                </a:moveTo>
                <a:lnTo>
                  <a:pt x="475488" y="0"/>
                </a:lnTo>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3311652" y="2080134"/>
            <a:ext cx="475615" cy="0"/>
          </a:xfrm>
          <a:custGeom>
            <a:avLst/>
            <a:gdLst/>
            <a:ahLst/>
            <a:cxnLst/>
            <a:rect l="l" t="t" r="r" b="b"/>
            <a:pathLst>
              <a:path w="475614">
                <a:moveTo>
                  <a:pt x="0" y="0"/>
                </a:moveTo>
                <a:lnTo>
                  <a:pt x="475488" y="0"/>
                </a:lnTo>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3" name="object 13"/>
          <p:cNvSpPr/>
          <p:nvPr/>
        </p:nvSpPr>
        <p:spPr>
          <a:xfrm>
            <a:off x="3311652" y="2080134"/>
            <a:ext cx="475615" cy="119380"/>
          </a:xfrm>
          <a:custGeom>
            <a:avLst/>
            <a:gdLst/>
            <a:ahLst/>
            <a:cxnLst/>
            <a:rect l="l" t="t" r="r" b="b"/>
            <a:pathLst>
              <a:path w="475614" h="119380">
                <a:moveTo>
                  <a:pt x="0" y="0"/>
                </a:moveTo>
                <a:lnTo>
                  <a:pt x="475488" y="118871"/>
                </a:lnTo>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4" name="object 14"/>
          <p:cNvSpPr/>
          <p:nvPr/>
        </p:nvSpPr>
        <p:spPr>
          <a:xfrm>
            <a:off x="4105655" y="2080134"/>
            <a:ext cx="317500" cy="0"/>
          </a:xfrm>
          <a:custGeom>
            <a:avLst/>
            <a:gdLst/>
            <a:ahLst/>
            <a:cxnLst/>
            <a:rect l="l" t="t" r="r" b="b"/>
            <a:pathLst>
              <a:path w="317500">
                <a:moveTo>
                  <a:pt x="0" y="0"/>
                </a:moveTo>
                <a:lnTo>
                  <a:pt x="316992" y="0"/>
                </a:lnTo>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5" name="object 15"/>
          <p:cNvSpPr/>
          <p:nvPr/>
        </p:nvSpPr>
        <p:spPr>
          <a:xfrm>
            <a:off x="3014472" y="2733929"/>
            <a:ext cx="1754886" cy="959358"/>
          </a:xfrm>
          <a:prstGeom prst="rect">
            <a:avLst/>
          </a:prstGeom>
          <a:blipFill>
            <a:blip r:embed="rId4"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6" name="object 16"/>
          <p:cNvSpPr/>
          <p:nvPr/>
        </p:nvSpPr>
        <p:spPr>
          <a:xfrm>
            <a:off x="2929127" y="2884806"/>
            <a:ext cx="1738122" cy="666749"/>
          </a:xfrm>
          <a:prstGeom prst="rect">
            <a:avLst/>
          </a:prstGeom>
          <a:blipFill>
            <a:blip r:embed="rId5"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7" name="object 17"/>
          <p:cNvSpPr/>
          <p:nvPr/>
        </p:nvSpPr>
        <p:spPr>
          <a:xfrm>
            <a:off x="2994660" y="2714117"/>
            <a:ext cx="1744980" cy="950594"/>
          </a:xfrm>
          <a:custGeom>
            <a:avLst/>
            <a:gdLst/>
            <a:ahLst/>
            <a:cxnLst/>
            <a:rect l="l" t="t" r="r" b="b"/>
            <a:pathLst>
              <a:path w="1744980" h="950595">
                <a:moveTo>
                  <a:pt x="1502156" y="162051"/>
                </a:moveTo>
                <a:lnTo>
                  <a:pt x="0" y="162051"/>
                </a:lnTo>
                <a:lnTo>
                  <a:pt x="0" y="916432"/>
                </a:lnTo>
                <a:lnTo>
                  <a:pt x="62584" y="925980"/>
                </a:lnTo>
                <a:lnTo>
                  <a:pt x="121699" y="933827"/>
                </a:lnTo>
                <a:lnTo>
                  <a:pt x="177555" y="940055"/>
                </a:lnTo>
                <a:lnTo>
                  <a:pt x="230363" y="944752"/>
                </a:lnTo>
                <a:lnTo>
                  <a:pt x="280332" y="948001"/>
                </a:lnTo>
                <a:lnTo>
                  <a:pt x="327673" y="949888"/>
                </a:lnTo>
                <a:lnTo>
                  <a:pt x="372595" y="950498"/>
                </a:lnTo>
                <a:lnTo>
                  <a:pt x="415310" y="949916"/>
                </a:lnTo>
                <a:lnTo>
                  <a:pt x="456027" y="948228"/>
                </a:lnTo>
                <a:lnTo>
                  <a:pt x="494957" y="945518"/>
                </a:lnTo>
                <a:lnTo>
                  <a:pt x="568294" y="937374"/>
                </a:lnTo>
                <a:lnTo>
                  <a:pt x="637005" y="926165"/>
                </a:lnTo>
                <a:lnTo>
                  <a:pt x="702770" y="912572"/>
                </a:lnTo>
                <a:lnTo>
                  <a:pt x="899210" y="864303"/>
                </a:lnTo>
                <a:lnTo>
                  <a:pt x="934032" y="856060"/>
                </a:lnTo>
                <a:lnTo>
                  <a:pt x="1007354" y="840169"/>
                </a:lnTo>
                <a:lnTo>
                  <a:pt x="1046274" y="832691"/>
                </a:lnTo>
                <a:lnTo>
                  <a:pt x="1086979" y="825640"/>
                </a:lnTo>
                <a:lnTo>
                  <a:pt x="1129682" y="819099"/>
                </a:lnTo>
                <a:lnTo>
                  <a:pt x="1174591" y="813154"/>
                </a:lnTo>
                <a:lnTo>
                  <a:pt x="1221916" y="807890"/>
                </a:lnTo>
                <a:lnTo>
                  <a:pt x="1271869" y="803392"/>
                </a:lnTo>
                <a:lnTo>
                  <a:pt x="1324659" y="799746"/>
                </a:lnTo>
                <a:lnTo>
                  <a:pt x="1380497" y="797036"/>
                </a:lnTo>
                <a:lnTo>
                  <a:pt x="1439592" y="795347"/>
                </a:lnTo>
                <a:lnTo>
                  <a:pt x="1502156" y="794766"/>
                </a:lnTo>
                <a:lnTo>
                  <a:pt x="1502156" y="162051"/>
                </a:lnTo>
                <a:close/>
              </a:path>
              <a:path w="1744980" h="950595">
                <a:moveTo>
                  <a:pt x="1615694" y="80010"/>
                </a:moveTo>
                <a:lnTo>
                  <a:pt x="123825" y="80010"/>
                </a:lnTo>
                <a:lnTo>
                  <a:pt x="123825" y="162051"/>
                </a:lnTo>
                <a:lnTo>
                  <a:pt x="1502156" y="162051"/>
                </a:lnTo>
                <a:lnTo>
                  <a:pt x="1502156" y="721106"/>
                </a:lnTo>
                <a:lnTo>
                  <a:pt x="1511931" y="720411"/>
                </a:lnTo>
                <a:lnTo>
                  <a:pt x="1537684" y="718883"/>
                </a:lnTo>
                <a:lnTo>
                  <a:pt x="1574057" y="717355"/>
                </a:lnTo>
                <a:lnTo>
                  <a:pt x="1615694" y="716661"/>
                </a:lnTo>
                <a:lnTo>
                  <a:pt x="1615694" y="80010"/>
                </a:lnTo>
                <a:close/>
              </a:path>
              <a:path w="1744980" h="950595">
                <a:moveTo>
                  <a:pt x="1744979" y="0"/>
                </a:moveTo>
                <a:lnTo>
                  <a:pt x="240157" y="0"/>
                </a:lnTo>
                <a:lnTo>
                  <a:pt x="240157" y="80010"/>
                </a:lnTo>
                <a:lnTo>
                  <a:pt x="1615694" y="80010"/>
                </a:lnTo>
                <a:lnTo>
                  <a:pt x="1615694" y="637921"/>
                </a:lnTo>
                <a:lnTo>
                  <a:pt x="1656095" y="636270"/>
                </a:lnTo>
                <a:lnTo>
                  <a:pt x="1697507" y="635134"/>
                </a:lnTo>
                <a:lnTo>
                  <a:pt x="1744979" y="634619"/>
                </a:lnTo>
                <a:lnTo>
                  <a:pt x="1744979"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8" name="object 18"/>
          <p:cNvSpPr/>
          <p:nvPr/>
        </p:nvSpPr>
        <p:spPr>
          <a:xfrm>
            <a:off x="2994660" y="2876169"/>
            <a:ext cx="1502410" cy="788670"/>
          </a:xfrm>
          <a:custGeom>
            <a:avLst/>
            <a:gdLst/>
            <a:ahLst/>
            <a:cxnLst/>
            <a:rect l="l" t="t" r="r" b="b"/>
            <a:pathLst>
              <a:path w="1502410" h="788670">
                <a:moveTo>
                  <a:pt x="0" y="0"/>
                </a:moveTo>
                <a:lnTo>
                  <a:pt x="1502156" y="0"/>
                </a:lnTo>
                <a:lnTo>
                  <a:pt x="1502156" y="632714"/>
                </a:lnTo>
                <a:lnTo>
                  <a:pt x="1439592" y="633295"/>
                </a:lnTo>
                <a:lnTo>
                  <a:pt x="1380497" y="634984"/>
                </a:lnTo>
                <a:lnTo>
                  <a:pt x="1324659" y="637694"/>
                </a:lnTo>
                <a:lnTo>
                  <a:pt x="1271869" y="641340"/>
                </a:lnTo>
                <a:lnTo>
                  <a:pt x="1221916" y="645838"/>
                </a:lnTo>
                <a:lnTo>
                  <a:pt x="1174591" y="651102"/>
                </a:lnTo>
                <a:lnTo>
                  <a:pt x="1129682" y="657047"/>
                </a:lnTo>
                <a:lnTo>
                  <a:pt x="1086979" y="663588"/>
                </a:lnTo>
                <a:lnTo>
                  <a:pt x="1046274" y="670639"/>
                </a:lnTo>
                <a:lnTo>
                  <a:pt x="1007354" y="678117"/>
                </a:lnTo>
                <a:lnTo>
                  <a:pt x="970010" y="685934"/>
                </a:lnTo>
                <a:lnTo>
                  <a:pt x="899210" y="702251"/>
                </a:lnTo>
                <a:lnTo>
                  <a:pt x="832191" y="718908"/>
                </a:lnTo>
                <a:lnTo>
                  <a:pt x="799574" y="727152"/>
                </a:lnTo>
                <a:lnTo>
                  <a:pt x="767272" y="735225"/>
                </a:lnTo>
                <a:lnTo>
                  <a:pt x="702770" y="750520"/>
                </a:lnTo>
                <a:lnTo>
                  <a:pt x="637005" y="764113"/>
                </a:lnTo>
                <a:lnTo>
                  <a:pt x="568294" y="775322"/>
                </a:lnTo>
                <a:lnTo>
                  <a:pt x="494957" y="783466"/>
                </a:lnTo>
                <a:lnTo>
                  <a:pt x="456027" y="786176"/>
                </a:lnTo>
                <a:lnTo>
                  <a:pt x="415310" y="787864"/>
                </a:lnTo>
                <a:lnTo>
                  <a:pt x="372595" y="788446"/>
                </a:lnTo>
                <a:lnTo>
                  <a:pt x="327673" y="787836"/>
                </a:lnTo>
                <a:lnTo>
                  <a:pt x="280332" y="785949"/>
                </a:lnTo>
                <a:lnTo>
                  <a:pt x="230363" y="782700"/>
                </a:lnTo>
                <a:lnTo>
                  <a:pt x="177555" y="778003"/>
                </a:lnTo>
                <a:lnTo>
                  <a:pt x="121699" y="771775"/>
                </a:lnTo>
                <a:lnTo>
                  <a:pt x="62584" y="763928"/>
                </a:lnTo>
                <a:lnTo>
                  <a:pt x="0" y="754380"/>
                </a:lnTo>
                <a:lnTo>
                  <a:pt x="0" y="0"/>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9" name="object 19"/>
          <p:cNvSpPr/>
          <p:nvPr/>
        </p:nvSpPr>
        <p:spPr>
          <a:xfrm>
            <a:off x="3118485" y="2794128"/>
            <a:ext cx="1492250" cy="641350"/>
          </a:xfrm>
          <a:custGeom>
            <a:avLst/>
            <a:gdLst/>
            <a:ahLst/>
            <a:cxnLst/>
            <a:rect l="l" t="t" r="r" b="b"/>
            <a:pathLst>
              <a:path w="1492250" h="641350">
                <a:moveTo>
                  <a:pt x="0" y="82041"/>
                </a:moveTo>
                <a:lnTo>
                  <a:pt x="0" y="0"/>
                </a:lnTo>
                <a:lnTo>
                  <a:pt x="1491869" y="0"/>
                </a:lnTo>
                <a:lnTo>
                  <a:pt x="1491869" y="636651"/>
                </a:lnTo>
                <a:lnTo>
                  <a:pt x="1450232" y="637345"/>
                </a:lnTo>
                <a:lnTo>
                  <a:pt x="1413859" y="638873"/>
                </a:lnTo>
                <a:lnTo>
                  <a:pt x="1388106" y="640401"/>
                </a:lnTo>
                <a:lnTo>
                  <a:pt x="1378331" y="641096"/>
                </a:lnTo>
              </a:path>
            </a:pathLst>
          </a:custGeom>
          <a:ln w="9143">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0" name="object 20"/>
          <p:cNvSpPr/>
          <p:nvPr/>
        </p:nvSpPr>
        <p:spPr>
          <a:xfrm>
            <a:off x="3234817" y="2714118"/>
            <a:ext cx="1504950" cy="638175"/>
          </a:xfrm>
          <a:custGeom>
            <a:avLst/>
            <a:gdLst/>
            <a:ahLst/>
            <a:cxnLst/>
            <a:rect l="l" t="t" r="r" b="b"/>
            <a:pathLst>
              <a:path w="1504950" h="638175">
                <a:moveTo>
                  <a:pt x="0" y="80010"/>
                </a:moveTo>
                <a:lnTo>
                  <a:pt x="0" y="0"/>
                </a:lnTo>
                <a:lnTo>
                  <a:pt x="1504822" y="0"/>
                </a:lnTo>
                <a:lnTo>
                  <a:pt x="1504822" y="634619"/>
                </a:lnTo>
                <a:lnTo>
                  <a:pt x="1457350" y="635134"/>
                </a:lnTo>
                <a:lnTo>
                  <a:pt x="1415938" y="636270"/>
                </a:lnTo>
                <a:lnTo>
                  <a:pt x="1386647" y="637405"/>
                </a:lnTo>
                <a:lnTo>
                  <a:pt x="1375537" y="637921"/>
                </a:lnTo>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1" name="object 21"/>
          <p:cNvSpPr txBox="1"/>
          <p:nvPr/>
        </p:nvSpPr>
        <p:spPr>
          <a:xfrm>
            <a:off x="3026918" y="2905888"/>
            <a:ext cx="1449705" cy="511679"/>
          </a:xfrm>
          <a:prstGeom prst="rect">
            <a:avLst/>
          </a:prstGeom>
        </p:spPr>
        <p:txBody>
          <a:bodyPr vert="horz" wrap="square" lIns="0" tIns="24130" rIns="0" bIns="0" rtlCol="0">
            <a:spAutoFit/>
          </a:bodyPr>
          <a:lstStyle/>
          <a:p>
            <a:pPr marL="362585" marR="5080" indent="-363220">
              <a:lnSpc>
                <a:spcPts val="1880"/>
              </a:lnSpc>
              <a:spcBef>
                <a:spcPts val="190"/>
              </a:spcBef>
            </a:pPr>
            <a:r>
              <a:rPr sz="1600" b="1" spc="-5" dirty="0">
                <a:latin typeface="Times New Roman" panose="02020603050405020304" pitchFamily="18" charset="0"/>
                <a:cs typeface="Times New Roman" panose="02020603050405020304" pitchFamily="18" charset="0"/>
              </a:rPr>
              <a:t>Mô </a:t>
            </a:r>
            <a:r>
              <a:rPr sz="1600" b="1" spc="-5">
                <a:latin typeface="Times New Roman" panose="02020603050405020304" pitchFamily="18" charset="0"/>
                <a:cs typeface="Times New Roman" panose="02020603050405020304" pitchFamily="18" charset="0"/>
              </a:rPr>
              <a:t>tả </a:t>
            </a:r>
            <a:r>
              <a:rPr lang="en-US" sz="1600" b="1" spc="-5">
                <a:latin typeface="Times New Roman" panose="02020603050405020304" pitchFamily="18" charset="0"/>
                <a:cs typeface="Times New Roman" panose="02020603050405020304" pitchFamily="18" charset="0"/>
              </a:rPr>
              <a:t>Use Case</a:t>
            </a:r>
            <a:r>
              <a:rPr sz="1600" b="1" spc="-5">
                <a:latin typeface="Times New Roman" panose="02020603050405020304" pitchFamily="18" charset="0"/>
                <a:cs typeface="Times New Roman" panose="02020603050405020304" pitchFamily="18" charset="0"/>
              </a:rPr>
              <a:t>,</a:t>
            </a:r>
            <a:r>
              <a:rPr lang="en-US" sz="1600" b="1" spc="-5">
                <a:latin typeface="Times New Roman" panose="02020603050405020304" pitchFamily="18" charset="0"/>
                <a:cs typeface="Times New Roman" panose="02020603050405020304" pitchFamily="18" charset="0"/>
              </a:rPr>
              <a:t> </a:t>
            </a:r>
            <a:r>
              <a:rPr sz="1600" b="1" spc="-10">
                <a:latin typeface="Times New Roman" panose="02020603050405020304" pitchFamily="18" charset="0"/>
                <a:cs typeface="Times New Roman" panose="02020603050405020304" pitchFamily="18" charset="0"/>
              </a:rPr>
              <a:t>yêu</a:t>
            </a:r>
            <a:r>
              <a:rPr sz="1600" b="1" spc="5">
                <a:latin typeface="Times New Roman" panose="02020603050405020304" pitchFamily="18" charset="0"/>
                <a:cs typeface="Times New Roman" panose="02020603050405020304" pitchFamily="18" charset="0"/>
              </a:rPr>
              <a:t> </a:t>
            </a:r>
            <a:r>
              <a:rPr sz="1600" b="1" spc="-10" dirty="0">
                <a:latin typeface="Times New Roman" panose="02020603050405020304" pitchFamily="18" charset="0"/>
                <a:cs typeface="Times New Roman" panose="02020603050405020304" pitchFamily="18" charset="0"/>
              </a:rPr>
              <a:t>cầu</a:t>
            </a:r>
            <a:endParaRPr sz="1600" b="1">
              <a:latin typeface="Times New Roman" panose="02020603050405020304" pitchFamily="18" charset="0"/>
              <a:cs typeface="Times New Roman" panose="02020603050405020304" pitchFamily="18" charset="0"/>
            </a:endParaRPr>
          </a:p>
        </p:txBody>
      </p:sp>
      <p:sp>
        <p:nvSpPr>
          <p:cNvPr id="22" name="object 22"/>
          <p:cNvSpPr/>
          <p:nvPr/>
        </p:nvSpPr>
        <p:spPr>
          <a:xfrm>
            <a:off x="5236464" y="2416937"/>
            <a:ext cx="1756410" cy="802386"/>
          </a:xfrm>
          <a:prstGeom prst="rect">
            <a:avLst/>
          </a:prstGeom>
          <a:blipFill>
            <a:blip r:embed="rId6"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3" name="object 23"/>
          <p:cNvSpPr/>
          <p:nvPr/>
        </p:nvSpPr>
        <p:spPr>
          <a:xfrm>
            <a:off x="5391912" y="2444369"/>
            <a:ext cx="1443989" cy="910590"/>
          </a:xfrm>
          <a:prstGeom prst="rect">
            <a:avLst/>
          </a:prstGeom>
          <a:blipFill>
            <a:blip r:embed="rId7"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4" name="object 24"/>
          <p:cNvSpPr/>
          <p:nvPr/>
        </p:nvSpPr>
        <p:spPr>
          <a:xfrm>
            <a:off x="5216653" y="2397125"/>
            <a:ext cx="1746885" cy="792480"/>
          </a:xfrm>
          <a:custGeom>
            <a:avLst/>
            <a:gdLst/>
            <a:ahLst/>
            <a:cxnLst/>
            <a:rect l="l" t="t" r="r" b="b"/>
            <a:pathLst>
              <a:path w="1746885" h="792479">
                <a:moveTo>
                  <a:pt x="1614424" y="0"/>
                </a:moveTo>
                <a:lnTo>
                  <a:pt x="132080" y="0"/>
                </a:lnTo>
                <a:lnTo>
                  <a:pt x="90350" y="6738"/>
                </a:lnTo>
                <a:lnTo>
                  <a:pt x="54095" y="25497"/>
                </a:lnTo>
                <a:lnTo>
                  <a:pt x="25497" y="54095"/>
                </a:lnTo>
                <a:lnTo>
                  <a:pt x="6738" y="90350"/>
                </a:lnTo>
                <a:lnTo>
                  <a:pt x="0" y="132079"/>
                </a:lnTo>
                <a:lnTo>
                  <a:pt x="0" y="660400"/>
                </a:lnTo>
                <a:lnTo>
                  <a:pt x="6738" y="702129"/>
                </a:lnTo>
                <a:lnTo>
                  <a:pt x="25497" y="738384"/>
                </a:lnTo>
                <a:lnTo>
                  <a:pt x="54095" y="766982"/>
                </a:lnTo>
                <a:lnTo>
                  <a:pt x="90350" y="785741"/>
                </a:lnTo>
                <a:lnTo>
                  <a:pt x="132080" y="792480"/>
                </a:lnTo>
                <a:lnTo>
                  <a:pt x="1614424" y="792480"/>
                </a:lnTo>
                <a:lnTo>
                  <a:pt x="1656153" y="785741"/>
                </a:lnTo>
                <a:lnTo>
                  <a:pt x="1692408" y="766982"/>
                </a:lnTo>
                <a:lnTo>
                  <a:pt x="1721006" y="738384"/>
                </a:lnTo>
                <a:lnTo>
                  <a:pt x="1739765" y="702129"/>
                </a:lnTo>
                <a:lnTo>
                  <a:pt x="1746503" y="660400"/>
                </a:lnTo>
                <a:lnTo>
                  <a:pt x="1746503" y="132079"/>
                </a:lnTo>
                <a:lnTo>
                  <a:pt x="1739765" y="90350"/>
                </a:lnTo>
                <a:lnTo>
                  <a:pt x="1721006" y="54095"/>
                </a:lnTo>
                <a:lnTo>
                  <a:pt x="1692408" y="25497"/>
                </a:lnTo>
                <a:lnTo>
                  <a:pt x="1656153" y="6738"/>
                </a:lnTo>
                <a:lnTo>
                  <a:pt x="1614424"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5" name="object 25"/>
          <p:cNvSpPr/>
          <p:nvPr/>
        </p:nvSpPr>
        <p:spPr>
          <a:xfrm>
            <a:off x="5216653" y="2397125"/>
            <a:ext cx="1746885" cy="792480"/>
          </a:xfrm>
          <a:custGeom>
            <a:avLst/>
            <a:gdLst/>
            <a:ahLst/>
            <a:cxnLst/>
            <a:rect l="l" t="t" r="r" b="b"/>
            <a:pathLst>
              <a:path w="1746885" h="792479">
                <a:moveTo>
                  <a:pt x="0" y="132079"/>
                </a:moveTo>
                <a:lnTo>
                  <a:pt x="6738" y="90350"/>
                </a:lnTo>
                <a:lnTo>
                  <a:pt x="25497" y="54095"/>
                </a:lnTo>
                <a:lnTo>
                  <a:pt x="54095" y="25497"/>
                </a:lnTo>
                <a:lnTo>
                  <a:pt x="90350" y="6738"/>
                </a:lnTo>
                <a:lnTo>
                  <a:pt x="132080" y="0"/>
                </a:lnTo>
                <a:lnTo>
                  <a:pt x="1614424" y="0"/>
                </a:lnTo>
                <a:lnTo>
                  <a:pt x="1656153" y="6738"/>
                </a:lnTo>
                <a:lnTo>
                  <a:pt x="1692408" y="25497"/>
                </a:lnTo>
                <a:lnTo>
                  <a:pt x="1721006" y="54095"/>
                </a:lnTo>
                <a:lnTo>
                  <a:pt x="1739765" y="90350"/>
                </a:lnTo>
                <a:lnTo>
                  <a:pt x="1746503" y="132079"/>
                </a:lnTo>
                <a:lnTo>
                  <a:pt x="1746503" y="660400"/>
                </a:lnTo>
                <a:lnTo>
                  <a:pt x="1739765" y="702129"/>
                </a:lnTo>
                <a:lnTo>
                  <a:pt x="1721006" y="738384"/>
                </a:lnTo>
                <a:lnTo>
                  <a:pt x="1692408" y="766982"/>
                </a:lnTo>
                <a:lnTo>
                  <a:pt x="1656153" y="785741"/>
                </a:lnTo>
                <a:lnTo>
                  <a:pt x="1614424" y="792480"/>
                </a:lnTo>
                <a:lnTo>
                  <a:pt x="132080" y="792480"/>
                </a:lnTo>
                <a:lnTo>
                  <a:pt x="90350" y="785741"/>
                </a:lnTo>
                <a:lnTo>
                  <a:pt x="54095" y="766982"/>
                </a:lnTo>
                <a:lnTo>
                  <a:pt x="25497" y="738384"/>
                </a:lnTo>
                <a:lnTo>
                  <a:pt x="6738" y="702129"/>
                </a:lnTo>
                <a:lnTo>
                  <a:pt x="0" y="660400"/>
                </a:lnTo>
                <a:lnTo>
                  <a:pt x="0" y="132079"/>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6" name="object 26"/>
          <p:cNvSpPr txBox="1"/>
          <p:nvPr/>
        </p:nvSpPr>
        <p:spPr>
          <a:xfrm>
            <a:off x="5490718" y="2464562"/>
            <a:ext cx="1212215" cy="751840"/>
          </a:xfrm>
          <a:prstGeom prst="rect">
            <a:avLst/>
          </a:prstGeom>
        </p:spPr>
        <p:txBody>
          <a:bodyPr vert="horz" wrap="square" lIns="0" tIns="13970" rIns="0" bIns="0" rtlCol="0">
            <a:spAutoFit/>
          </a:bodyPr>
          <a:lstStyle/>
          <a:p>
            <a:pPr marR="5080" indent="-635" algn="ctr">
              <a:lnSpc>
                <a:spcPct val="99100"/>
              </a:lnSpc>
              <a:spcBef>
                <a:spcPts val="110"/>
              </a:spcBef>
            </a:pPr>
            <a:r>
              <a:rPr sz="1600" b="1" spc="-5" dirty="0">
                <a:latin typeface="Times New Roman" panose="02020603050405020304" pitchFamily="18" charset="0"/>
                <a:cs typeface="Times New Roman" panose="02020603050405020304" pitchFamily="18" charset="0"/>
              </a:rPr>
              <a:t>Xác </a:t>
            </a:r>
            <a:r>
              <a:rPr sz="1600" b="1" spc="-5">
                <a:latin typeface="Times New Roman" panose="02020603050405020304" pitchFamily="18" charset="0"/>
                <a:cs typeface="Times New Roman" panose="02020603050405020304" pitchFamily="18" charset="0"/>
              </a:rPr>
              <a:t>định các</a:t>
            </a:r>
            <a:r>
              <a:rPr lang="en-US" sz="1600" b="1" spc="-5">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danh </a:t>
            </a:r>
            <a:r>
              <a:rPr sz="1600" b="1" spc="-5" dirty="0">
                <a:latin typeface="Times New Roman" panose="02020603050405020304" pitchFamily="18" charset="0"/>
                <a:cs typeface="Times New Roman" panose="02020603050405020304" pitchFamily="18" charset="0"/>
              </a:rPr>
              <a:t>từ</a:t>
            </a:r>
            <a:r>
              <a:rPr sz="1600" b="1" spc="-5">
                <a:latin typeface="Times New Roman" panose="02020603050405020304" pitchFamily="18" charset="0"/>
                <a:cs typeface="Times New Roman" panose="02020603050405020304" pitchFamily="18" charset="0"/>
              </a:rPr>
              <a:t>,</a:t>
            </a:r>
            <a:r>
              <a:rPr sz="1600" b="1" spc="-60">
                <a:latin typeface="Times New Roman" panose="02020603050405020304" pitchFamily="18" charset="0"/>
                <a:cs typeface="Times New Roman" panose="02020603050405020304" pitchFamily="18" charset="0"/>
              </a:rPr>
              <a:t> </a:t>
            </a:r>
            <a:r>
              <a:rPr sz="1600" b="1" spc="-10">
                <a:latin typeface="Times New Roman" panose="02020603050405020304" pitchFamily="18" charset="0"/>
                <a:cs typeface="Times New Roman" panose="02020603050405020304" pitchFamily="18" charset="0"/>
              </a:rPr>
              <a:t>cụm</a:t>
            </a:r>
            <a:r>
              <a:rPr lang="en-US" sz="1600" b="1" spc="-10">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danh</a:t>
            </a:r>
            <a:r>
              <a:rPr sz="1600" b="1" spc="-20">
                <a:latin typeface="Times New Roman" panose="02020603050405020304" pitchFamily="18" charset="0"/>
                <a:cs typeface="Times New Roman" panose="02020603050405020304" pitchFamily="18" charset="0"/>
              </a:rPr>
              <a:t> </a:t>
            </a:r>
            <a:r>
              <a:rPr sz="1600" b="1" spc="-5" dirty="0">
                <a:latin typeface="Times New Roman" panose="02020603050405020304" pitchFamily="18" charset="0"/>
                <a:cs typeface="Times New Roman" panose="02020603050405020304" pitchFamily="18" charset="0"/>
              </a:rPr>
              <a:t>từ</a:t>
            </a:r>
            <a:endParaRPr sz="1600" b="1">
              <a:latin typeface="Times New Roman" panose="02020603050405020304" pitchFamily="18" charset="0"/>
              <a:cs typeface="Times New Roman" panose="02020603050405020304" pitchFamily="18" charset="0"/>
            </a:endParaRPr>
          </a:p>
        </p:txBody>
      </p:sp>
      <p:sp>
        <p:nvSpPr>
          <p:cNvPr id="27" name="object 27"/>
          <p:cNvSpPr/>
          <p:nvPr/>
        </p:nvSpPr>
        <p:spPr>
          <a:xfrm>
            <a:off x="4767073" y="2345297"/>
            <a:ext cx="451853" cy="288810"/>
          </a:xfrm>
          <a:prstGeom prst="rect">
            <a:avLst/>
          </a:prstGeom>
          <a:blipFill>
            <a:blip r:embed="rId8"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8" name="object 28"/>
          <p:cNvSpPr/>
          <p:nvPr/>
        </p:nvSpPr>
        <p:spPr>
          <a:xfrm>
            <a:off x="4750308" y="2327403"/>
            <a:ext cx="437515" cy="276860"/>
          </a:xfrm>
          <a:custGeom>
            <a:avLst/>
            <a:gdLst/>
            <a:ahLst/>
            <a:cxnLst/>
            <a:rect l="l" t="t" r="r" b="b"/>
            <a:pathLst>
              <a:path w="437514" h="276860">
                <a:moveTo>
                  <a:pt x="37845" y="0"/>
                </a:moveTo>
                <a:lnTo>
                  <a:pt x="0" y="69596"/>
                </a:lnTo>
                <a:lnTo>
                  <a:pt x="316611" y="241935"/>
                </a:lnTo>
                <a:lnTo>
                  <a:pt x="297688" y="276733"/>
                </a:lnTo>
                <a:lnTo>
                  <a:pt x="437261" y="262382"/>
                </a:lnTo>
                <a:lnTo>
                  <a:pt x="391277" y="172338"/>
                </a:lnTo>
                <a:lnTo>
                  <a:pt x="354456" y="172338"/>
                </a:lnTo>
                <a:lnTo>
                  <a:pt x="37845" y="0"/>
                </a:lnTo>
                <a:close/>
              </a:path>
              <a:path w="437514" h="276860">
                <a:moveTo>
                  <a:pt x="373506" y="137540"/>
                </a:moveTo>
                <a:lnTo>
                  <a:pt x="354456" y="172338"/>
                </a:lnTo>
                <a:lnTo>
                  <a:pt x="391277" y="172338"/>
                </a:lnTo>
                <a:lnTo>
                  <a:pt x="373506" y="13754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29" name="object 29"/>
          <p:cNvSpPr/>
          <p:nvPr/>
        </p:nvSpPr>
        <p:spPr>
          <a:xfrm>
            <a:off x="4750308" y="2327403"/>
            <a:ext cx="437515" cy="276860"/>
          </a:xfrm>
          <a:custGeom>
            <a:avLst/>
            <a:gdLst/>
            <a:ahLst/>
            <a:cxnLst/>
            <a:rect l="l" t="t" r="r" b="b"/>
            <a:pathLst>
              <a:path w="437514" h="276860">
                <a:moveTo>
                  <a:pt x="37845" y="0"/>
                </a:moveTo>
                <a:lnTo>
                  <a:pt x="354456" y="172338"/>
                </a:lnTo>
                <a:lnTo>
                  <a:pt x="373506" y="137540"/>
                </a:lnTo>
                <a:lnTo>
                  <a:pt x="437261" y="262382"/>
                </a:lnTo>
                <a:lnTo>
                  <a:pt x="297688" y="276733"/>
                </a:lnTo>
                <a:lnTo>
                  <a:pt x="316611" y="241935"/>
                </a:lnTo>
                <a:lnTo>
                  <a:pt x="0" y="69596"/>
                </a:lnTo>
                <a:lnTo>
                  <a:pt x="37845" y="0"/>
                </a:lnTo>
                <a:close/>
              </a:path>
            </a:pathLst>
          </a:custGeom>
          <a:ln w="9525">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0" name="object 30"/>
          <p:cNvSpPr/>
          <p:nvPr/>
        </p:nvSpPr>
        <p:spPr>
          <a:xfrm>
            <a:off x="4774692" y="2996059"/>
            <a:ext cx="435114" cy="308609"/>
          </a:xfrm>
          <a:prstGeom prst="rect">
            <a:avLst/>
          </a:prstGeom>
          <a:blipFill>
            <a:blip r:embed="rId9"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1" name="object 31"/>
          <p:cNvSpPr/>
          <p:nvPr/>
        </p:nvSpPr>
        <p:spPr>
          <a:xfrm>
            <a:off x="4756785" y="2976880"/>
            <a:ext cx="421640" cy="297180"/>
          </a:xfrm>
          <a:custGeom>
            <a:avLst/>
            <a:gdLst/>
            <a:ahLst/>
            <a:cxnLst/>
            <a:rect l="l" t="t" r="r" b="b"/>
            <a:pathLst>
              <a:path w="421639" h="297179">
                <a:moveTo>
                  <a:pt x="280669" y="0"/>
                </a:moveTo>
                <a:lnTo>
                  <a:pt x="302513" y="33655"/>
                </a:lnTo>
                <a:lnTo>
                  <a:pt x="0" y="229870"/>
                </a:lnTo>
                <a:lnTo>
                  <a:pt x="43687" y="297180"/>
                </a:lnTo>
                <a:lnTo>
                  <a:pt x="346075" y="100965"/>
                </a:lnTo>
                <a:lnTo>
                  <a:pt x="381767" y="100965"/>
                </a:lnTo>
                <a:lnTo>
                  <a:pt x="421386" y="4318"/>
                </a:lnTo>
                <a:lnTo>
                  <a:pt x="280669" y="0"/>
                </a:lnTo>
                <a:close/>
              </a:path>
              <a:path w="421639" h="297179">
                <a:moveTo>
                  <a:pt x="381767" y="100965"/>
                </a:moveTo>
                <a:lnTo>
                  <a:pt x="346075" y="100965"/>
                </a:lnTo>
                <a:lnTo>
                  <a:pt x="367918" y="134747"/>
                </a:lnTo>
                <a:lnTo>
                  <a:pt x="381767" y="100965"/>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2" name="object 32"/>
          <p:cNvSpPr/>
          <p:nvPr/>
        </p:nvSpPr>
        <p:spPr>
          <a:xfrm>
            <a:off x="4756785" y="2976880"/>
            <a:ext cx="421640" cy="297180"/>
          </a:xfrm>
          <a:custGeom>
            <a:avLst/>
            <a:gdLst/>
            <a:ahLst/>
            <a:cxnLst/>
            <a:rect l="l" t="t" r="r" b="b"/>
            <a:pathLst>
              <a:path w="421639" h="297179">
                <a:moveTo>
                  <a:pt x="0" y="229870"/>
                </a:moveTo>
                <a:lnTo>
                  <a:pt x="302513" y="33655"/>
                </a:lnTo>
                <a:lnTo>
                  <a:pt x="280669" y="0"/>
                </a:lnTo>
                <a:lnTo>
                  <a:pt x="421386" y="4318"/>
                </a:lnTo>
                <a:lnTo>
                  <a:pt x="367918" y="134747"/>
                </a:lnTo>
                <a:lnTo>
                  <a:pt x="346075" y="100965"/>
                </a:lnTo>
                <a:lnTo>
                  <a:pt x="43687" y="297180"/>
                </a:lnTo>
                <a:lnTo>
                  <a:pt x="0" y="229870"/>
                </a:lnTo>
                <a:close/>
              </a:path>
            </a:pathLst>
          </a:custGeom>
          <a:ln w="9525">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3" name="object 33"/>
          <p:cNvSpPr/>
          <p:nvPr/>
        </p:nvSpPr>
        <p:spPr>
          <a:xfrm>
            <a:off x="7616953" y="2416937"/>
            <a:ext cx="1597913" cy="793242"/>
          </a:xfrm>
          <a:prstGeom prst="rect">
            <a:avLst/>
          </a:prstGeom>
          <a:blipFill>
            <a:blip r:embed="rId10"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4" name="object 34"/>
          <p:cNvSpPr/>
          <p:nvPr/>
        </p:nvSpPr>
        <p:spPr>
          <a:xfrm>
            <a:off x="7677911" y="2404746"/>
            <a:ext cx="1535430" cy="666750"/>
          </a:xfrm>
          <a:prstGeom prst="rect">
            <a:avLst/>
          </a:prstGeom>
          <a:blipFill>
            <a:blip r:embed="rId11"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5" name="object 35"/>
          <p:cNvSpPr/>
          <p:nvPr/>
        </p:nvSpPr>
        <p:spPr>
          <a:xfrm>
            <a:off x="7597141" y="2397126"/>
            <a:ext cx="1588135" cy="784225"/>
          </a:xfrm>
          <a:custGeom>
            <a:avLst/>
            <a:gdLst/>
            <a:ahLst/>
            <a:cxnLst/>
            <a:rect l="l" t="t" r="r" b="b"/>
            <a:pathLst>
              <a:path w="1588134" h="784225">
                <a:moveTo>
                  <a:pt x="1588008" y="0"/>
                </a:moveTo>
                <a:lnTo>
                  <a:pt x="0" y="0"/>
                </a:lnTo>
                <a:lnTo>
                  <a:pt x="0" y="741552"/>
                </a:lnTo>
                <a:lnTo>
                  <a:pt x="64363" y="752168"/>
                </a:lnTo>
                <a:lnTo>
                  <a:pt x="125254" y="761103"/>
                </a:lnTo>
                <a:lnTo>
                  <a:pt x="182878" y="768437"/>
                </a:lnTo>
                <a:lnTo>
                  <a:pt x="237438" y="774251"/>
                </a:lnTo>
                <a:lnTo>
                  <a:pt x="289140" y="778624"/>
                </a:lnTo>
                <a:lnTo>
                  <a:pt x="338186" y="781637"/>
                </a:lnTo>
                <a:lnTo>
                  <a:pt x="384782" y="783369"/>
                </a:lnTo>
                <a:lnTo>
                  <a:pt x="429132" y="783902"/>
                </a:lnTo>
                <a:lnTo>
                  <a:pt x="471439" y="783314"/>
                </a:lnTo>
                <a:lnTo>
                  <a:pt x="511909" y="781686"/>
                </a:lnTo>
                <a:lnTo>
                  <a:pt x="550744" y="779098"/>
                </a:lnTo>
                <a:lnTo>
                  <a:pt x="624331" y="771364"/>
                </a:lnTo>
                <a:lnTo>
                  <a:pt x="693834" y="760751"/>
                </a:lnTo>
                <a:lnTo>
                  <a:pt x="760886" y="747902"/>
                </a:lnTo>
                <a:lnTo>
                  <a:pt x="827121" y="733456"/>
                </a:lnTo>
                <a:lnTo>
                  <a:pt x="963676" y="702338"/>
                </a:lnTo>
                <a:lnTo>
                  <a:pt x="999856" y="694563"/>
                </a:lnTo>
                <a:lnTo>
                  <a:pt x="1037263" y="686949"/>
                </a:lnTo>
                <a:lnTo>
                  <a:pt x="1076098" y="679576"/>
                </a:lnTo>
                <a:lnTo>
                  <a:pt x="1116568" y="672526"/>
                </a:lnTo>
                <a:lnTo>
                  <a:pt x="1158875" y="665878"/>
                </a:lnTo>
                <a:lnTo>
                  <a:pt x="1203225" y="659712"/>
                </a:lnTo>
                <a:lnTo>
                  <a:pt x="1249821" y="654108"/>
                </a:lnTo>
                <a:lnTo>
                  <a:pt x="1298867" y="649146"/>
                </a:lnTo>
                <a:lnTo>
                  <a:pt x="1350569" y="644907"/>
                </a:lnTo>
                <a:lnTo>
                  <a:pt x="1405129" y="641471"/>
                </a:lnTo>
                <a:lnTo>
                  <a:pt x="1462753" y="638917"/>
                </a:lnTo>
                <a:lnTo>
                  <a:pt x="1523644" y="637326"/>
                </a:lnTo>
                <a:lnTo>
                  <a:pt x="1588008" y="636777"/>
                </a:lnTo>
                <a:lnTo>
                  <a:pt x="1588008"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6" name="object 36"/>
          <p:cNvSpPr/>
          <p:nvPr/>
        </p:nvSpPr>
        <p:spPr>
          <a:xfrm>
            <a:off x="7597141" y="2397126"/>
            <a:ext cx="1588135" cy="784225"/>
          </a:xfrm>
          <a:custGeom>
            <a:avLst/>
            <a:gdLst/>
            <a:ahLst/>
            <a:cxnLst/>
            <a:rect l="l" t="t" r="r" b="b"/>
            <a:pathLst>
              <a:path w="1588134" h="784225">
                <a:moveTo>
                  <a:pt x="0" y="0"/>
                </a:moveTo>
                <a:lnTo>
                  <a:pt x="1588008" y="0"/>
                </a:lnTo>
                <a:lnTo>
                  <a:pt x="1588008" y="636777"/>
                </a:lnTo>
                <a:lnTo>
                  <a:pt x="1523644" y="637326"/>
                </a:lnTo>
                <a:lnTo>
                  <a:pt x="1462753" y="638917"/>
                </a:lnTo>
                <a:lnTo>
                  <a:pt x="1405129" y="641471"/>
                </a:lnTo>
                <a:lnTo>
                  <a:pt x="1350569" y="644907"/>
                </a:lnTo>
                <a:lnTo>
                  <a:pt x="1298867" y="649146"/>
                </a:lnTo>
                <a:lnTo>
                  <a:pt x="1249821" y="654108"/>
                </a:lnTo>
                <a:lnTo>
                  <a:pt x="1203225" y="659712"/>
                </a:lnTo>
                <a:lnTo>
                  <a:pt x="1158875" y="665878"/>
                </a:lnTo>
                <a:lnTo>
                  <a:pt x="1116568" y="672526"/>
                </a:lnTo>
                <a:lnTo>
                  <a:pt x="1076098" y="679576"/>
                </a:lnTo>
                <a:lnTo>
                  <a:pt x="1037263" y="686949"/>
                </a:lnTo>
                <a:lnTo>
                  <a:pt x="999856" y="694563"/>
                </a:lnTo>
                <a:lnTo>
                  <a:pt x="928516" y="710195"/>
                </a:lnTo>
                <a:lnTo>
                  <a:pt x="860443" y="725834"/>
                </a:lnTo>
                <a:lnTo>
                  <a:pt x="827121" y="733456"/>
                </a:lnTo>
                <a:lnTo>
                  <a:pt x="760886" y="747902"/>
                </a:lnTo>
                <a:lnTo>
                  <a:pt x="693834" y="760751"/>
                </a:lnTo>
                <a:lnTo>
                  <a:pt x="624331" y="771364"/>
                </a:lnTo>
                <a:lnTo>
                  <a:pt x="550744" y="779098"/>
                </a:lnTo>
                <a:lnTo>
                  <a:pt x="511909" y="781686"/>
                </a:lnTo>
                <a:lnTo>
                  <a:pt x="471439" y="783314"/>
                </a:lnTo>
                <a:lnTo>
                  <a:pt x="429132" y="783902"/>
                </a:lnTo>
                <a:lnTo>
                  <a:pt x="384782" y="783369"/>
                </a:lnTo>
                <a:lnTo>
                  <a:pt x="338186" y="781637"/>
                </a:lnTo>
                <a:lnTo>
                  <a:pt x="289140" y="778624"/>
                </a:lnTo>
                <a:lnTo>
                  <a:pt x="237438" y="774251"/>
                </a:lnTo>
                <a:lnTo>
                  <a:pt x="182878" y="768437"/>
                </a:lnTo>
                <a:lnTo>
                  <a:pt x="125254" y="761103"/>
                </a:lnTo>
                <a:lnTo>
                  <a:pt x="64363" y="752168"/>
                </a:lnTo>
                <a:lnTo>
                  <a:pt x="0" y="741552"/>
                </a:lnTo>
                <a:lnTo>
                  <a:pt x="0" y="0"/>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7" name="object 37"/>
          <p:cNvSpPr/>
          <p:nvPr/>
        </p:nvSpPr>
        <p:spPr>
          <a:xfrm>
            <a:off x="7141464" y="2718703"/>
            <a:ext cx="326898" cy="355841"/>
          </a:xfrm>
          <a:prstGeom prst="rect">
            <a:avLst/>
          </a:prstGeom>
          <a:blipFill>
            <a:blip r:embed="rId1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8" name="object 38"/>
          <p:cNvSpPr/>
          <p:nvPr/>
        </p:nvSpPr>
        <p:spPr>
          <a:xfrm>
            <a:off x="7121652" y="2714117"/>
            <a:ext cx="317500" cy="317500"/>
          </a:xfrm>
          <a:custGeom>
            <a:avLst/>
            <a:gdLst/>
            <a:ahLst/>
            <a:cxnLst/>
            <a:rect l="l" t="t" r="r" b="b"/>
            <a:pathLst>
              <a:path w="317500" h="317500">
                <a:moveTo>
                  <a:pt x="237744" y="0"/>
                </a:moveTo>
                <a:lnTo>
                  <a:pt x="237744" y="79248"/>
                </a:lnTo>
                <a:lnTo>
                  <a:pt x="0" y="79248"/>
                </a:lnTo>
                <a:lnTo>
                  <a:pt x="0" y="237744"/>
                </a:lnTo>
                <a:lnTo>
                  <a:pt x="237744" y="237744"/>
                </a:lnTo>
                <a:lnTo>
                  <a:pt x="237744" y="316992"/>
                </a:lnTo>
                <a:lnTo>
                  <a:pt x="316992" y="158496"/>
                </a:lnTo>
                <a:lnTo>
                  <a:pt x="237744" y="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39" name="object 39"/>
          <p:cNvSpPr/>
          <p:nvPr/>
        </p:nvSpPr>
        <p:spPr>
          <a:xfrm>
            <a:off x="7121652" y="2714117"/>
            <a:ext cx="317500" cy="317500"/>
          </a:xfrm>
          <a:custGeom>
            <a:avLst/>
            <a:gdLst/>
            <a:ahLst/>
            <a:cxnLst/>
            <a:rect l="l" t="t" r="r" b="b"/>
            <a:pathLst>
              <a:path w="317500" h="317500">
                <a:moveTo>
                  <a:pt x="0" y="79248"/>
                </a:moveTo>
                <a:lnTo>
                  <a:pt x="237744" y="79248"/>
                </a:lnTo>
                <a:lnTo>
                  <a:pt x="237744" y="0"/>
                </a:lnTo>
                <a:lnTo>
                  <a:pt x="316992" y="158496"/>
                </a:lnTo>
                <a:lnTo>
                  <a:pt x="237744" y="316992"/>
                </a:lnTo>
                <a:lnTo>
                  <a:pt x="237744" y="237744"/>
                </a:lnTo>
                <a:lnTo>
                  <a:pt x="0" y="237744"/>
                </a:lnTo>
                <a:lnTo>
                  <a:pt x="0" y="79248"/>
                </a:lnTo>
                <a:close/>
              </a:path>
            </a:pathLst>
          </a:custGeom>
          <a:ln w="9144">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0" name="object 40"/>
          <p:cNvSpPr/>
          <p:nvPr/>
        </p:nvSpPr>
        <p:spPr>
          <a:xfrm>
            <a:off x="7616953" y="3846449"/>
            <a:ext cx="1756409" cy="799338"/>
          </a:xfrm>
          <a:prstGeom prst="rect">
            <a:avLst/>
          </a:prstGeom>
          <a:blipFill>
            <a:blip r:embed="rId13"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1" name="object 41"/>
          <p:cNvSpPr/>
          <p:nvPr/>
        </p:nvSpPr>
        <p:spPr>
          <a:xfrm>
            <a:off x="7569708" y="3872358"/>
            <a:ext cx="1878330" cy="666750"/>
          </a:xfrm>
          <a:prstGeom prst="rect">
            <a:avLst/>
          </a:prstGeom>
          <a:blipFill>
            <a:blip r:embed="rId14"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2" name="object 42"/>
          <p:cNvSpPr/>
          <p:nvPr/>
        </p:nvSpPr>
        <p:spPr>
          <a:xfrm>
            <a:off x="7597141" y="3826637"/>
            <a:ext cx="1746885" cy="789940"/>
          </a:xfrm>
          <a:custGeom>
            <a:avLst/>
            <a:gdLst/>
            <a:ahLst/>
            <a:cxnLst/>
            <a:rect l="l" t="t" r="r" b="b"/>
            <a:pathLst>
              <a:path w="1746884" h="789939">
                <a:moveTo>
                  <a:pt x="1614932" y="0"/>
                </a:moveTo>
                <a:lnTo>
                  <a:pt x="131572" y="0"/>
                </a:lnTo>
                <a:lnTo>
                  <a:pt x="89993" y="6709"/>
                </a:lnTo>
                <a:lnTo>
                  <a:pt x="53876" y="25391"/>
                </a:lnTo>
                <a:lnTo>
                  <a:pt x="25391" y="53876"/>
                </a:lnTo>
                <a:lnTo>
                  <a:pt x="6709" y="89993"/>
                </a:lnTo>
                <a:lnTo>
                  <a:pt x="0" y="131571"/>
                </a:lnTo>
                <a:lnTo>
                  <a:pt x="0" y="657859"/>
                </a:lnTo>
                <a:lnTo>
                  <a:pt x="6709" y="699438"/>
                </a:lnTo>
                <a:lnTo>
                  <a:pt x="25391" y="735555"/>
                </a:lnTo>
                <a:lnTo>
                  <a:pt x="53876" y="764040"/>
                </a:lnTo>
                <a:lnTo>
                  <a:pt x="89993" y="782722"/>
                </a:lnTo>
                <a:lnTo>
                  <a:pt x="131572" y="789432"/>
                </a:lnTo>
                <a:lnTo>
                  <a:pt x="1614932" y="789432"/>
                </a:lnTo>
                <a:lnTo>
                  <a:pt x="1656510" y="782722"/>
                </a:lnTo>
                <a:lnTo>
                  <a:pt x="1692627" y="764040"/>
                </a:lnTo>
                <a:lnTo>
                  <a:pt x="1721112" y="735555"/>
                </a:lnTo>
                <a:lnTo>
                  <a:pt x="1739794" y="699438"/>
                </a:lnTo>
                <a:lnTo>
                  <a:pt x="1746504" y="657859"/>
                </a:lnTo>
                <a:lnTo>
                  <a:pt x="1746504" y="131571"/>
                </a:lnTo>
                <a:lnTo>
                  <a:pt x="1739794" y="89993"/>
                </a:lnTo>
                <a:lnTo>
                  <a:pt x="1721112" y="53876"/>
                </a:lnTo>
                <a:lnTo>
                  <a:pt x="1692627" y="25391"/>
                </a:lnTo>
                <a:lnTo>
                  <a:pt x="1656510" y="6709"/>
                </a:lnTo>
                <a:lnTo>
                  <a:pt x="1614932"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3" name="object 43"/>
          <p:cNvSpPr/>
          <p:nvPr/>
        </p:nvSpPr>
        <p:spPr>
          <a:xfrm>
            <a:off x="7597141" y="3826637"/>
            <a:ext cx="1746885" cy="789940"/>
          </a:xfrm>
          <a:custGeom>
            <a:avLst/>
            <a:gdLst/>
            <a:ahLst/>
            <a:cxnLst/>
            <a:rect l="l" t="t" r="r" b="b"/>
            <a:pathLst>
              <a:path w="1746884" h="789939">
                <a:moveTo>
                  <a:pt x="0" y="131571"/>
                </a:moveTo>
                <a:lnTo>
                  <a:pt x="6709" y="89993"/>
                </a:lnTo>
                <a:lnTo>
                  <a:pt x="25391" y="53876"/>
                </a:lnTo>
                <a:lnTo>
                  <a:pt x="53876" y="25391"/>
                </a:lnTo>
                <a:lnTo>
                  <a:pt x="89993" y="6709"/>
                </a:lnTo>
                <a:lnTo>
                  <a:pt x="131572" y="0"/>
                </a:lnTo>
                <a:lnTo>
                  <a:pt x="1614932" y="0"/>
                </a:lnTo>
                <a:lnTo>
                  <a:pt x="1656510" y="6709"/>
                </a:lnTo>
                <a:lnTo>
                  <a:pt x="1692627" y="25391"/>
                </a:lnTo>
                <a:lnTo>
                  <a:pt x="1721112" y="53876"/>
                </a:lnTo>
                <a:lnTo>
                  <a:pt x="1739794" y="89993"/>
                </a:lnTo>
                <a:lnTo>
                  <a:pt x="1746504" y="131571"/>
                </a:lnTo>
                <a:lnTo>
                  <a:pt x="1746504" y="657859"/>
                </a:lnTo>
                <a:lnTo>
                  <a:pt x="1739794" y="699438"/>
                </a:lnTo>
                <a:lnTo>
                  <a:pt x="1721112" y="735555"/>
                </a:lnTo>
                <a:lnTo>
                  <a:pt x="1692627" y="764040"/>
                </a:lnTo>
                <a:lnTo>
                  <a:pt x="1656510" y="782722"/>
                </a:lnTo>
                <a:lnTo>
                  <a:pt x="1614932" y="789432"/>
                </a:lnTo>
                <a:lnTo>
                  <a:pt x="131572" y="789432"/>
                </a:lnTo>
                <a:lnTo>
                  <a:pt x="89993" y="782722"/>
                </a:lnTo>
                <a:lnTo>
                  <a:pt x="53876" y="764040"/>
                </a:lnTo>
                <a:lnTo>
                  <a:pt x="25391" y="735555"/>
                </a:lnTo>
                <a:lnTo>
                  <a:pt x="6709" y="699438"/>
                </a:lnTo>
                <a:lnTo>
                  <a:pt x="0" y="657859"/>
                </a:lnTo>
                <a:lnTo>
                  <a:pt x="0" y="131571"/>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4" name="object 44"/>
          <p:cNvSpPr txBox="1"/>
          <p:nvPr/>
        </p:nvSpPr>
        <p:spPr>
          <a:xfrm>
            <a:off x="7668134" y="3893821"/>
            <a:ext cx="1619885" cy="508000"/>
          </a:xfrm>
          <a:prstGeom prst="rect">
            <a:avLst/>
          </a:prstGeom>
        </p:spPr>
        <p:txBody>
          <a:bodyPr vert="horz" wrap="square" lIns="0" tIns="24130" rIns="0" bIns="0" rtlCol="0">
            <a:spAutoFit/>
          </a:bodyPr>
          <a:lstStyle/>
          <a:p>
            <a:pPr marR="5080" indent="30480">
              <a:lnSpc>
                <a:spcPts val="1880"/>
              </a:lnSpc>
              <a:spcBef>
                <a:spcPts val="190"/>
              </a:spcBef>
            </a:pPr>
            <a:r>
              <a:rPr sz="1600" b="1" spc="-10" dirty="0">
                <a:latin typeface="Times New Roman" panose="02020603050405020304" pitchFamily="18" charset="0"/>
                <a:cs typeface="Times New Roman" panose="02020603050405020304" pitchFamily="18" charset="0"/>
              </a:rPr>
              <a:t>Loại </a:t>
            </a:r>
            <a:r>
              <a:rPr sz="1600" b="1" spc="-5" dirty="0">
                <a:latin typeface="Times New Roman" panose="02020603050405020304" pitchFamily="18" charset="0"/>
                <a:cs typeface="Times New Roman" panose="02020603050405020304" pitchFamily="18" charset="0"/>
              </a:rPr>
              <a:t>bỏ </a:t>
            </a:r>
            <a:r>
              <a:rPr sz="1600" b="1" spc="-5">
                <a:latin typeface="Times New Roman" panose="02020603050405020304" pitchFamily="18" charset="0"/>
                <a:cs typeface="Times New Roman" panose="02020603050405020304" pitchFamily="18" charset="0"/>
              </a:rPr>
              <a:t>các </a:t>
            </a:r>
            <a:r>
              <a:rPr sz="1600" b="1" spc="-10">
                <a:latin typeface="Times New Roman" panose="02020603050405020304" pitchFamily="18" charset="0"/>
                <a:cs typeface="Times New Roman" panose="02020603050405020304" pitchFamily="18" charset="0"/>
              </a:rPr>
              <a:t>danh</a:t>
            </a:r>
            <a:r>
              <a:rPr lang="en-US" sz="1600" b="1" spc="-10">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từ </a:t>
            </a:r>
            <a:r>
              <a:rPr sz="1600" b="1" spc="-5" dirty="0">
                <a:latin typeface="Times New Roman" panose="02020603050405020304" pitchFamily="18" charset="0"/>
                <a:cs typeface="Times New Roman" panose="02020603050405020304" pitchFamily="18" charset="0"/>
              </a:rPr>
              <a:t>mô tả class</a:t>
            </a:r>
            <a:r>
              <a:rPr sz="1600" b="1" spc="-40" dirty="0">
                <a:latin typeface="Times New Roman" panose="02020603050405020304" pitchFamily="18" charset="0"/>
                <a:cs typeface="Times New Roman" panose="02020603050405020304" pitchFamily="18" charset="0"/>
              </a:rPr>
              <a:t> </a:t>
            </a:r>
            <a:r>
              <a:rPr sz="1600" b="1" spc="-5" dirty="0">
                <a:latin typeface="Times New Roman" panose="02020603050405020304" pitchFamily="18" charset="0"/>
                <a:cs typeface="Times New Roman" panose="02020603050405020304" pitchFamily="18" charset="0"/>
              </a:rPr>
              <a:t>giả</a:t>
            </a:r>
            <a:endParaRPr sz="1600" b="1">
              <a:latin typeface="Times New Roman" panose="02020603050405020304" pitchFamily="18" charset="0"/>
              <a:cs typeface="Times New Roman" panose="02020603050405020304" pitchFamily="18" charset="0"/>
            </a:endParaRPr>
          </a:p>
        </p:txBody>
      </p:sp>
      <p:sp>
        <p:nvSpPr>
          <p:cNvPr id="45" name="object 45"/>
          <p:cNvSpPr/>
          <p:nvPr/>
        </p:nvSpPr>
        <p:spPr>
          <a:xfrm>
            <a:off x="8237220" y="3369437"/>
            <a:ext cx="355841" cy="326898"/>
          </a:xfrm>
          <a:prstGeom prst="rect">
            <a:avLst/>
          </a:prstGeom>
          <a:blipFill>
            <a:blip r:embed="rId15"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6" name="object 46"/>
          <p:cNvSpPr/>
          <p:nvPr/>
        </p:nvSpPr>
        <p:spPr>
          <a:xfrm>
            <a:off x="8232647" y="3349625"/>
            <a:ext cx="317500" cy="317500"/>
          </a:xfrm>
          <a:custGeom>
            <a:avLst/>
            <a:gdLst/>
            <a:ahLst/>
            <a:cxnLst/>
            <a:rect l="l" t="t" r="r" b="b"/>
            <a:pathLst>
              <a:path w="317500" h="317500">
                <a:moveTo>
                  <a:pt x="316992" y="235585"/>
                </a:moveTo>
                <a:lnTo>
                  <a:pt x="0" y="235585"/>
                </a:lnTo>
                <a:lnTo>
                  <a:pt x="158496" y="316992"/>
                </a:lnTo>
                <a:lnTo>
                  <a:pt x="316992" y="235585"/>
                </a:lnTo>
                <a:close/>
              </a:path>
              <a:path w="317500" h="317500">
                <a:moveTo>
                  <a:pt x="237744" y="0"/>
                </a:moveTo>
                <a:lnTo>
                  <a:pt x="79248" y="0"/>
                </a:lnTo>
                <a:lnTo>
                  <a:pt x="79248" y="235585"/>
                </a:lnTo>
                <a:lnTo>
                  <a:pt x="237744" y="235585"/>
                </a:lnTo>
                <a:lnTo>
                  <a:pt x="237744" y="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7" name="object 47"/>
          <p:cNvSpPr/>
          <p:nvPr/>
        </p:nvSpPr>
        <p:spPr>
          <a:xfrm>
            <a:off x="8232647" y="3349625"/>
            <a:ext cx="317500" cy="317500"/>
          </a:xfrm>
          <a:custGeom>
            <a:avLst/>
            <a:gdLst/>
            <a:ahLst/>
            <a:cxnLst/>
            <a:rect l="l" t="t" r="r" b="b"/>
            <a:pathLst>
              <a:path w="317500" h="317500">
                <a:moveTo>
                  <a:pt x="0" y="235585"/>
                </a:moveTo>
                <a:lnTo>
                  <a:pt x="79248" y="235585"/>
                </a:lnTo>
                <a:lnTo>
                  <a:pt x="79248" y="0"/>
                </a:lnTo>
                <a:lnTo>
                  <a:pt x="237744" y="0"/>
                </a:lnTo>
                <a:lnTo>
                  <a:pt x="237744" y="235585"/>
                </a:lnTo>
                <a:lnTo>
                  <a:pt x="316992" y="235585"/>
                </a:lnTo>
                <a:lnTo>
                  <a:pt x="158496" y="316992"/>
                </a:lnTo>
                <a:lnTo>
                  <a:pt x="0" y="235585"/>
                </a:lnTo>
                <a:close/>
              </a:path>
            </a:pathLst>
          </a:custGeom>
          <a:ln w="9143">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8" name="object 48"/>
          <p:cNvSpPr/>
          <p:nvPr/>
        </p:nvSpPr>
        <p:spPr>
          <a:xfrm>
            <a:off x="5394959" y="3846449"/>
            <a:ext cx="1597914" cy="790194"/>
          </a:xfrm>
          <a:prstGeom prst="rect">
            <a:avLst/>
          </a:prstGeom>
          <a:blipFill>
            <a:blip r:embed="rId16"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49" name="object 49"/>
          <p:cNvSpPr/>
          <p:nvPr/>
        </p:nvSpPr>
        <p:spPr>
          <a:xfrm>
            <a:off x="5295900" y="3788537"/>
            <a:ext cx="1850898" cy="666750"/>
          </a:xfrm>
          <a:prstGeom prst="rect">
            <a:avLst/>
          </a:prstGeom>
          <a:blipFill>
            <a:blip r:embed="rId17"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0" name="object 50"/>
          <p:cNvSpPr/>
          <p:nvPr/>
        </p:nvSpPr>
        <p:spPr>
          <a:xfrm>
            <a:off x="5375148" y="3826637"/>
            <a:ext cx="1588135" cy="781050"/>
          </a:xfrm>
          <a:custGeom>
            <a:avLst/>
            <a:gdLst/>
            <a:ahLst/>
            <a:cxnLst/>
            <a:rect l="l" t="t" r="r" b="b"/>
            <a:pathLst>
              <a:path w="1588135" h="781050">
                <a:moveTo>
                  <a:pt x="1588007" y="0"/>
                </a:moveTo>
                <a:lnTo>
                  <a:pt x="0" y="0"/>
                </a:lnTo>
                <a:lnTo>
                  <a:pt x="0" y="738632"/>
                </a:lnTo>
                <a:lnTo>
                  <a:pt x="64363" y="749218"/>
                </a:lnTo>
                <a:lnTo>
                  <a:pt x="125254" y="758130"/>
                </a:lnTo>
                <a:lnTo>
                  <a:pt x="182878" y="765446"/>
                </a:lnTo>
                <a:lnTo>
                  <a:pt x="237438" y="771247"/>
                </a:lnTo>
                <a:lnTo>
                  <a:pt x="289140" y="775612"/>
                </a:lnTo>
                <a:lnTo>
                  <a:pt x="338186" y="778621"/>
                </a:lnTo>
                <a:lnTo>
                  <a:pt x="384782" y="780354"/>
                </a:lnTo>
                <a:lnTo>
                  <a:pt x="429132" y="780891"/>
                </a:lnTo>
                <a:lnTo>
                  <a:pt x="471439" y="780311"/>
                </a:lnTo>
                <a:lnTo>
                  <a:pt x="511909" y="778695"/>
                </a:lnTo>
                <a:lnTo>
                  <a:pt x="550744" y="776122"/>
                </a:lnTo>
                <a:lnTo>
                  <a:pt x="624331" y="768425"/>
                </a:lnTo>
                <a:lnTo>
                  <a:pt x="693834" y="757859"/>
                </a:lnTo>
                <a:lnTo>
                  <a:pt x="760886" y="745063"/>
                </a:lnTo>
                <a:lnTo>
                  <a:pt x="827121" y="730675"/>
                </a:lnTo>
                <a:lnTo>
                  <a:pt x="963676" y="699679"/>
                </a:lnTo>
                <a:lnTo>
                  <a:pt x="999856" y="691933"/>
                </a:lnTo>
                <a:lnTo>
                  <a:pt x="1037263" y="684348"/>
                </a:lnTo>
                <a:lnTo>
                  <a:pt x="1076098" y="677004"/>
                </a:lnTo>
                <a:lnTo>
                  <a:pt x="1116568" y="669980"/>
                </a:lnTo>
                <a:lnTo>
                  <a:pt x="1158875" y="663357"/>
                </a:lnTo>
                <a:lnTo>
                  <a:pt x="1203225" y="657214"/>
                </a:lnTo>
                <a:lnTo>
                  <a:pt x="1249821" y="651631"/>
                </a:lnTo>
                <a:lnTo>
                  <a:pt x="1298867" y="646687"/>
                </a:lnTo>
                <a:lnTo>
                  <a:pt x="1350569" y="642464"/>
                </a:lnTo>
                <a:lnTo>
                  <a:pt x="1405129" y="639040"/>
                </a:lnTo>
                <a:lnTo>
                  <a:pt x="1462753" y="636496"/>
                </a:lnTo>
                <a:lnTo>
                  <a:pt x="1523644" y="634911"/>
                </a:lnTo>
                <a:lnTo>
                  <a:pt x="1588007" y="634364"/>
                </a:lnTo>
                <a:lnTo>
                  <a:pt x="1588007"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1" name="object 51"/>
          <p:cNvSpPr/>
          <p:nvPr/>
        </p:nvSpPr>
        <p:spPr>
          <a:xfrm>
            <a:off x="5375148" y="3826637"/>
            <a:ext cx="1588135" cy="781050"/>
          </a:xfrm>
          <a:custGeom>
            <a:avLst/>
            <a:gdLst/>
            <a:ahLst/>
            <a:cxnLst/>
            <a:rect l="l" t="t" r="r" b="b"/>
            <a:pathLst>
              <a:path w="1588135" h="781050">
                <a:moveTo>
                  <a:pt x="0" y="0"/>
                </a:moveTo>
                <a:lnTo>
                  <a:pt x="1588007" y="0"/>
                </a:lnTo>
                <a:lnTo>
                  <a:pt x="1588007" y="634364"/>
                </a:lnTo>
                <a:lnTo>
                  <a:pt x="1523644" y="634911"/>
                </a:lnTo>
                <a:lnTo>
                  <a:pt x="1462753" y="636496"/>
                </a:lnTo>
                <a:lnTo>
                  <a:pt x="1405129" y="639040"/>
                </a:lnTo>
                <a:lnTo>
                  <a:pt x="1350569" y="642464"/>
                </a:lnTo>
                <a:lnTo>
                  <a:pt x="1298867" y="646687"/>
                </a:lnTo>
                <a:lnTo>
                  <a:pt x="1249821" y="651631"/>
                </a:lnTo>
                <a:lnTo>
                  <a:pt x="1203225" y="657214"/>
                </a:lnTo>
                <a:lnTo>
                  <a:pt x="1158875" y="663357"/>
                </a:lnTo>
                <a:lnTo>
                  <a:pt x="1116568" y="669980"/>
                </a:lnTo>
                <a:lnTo>
                  <a:pt x="1076098" y="677004"/>
                </a:lnTo>
                <a:lnTo>
                  <a:pt x="1037263" y="684348"/>
                </a:lnTo>
                <a:lnTo>
                  <a:pt x="999856" y="691933"/>
                </a:lnTo>
                <a:lnTo>
                  <a:pt x="928516" y="707506"/>
                </a:lnTo>
                <a:lnTo>
                  <a:pt x="860443" y="723084"/>
                </a:lnTo>
                <a:lnTo>
                  <a:pt x="827121" y="730675"/>
                </a:lnTo>
                <a:lnTo>
                  <a:pt x="760886" y="745063"/>
                </a:lnTo>
                <a:lnTo>
                  <a:pt x="693834" y="757859"/>
                </a:lnTo>
                <a:lnTo>
                  <a:pt x="624331" y="768425"/>
                </a:lnTo>
                <a:lnTo>
                  <a:pt x="550744" y="776122"/>
                </a:lnTo>
                <a:lnTo>
                  <a:pt x="511909" y="778695"/>
                </a:lnTo>
                <a:lnTo>
                  <a:pt x="471439" y="780311"/>
                </a:lnTo>
                <a:lnTo>
                  <a:pt x="429132" y="780891"/>
                </a:lnTo>
                <a:lnTo>
                  <a:pt x="384782" y="780354"/>
                </a:lnTo>
                <a:lnTo>
                  <a:pt x="338186" y="778621"/>
                </a:lnTo>
                <a:lnTo>
                  <a:pt x="289140" y="775612"/>
                </a:lnTo>
                <a:lnTo>
                  <a:pt x="237438" y="771247"/>
                </a:lnTo>
                <a:lnTo>
                  <a:pt x="182878" y="765446"/>
                </a:lnTo>
                <a:lnTo>
                  <a:pt x="125254" y="758130"/>
                </a:lnTo>
                <a:lnTo>
                  <a:pt x="64363" y="749218"/>
                </a:lnTo>
                <a:lnTo>
                  <a:pt x="0" y="738632"/>
                </a:lnTo>
                <a:lnTo>
                  <a:pt x="0" y="0"/>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2" name="object 52"/>
          <p:cNvSpPr txBox="1"/>
          <p:nvPr/>
        </p:nvSpPr>
        <p:spPr>
          <a:xfrm>
            <a:off x="5394325" y="3809619"/>
            <a:ext cx="1563370" cy="508000"/>
          </a:xfrm>
          <a:prstGeom prst="rect">
            <a:avLst/>
          </a:prstGeom>
        </p:spPr>
        <p:txBody>
          <a:bodyPr vert="horz" wrap="square" lIns="0" tIns="24130" rIns="0" bIns="0" rtlCol="0">
            <a:spAutoFit/>
          </a:bodyPr>
          <a:lstStyle/>
          <a:p>
            <a:pPr marR="5080" indent="158115">
              <a:lnSpc>
                <a:spcPts val="1880"/>
              </a:lnSpc>
              <a:spcBef>
                <a:spcPts val="190"/>
              </a:spcBef>
            </a:pPr>
            <a:r>
              <a:rPr sz="1600" b="1" spc="-10" dirty="0">
                <a:latin typeface="Times New Roman" panose="02020603050405020304" pitchFamily="18" charset="0"/>
                <a:cs typeface="Times New Roman" panose="02020603050405020304" pitchFamily="18" charset="0"/>
              </a:rPr>
              <a:t>Danh </a:t>
            </a:r>
            <a:r>
              <a:rPr sz="1600" b="1" spc="-5" dirty="0">
                <a:latin typeface="Times New Roman" panose="02020603050405020304" pitchFamily="18" charset="0"/>
                <a:cs typeface="Times New Roman" panose="02020603050405020304" pitchFamily="18" charset="0"/>
              </a:rPr>
              <a:t>từ</a:t>
            </a:r>
            <a:r>
              <a:rPr sz="1600" b="1" spc="-5">
                <a:latin typeface="Times New Roman" panose="02020603050405020304" pitchFamily="18" charset="0"/>
                <a:cs typeface="Times New Roman" panose="02020603050405020304" pitchFamily="18" charset="0"/>
              </a:rPr>
              <a:t>, </a:t>
            </a:r>
            <a:r>
              <a:rPr sz="1600" b="1" spc="-10">
                <a:latin typeface="Times New Roman" panose="02020603050405020304" pitchFamily="18" charset="0"/>
                <a:cs typeface="Times New Roman" panose="02020603050405020304" pitchFamily="18" charset="0"/>
              </a:rPr>
              <a:t>cụm</a:t>
            </a:r>
            <a:r>
              <a:rPr lang="en-US" sz="1600" b="1" spc="-10">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danh </a:t>
            </a:r>
            <a:r>
              <a:rPr sz="1600" b="1" spc="-5" dirty="0">
                <a:latin typeface="Times New Roman" panose="02020603050405020304" pitchFamily="18" charset="0"/>
                <a:cs typeface="Times New Roman" panose="02020603050405020304" pitchFamily="18" charset="0"/>
              </a:rPr>
              <a:t>từ </a:t>
            </a:r>
            <a:r>
              <a:rPr sz="1600" b="1" spc="-10" dirty="0">
                <a:latin typeface="Times New Roman" panose="02020603050405020304" pitchFamily="18" charset="0"/>
                <a:cs typeface="Times New Roman" panose="02020603050405020304" pitchFamily="18" charset="0"/>
              </a:rPr>
              <a:t>ứng</a:t>
            </a:r>
            <a:r>
              <a:rPr sz="1600" b="1" spc="-30" dirty="0">
                <a:latin typeface="Times New Roman" panose="02020603050405020304" pitchFamily="18" charset="0"/>
                <a:cs typeface="Times New Roman" panose="02020603050405020304" pitchFamily="18" charset="0"/>
              </a:rPr>
              <a:t> </a:t>
            </a:r>
            <a:r>
              <a:rPr sz="1600" b="1" spc="-5" dirty="0">
                <a:latin typeface="Times New Roman" panose="02020603050405020304" pitchFamily="18" charset="0"/>
                <a:cs typeface="Times New Roman" panose="02020603050405020304" pitchFamily="18" charset="0"/>
              </a:rPr>
              <a:t>viên</a:t>
            </a:r>
            <a:endParaRPr sz="1600" b="1">
              <a:latin typeface="Times New Roman" panose="02020603050405020304" pitchFamily="18" charset="0"/>
              <a:cs typeface="Times New Roman" panose="02020603050405020304" pitchFamily="18" charset="0"/>
            </a:endParaRPr>
          </a:p>
        </p:txBody>
      </p:sp>
      <p:sp>
        <p:nvSpPr>
          <p:cNvPr id="53" name="object 53"/>
          <p:cNvSpPr/>
          <p:nvPr/>
        </p:nvSpPr>
        <p:spPr>
          <a:xfrm>
            <a:off x="7139941" y="4146665"/>
            <a:ext cx="328409" cy="357390"/>
          </a:xfrm>
          <a:prstGeom prst="rect">
            <a:avLst/>
          </a:prstGeom>
          <a:blipFill>
            <a:blip r:embed="rId18"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4" name="object 54"/>
          <p:cNvSpPr/>
          <p:nvPr/>
        </p:nvSpPr>
        <p:spPr>
          <a:xfrm>
            <a:off x="7121652" y="4142105"/>
            <a:ext cx="317500" cy="318770"/>
          </a:xfrm>
          <a:custGeom>
            <a:avLst/>
            <a:gdLst/>
            <a:ahLst/>
            <a:cxnLst/>
            <a:rect l="l" t="t" r="r" b="b"/>
            <a:pathLst>
              <a:path w="317500" h="318770">
                <a:moveTo>
                  <a:pt x="79248" y="0"/>
                </a:moveTo>
                <a:lnTo>
                  <a:pt x="0" y="159257"/>
                </a:lnTo>
                <a:lnTo>
                  <a:pt x="79248" y="318515"/>
                </a:lnTo>
                <a:lnTo>
                  <a:pt x="79248" y="238886"/>
                </a:lnTo>
                <a:lnTo>
                  <a:pt x="316992" y="238886"/>
                </a:lnTo>
                <a:lnTo>
                  <a:pt x="316992" y="79628"/>
                </a:lnTo>
                <a:lnTo>
                  <a:pt x="79248" y="79628"/>
                </a:lnTo>
                <a:lnTo>
                  <a:pt x="79248" y="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5" name="object 55"/>
          <p:cNvSpPr/>
          <p:nvPr/>
        </p:nvSpPr>
        <p:spPr>
          <a:xfrm>
            <a:off x="7121652" y="4142105"/>
            <a:ext cx="317500" cy="318770"/>
          </a:xfrm>
          <a:custGeom>
            <a:avLst/>
            <a:gdLst/>
            <a:ahLst/>
            <a:cxnLst/>
            <a:rect l="l" t="t" r="r" b="b"/>
            <a:pathLst>
              <a:path w="317500" h="318770">
                <a:moveTo>
                  <a:pt x="0" y="159257"/>
                </a:moveTo>
                <a:lnTo>
                  <a:pt x="79248" y="0"/>
                </a:lnTo>
                <a:lnTo>
                  <a:pt x="79248" y="79628"/>
                </a:lnTo>
                <a:lnTo>
                  <a:pt x="316992" y="79628"/>
                </a:lnTo>
                <a:lnTo>
                  <a:pt x="316992" y="238886"/>
                </a:lnTo>
                <a:lnTo>
                  <a:pt x="79248" y="238886"/>
                </a:lnTo>
                <a:lnTo>
                  <a:pt x="79248" y="318515"/>
                </a:lnTo>
                <a:lnTo>
                  <a:pt x="0" y="159257"/>
                </a:lnTo>
                <a:close/>
              </a:path>
            </a:pathLst>
          </a:custGeom>
          <a:ln w="9144">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6" name="object 56"/>
          <p:cNvSpPr/>
          <p:nvPr/>
        </p:nvSpPr>
        <p:spPr>
          <a:xfrm>
            <a:off x="3014472" y="3846449"/>
            <a:ext cx="1754886" cy="799338"/>
          </a:xfrm>
          <a:prstGeom prst="rect">
            <a:avLst/>
          </a:prstGeom>
          <a:blipFill>
            <a:blip r:embed="rId19"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7" name="object 57"/>
          <p:cNvSpPr/>
          <p:nvPr/>
        </p:nvSpPr>
        <p:spPr>
          <a:xfrm>
            <a:off x="2996183" y="3872358"/>
            <a:ext cx="1789938" cy="666750"/>
          </a:xfrm>
          <a:prstGeom prst="rect">
            <a:avLst/>
          </a:prstGeom>
          <a:blipFill>
            <a:blip r:embed="rId20"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8" name="object 58"/>
          <p:cNvSpPr/>
          <p:nvPr/>
        </p:nvSpPr>
        <p:spPr>
          <a:xfrm>
            <a:off x="2994660" y="3826637"/>
            <a:ext cx="1744980" cy="789940"/>
          </a:xfrm>
          <a:custGeom>
            <a:avLst/>
            <a:gdLst/>
            <a:ahLst/>
            <a:cxnLst/>
            <a:rect l="l" t="t" r="r" b="b"/>
            <a:pathLst>
              <a:path w="1744980" h="789939">
                <a:moveTo>
                  <a:pt x="1613408" y="0"/>
                </a:moveTo>
                <a:lnTo>
                  <a:pt x="131572" y="0"/>
                </a:lnTo>
                <a:lnTo>
                  <a:pt x="89993" y="6709"/>
                </a:lnTo>
                <a:lnTo>
                  <a:pt x="53876" y="25391"/>
                </a:lnTo>
                <a:lnTo>
                  <a:pt x="25391" y="53876"/>
                </a:lnTo>
                <a:lnTo>
                  <a:pt x="6709" y="89993"/>
                </a:lnTo>
                <a:lnTo>
                  <a:pt x="0" y="131571"/>
                </a:lnTo>
                <a:lnTo>
                  <a:pt x="0" y="657859"/>
                </a:lnTo>
                <a:lnTo>
                  <a:pt x="6709" y="699438"/>
                </a:lnTo>
                <a:lnTo>
                  <a:pt x="25391" y="735555"/>
                </a:lnTo>
                <a:lnTo>
                  <a:pt x="53876" y="764040"/>
                </a:lnTo>
                <a:lnTo>
                  <a:pt x="89993" y="782722"/>
                </a:lnTo>
                <a:lnTo>
                  <a:pt x="131572" y="789432"/>
                </a:lnTo>
                <a:lnTo>
                  <a:pt x="1613408" y="789432"/>
                </a:lnTo>
                <a:lnTo>
                  <a:pt x="1654986" y="782722"/>
                </a:lnTo>
                <a:lnTo>
                  <a:pt x="1691103" y="764040"/>
                </a:lnTo>
                <a:lnTo>
                  <a:pt x="1719588" y="735555"/>
                </a:lnTo>
                <a:lnTo>
                  <a:pt x="1738270" y="699438"/>
                </a:lnTo>
                <a:lnTo>
                  <a:pt x="1744979" y="657859"/>
                </a:lnTo>
                <a:lnTo>
                  <a:pt x="1744979" y="131571"/>
                </a:lnTo>
                <a:lnTo>
                  <a:pt x="1738270" y="89993"/>
                </a:lnTo>
                <a:lnTo>
                  <a:pt x="1719588" y="53876"/>
                </a:lnTo>
                <a:lnTo>
                  <a:pt x="1691103" y="25391"/>
                </a:lnTo>
                <a:lnTo>
                  <a:pt x="1654986" y="6709"/>
                </a:lnTo>
                <a:lnTo>
                  <a:pt x="1613408"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59" name="object 59"/>
          <p:cNvSpPr/>
          <p:nvPr/>
        </p:nvSpPr>
        <p:spPr>
          <a:xfrm>
            <a:off x="2994660" y="3826637"/>
            <a:ext cx="1744980" cy="789940"/>
          </a:xfrm>
          <a:custGeom>
            <a:avLst/>
            <a:gdLst/>
            <a:ahLst/>
            <a:cxnLst/>
            <a:rect l="l" t="t" r="r" b="b"/>
            <a:pathLst>
              <a:path w="1744980" h="789939">
                <a:moveTo>
                  <a:pt x="0" y="131571"/>
                </a:moveTo>
                <a:lnTo>
                  <a:pt x="6709" y="89993"/>
                </a:lnTo>
                <a:lnTo>
                  <a:pt x="25391" y="53876"/>
                </a:lnTo>
                <a:lnTo>
                  <a:pt x="53876" y="25391"/>
                </a:lnTo>
                <a:lnTo>
                  <a:pt x="89993" y="6709"/>
                </a:lnTo>
                <a:lnTo>
                  <a:pt x="131572" y="0"/>
                </a:lnTo>
                <a:lnTo>
                  <a:pt x="1613408" y="0"/>
                </a:lnTo>
                <a:lnTo>
                  <a:pt x="1654986" y="6709"/>
                </a:lnTo>
                <a:lnTo>
                  <a:pt x="1691103" y="25391"/>
                </a:lnTo>
                <a:lnTo>
                  <a:pt x="1719588" y="53876"/>
                </a:lnTo>
                <a:lnTo>
                  <a:pt x="1738270" y="89993"/>
                </a:lnTo>
                <a:lnTo>
                  <a:pt x="1744979" y="131571"/>
                </a:lnTo>
                <a:lnTo>
                  <a:pt x="1744979" y="657859"/>
                </a:lnTo>
                <a:lnTo>
                  <a:pt x="1738270" y="699438"/>
                </a:lnTo>
                <a:lnTo>
                  <a:pt x="1719588" y="735555"/>
                </a:lnTo>
                <a:lnTo>
                  <a:pt x="1691103" y="764040"/>
                </a:lnTo>
                <a:lnTo>
                  <a:pt x="1654986" y="782722"/>
                </a:lnTo>
                <a:lnTo>
                  <a:pt x="1613408" y="789432"/>
                </a:lnTo>
                <a:lnTo>
                  <a:pt x="131572" y="789432"/>
                </a:lnTo>
                <a:lnTo>
                  <a:pt x="89993" y="782722"/>
                </a:lnTo>
                <a:lnTo>
                  <a:pt x="53876" y="764040"/>
                </a:lnTo>
                <a:lnTo>
                  <a:pt x="25391" y="735555"/>
                </a:lnTo>
                <a:lnTo>
                  <a:pt x="6709" y="699438"/>
                </a:lnTo>
                <a:lnTo>
                  <a:pt x="0" y="657859"/>
                </a:lnTo>
                <a:lnTo>
                  <a:pt x="0" y="131571"/>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0" name="object 60"/>
          <p:cNvSpPr txBox="1"/>
          <p:nvPr/>
        </p:nvSpPr>
        <p:spPr>
          <a:xfrm>
            <a:off x="3093974" y="2425828"/>
            <a:ext cx="5927090" cy="2035173"/>
          </a:xfrm>
          <a:prstGeom prst="rect">
            <a:avLst/>
          </a:prstGeom>
        </p:spPr>
        <p:txBody>
          <a:bodyPr vert="horz" wrap="square" lIns="0" tIns="24130" rIns="0" bIns="0" rtlCol="0">
            <a:spAutoFit/>
          </a:bodyPr>
          <a:lstStyle/>
          <a:p>
            <a:pPr marL="4948555" marR="5080" indent="-266700">
              <a:lnSpc>
                <a:spcPts val="1880"/>
              </a:lnSpc>
              <a:spcBef>
                <a:spcPts val="190"/>
              </a:spcBef>
            </a:pPr>
            <a:r>
              <a:rPr sz="1600" b="1" spc="-10" dirty="0">
                <a:latin typeface="Times New Roman" panose="02020603050405020304" pitchFamily="18" charset="0"/>
                <a:cs typeface="Times New Roman" panose="02020603050405020304" pitchFamily="18" charset="0"/>
              </a:rPr>
              <a:t>Danh </a:t>
            </a:r>
            <a:r>
              <a:rPr sz="1600" b="1" spc="-5" dirty="0">
                <a:latin typeface="Times New Roman" panose="02020603050405020304" pitchFamily="18" charset="0"/>
                <a:cs typeface="Times New Roman" panose="02020603050405020304" pitchFamily="18" charset="0"/>
              </a:rPr>
              <a:t>từ</a:t>
            </a:r>
            <a:r>
              <a:rPr sz="1600" b="1" spc="-5">
                <a:latin typeface="Times New Roman" panose="02020603050405020304" pitchFamily="18" charset="0"/>
                <a:cs typeface="Times New Roman" panose="02020603050405020304" pitchFamily="18" charset="0"/>
              </a:rPr>
              <a:t>, </a:t>
            </a:r>
            <a:r>
              <a:rPr sz="1600" b="1" spc="-10">
                <a:latin typeface="Times New Roman" panose="02020603050405020304" pitchFamily="18" charset="0"/>
                <a:cs typeface="Times New Roman" panose="02020603050405020304" pitchFamily="18" charset="0"/>
              </a:rPr>
              <a:t>cụm</a:t>
            </a:r>
            <a:r>
              <a:rPr lang="en-US" sz="1600" b="1" spc="-10">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danh</a:t>
            </a:r>
            <a:r>
              <a:rPr sz="1600" b="1" spc="-20">
                <a:latin typeface="Times New Roman" panose="02020603050405020304" pitchFamily="18" charset="0"/>
                <a:cs typeface="Times New Roman" panose="02020603050405020304" pitchFamily="18" charset="0"/>
              </a:rPr>
              <a:t> </a:t>
            </a:r>
            <a:r>
              <a:rPr sz="1600" b="1" spc="-5" dirty="0">
                <a:latin typeface="Times New Roman" panose="02020603050405020304" pitchFamily="18" charset="0"/>
                <a:cs typeface="Times New Roman" panose="02020603050405020304" pitchFamily="18" charset="0"/>
              </a:rPr>
              <a:t>từ</a:t>
            </a:r>
            <a:endParaRPr sz="1600" b="1">
              <a:latin typeface="Times New Roman" panose="02020603050405020304" pitchFamily="18" charset="0"/>
              <a:cs typeface="Times New Roman" panose="02020603050405020304" pitchFamily="18" charset="0"/>
            </a:endParaRPr>
          </a:p>
          <a:p>
            <a:pPr>
              <a:lnSpc>
                <a:spcPct val="100000"/>
              </a:lnSpc>
            </a:pPr>
            <a:endParaRPr b="1">
              <a:latin typeface="Times New Roman" panose="02020603050405020304" pitchFamily="18" charset="0"/>
              <a:cs typeface="Times New Roman" panose="02020603050405020304" pitchFamily="18" charset="0"/>
            </a:endParaRPr>
          </a:p>
          <a:p>
            <a:pPr>
              <a:lnSpc>
                <a:spcPct val="100000"/>
              </a:lnSpc>
            </a:pPr>
            <a:endParaRPr b="1">
              <a:latin typeface="Times New Roman" panose="02020603050405020304" pitchFamily="18" charset="0"/>
              <a:cs typeface="Times New Roman" panose="02020603050405020304" pitchFamily="18" charset="0"/>
            </a:endParaRPr>
          </a:p>
          <a:p>
            <a:pPr>
              <a:lnSpc>
                <a:spcPct val="100000"/>
              </a:lnSpc>
            </a:pPr>
            <a:endParaRPr b="1">
              <a:latin typeface="Times New Roman" panose="02020603050405020304" pitchFamily="18" charset="0"/>
              <a:cs typeface="Times New Roman" panose="02020603050405020304" pitchFamily="18" charset="0"/>
            </a:endParaRPr>
          </a:p>
          <a:p>
            <a:pPr marR="4373880" indent="116839">
              <a:lnSpc>
                <a:spcPts val="1880"/>
              </a:lnSpc>
              <a:spcBef>
                <a:spcPts val="1590"/>
              </a:spcBef>
            </a:pPr>
            <a:r>
              <a:rPr sz="1600" b="1" spc="-5" dirty="0">
                <a:latin typeface="Times New Roman" panose="02020603050405020304" pitchFamily="18" charset="0"/>
                <a:cs typeface="Times New Roman" panose="02020603050405020304" pitchFamily="18" charset="0"/>
              </a:rPr>
              <a:t>Đồng </a:t>
            </a:r>
            <a:r>
              <a:rPr sz="1600" b="1" spc="-5">
                <a:latin typeface="Times New Roman" panose="02020603050405020304" pitchFamily="18" charset="0"/>
                <a:cs typeface="Times New Roman" panose="02020603050405020304" pitchFamily="18" charset="0"/>
              </a:rPr>
              <a:t>nhất các</a:t>
            </a:r>
            <a:r>
              <a:rPr lang="en-US" sz="1600" b="1" spc="-5">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class </a:t>
            </a:r>
            <a:r>
              <a:rPr sz="1600" b="1" spc="-5" dirty="0">
                <a:latin typeface="Times New Roman" panose="02020603050405020304" pitchFamily="18" charset="0"/>
                <a:cs typeface="Times New Roman" panose="02020603050405020304" pitchFamily="18" charset="0"/>
              </a:rPr>
              <a:t>trùng</a:t>
            </a:r>
            <a:r>
              <a:rPr sz="1600" b="1" spc="-55" dirty="0">
                <a:latin typeface="Times New Roman" panose="02020603050405020304" pitchFamily="18" charset="0"/>
                <a:cs typeface="Times New Roman" panose="02020603050405020304" pitchFamily="18" charset="0"/>
              </a:rPr>
              <a:t> </a:t>
            </a:r>
            <a:r>
              <a:rPr sz="1600" b="1" spc="-10" dirty="0">
                <a:latin typeface="Times New Roman" panose="02020603050405020304" pitchFamily="18" charset="0"/>
                <a:cs typeface="Times New Roman" panose="02020603050405020304" pitchFamily="18" charset="0"/>
              </a:rPr>
              <a:t>nghĩa</a:t>
            </a:r>
            <a:endParaRPr sz="1600" b="1">
              <a:latin typeface="Times New Roman" panose="02020603050405020304" pitchFamily="18" charset="0"/>
              <a:cs typeface="Times New Roman" panose="02020603050405020304" pitchFamily="18" charset="0"/>
            </a:endParaRPr>
          </a:p>
        </p:txBody>
      </p:sp>
      <p:sp>
        <p:nvSpPr>
          <p:cNvPr id="61" name="object 61"/>
          <p:cNvSpPr/>
          <p:nvPr/>
        </p:nvSpPr>
        <p:spPr>
          <a:xfrm>
            <a:off x="4917948" y="4146679"/>
            <a:ext cx="328409" cy="358901"/>
          </a:xfrm>
          <a:prstGeom prst="rect">
            <a:avLst/>
          </a:prstGeom>
          <a:blipFill>
            <a:blip r:embed="rId21"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2" name="object 62"/>
          <p:cNvSpPr/>
          <p:nvPr/>
        </p:nvSpPr>
        <p:spPr>
          <a:xfrm>
            <a:off x="4899659" y="4142105"/>
            <a:ext cx="317500" cy="320040"/>
          </a:xfrm>
          <a:custGeom>
            <a:avLst/>
            <a:gdLst/>
            <a:ahLst/>
            <a:cxnLst/>
            <a:rect l="l" t="t" r="r" b="b"/>
            <a:pathLst>
              <a:path w="317500" h="320039">
                <a:moveTo>
                  <a:pt x="79248" y="0"/>
                </a:moveTo>
                <a:lnTo>
                  <a:pt x="0" y="160019"/>
                </a:lnTo>
                <a:lnTo>
                  <a:pt x="79248" y="320039"/>
                </a:lnTo>
                <a:lnTo>
                  <a:pt x="79248" y="240029"/>
                </a:lnTo>
                <a:lnTo>
                  <a:pt x="316991" y="240029"/>
                </a:lnTo>
                <a:lnTo>
                  <a:pt x="316991" y="80009"/>
                </a:lnTo>
                <a:lnTo>
                  <a:pt x="79248" y="80009"/>
                </a:lnTo>
                <a:lnTo>
                  <a:pt x="79248" y="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3" name="object 63"/>
          <p:cNvSpPr/>
          <p:nvPr/>
        </p:nvSpPr>
        <p:spPr>
          <a:xfrm>
            <a:off x="4899659" y="4142105"/>
            <a:ext cx="317500" cy="320040"/>
          </a:xfrm>
          <a:custGeom>
            <a:avLst/>
            <a:gdLst/>
            <a:ahLst/>
            <a:cxnLst/>
            <a:rect l="l" t="t" r="r" b="b"/>
            <a:pathLst>
              <a:path w="317500" h="320039">
                <a:moveTo>
                  <a:pt x="0" y="160019"/>
                </a:moveTo>
                <a:lnTo>
                  <a:pt x="79248" y="0"/>
                </a:lnTo>
                <a:lnTo>
                  <a:pt x="79248" y="80009"/>
                </a:lnTo>
                <a:lnTo>
                  <a:pt x="316991" y="80009"/>
                </a:lnTo>
                <a:lnTo>
                  <a:pt x="316991" y="240029"/>
                </a:lnTo>
                <a:lnTo>
                  <a:pt x="79248" y="240029"/>
                </a:lnTo>
                <a:lnTo>
                  <a:pt x="79248" y="320039"/>
                </a:lnTo>
                <a:lnTo>
                  <a:pt x="0" y="160019"/>
                </a:lnTo>
                <a:close/>
              </a:path>
            </a:pathLst>
          </a:custGeom>
          <a:ln w="9144">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4" name="object 64"/>
          <p:cNvSpPr/>
          <p:nvPr/>
        </p:nvSpPr>
        <p:spPr>
          <a:xfrm>
            <a:off x="7775447" y="5173409"/>
            <a:ext cx="1599438" cy="790194"/>
          </a:xfrm>
          <a:prstGeom prst="rect">
            <a:avLst/>
          </a:prstGeom>
          <a:blipFill>
            <a:blip r:embed="rId2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5" name="object 65"/>
          <p:cNvSpPr/>
          <p:nvPr/>
        </p:nvSpPr>
        <p:spPr>
          <a:xfrm>
            <a:off x="7780021" y="5118546"/>
            <a:ext cx="1645157" cy="666750"/>
          </a:xfrm>
          <a:prstGeom prst="rect">
            <a:avLst/>
          </a:prstGeom>
          <a:blipFill>
            <a:blip r:embed="rId23"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6" name="object 66"/>
          <p:cNvSpPr/>
          <p:nvPr/>
        </p:nvSpPr>
        <p:spPr>
          <a:xfrm>
            <a:off x="7757160" y="5155122"/>
            <a:ext cx="1586865" cy="777875"/>
          </a:xfrm>
          <a:custGeom>
            <a:avLst/>
            <a:gdLst/>
            <a:ahLst/>
            <a:cxnLst/>
            <a:rect l="l" t="t" r="r" b="b"/>
            <a:pathLst>
              <a:path w="1586865" h="777875">
                <a:moveTo>
                  <a:pt x="1586484" y="0"/>
                </a:moveTo>
                <a:lnTo>
                  <a:pt x="0" y="0"/>
                </a:lnTo>
                <a:lnTo>
                  <a:pt x="0" y="735812"/>
                </a:lnTo>
                <a:lnTo>
                  <a:pt x="64301" y="746351"/>
                </a:lnTo>
                <a:lnTo>
                  <a:pt x="125134" y="755221"/>
                </a:lnTo>
                <a:lnTo>
                  <a:pt x="182702" y="762503"/>
                </a:lnTo>
                <a:lnTo>
                  <a:pt x="237210" y="768275"/>
                </a:lnTo>
                <a:lnTo>
                  <a:pt x="288862" y="772617"/>
                </a:lnTo>
                <a:lnTo>
                  <a:pt x="337862" y="775609"/>
                </a:lnTo>
                <a:lnTo>
                  <a:pt x="384413" y="777331"/>
                </a:lnTo>
                <a:lnTo>
                  <a:pt x="428720" y="777861"/>
                </a:lnTo>
                <a:lnTo>
                  <a:pt x="470987" y="777279"/>
                </a:lnTo>
                <a:lnTo>
                  <a:pt x="511418" y="775665"/>
                </a:lnTo>
                <a:lnTo>
                  <a:pt x="550216" y="773098"/>
                </a:lnTo>
                <a:lnTo>
                  <a:pt x="623732" y="765425"/>
                </a:lnTo>
                <a:lnTo>
                  <a:pt x="693168" y="754895"/>
                </a:lnTo>
                <a:lnTo>
                  <a:pt x="760156" y="742144"/>
                </a:lnTo>
                <a:lnTo>
                  <a:pt x="826327" y="727808"/>
                </a:lnTo>
                <a:lnTo>
                  <a:pt x="962751" y="696927"/>
                </a:lnTo>
                <a:lnTo>
                  <a:pt x="998897" y="689211"/>
                </a:lnTo>
                <a:lnTo>
                  <a:pt x="1036267" y="681654"/>
                </a:lnTo>
                <a:lnTo>
                  <a:pt x="1075065" y="674338"/>
                </a:lnTo>
                <a:lnTo>
                  <a:pt x="1115496" y="667341"/>
                </a:lnTo>
                <a:lnTo>
                  <a:pt x="1157763" y="660743"/>
                </a:lnTo>
                <a:lnTo>
                  <a:pt x="1202070" y="654624"/>
                </a:lnTo>
                <a:lnTo>
                  <a:pt x="1248621" y="649062"/>
                </a:lnTo>
                <a:lnTo>
                  <a:pt x="1297621" y="644138"/>
                </a:lnTo>
                <a:lnTo>
                  <a:pt x="1349273" y="639931"/>
                </a:lnTo>
                <a:lnTo>
                  <a:pt x="1403781" y="636520"/>
                </a:lnTo>
                <a:lnTo>
                  <a:pt x="1461349" y="633986"/>
                </a:lnTo>
                <a:lnTo>
                  <a:pt x="1522182" y="632407"/>
                </a:lnTo>
                <a:lnTo>
                  <a:pt x="1586484" y="631863"/>
                </a:lnTo>
                <a:lnTo>
                  <a:pt x="1586484"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7" name="object 67"/>
          <p:cNvSpPr/>
          <p:nvPr/>
        </p:nvSpPr>
        <p:spPr>
          <a:xfrm>
            <a:off x="7757160" y="5155122"/>
            <a:ext cx="1586865" cy="777875"/>
          </a:xfrm>
          <a:custGeom>
            <a:avLst/>
            <a:gdLst/>
            <a:ahLst/>
            <a:cxnLst/>
            <a:rect l="l" t="t" r="r" b="b"/>
            <a:pathLst>
              <a:path w="1586865" h="777875">
                <a:moveTo>
                  <a:pt x="0" y="0"/>
                </a:moveTo>
                <a:lnTo>
                  <a:pt x="1586484" y="0"/>
                </a:lnTo>
                <a:lnTo>
                  <a:pt x="1586484" y="631863"/>
                </a:lnTo>
                <a:lnTo>
                  <a:pt x="1522182" y="632407"/>
                </a:lnTo>
                <a:lnTo>
                  <a:pt x="1461349" y="633986"/>
                </a:lnTo>
                <a:lnTo>
                  <a:pt x="1403781" y="636520"/>
                </a:lnTo>
                <a:lnTo>
                  <a:pt x="1349273" y="639931"/>
                </a:lnTo>
                <a:lnTo>
                  <a:pt x="1297621" y="644138"/>
                </a:lnTo>
                <a:lnTo>
                  <a:pt x="1248621" y="649062"/>
                </a:lnTo>
                <a:lnTo>
                  <a:pt x="1202070" y="654624"/>
                </a:lnTo>
                <a:lnTo>
                  <a:pt x="1157763" y="660743"/>
                </a:lnTo>
                <a:lnTo>
                  <a:pt x="1115496" y="667341"/>
                </a:lnTo>
                <a:lnTo>
                  <a:pt x="1075065" y="674338"/>
                </a:lnTo>
                <a:lnTo>
                  <a:pt x="1036267" y="681654"/>
                </a:lnTo>
                <a:lnTo>
                  <a:pt x="998897" y="689211"/>
                </a:lnTo>
                <a:lnTo>
                  <a:pt x="927625" y="704725"/>
                </a:lnTo>
                <a:lnTo>
                  <a:pt x="859617" y="720245"/>
                </a:lnTo>
                <a:lnTo>
                  <a:pt x="826327" y="727808"/>
                </a:lnTo>
                <a:lnTo>
                  <a:pt x="760156" y="742144"/>
                </a:lnTo>
                <a:lnTo>
                  <a:pt x="693168" y="754895"/>
                </a:lnTo>
                <a:lnTo>
                  <a:pt x="623732" y="765425"/>
                </a:lnTo>
                <a:lnTo>
                  <a:pt x="550216" y="773098"/>
                </a:lnTo>
                <a:lnTo>
                  <a:pt x="511418" y="775665"/>
                </a:lnTo>
                <a:lnTo>
                  <a:pt x="470987" y="777279"/>
                </a:lnTo>
                <a:lnTo>
                  <a:pt x="428720" y="777861"/>
                </a:lnTo>
                <a:lnTo>
                  <a:pt x="384413" y="777331"/>
                </a:lnTo>
                <a:lnTo>
                  <a:pt x="337862" y="775609"/>
                </a:lnTo>
                <a:lnTo>
                  <a:pt x="288862" y="772617"/>
                </a:lnTo>
                <a:lnTo>
                  <a:pt x="237210" y="768275"/>
                </a:lnTo>
                <a:lnTo>
                  <a:pt x="182702" y="762503"/>
                </a:lnTo>
                <a:lnTo>
                  <a:pt x="125134" y="755221"/>
                </a:lnTo>
                <a:lnTo>
                  <a:pt x="64301" y="746351"/>
                </a:lnTo>
                <a:lnTo>
                  <a:pt x="0" y="735812"/>
                </a:lnTo>
                <a:lnTo>
                  <a:pt x="0" y="0"/>
                </a:lnTo>
                <a:close/>
              </a:path>
            </a:pathLst>
          </a:custGeom>
          <a:ln w="12192">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68" name="object 68"/>
          <p:cNvSpPr txBox="1"/>
          <p:nvPr/>
        </p:nvSpPr>
        <p:spPr>
          <a:xfrm>
            <a:off x="7879335" y="5139373"/>
            <a:ext cx="1355725" cy="508634"/>
          </a:xfrm>
          <a:prstGeom prst="rect">
            <a:avLst/>
          </a:prstGeom>
        </p:spPr>
        <p:txBody>
          <a:bodyPr vert="horz" wrap="square" lIns="0" tIns="23495" rIns="0" bIns="0" rtlCol="0">
            <a:spAutoFit/>
          </a:bodyPr>
          <a:lstStyle/>
          <a:p>
            <a:pPr marL="438784" marR="5080" indent="-439420">
              <a:lnSpc>
                <a:spcPts val="1889"/>
              </a:lnSpc>
              <a:spcBef>
                <a:spcPts val="185"/>
              </a:spcBef>
            </a:pPr>
            <a:r>
              <a:rPr sz="1600" b="1" spc="-5" dirty="0">
                <a:latin typeface="Times New Roman" panose="02020603050405020304" pitchFamily="18" charset="0"/>
                <a:cs typeface="Times New Roman" panose="02020603050405020304" pitchFamily="18" charset="0"/>
              </a:rPr>
              <a:t>Danh </a:t>
            </a:r>
            <a:r>
              <a:rPr sz="1600" b="1" spc="-5">
                <a:latin typeface="Times New Roman" panose="02020603050405020304" pitchFamily="18" charset="0"/>
                <a:cs typeface="Times New Roman" panose="02020603050405020304" pitchFamily="18" charset="0"/>
              </a:rPr>
              <a:t>sách</a:t>
            </a:r>
            <a:r>
              <a:rPr sz="1600" b="1" spc="-70">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các</a:t>
            </a:r>
            <a:r>
              <a:rPr lang="en-US" sz="1600" b="1" spc="-5">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class</a:t>
            </a:r>
            <a:endParaRPr sz="1600" b="1">
              <a:latin typeface="Times New Roman" panose="02020603050405020304" pitchFamily="18" charset="0"/>
              <a:cs typeface="Times New Roman" panose="02020603050405020304" pitchFamily="18" charset="0"/>
            </a:endParaRPr>
          </a:p>
        </p:txBody>
      </p:sp>
      <p:sp>
        <p:nvSpPr>
          <p:cNvPr id="69" name="object 69"/>
          <p:cNvSpPr/>
          <p:nvPr/>
        </p:nvSpPr>
        <p:spPr>
          <a:xfrm>
            <a:off x="3633216" y="4797426"/>
            <a:ext cx="357390" cy="328409"/>
          </a:xfrm>
          <a:prstGeom prst="rect">
            <a:avLst/>
          </a:prstGeom>
          <a:blipFill>
            <a:blip r:embed="rId24"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0" name="object 70"/>
          <p:cNvSpPr/>
          <p:nvPr/>
        </p:nvSpPr>
        <p:spPr>
          <a:xfrm>
            <a:off x="3628644" y="4777614"/>
            <a:ext cx="318770" cy="318770"/>
          </a:xfrm>
          <a:custGeom>
            <a:avLst/>
            <a:gdLst/>
            <a:ahLst/>
            <a:cxnLst/>
            <a:rect l="l" t="t" r="r" b="b"/>
            <a:pathLst>
              <a:path w="318769" h="318770">
                <a:moveTo>
                  <a:pt x="318516" y="236219"/>
                </a:moveTo>
                <a:lnTo>
                  <a:pt x="0" y="236219"/>
                </a:lnTo>
                <a:lnTo>
                  <a:pt x="159257" y="318516"/>
                </a:lnTo>
                <a:lnTo>
                  <a:pt x="318516" y="236219"/>
                </a:lnTo>
                <a:close/>
              </a:path>
              <a:path w="318769" h="318770">
                <a:moveTo>
                  <a:pt x="238887" y="0"/>
                </a:moveTo>
                <a:lnTo>
                  <a:pt x="79629" y="0"/>
                </a:lnTo>
                <a:lnTo>
                  <a:pt x="79629" y="236219"/>
                </a:lnTo>
                <a:lnTo>
                  <a:pt x="238887" y="236219"/>
                </a:lnTo>
                <a:lnTo>
                  <a:pt x="238887" y="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2" name="object 72"/>
          <p:cNvSpPr/>
          <p:nvPr/>
        </p:nvSpPr>
        <p:spPr>
          <a:xfrm>
            <a:off x="2858642" y="1508379"/>
            <a:ext cx="6827520" cy="4602480"/>
          </a:xfrm>
          <a:custGeom>
            <a:avLst/>
            <a:gdLst/>
            <a:ahLst/>
            <a:cxnLst/>
            <a:rect l="l" t="t" r="r" b="b"/>
            <a:pathLst>
              <a:path w="6827520" h="4602480">
                <a:moveTo>
                  <a:pt x="0" y="4602480"/>
                </a:moveTo>
                <a:lnTo>
                  <a:pt x="6827520" y="4602480"/>
                </a:lnTo>
                <a:lnTo>
                  <a:pt x="6827520" y="0"/>
                </a:lnTo>
                <a:lnTo>
                  <a:pt x="0" y="0"/>
                </a:lnTo>
                <a:lnTo>
                  <a:pt x="0" y="4602480"/>
                </a:lnTo>
                <a:close/>
              </a:path>
            </a:pathLst>
          </a:custGeom>
          <a:ln w="9144">
            <a:solidFill>
              <a:srgbClr val="000000"/>
            </a:solidFill>
            <a:prstDash val="sysDash"/>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3" name="object 73"/>
          <p:cNvSpPr/>
          <p:nvPr/>
        </p:nvSpPr>
        <p:spPr>
          <a:xfrm>
            <a:off x="3014472" y="5115942"/>
            <a:ext cx="1754886" cy="799338"/>
          </a:xfrm>
          <a:prstGeom prst="rect">
            <a:avLst/>
          </a:prstGeom>
          <a:blipFill>
            <a:blip r:embed="rId19"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4" name="object 74"/>
          <p:cNvSpPr/>
          <p:nvPr/>
        </p:nvSpPr>
        <p:spPr>
          <a:xfrm>
            <a:off x="3012948" y="5202365"/>
            <a:ext cx="1815845" cy="666750"/>
          </a:xfrm>
          <a:prstGeom prst="rect">
            <a:avLst/>
          </a:prstGeom>
          <a:blipFill>
            <a:blip r:embed="rId25"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5" name="object 75"/>
          <p:cNvSpPr/>
          <p:nvPr/>
        </p:nvSpPr>
        <p:spPr>
          <a:xfrm>
            <a:off x="2994660" y="5157213"/>
            <a:ext cx="1744980" cy="789940"/>
          </a:xfrm>
          <a:custGeom>
            <a:avLst/>
            <a:gdLst/>
            <a:ahLst/>
            <a:cxnLst/>
            <a:rect l="l" t="t" r="r" b="b"/>
            <a:pathLst>
              <a:path w="1744980" h="789939">
                <a:moveTo>
                  <a:pt x="1613408" y="0"/>
                </a:moveTo>
                <a:lnTo>
                  <a:pt x="131572" y="0"/>
                </a:lnTo>
                <a:lnTo>
                  <a:pt x="89993" y="6707"/>
                </a:lnTo>
                <a:lnTo>
                  <a:pt x="53876" y="25384"/>
                </a:lnTo>
                <a:lnTo>
                  <a:pt x="25391" y="53865"/>
                </a:lnTo>
                <a:lnTo>
                  <a:pt x="6709" y="89983"/>
                </a:lnTo>
                <a:lnTo>
                  <a:pt x="0" y="131572"/>
                </a:lnTo>
                <a:lnTo>
                  <a:pt x="0" y="657860"/>
                </a:lnTo>
                <a:lnTo>
                  <a:pt x="6709" y="699448"/>
                </a:lnTo>
                <a:lnTo>
                  <a:pt x="25391" y="735566"/>
                </a:lnTo>
                <a:lnTo>
                  <a:pt x="53876" y="764047"/>
                </a:lnTo>
                <a:lnTo>
                  <a:pt x="89993" y="782724"/>
                </a:lnTo>
                <a:lnTo>
                  <a:pt x="131572" y="789432"/>
                </a:lnTo>
                <a:lnTo>
                  <a:pt x="1613408" y="789432"/>
                </a:lnTo>
                <a:lnTo>
                  <a:pt x="1654986" y="782724"/>
                </a:lnTo>
                <a:lnTo>
                  <a:pt x="1691103" y="764047"/>
                </a:lnTo>
                <a:lnTo>
                  <a:pt x="1719588" y="735566"/>
                </a:lnTo>
                <a:lnTo>
                  <a:pt x="1738270" y="699448"/>
                </a:lnTo>
                <a:lnTo>
                  <a:pt x="1744979" y="657860"/>
                </a:lnTo>
                <a:lnTo>
                  <a:pt x="1744979" y="131572"/>
                </a:lnTo>
                <a:lnTo>
                  <a:pt x="1738270" y="89983"/>
                </a:lnTo>
                <a:lnTo>
                  <a:pt x="1719588" y="53865"/>
                </a:lnTo>
                <a:lnTo>
                  <a:pt x="1691103" y="25384"/>
                </a:lnTo>
                <a:lnTo>
                  <a:pt x="1654986" y="6707"/>
                </a:lnTo>
                <a:lnTo>
                  <a:pt x="1613408"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6" name="object 76"/>
          <p:cNvSpPr/>
          <p:nvPr/>
        </p:nvSpPr>
        <p:spPr>
          <a:xfrm>
            <a:off x="2994660" y="5155121"/>
            <a:ext cx="1744980" cy="789940"/>
          </a:xfrm>
          <a:custGeom>
            <a:avLst/>
            <a:gdLst/>
            <a:ahLst/>
            <a:cxnLst/>
            <a:rect l="l" t="t" r="r" b="b"/>
            <a:pathLst>
              <a:path w="1744980" h="789939">
                <a:moveTo>
                  <a:pt x="0" y="131572"/>
                </a:moveTo>
                <a:lnTo>
                  <a:pt x="6709" y="89983"/>
                </a:lnTo>
                <a:lnTo>
                  <a:pt x="25391" y="53865"/>
                </a:lnTo>
                <a:lnTo>
                  <a:pt x="53876" y="25384"/>
                </a:lnTo>
                <a:lnTo>
                  <a:pt x="89993" y="6707"/>
                </a:lnTo>
                <a:lnTo>
                  <a:pt x="131572" y="0"/>
                </a:lnTo>
                <a:lnTo>
                  <a:pt x="1613408" y="0"/>
                </a:lnTo>
                <a:lnTo>
                  <a:pt x="1654986" y="6707"/>
                </a:lnTo>
                <a:lnTo>
                  <a:pt x="1691103" y="25384"/>
                </a:lnTo>
                <a:lnTo>
                  <a:pt x="1719588" y="53865"/>
                </a:lnTo>
                <a:lnTo>
                  <a:pt x="1738270" y="89983"/>
                </a:lnTo>
                <a:lnTo>
                  <a:pt x="1744979" y="131572"/>
                </a:lnTo>
                <a:lnTo>
                  <a:pt x="1744979" y="657860"/>
                </a:lnTo>
                <a:lnTo>
                  <a:pt x="1738270" y="699448"/>
                </a:lnTo>
                <a:lnTo>
                  <a:pt x="1719588" y="735566"/>
                </a:lnTo>
                <a:lnTo>
                  <a:pt x="1691103" y="764047"/>
                </a:lnTo>
                <a:lnTo>
                  <a:pt x="1654986" y="782724"/>
                </a:lnTo>
                <a:lnTo>
                  <a:pt x="1613408" y="789432"/>
                </a:lnTo>
                <a:lnTo>
                  <a:pt x="131572" y="789432"/>
                </a:lnTo>
                <a:lnTo>
                  <a:pt x="89993" y="782724"/>
                </a:lnTo>
                <a:lnTo>
                  <a:pt x="53876" y="764047"/>
                </a:lnTo>
                <a:lnTo>
                  <a:pt x="25391" y="735566"/>
                </a:lnTo>
                <a:lnTo>
                  <a:pt x="6709" y="699448"/>
                </a:lnTo>
                <a:lnTo>
                  <a:pt x="0" y="657860"/>
                </a:lnTo>
                <a:lnTo>
                  <a:pt x="0" y="131572"/>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7" name="object 77"/>
          <p:cNvSpPr txBox="1"/>
          <p:nvPr/>
        </p:nvSpPr>
        <p:spPr>
          <a:xfrm>
            <a:off x="3111119" y="5223803"/>
            <a:ext cx="1525270" cy="508000"/>
          </a:xfrm>
          <a:prstGeom prst="rect">
            <a:avLst/>
          </a:prstGeom>
        </p:spPr>
        <p:txBody>
          <a:bodyPr vert="horz" wrap="square" lIns="0" tIns="24130" rIns="0" bIns="0" rtlCol="0">
            <a:spAutoFit/>
          </a:bodyPr>
          <a:lstStyle/>
          <a:p>
            <a:pPr marL="309245" marR="5080" indent="-309880">
              <a:lnSpc>
                <a:spcPts val="1880"/>
              </a:lnSpc>
              <a:spcBef>
                <a:spcPts val="190"/>
              </a:spcBef>
            </a:pPr>
            <a:r>
              <a:rPr sz="1600" b="1" spc="-10" dirty="0">
                <a:latin typeface="Times New Roman" panose="02020603050405020304" pitchFamily="18" charset="0"/>
                <a:cs typeface="Times New Roman" panose="02020603050405020304" pitchFamily="18" charset="0"/>
              </a:rPr>
              <a:t>Loại </a:t>
            </a:r>
            <a:r>
              <a:rPr sz="1600" b="1" spc="-5" dirty="0">
                <a:latin typeface="Times New Roman" panose="02020603050405020304" pitchFamily="18" charset="0"/>
                <a:cs typeface="Times New Roman" panose="02020603050405020304" pitchFamily="18" charset="0"/>
              </a:rPr>
              <a:t>các </a:t>
            </a:r>
            <a:r>
              <a:rPr sz="1600" b="1" spc="-10">
                <a:latin typeface="Times New Roman" panose="02020603050405020304" pitchFamily="18" charset="0"/>
                <a:cs typeface="Times New Roman" panose="02020603050405020304" pitchFamily="18" charset="0"/>
              </a:rPr>
              <a:t>danh </a:t>
            </a:r>
            <a:r>
              <a:rPr sz="1600" b="1" spc="-5">
                <a:latin typeface="Times New Roman" panose="02020603050405020304" pitchFamily="18" charset="0"/>
                <a:cs typeface="Times New Roman" panose="02020603050405020304" pitchFamily="18" charset="0"/>
              </a:rPr>
              <a:t>từ</a:t>
            </a:r>
            <a:r>
              <a:rPr lang="en-US" sz="1600" b="1" spc="-5">
                <a:latin typeface="Times New Roman" panose="02020603050405020304" pitchFamily="18" charset="0"/>
                <a:cs typeface="Times New Roman" panose="02020603050405020304" pitchFamily="18" charset="0"/>
              </a:rPr>
              <a:t> </a:t>
            </a:r>
            <a:r>
              <a:rPr sz="1600" b="1" spc="-5">
                <a:latin typeface="Times New Roman" panose="02020603050405020304" pitchFamily="18" charset="0"/>
                <a:cs typeface="Times New Roman" panose="02020603050405020304" pitchFamily="18" charset="0"/>
              </a:rPr>
              <a:t>thuộc</a:t>
            </a:r>
            <a:r>
              <a:rPr sz="1600" b="1">
                <a:latin typeface="Times New Roman" panose="02020603050405020304" pitchFamily="18" charset="0"/>
                <a:cs typeface="Times New Roman" panose="02020603050405020304" pitchFamily="18" charset="0"/>
              </a:rPr>
              <a:t> </a:t>
            </a:r>
            <a:r>
              <a:rPr sz="1600" b="1" spc="-5" dirty="0">
                <a:latin typeface="Times New Roman" panose="02020603050405020304" pitchFamily="18" charset="0"/>
                <a:cs typeface="Times New Roman" panose="02020603050405020304" pitchFamily="18" charset="0"/>
              </a:rPr>
              <a:t>tính</a:t>
            </a:r>
            <a:endParaRPr sz="1600" b="1">
              <a:latin typeface="Times New Roman" panose="02020603050405020304" pitchFamily="18" charset="0"/>
              <a:cs typeface="Times New Roman" panose="02020603050405020304" pitchFamily="18" charset="0"/>
            </a:endParaRPr>
          </a:p>
        </p:txBody>
      </p:sp>
      <p:sp>
        <p:nvSpPr>
          <p:cNvPr id="78" name="object 78"/>
          <p:cNvSpPr/>
          <p:nvPr/>
        </p:nvSpPr>
        <p:spPr>
          <a:xfrm>
            <a:off x="5394959" y="5174934"/>
            <a:ext cx="1756410" cy="797814"/>
          </a:xfrm>
          <a:prstGeom prst="rect">
            <a:avLst/>
          </a:prstGeom>
          <a:blipFill>
            <a:blip r:embed="rId26"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79" name="object 79"/>
          <p:cNvSpPr/>
          <p:nvPr/>
        </p:nvSpPr>
        <p:spPr>
          <a:xfrm>
            <a:off x="5324855" y="5202365"/>
            <a:ext cx="1895094" cy="666750"/>
          </a:xfrm>
          <a:prstGeom prst="rect">
            <a:avLst/>
          </a:prstGeom>
          <a:blipFill>
            <a:blip r:embed="rId27"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0" name="object 80"/>
          <p:cNvSpPr/>
          <p:nvPr/>
        </p:nvSpPr>
        <p:spPr>
          <a:xfrm>
            <a:off x="5375148" y="5155122"/>
            <a:ext cx="1746885" cy="788035"/>
          </a:xfrm>
          <a:custGeom>
            <a:avLst/>
            <a:gdLst/>
            <a:ahLst/>
            <a:cxnLst/>
            <a:rect l="l" t="t" r="r" b="b"/>
            <a:pathLst>
              <a:path w="1746885" h="788035">
                <a:moveTo>
                  <a:pt x="1615186" y="0"/>
                </a:moveTo>
                <a:lnTo>
                  <a:pt x="131317" y="0"/>
                </a:lnTo>
                <a:lnTo>
                  <a:pt x="80206" y="10318"/>
                </a:lnTo>
                <a:lnTo>
                  <a:pt x="38465" y="38460"/>
                </a:lnTo>
                <a:lnTo>
                  <a:pt x="10320" y="80201"/>
                </a:lnTo>
                <a:lnTo>
                  <a:pt x="0" y="131318"/>
                </a:lnTo>
                <a:lnTo>
                  <a:pt x="0" y="656590"/>
                </a:lnTo>
                <a:lnTo>
                  <a:pt x="10320" y="707706"/>
                </a:lnTo>
                <a:lnTo>
                  <a:pt x="38465" y="749447"/>
                </a:lnTo>
                <a:lnTo>
                  <a:pt x="80206" y="777589"/>
                </a:lnTo>
                <a:lnTo>
                  <a:pt x="131317" y="787908"/>
                </a:lnTo>
                <a:lnTo>
                  <a:pt x="1615186" y="787908"/>
                </a:lnTo>
                <a:lnTo>
                  <a:pt x="1666297" y="777589"/>
                </a:lnTo>
                <a:lnTo>
                  <a:pt x="1708038" y="749447"/>
                </a:lnTo>
                <a:lnTo>
                  <a:pt x="1736183" y="707706"/>
                </a:lnTo>
                <a:lnTo>
                  <a:pt x="1746503" y="656590"/>
                </a:lnTo>
                <a:lnTo>
                  <a:pt x="1746503" y="131318"/>
                </a:lnTo>
                <a:lnTo>
                  <a:pt x="1736183" y="80201"/>
                </a:lnTo>
                <a:lnTo>
                  <a:pt x="1708038" y="38460"/>
                </a:lnTo>
                <a:lnTo>
                  <a:pt x="1666297" y="10318"/>
                </a:lnTo>
                <a:lnTo>
                  <a:pt x="1615186"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1" name="object 81"/>
          <p:cNvSpPr/>
          <p:nvPr/>
        </p:nvSpPr>
        <p:spPr>
          <a:xfrm>
            <a:off x="5375148" y="5155122"/>
            <a:ext cx="1746885" cy="788035"/>
          </a:xfrm>
          <a:custGeom>
            <a:avLst/>
            <a:gdLst/>
            <a:ahLst/>
            <a:cxnLst/>
            <a:rect l="l" t="t" r="r" b="b"/>
            <a:pathLst>
              <a:path w="1746885" h="788035">
                <a:moveTo>
                  <a:pt x="0" y="131318"/>
                </a:moveTo>
                <a:lnTo>
                  <a:pt x="10320" y="80201"/>
                </a:lnTo>
                <a:lnTo>
                  <a:pt x="38465" y="38460"/>
                </a:lnTo>
                <a:lnTo>
                  <a:pt x="80206" y="10318"/>
                </a:lnTo>
                <a:lnTo>
                  <a:pt x="131317" y="0"/>
                </a:lnTo>
                <a:lnTo>
                  <a:pt x="1615186" y="0"/>
                </a:lnTo>
                <a:lnTo>
                  <a:pt x="1666297" y="10318"/>
                </a:lnTo>
                <a:lnTo>
                  <a:pt x="1708038" y="38460"/>
                </a:lnTo>
                <a:lnTo>
                  <a:pt x="1736183" y="80201"/>
                </a:lnTo>
                <a:lnTo>
                  <a:pt x="1746503" y="131318"/>
                </a:lnTo>
                <a:lnTo>
                  <a:pt x="1746503" y="656590"/>
                </a:lnTo>
                <a:lnTo>
                  <a:pt x="1736183" y="707706"/>
                </a:lnTo>
                <a:lnTo>
                  <a:pt x="1708038" y="749447"/>
                </a:lnTo>
                <a:lnTo>
                  <a:pt x="1666297" y="777589"/>
                </a:lnTo>
                <a:lnTo>
                  <a:pt x="1615186" y="787908"/>
                </a:lnTo>
                <a:lnTo>
                  <a:pt x="131317" y="787908"/>
                </a:lnTo>
                <a:lnTo>
                  <a:pt x="80206" y="777589"/>
                </a:lnTo>
                <a:lnTo>
                  <a:pt x="38465" y="749447"/>
                </a:lnTo>
                <a:lnTo>
                  <a:pt x="10320" y="707706"/>
                </a:lnTo>
                <a:lnTo>
                  <a:pt x="0" y="656590"/>
                </a:lnTo>
                <a:lnTo>
                  <a:pt x="0" y="131318"/>
                </a:lnTo>
                <a:close/>
              </a:path>
            </a:pathLst>
          </a:custGeom>
          <a:ln w="9144">
            <a:solidFill>
              <a:srgbClr val="000000"/>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2" name="object 82"/>
          <p:cNvSpPr txBox="1"/>
          <p:nvPr/>
        </p:nvSpPr>
        <p:spPr>
          <a:xfrm>
            <a:off x="5423915" y="5223803"/>
            <a:ext cx="1662430" cy="508000"/>
          </a:xfrm>
          <a:prstGeom prst="rect">
            <a:avLst/>
          </a:prstGeom>
        </p:spPr>
        <p:txBody>
          <a:bodyPr vert="horz" wrap="square" lIns="0" tIns="24130" rIns="0" bIns="0" rtlCol="0">
            <a:spAutoFit/>
          </a:bodyPr>
          <a:lstStyle/>
          <a:p>
            <a:pPr marR="5080" indent="185420">
              <a:lnSpc>
                <a:spcPts val="1880"/>
              </a:lnSpc>
              <a:spcBef>
                <a:spcPts val="190"/>
              </a:spcBef>
            </a:pPr>
            <a:r>
              <a:rPr sz="1600" b="1" spc="-10" dirty="0">
                <a:latin typeface="Times New Roman" panose="02020603050405020304" pitchFamily="18" charset="0"/>
                <a:cs typeface="Times New Roman" panose="02020603050405020304" pitchFamily="18" charset="0"/>
              </a:rPr>
              <a:t>Loại </a:t>
            </a:r>
            <a:r>
              <a:rPr sz="1600" b="1" spc="-5">
                <a:latin typeface="Times New Roman" panose="02020603050405020304" pitchFamily="18" charset="0"/>
                <a:cs typeface="Times New Roman" panose="02020603050405020304" pitchFamily="18" charset="0"/>
              </a:rPr>
              <a:t>các class</a:t>
            </a:r>
            <a:r>
              <a:rPr lang="en-US" sz="1600" b="1" spc="-5">
                <a:latin typeface="Times New Roman" panose="02020603050405020304" pitchFamily="18" charset="0"/>
                <a:cs typeface="Times New Roman" panose="02020603050405020304" pitchFamily="18" charset="0"/>
              </a:rPr>
              <a:t> </a:t>
            </a:r>
            <a:r>
              <a:rPr sz="1600" b="1" spc="-10">
                <a:latin typeface="Times New Roman" panose="02020603050405020304" pitchFamily="18" charset="0"/>
                <a:cs typeface="Times New Roman" panose="02020603050405020304" pitchFamily="18" charset="0"/>
              </a:rPr>
              <a:t>không </a:t>
            </a:r>
            <a:r>
              <a:rPr sz="1600" b="1" dirty="0">
                <a:latin typeface="Times New Roman" panose="02020603050405020304" pitchFamily="18" charset="0"/>
                <a:cs typeface="Times New Roman" panose="02020603050405020304" pitchFamily="18" charset="0"/>
              </a:rPr>
              <a:t>có </a:t>
            </a:r>
            <a:r>
              <a:rPr sz="1600" b="1" spc="-5" dirty="0">
                <a:latin typeface="Times New Roman" panose="02020603050405020304" pitchFamily="18" charset="0"/>
                <a:cs typeface="Times New Roman" panose="02020603050405020304" pitchFamily="18" charset="0"/>
              </a:rPr>
              <a:t>mục</a:t>
            </a:r>
            <a:r>
              <a:rPr sz="1600" b="1" spc="-45" dirty="0">
                <a:latin typeface="Times New Roman" panose="02020603050405020304" pitchFamily="18" charset="0"/>
                <a:cs typeface="Times New Roman" panose="02020603050405020304" pitchFamily="18" charset="0"/>
              </a:rPr>
              <a:t> </a:t>
            </a:r>
            <a:r>
              <a:rPr sz="1600" b="1" spc="-5" dirty="0">
                <a:latin typeface="Times New Roman" panose="02020603050405020304" pitchFamily="18" charset="0"/>
                <a:cs typeface="Times New Roman" panose="02020603050405020304" pitchFamily="18" charset="0"/>
              </a:rPr>
              <a:t>tiêu</a:t>
            </a:r>
            <a:endParaRPr sz="1600" b="1">
              <a:latin typeface="Times New Roman" panose="02020603050405020304" pitchFamily="18" charset="0"/>
              <a:cs typeface="Times New Roman" panose="02020603050405020304" pitchFamily="18" charset="0"/>
            </a:endParaRPr>
          </a:p>
        </p:txBody>
      </p:sp>
      <p:sp>
        <p:nvSpPr>
          <p:cNvPr id="83" name="object 83"/>
          <p:cNvSpPr/>
          <p:nvPr/>
        </p:nvSpPr>
        <p:spPr>
          <a:xfrm>
            <a:off x="4919471" y="5476686"/>
            <a:ext cx="326898" cy="355841"/>
          </a:xfrm>
          <a:prstGeom prst="rect">
            <a:avLst/>
          </a:prstGeom>
          <a:blipFill>
            <a:blip r:embed="rId1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4" name="object 84"/>
          <p:cNvSpPr/>
          <p:nvPr/>
        </p:nvSpPr>
        <p:spPr>
          <a:xfrm>
            <a:off x="4899659" y="5472114"/>
            <a:ext cx="317500" cy="317500"/>
          </a:xfrm>
          <a:custGeom>
            <a:avLst/>
            <a:gdLst/>
            <a:ahLst/>
            <a:cxnLst/>
            <a:rect l="l" t="t" r="r" b="b"/>
            <a:pathLst>
              <a:path w="317500" h="317500">
                <a:moveTo>
                  <a:pt x="237743" y="0"/>
                </a:moveTo>
                <a:lnTo>
                  <a:pt x="237743" y="79247"/>
                </a:lnTo>
                <a:lnTo>
                  <a:pt x="0" y="79247"/>
                </a:lnTo>
                <a:lnTo>
                  <a:pt x="0" y="237743"/>
                </a:lnTo>
                <a:lnTo>
                  <a:pt x="237743" y="237743"/>
                </a:lnTo>
                <a:lnTo>
                  <a:pt x="237743" y="316991"/>
                </a:lnTo>
                <a:lnTo>
                  <a:pt x="316991" y="158495"/>
                </a:lnTo>
                <a:lnTo>
                  <a:pt x="237743" y="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5" name="object 85"/>
          <p:cNvSpPr/>
          <p:nvPr/>
        </p:nvSpPr>
        <p:spPr>
          <a:xfrm>
            <a:off x="4899659" y="5472114"/>
            <a:ext cx="317500" cy="317500"/>
          </a:xfrm>
          <a:custGeom>
            <a:avLst/>
            <a:gdLst/>
            <a:ahLst/>
            <a:cxnLst/>
            <a:rect l="l" t="t" r="r" b="b"/>
            <a:pathLst>
              <a:path w="317500" h="317500">
                <a:moveTo>
                  <a:pt x="0" y="79247"/>
                </a:moveTo>
                <a:lnTo>
                  <a:pt x="237743" y="79247"/>
                </a:lnTo>
                <a:lnTo>
                  <a:pt x="237743" y="0"/>
                </a:lnTo>
                <a:lnTo>
                  <a:pt x="316991" y="158495"/>
                </a:lnTo>
                <a:lnTo>
                  <a:pt x="237743" y="316991"/>
                </a:lnTo>
                <a:lnTo>
                  <a:pt x="237743" y="237743"/>
                </a:lnTo>
                <a:lnTo>
                  <a:pt x="0" y="237743"/>
                </a:lnTo>
                <a:lnTo>
                  <a:pt x="0" y="79247"/>
                </a:lnTo>
                <a:close/>
              </a:path>
            </a:pathLst>
          </a:custGeom>
          <a:ln w="9144">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6" name="object 86"/>
          <p:cNvSpPr/>
          <p:nvPr/>
        </p:nvSpPr>
        <p:spPr>
          <a:xfrm>
            <a:off x="7299959" y="5476686"/>
            <a:ext cx="326898" cy="355841"/>
          </a:xfrm>
          <a:prstGeom prst="rect">
            <a:avLst/>
          </a:prstGeom>
          <a:blipFill>
            <a:blip r:embed="rId1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7" name="object 87"/>
          <p:cNvSpPr/>
          <p:nvPr/>
        </p:nvSpPr>
        <p:spPr>
          <a:xfrm>
            <a:off x="7280147" y="5472114"/>
            <a:ext cx="317500" cy="317500"/>
          </a:xfrm>
          <a:custGeom>
            <a:avLst/>
            <a:gdLst/>
            <a:ahLst/>
            <a:cxnLst/>
            <a:rect l="l" t="t" r="r" b="b"/>
            <a:pathLst>
              <a:path w="317500" h="317500">
                <a:moveTo>
                  <a:pt x="237743" y="0"/>
                </a:moveTo>
                <a:lnTo>
                  <a:pt x="237743" y="79247"/>
                </a:lnTo>
                <a:lnTo>
                  <a:pt x="0" y="79247"/>
                </a:lnTo>
                <a:lnTo>
                  <a:pt x="0" y="237743"/>
                </a:lnTo>
                <a:lnTo>
                  <a:pt x="237743" y="237743"/>
                </a:lnTo>
                <a:lnTo>
                  <a:pt x="237743" y="316991"/>
                </a:lnTo>
                <a:lnTo>
                  <a:pt x="316991" y="158495"/>
                </a:lnTo>
                <a:lnTo>
                  <a:pt x="237743" y="0"/>
                </a:lnTo>
                <a:close/>
              </a:path>
            </a:pathLst>
          </a:custGeom>
          <a:solidFill>
            <a:srgbClr val="33CC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8" name="object 88"/>
          <p:cNvSpPr/>
          <p:nvPr/>
        </p:nvSpPr>
        <p:spPr>
          <a:xfrm>
            <a:off x="7280147" y="5472114"/>
            <a:ext cx="317500" cy="317500"/>
          </a:xfrm>
          <a:custGeom>
            <a:avLst/>
            <a:gdLst/>
            <a:ahLst/>
            <a:cxnLst/>
            <a:rect l="l" t="t" r="r" b="b"/>
            <a:pathLst>
              <a:path w="317500" h="317500">
                <a:moveTo>
                  <a:pt x="0" y="79247"/>
                </a:moveTo>
                <a:lnTo>
                  <a:pt x="237743" y="79247"/>
                </a:lnTo>
                <a:lnTo>
                  <a:pt x="237743" y="0"/>
                </a:lnTo>
                <a:lnTo>
                  <a:pt x="316991" y="158495"/>
                </a:lnTo>
                <a:lnTo>
                  <a:pt x="237743" y="316991"/>
                </a:lnTo>
                <a:lnTo>
                  <a:pt x="237743" y="237743"/>
                </a:lnTo>
                <a:lnTo>
                  <a:pt x="0" y="237743"/>
                </a:lnTo>
                <a:lnTo>
                  <a:pt x="0" y="79247"/>
                </a:lnTo>
                <a:close/>
              </a:path>
            </a:pathLst>
          </a:custGeom>
          <a:ln w="9144">
            <a:solidFill>
              <a:srgbClr val="33CCFF"/>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89"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tượng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tt</a:t>
            </a:r>
            <a:r>
              <a:rPr lang="en-US" sz="320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
        <p:nvSpPr>
          <p:cNvPr id="90"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7773323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837144"/>
            <a:ext cx="10671110" cy="1141723"/>
          </a:xfrm>
          <a:prstGeom prst="rect">
            <a:avLst/>
          </a:prstGeom>
        </p:spPr>
        <p:txBody>
          <a:bodyPr vert="horz" wrap="square" lIns="0" tIns="103505" rIns="0" bIns="0" rtlCol="0">
            <a:spAutoFit/>
          </a:bodyPr>
          <a:lstStyle/>
          <a:p>
            <a:pPr marL="355600" indent="-342900">
              <a:lnSpc>
                <a:spcPct val="120000"/>
              </a:lnSpc>
              <a:spcBef>
                <a:spcPts val="815"/>
              </a:spcBef>
              <a:buSzPct val="100000"/>
              <a:buFont typeface="Wingdings" panose="05000000000000000000" pitchFamily="2" charset="2"/>
              <a:buChar char="§"/>
              <a:tabLst>
                <a:tab pos="233363" algn="l"/>
              </a:tabLst>
            </a:pPr>
            <a:r>
              <a:rPr sz="2800" b="1" dirty="0">
                <a:solidFill>
                  <a:srgbClr val="FF0000"/>
                </a:solidFill>
                <a:latin typeface="Times New Roman" panose="02020603050405020304" pitchFamily="18" charset="0"/>
                <a:cs typeface="Times New Roman" panose="02020603050405020304" pitchFamily="18" charset="0"/>
              </a:rPr>
              <a:t>Tiếp cận theo cụm danh từ (</a:t>
            </a:r>
            <a:r>
              <a:rPr sz="2800" b="1">
                <a:solidFill>
                  <a:srgbClr val="FF0000"/>
                </a:solidFill>
                <a:latin typeface="Times New Roman" panose="02020603050405020304" pitchFamily="18" charset="0"/>
                <a:cs typeface="Times New Roman" panose="02020603050405020304" pitchFamily="18" charset="0"/>
              </a:rPr>
              <a:t>noun –</a:t>
            </a:r>
            <a:r>
              <a:rPr lang="en-US" sz="2800" b="1">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phrase)</a:t>
            </a:r>
          </a:p>
          <a:p>
            <a:pPr marL="377825">
              <a:lnSpc>
                <a:spcPct val="120000"/>
              </a:lnSpc>
              <a:spcBef>
                <a:spcPts val="600"/>
              </a:spcBef>
            </a:pPr>
            <a:r>
              <a:rPr sz="2400">
                <a:solidFill>
                  <a:srgbClr val="00B050"/>
                </a:solidFill>
                <a:latin typeface="Times New Roman" panose="02020603050405020304" pitchFamily="18" charset="0"/>
                <a:cs typeface="Times New Roman" panose="02020603050405020304" pitchFamily="18" charset="0"/>
              </a:rPr>
              <a:t>Ví dụ: </a:t>
            </a:r>
            <a:r>
              <a:rPr sz="2400">
                <a:latin typeface="Times New Roman" panose="02020603050405020304" pitchFamily="18" charset="0"/>
                <a:cs typeface="Times New Roman" panose="02020603050405020304" pitchFamily="18" charset="0"/>
              </a:rPr>
              <a:t>xác định các class của hệ thống ATM</a:t>
            </a:r>
            <a:endParaRPr sz="2400" dirty="0">
              <a:latin typeface="Times New Roman" panose="02020603050405020304" pitchFamily="18" charset="0"/>
              <a:cs typeface="Times New Roman" panose="02020603050405020304" pitchFamily="18" charset="0"/>
            </a:endParaRPr>
          </a:p>
        </p:txBody>
      </p:sp>
      <p:sp>
        <p:nvSpPr>
          <p:cNvPr id="5"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graphicFrame>
        <p:nvGraphicFramePr>
          <p:cNvPr id="7" name="object 4"/>
          <p:cNvGraphicFramePr>
            <a:graphicFrameLocks noGrp="1"/>
          </p:cNvGraphicFramePr>
          <p:nvPr>
            <p:extLst>
              <p:ext uri="{D42A27DB-BD31-4B8C-83A1-F6EECF244321}">
                <p14:modId xmlns:p14="http://schemas.microsoft.com/office/powerpoint/2010/main" val="837442825"/>
              </p:ext>
            </p:extLst>
          </p:nvPr>
        </p:nvGraphicFramePr>
        <p:xfrm>
          <a:off x="381000" y="2069088"/>
          <a:ext cx="7696200" cy="4138929"/>
        </p:xfrm>
        <a:graphic>
          <a:graphicData uri="http://schemas.openxmlformats.org/drawingml/2006/table">
            <a:tbl>
              <a:tblPr firstRow="1" bandRow="1">
                <a:tableStyleId>{2D5ABB26-0587-4C30-8999-92F81FD0307C}</a:tableStyleId>
              </a:tblPr>
              <a:tblGrid>
                <a:gridCol w="38100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4138929">
                <a:tc>
                  <a:txBody>
                    <a:bodyPr/>
                    <a:lstStyle/>
                    <a:p>
                      <a:pPr marL="97790">
                        <a:lnSpc>
                          <a:spcPct val="100000"/>
                        </a:lnSpc>
                        <a:spcBef>
                          <a:spcPts val="310"/>
                        </a:spcBef>
                      </a:pPr>
                      <a:r>
                        <a:rPr sz="1600" b="1" spc="-5" dirty="0">
                          <a:solidFill>
                            <a:srgbClr val="002060"/>
                          </a:solidFill>
                          <a:latin typeface="Times New Roman"/>
                          <a:cs typeface="Times New Roman"/>
                        </a:rPr>
                        <a:t>Tài</a:t>
                      </a:r>
                      <a:r>
                        <a:rPr sz="1600" b="1" spc="-10" dirty="0">
                          <a:solidFill>
                            <a:srgbClr val="002060"/>
                          </a:solidFill>
                          <a:latin typeface="Times New Roman"/>
                          <a:cs typeface="Times New Roman"/>
                        </a:rPr>
                        <a:t> </a:t>
                      </a:r>
                      <a:r>
                        <a:rPr sz="1600" b="1" spc="-5" dirty="0">
                          <a:solidFill>
                            <a:srgbClr val="002060"/>
                          </a:solidFill>
                          <a:latin typeface="Times New Roman"/>
                          <a:cs typeface="Times New Roman"/>
                        </a:rPr>
                        <a:t>khoản</a:t>
                      </a:r>
                      <a:endParaRPr sz="1600">
                        <a:solidFill>
                          <a:srgbClr val="002060"/>
                        </a:solidFill>
                        <a:latin typeface="Times New Roman"/>
                        <a:cs typeface="Times New Roman"/>
                      </a:endParaRPr>
                    </a:p>
                    <a:p>
                      <a:pPr marL="97790" marR="2332355">
                        <a:lnSpc>
                          <a:spcPct val="120000"/>
                        </a:lnSpc>
                      </a:pPr>
                      <a:r>
                        <a:rPr sz="1600" b="1" spc="-5" dirty="0">
                          <a:solidFill>
                            <a:srgbClr val="002060"/>
                          </a:solidFill>
                          <a:latin typeface="Times New Roman"/>
                          <a:cs typeface="Times New Roman"/>
                        </a:rPr>
                        <a:t>Số dư </a:t>
                      </a:r>
                      <a:r>
                        <a:rPr sz="1600" b="1" spc="-5">
                          <a:solidFill>
                            <a:srgbClr val="002060"/>
                          </a:solidFill>
                          <a:latin typeface="Times New Roman"/>
                          <a:cs typeface="Times New Roman"/>
                        </a:rPr>
                        <a:t>tài</a:t>
                      </a:r>
                      <a:r>
                        <a:rPr sz="1600" b="1" spc="-45">
                          <a:solidFill>
                            <a:srgbClr val="002060"/>
                          </a:solidFill>
                          <a:latin typeface="Times New Roman"/>
                          <a:cs typeface="Times New Roman"/>
                        </a:rPr>
                        <a:t> </a:t>
                      </a:r>
                      <a:r>
                        <a:rPr sz="1600" b="1" spc="-5">
                          <a:solidFill>
                            <a:srgbClr val="002060"/>
                          </a:solidFill>
                          <a:latin typeface="Times New Roman"/>
                          <a:cs typeface="Times New Roman"/>
                        </a:rPr>
                        <a:t>khoản</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Số</a:t>
                      </a:r>
                      <a:r>
                        <a:rPr lang="en-US" sz="1600" b="1" spc="-5" baseline="0">
                          <a:solidFill>
                            <a:srgbClr val="002060"/>
                          </a:solidFill>
                          <a:latin typeface="Times New Roman"/>
                          <a:cs typeface="Times New Roman"/>
                        </a:rPr>
                        <a:t> </a:t>
                      </a:r>
                      <a:r>
                        <a:rPr sz="1600" b="1" spc="-5">
                          <a:solidFill>
                            <a:srgbClr val="002060"/>
                          </a:solidFill>
                          <a:latin typeface="Times New Roman"/>
                          <a:cs typeface="Times New Roman"/>
                        </a:rPr>
                        <a:t>tiền</a:t>
                      </a:r>
                      <a:endParaRPr sz="1600">
                        <a:solidFill>
                          <a:srgbClr val="002060"/>
                        </a:solidFill>
                        <a:latin typeface="Times New Roman"/>
                        <a:cs typeface="Times New Roman"/>
                      </a:endParaRPr>
                    </a:p>
                    <a:p>
                      <a:pPr marL="97790">
                        <a:lnSpc>
                          <a:spcPct val="100000"/>
                        </a:lnSpc>
                        <a:spcBef>
                          <a:spcPts val="385"/>
                        </a:spcBef>
                      </a:pPr>
                      <a:r>
                        <a:rPr sz="1600" b="1" spc="-10" dirty="0">
                          <a:solidFill>
                            <a:srgbClr val="002060"/>
                          </a:solidFill>
                          <a:latin typeface="Times New Roman"/>
                          <a:cs typeface="Times New Roman"/>
                        </a:rPr>
                        <a:t>Tiến </a:t>
                      </a:r>
                      <a:r>
                        <a:rPr sz="1600" b="1" spc="-5" dirty="0">
                          <a:solidFill>
                            <a:srgbClr val="002060"/>
                          </a:solidFill>
                          <a:latin typeface="Times New Roman"/>
                          <a:cs typeface="Times New Roman"/>
                        </a:rPr>
                        <a:t>trình đăng</a:t>
                      </a:r>
                      <a:r>
                        <a:rPr sz="1600" b="1" spc="30" dirty="0">
                          <a:solidFill>
                            <a:srgbClr val="002060"/>
                          </a:solidFill>
                          <a:latin typeface="Times New Roman"/>
                          <a:cs typeface="Times New Roman"/>
                        </a:rPr>
                        <a:t> </a:t>
                      </a:r>
                      <a:r>
                        <a:rPr sz="1600" b="1" spc="-5" dirty="0">
                          <a:solidFill>
                            <a:srgbClr val="002060"/>
                          </a:solidFill>
                          <a:latin typeface="Times New Roman"/>
                          <a:cs typeface="Times New Roman"/>
                        </a:rPr>
                        <a:t>nhập</a:t>
                      </a:r>
                      <a:endParaRPr sz="1600">
                        <a:solidFill>
                          <a:srgbClr val="002060"/>
                        </a:solidFill>
                        <a:latin typeface="Times New Roman"/>
                        <a:cs typeface="Times New Roman"/>
                      </a:endParaRPr>
                    </a:p>
                    <a:p>
                      <a:pPr marL="97790" marR="2762250" algn="just">
                        <a:lnSpc>
                          <a:spcPct val="120000"/>
                        </a:lnSpc>
                        <a:spcBef>
                          <a:spcPts val="5"/>
                        </a:spcBef>
                      </a:pPr>
                      <a:r>
                        <a:rPr sz="1600" b="1" spc="-5">
                          <a:solidFill>
                            <a:srgbClr val="002060"/>
                          </a:solidFill>
                          <a:latin typeface="Times New Roman"/>
                          <a:cs typeface="Times New Roman"/>
                        </a:rPr>
                        <a:t>Thẻ</a:t>
                      </a:r>
                      <a:r>
                        <a:rPr lang="en-US" sz="1600" b="1" spc="-5" baseline="0">
                          <a:solidFill>
                            <a:srgbClr val="002060"/>
                          </a:solidFill>
                          <a:latin typeface="Times New Roman"/>
                          <a:cs typeface="Times New Roman"/>
                        </a:rPr>
                        <a:t> ATM</a:t>
                      </a:r>
                    </a:p>
                    <a:p>
                      <a:pPr marL="97790" marR="2762250" algn="just">
                        <a:lnSpc>
                          <a:spcPct val="120000"/>
                        </a:lnSpc>
                        <a:spcBef>
                          <a:spcPts val="5"/>
                        </a:spcBef>
                      </a:pPr>
                      <a:r>
                        <a:rPr sz="1600" b="1">
                          <a:solidFill>
                            <a:srgbClr val="002060"/>
                          </a:solidFill>
                          <a:latin typeface="Times New Roman"/>
                          <a:cs typeface="Times New Roman"/>
                        </a:rPr>
                        <a:t>Máy</a:t>
                      </a:r>
                      <a:r>
                        <a:rPr lang="en-US" sz="1600" b="1" baseline="0">
                          <a:solidFill>
                            <a:srgbClr val="002060"/>
                          </a:solidFill>
                          <a:latin typeface="Times New Roman"/>
                          <a:cs typeface="Times New Roman"/>
                        </a:rPr>
                        <a:t> ATM</a:t>
                      </a:r>
                    </a:p>
                    <a:p>
                      <a:pPr marL="97790" marR="2762250" algn="just">
                        <a:lnSpc>
                          <a:spcPct val="120000"/>
                        </a:lnSpc>
                        <a:spcBef>
                          <a:spcPts val="5"/>
                        </a:spcBef>
                      </a:pPr>
                      <a:r>
                        <a:rPr sz="1600" b="1">
                          <a:solidFill>
                            <a:srgbClr val="002060"/>
                          </a:solidFill>
                          <a:latin typeface="Times New Roman"/>
                          <a:cs typeface="Times New Roman"/>
                        </a:rPr>
                        <a:t>Ngân</a:t>
                      </a:r>
                      <a:r>
                        <a:rPr sz="1600" b="1" spc="-95">
                          <a:solidFill>
                            <a:srgbClr val="002060"/>
                          </a:solidFill>
                          <a:latin typeface="Times New Roman"/>
                          <a:cs typeface="Times New Roman"/>
                        </a:rPr>
                        <a:t> </a:t>
                      </a:r>
                      <a:r>
                        <a:rPr sz="1600" b="1" spc="-5" dirty="0">
                          <a:solidFill>
                            <a:srgbClr val="002060"/>
                          </a:solidFill>
                          <a:latin typeface="Times New Roman"/>
                          <a:cs typeface="Times New Roman"/>
                        </a:rPr>
                        <a:t>hàng</a:t>
                      </a:r>
                      <a:endParaRPr sz="1600">
                        <a:solidFill>
                          <a:srgbClr val="002060"/>
                        </a:solidFill>
                        <a:latin typeface="Times New Roman"/>
                        <a:cs typeface="Times New Roman"/>
                      </a:endParaRPr>
                    </a:p>
                    <a:p>
                      <a:pPr marL="97790" marR="1685925">
                        <a:lnSpc>
                          <a:spcPct val="120000"/>
                        </a:lnSpc>
                      </a:pPr>
                      <a:r>
                        <a:rPr sz="1600" b="1" spc="-5" dirty="0">
                          <a:solidFill>
                            <a:srgbClr val="002060"/>
                          </a:solidFill>
                          <a:latin typeface="Times New Roman"/>
                          <a:cs typeface="Times New Roman"/>
                        </a:rPr>
                        <a:t>Khách hàng </a:t>
                      </a:r>
                      <a:r>
                        <a:rPr sz="1600" b="1">
                          <a:solidFill>
                            <a:srgbClr val="002060"/>
                          </a:solidFill>
                          <a:latin typeface="Times New Roman"/>
                          <a:cs typeface="Times New Roman"/>
                        </a:rPr>
                        <a:t>ngân</a:t>
                      </a:r>
                      <a:r>
                        <a:rPr sz="1600" b="1" spc="-30">
                          <a:solidFill>
                            <a:srgbClr val="002060"/>
                          </a:solidFill>
                          <a:latin typeface="Times New Roman"/>
                          <a:cs typeface="Times New Roman"/>
                        </a:rPr>
                        <a:t> </a:t>
                      </a:r>
                      <a:r>
                        <a:rPr sz="1600" b="1" spc="-5">
                          <a:solidFill>
                            <a:srgbClr val="002060"/>
                          </a:solidFill>
                          <a:latin typeface="Times New Roman"/>
                          <a:cs typeface="Times New Roman"/>
                        </a:rPr>
                        <a:t>hàng</a:t>
                      </a:r>
                      <a:r>
                        <a:rPr lang="en-US" sz="1600" b="1" spc="-5">
                          <a:solidFill>
                            <a:srgbClr val="002060"/>
                          </a:solidFill>
                          <a:latin typeface="Times New Roman"/>
                          <a:cs typeface="Times New Roman"/>
                        </a:rPr>
                        <a:t> </a:t>
                      </a:r>
                      <a:r>
                        <a:rPr sz="1600" b="1" spc="-10">
                          <a:solidFill>
                            <a:srgbClr val="002060"/>
                          </a:solidFill>
                          <a:latin typeface="Times New Roman"/>
                          <a:cs typeface="Times New Roman"/>
                        </a:rPr>
                        <a:t>Thẻ</a:t>
                      </a:r>
                      <a:endParaRPr sz="1600">
                        <a:solidFill>
                          <a:srgbClr val="002060"/>
                        </a:solidFill>
                        <a:latin typeface="Times New Roman"/>
                        <a:cs typeface="Times New Roman"/>
                      </a:endParaRPr>
                    </a:p>
                    <a:p>
                      <a:pPr marL="97790" marR="2647315">
                        <a:lnSpc>
                          <a:spcPct val="120000"/>
                        </a:lnSpc>
                      </a:pPr>
                      <a:r>
                        <a:rPr sz="1600" b="1" spc="-10">
                          <a:solidFill>
                            <a:srgbClr val="002060"/>
                          </a:solidFill>
                          <a:latin typeface="Times New Roman"/>
                          <a:cs typeface="Times New Roman"/>
                        </a:rPr>
                        <a:t>Tiền mặt</a:t>
                      </a:r>
                      <a:r>
                        <a:rPr lang="en-US" sz="1600" b="1" spc="-10">
                          <a:solidFill>
                            <a:srgbClr val="002060"/>
                          </a:solidFill>
                          <a:latin typeface="Times New Roman"/>
                          <a:cs typeface="Times New Roman"/>
                        </a:rPr>
                        <a:t> </a:t>
                      </a:r>
                      <a:r>
                        <a:rPr sz="1600" b="1" spc="-5">
                          <a:solidFill>
                            <a:srgbClr val="002060"/>
                          </a:solidFill>
                          <a:latin typeface="Times New Roman"/>
                          <a:cs typeface="Times New Roman"/>
                        </a:rPr>
                        <a:t>Khách</a:t>
                      </a:r>
                      <a:r>
                        <a:rPr sz="1600" b="1" spc="-55">
                          <a:solidFill>
                            <a:srgbClr val="002060"/>
                          </a:solidFill>
                          <a:latin typeface="Times New Roman"/>
                          <a:cs typeface="Times New Roman"/>
                        </a:rPr>
                        <a:t> </a:t>
                      </a:r>
                      <a:r>
                        <a:rPr sz="1600" b="1" spc="-5" dirty="0">
                          <a:solidFill>
                            <a:srgbClr val="002060"/>
                          </a:solidFill>
                          <a:latin typeface="Times New Roman"/>
                          <a:cs typeface="Times New Roman"/>
                        </a:rPr>
                        <a:t>hàng</a:t>
                      </a:r>
                      <a:endParaRPr sz="1600">
                        <a:solidFill>
                          <a:srgbClr val="002060"/>
                        </a:solidFill>
                        <a:latin typeface="Times New Roman"/>
                        <a:cs typeface="Times New Roman"/>
                      </a:endParaRPr>
                    </a:p>
                    <a:p>
                      <a:pPr marL="97790" marR="1755139">
                        <a:lnSpc>
                          <a:spcPct val="120000"/>
                        </a:lnSpc>
                      </a:pPr>
                      <a:r>
                        <a:rPr sz="1600" b="1" spc="-5" dirty="0">
                          <a:solidFill>
                            <a:srgbClr val="002060"/>
                          </a:solidFill>
                          <a:latin typeface="Times New Roman"/>
                          <a:cs typeface="Times New Roman"/>
                        </a:rPr>
                        <a:t>Tài khoản </a:t>
                      </a:r>
                      <a:r>
                        <a:rPr sz="1600" b="1" spc="-5">
                          <a:solidFill>
                            <a:srgbClr val="002060"/>
                          </a:solidFill>
                          <a:latin typeface="Times New Roman"/>
                          <a:cs typeface="Times New Roman"/>
                        </a:rPr>
                        <a:t>khách hàng</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VND</a:t>
                      </a:r>
                      <a:endParaRPr sz="1600">
                        <a:solidFill>
                          <a:srgbClr val="002060"/>
                        </a:solidFill>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310"/>
                        </a:spcBef>
                      </a:pPr>
                      <a:r>
                        <a:rPr sz="1600" strike="sngStrike" spc="-395" dirty="0">
                          <a:solidFill>
                            <a:srgbClr val="002060"/>
                          </a:solidFill>
                          <a:latin typeface="Times New Roman"/>
                          <a:cs typeface="Times New Roman"/>
                        </a:rPr>
                        <a:t> </a:t>
                      </a:r>
                      <a:r>
                        <a:rPr sz="1600" b="1" u="none" strike="noStrike" spc="-5" baseline="0" dirty="0">
                          <a:solidFill>
                            <a:schemeClr val="tx1"/>
                          </a:solidFill>
                          <a:latin typeface="Times New Roman"/>
                          <a:cs typeface="Times New Roman"/>
                        </a:rPr>
                        <a:t>Bao</a:t>
                      </a:r>
                      <a:r>
                        <a:rPr sz="1600" b="1" u="none" strike="noStrike" spc="-20" baseline="0" dirty="0">
                          <a:solidFill>
                            <a:schemeClr val="tx1"/>
                          </a:solidFill>
                          <a:latin typeface="Times New Roman"/>
                          <a:cs typeface="Times New Roman"/>
                        </a:rPr>
                        <a:t> </a:t>
                      </a:r>
                      <a:r>
                        <a:rPr sz="1600" b="1" u="none" strike="noStrike" spc="-10" baseline="0" dirty="0">
                          <a:solidFill>
                            <a:schemeClr val="tx1"/>
                          </a:solidFill>
                          <a:latin typeface="Times New Roman"/>
                          <a:cs typeface="Times New Roman"/>
                        </a:rPr>
                        <a:t>thư</a:t>
                      </a:r>
                      <a:endParaRPr sz="1600" u="none" strike="noStrike" baseline="0" dirty="0">
                        <a:solidFill>
                          <a:schemeClr val="tx1"/>
                        </a:solidFill>
                        <a:latin typeface="Times New Roman"/>
                        <a:cs typeface="Times New Roman"/>
                      </a:endParaRPr>
                    </a:p>
                    <a:p>
                      <a:pPr marL="98425" marR="2934970" indent="-1270" algn="just">
                        <a:lnSpc>
                          <a:spcPct val="120000"/>
                        </a:lnSpc>
                      </a:pPr>
                      <a:r>
                        <a:rPr sz="1600" strike="noStrike" spc="-395" baseline="0" dirty="0">
                          <a:solidFill>
                            <a:schemeClr val="tx1"/>
                          </a:solidFill>
                          <a:latin typeface="Times New Roman"/>
                          <a:cs typeface="Times New Roman"/>
                        </a:rPr>
                        <a:t> </a:t>
                      </a:r>
                      <a:r>
                        <a:rPr sz="1600" b="1" strike="noStrike" spc="-5" baseline="0" dirty="0">
                          <a:solidFill>
                            <a:schemeClr val="tx1"/>
                          </a:solidFill>
                          <a:latin typeface="Times New Roman"/>
                          <a:cs typeface="Times New Roman"/>
                        </a:rPr>
                        <a:t>Bốn </a:t>
                      </a:r>
                      <a:r>
                        <a:rPr sz="1600" b="1" strike="noStrike" spc="-10" baseline="0">
                          <a:solidFill>
                            <a:schemeClr val="tx1"/>
                          </a:solidFill>
                          <a:latin typeface="Times New Roman"/>
                          <a:cs typeface="Times New Roman"/>
                        </a:rPr>
                        <a:t>ký</a:t>
                      </a:r>
                      <a:r>
                        <a:rPr sz="1600" b="1" strike="noStrike" spc="-85" baseline="0">
                          <a:solidFill>
                            <a:schemeClr val="tx1"/>
                          </a:solidFill>
                          <a:latin typeface="Times New Roman"/>
                          <a:cs typeface="Times New Roman"/>
                        </a:rPr>
                        <a:t> </a:t>
                      </a:r>
                      <a:r>
                        <a:rPr sz="1600" b="1" strike="noStrike" spc="-5" baseline="0">
                          <a:solidFill>
                            <a:schemeClr val="tx1"/>
                          </a:solidFill>
                          <a:latin typeface="Times New Roman"/>
                          <a:cs typeface="Times New Roman"/>
                        </a:rPr>
                        <a:t>số</a:t>
                      </a:r>
                      <a:r>
                        <a:rPr lang="en-US" sz="1600" b="1" strike="noStrike" spc="-5" baseline="0">
                          <a:solidFill>
                            <a:schemeClr val="tx1"/>
                          </a:solidFill>
                          <a:latin typeface="Times New Roman"/>
                          <a:cs typeface="Times New Roman"/>
                        </a:rPr>
                        <a:t> </a:t>
                      </a:r>
                      <a:r>
                        <a:rPr sz="1600" b="1" strike="noStrike" spc="-5">
                          <a:solidFill>
                            <a:srgbClr val="002060"/>
                          </a:solidFill>
                          <a:latin typeface="Times New Roman"/>
                          <a:cs typeface="Times New Roman"/>
                        </a:rPr>
                        <a:t>Ngân</a:t>
                      </a:r>
                      <a:r>
                        <a:rPr sz="1600" b="1" strike="noStrike" spc="-90">
                          <a:solidFill>
                            <a:srgbClr val="002060"/>
                          </a:solidFill>
                          <a:latin typeface="Times New Roman"/>
                          <a:cs typeface="Times New Roman"/>
                        </a:rPr>
                        <a:t> </a:t>
                      </a:r>
                      <a:r>
                        <a:rPr sz="1600" b="1" strike="noStrike" spc="-10">
                          <a:solidFill>
                            <a:srgbClr val="002060"/>
                          </a:solidFill>
                          <a:latin typeface="Times New Roman"/>
                          <a:cs typeface="Times New Roman"/>
                        </a:rPr>
                        <a:t>quỹ</a:t>
                      </a:r>
                      <a:r>
                        <a:rPr lang="en-US" sz="1600" b="1" strike="noStrike" spc="-10">
                          <a:solidFill>
                            <a:srgbClr val="002060"/>
                          </a:solidFill>
                          <a:latin typeface="Times New Roman"/>
                          <a:cs typeface="Times New Roman"/>
                        </a:rPr>
                        <a:t> </a:t>
                      </a:r>
                      <a:r>
                        <a:rPr sz="1600" b="1" strike="noStrike" spc="-10">
                          <a:solidFill>
                            <a:srgbClr val="002060"/>
                          </a:solidFill>
                          <a:latin typeface="Times New Roman"/>
                          <a:cs typeface="Times New Roman"/>
                        </a:rPr>
                        <a:t>Tiền</a:t>
                      </a:r>
                      <a:endParaRPr sz="1600" dirty="0">
                        <a:solidFill>
                          <a:srgbClr val="002060"/>
                        </a:solidFill>
                        <a:latin typeface="Times New Roman"/>
                        <a:cs typeface="Times New Roman"/>
                      </a:endParaRPr>
                    </a:p>
                    <a:p>
                      <a:pPr marL="98425">
                        <a:lnSpc>
                          <a:spcPct val="100000"/>
                        </a:lnSpc>
                        <a:spcBef>
                          <a:spcPts val="390"/>
                        </a:spcBef>
                      </a:pPr>
                      <a:r>
                        <a:rPr sz="1600" b="1" spc="-5" dirty="0">
                          <a:solidFill>
                            <a:srgbClr val="002060"/>
                          </a:solidFill>
                          <a:latin typeface="Times New Roman"/>
                          <a:cs typeface="Times New Roman"/>
                        </a:rPr>
                        <a:t>PIN</a:t>
                      </a:r>
                      <a:endParaRPr sz="1600" dirty="0">
                        <a:solidFill>
                          <a:srgbClr val="002060"/>
                        </a:solidFill>
                        <a:latin typeface="Times New Roman"/>
                        <a:cs typeface="Times New Roman"/>
                      </a:endParaRPr>
                    </a:p>
                    <a:p>
                      <a:pPr marL="98425" marR="2252980">
                        <a:lnSpc>
                          <a:spcPct val="120000"/>
                        </a:lnSpc>
                      </a:pPr>
                      <a:r>
                        <a:rPr sz="1600" b="1" spc="-5" dirty="0">
                          <a:solidFill>
                            <a:srgbClr val="002060"/>
                          </a:solidFill>
                          <a:latin typeface="Times New Roman"/>
                          <a:cs typeface="Times New Roman"/>
                        </a:rPr>
                        <a:t>PIN </a:t>
                      </a:r>
                      <a:r>
                        <a:rPr sz="1600" b="1" spc="-10" dirty="0">
                          <a:solidFill>
                            <a:srgbClr val="002060"/>
                          </a:solidFill>
                          <a:latin typeface="Times New Roman"/>
                          <a:cs typeface="Times New Roman"/>
                        </a:rPr>
                        <a:t>không </a:t>
                      </a:r>
                      <a:r>
                        <a:rPr sz="1600" b="1" spc="-10">
                          <a:solidFill>
                            <a:srgbClr val="002060"/>
                          </a:solidFill>
                          <a:latin typeface="Times New Roman"/>
                          <a:cs typeface="Times New Roman"/>
                        </a:rPr>
                        <a:t>hợp </a:t>
                      </a:r>
                      <a:r>
                        <a:rPr sz="1600" b="1" spc="-5">
                          <a:solidFill>
                            <a:srgbClr val="002060"/>
                          </a:solidFill>
                          <a:latin typeface="Times New Roman"/>
                          <a:cs typeface="Times New Roman"/>
                        </a:rPr>
                        <a:t>lệ</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Thông</a:t>
                      </a:r>
                      <a:r>
                        <a:rPr sz="1600" b="1" spc="-25">
                          <a:solidFill>
                            <a:srgbClr val="002060"/>
                          </a:solidFill>
                          <a:latin typeface="Times New Roman"/>
                          <a:cs typeface="Times New Roman"/>
                        </a:rPr>
                        <a:t> </a:t>
                      </a:r>
                      <a:r>
                        <a:rPr sz="1600" b="1" spc="-10" dirty="0">
                          <a:solidFill>
                            <a:srgbClr val="002060"/>
                          </a:solidFill>
                          <a:latin typeface="Times New Roman"/>
                          <a:cs typeface="Times New Roman"/>
                        </a:rPr>
                        <a:t>điệp</a:t>
                      </a:r>
                      <a:endParaRPr sz="1600" dirty="0">
                        <a:solidFill>
                          <a:srgbClr val="002060"/>
                        </a:solidFill>
                        <a:latin typeface="Times New Roman"/>
                        <a:cs typeface="Times New Roman"/>
                      </a:endParaRPr>
                    </a:p>
                    <a:p>
                      <a:pPr marL="98425" marR="2928620">
                        <a:lnSpc>
                          <a:spcPct val="120000"/>
                        </a:lnSpc>
                      </a:pPr>
                      <a:r>
                        <a:rPr sz="1600" b="1" spc="-5">
                          <a:solidFill>
                            <a:srgbClr val="002060"/>
                          </a:solidFill>
                          <a:latin typeface="Times New Roman"/>
                          <a:cs typeface="Times New Roman"/>
                        </a:rPr>
                        <a:t>Mật</a:t>
                      </a:r>
                      <a:r>
                        <a:rPr sz="1600" b="1" spc="-75">
                          <a:solidFill>
                            <a:srgbClr val="002060"/>
                          </a:solidFill>
                          <a:latin typeface="Times New Roman"/>
                          <a:cs typeface="Times New Roman"/>
                        </a:rPr>
                        <a:t> </a:t>
                      </a:r>
                      <a:r>
                        <a:rPr sz="1600" b="1" spc="-10">
                          <a:solidFill>
                            <a:srgbClr val="002060"/>
                          </a:solidFill>
                          <a:latin typeface="Times New Roman"/>
                          <a:cs typeface="Times New Roman"/>
                        </a:rPr>
                        <a:t>khẩu</a:t>
                      </a:r>
                      <a:r>
                        <a:rPr lang="en-US" sz="1600" b="1" spc="-10">
                          <a:solidFill>
                            <a:srgbClr val="002060"/>
                          </a:solidFill>
                          <a:latin typeface="Times New Roman"/>
                          <a:cs typeface="Times New Roman"/>
                        </a:rPr>
                        <a:t> </a:t>
                      </a:r>
                      <a:r>
                        <a:rPr sz="1600" b="1" spc="-5">
                          <a:solidFill>
                            <a:srgbClr val="002060"/>
                          </a:solidFill>
                          <a:latin typeface="Times New Roman"/>
                          <a:cs typeface="Times New Roman"/>
                        </a:rPr>
                        <a:t>Mã</a:t>
                      </a:r>
                      <a:r>
                        <a:rPr sz="1600" b="1" spc="-20">
                          <a:solidFill>
                            <a:srgbClr val="002060"/>
                          </a:solidFill>
                          <a:latin typeface="Times New Roman"/>
                          <a:cs typeface="Times New Roman"/>
                        </a:rPr>
                        <a:t> </a:t>
                      </a:r>
                      <a:r>
                        <a:rPr sz="1600" b="1" spc="-10" dirty="0">
                          <a:solidFill>
                            <a:srgbClr val="002060"/>
                          </a:solidFill>
                          <a:latin typeface="Times New Roman"/>
                          <a:cs typeface="Times New Roman"/>
                        </a:rPr>
                        <a:t>PIN</a:t>
                      </a:r>
                      <a:endParaRPr sz="1600" dirty="0">
                        <a:solidFill>
                          <a:srgbClr val="002060"/>
                        </a:solidFill>
                        <a:latin typeface="Times New Roman"/>
                        <a:cs typeface="Times New Roman"/>
                      </a:endParaRPr>
                    </a:p>
                    <a:p>
                      <a:pPr marL="98425">
                        <a:lnSpc>
                          <a:spcPct val="100000"/>
                        </a:lnSpc>
                        <a:spcBef>
                          <a:spcPts val="385"/>
                        </a:spcBef>
                      </a:pPr>
                      <a:r>
                        <a:rPr sz="1600" b="1" spc="-5" dirty="0">
                          <a:solidFill>
                            <a:srgbClr val="002060"/>
                          </a:solidFill>
                          <a:latin typeface="Times New Roman"/>
                          <a:cs typeface="Times New Roman"/>
                        </a:rPr>
                        <a:t>Mẫu</a:t>
                      </a:r>
                      <a:r>
                        <a:rPr sz="1600" b="1" spc="-100" dirty="0">
                          <a:solidFill>
                            <a:srgbClr val="002060"/>
                          </a:solidFill>
                          <a:latin typeface="Times New Roman"/>
                          <a:cs typeface="Times New Roman"/>
                        </a:rPr>
                        <a:t> </a:t>
                      </a:r>
                      <a:r>
                        <a:rPr sz="1600" b="1" spc="-5" dirty="0">
                          <a:solidFill>
                            <a:srgbClr val="002060"/>
                          </a:solidFill>
                          <a:latin typeface="Times New Roman"/>
                          <a:cs typeface="Times New Roman"/>
                        </a:rPr>
                        <a:t>tin</a:t>
                      </a:r>
                      <a:endParaRPr sz="1600" dirty="0">
                        <a:solidFill>
                          <a:srgbClr val="002060"/>
                        </a:solidFill>
                        <a:latin typeface="Times New Roman"/>
                        <a:cs typeface="Times New Roman"/>
                      </a:endParaRPr>
                    </a:p>
                    <a:p>
                      <a:pPr marL="97155">
                        <a:lnSpc>
                          <a:spcPct val="100000"/>
                        </a:lnSpc>
                        <a:spcBef>
                          <a:spcPts val="384"/>
                        </a:spcBef>
                      </a:pPr>
                      <a:r>
                        <a:rPr sz="1600" strike="sngStrike" spc="-395" dirty="0">
                          <a:solidFill>
                            <a:schemeClr val="tx1"/>
                          </a:solidFill>
                          <a:latin typeface="Times New Roman"/>
                          <a:cs typeface="Times New Roman"/>
                        </a:rPr>
                        <a:t> </a:t>
                      </a:r>
                      <a:r>
                        <a:rPr sz="1600" b="1" strike="noStrike" spc="-5" baseline="0" dirty="0">
                          <a:solidFill>
                            <a:schemeClr val="tx1"/>
                          </a:solidFill>
                          <a:latin typeface="Times New Roman"/>
                          <a:cs typeface="Times New Roman"/>
                        </a:rPr>
                        <a:t>Bước</a:t>
                      </a:r>
                      <a:endParaRPr sz="1600" strike="noStrike" baseline="0" dirty="0">
                        <a:solidFill>
                          <a:schemeClr val="tx1"/>
                        </a:solidFill>
                        <a:latin typeface="Times New Roman"/>
                        <a:cs typeface="Times New Roman"/>
                      </a:endParaRPr>
                    </a:p>
                    <a:p>
                      <a:pPr marL="98425" marR="2939415">
                        <a:lnSpc>
                          <a:spcPct val="120000"/>
                        </a:lnSpc>
                      </a:pPr>
                      <a:r>
                        <a:rPr sz="1600" b="1" spc="-10">
                          <a:solidFill>
                            <a:srgbClr val="002060"/>
                          </a:solidFill>
                          <a:latin typeface="Times New Roman"/>
                          <a:cs typeface="Times New Roman"/>
                        </a:rPr>
                        <a:t>Hệ </a:t>
                      </a:r>
                      <a:r>
                        <a:rPr sz="1600" b="1" spc="-5">
                          <a:solidFill>
                            <a:srgbClr val="002060"/>
                          </a:solidFill>
                          <a:latin typeface="Times New Roman"/>
                          <a:cs typeface="Times New Roman"/>
                        </a:rPr>
                        <a:t>thống</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Giao</a:t>
                      </a:r>
                      <a:r>
                        <a:rPr sz="1600" b="1" spc="-65">
                          <a:solidFill>
                            <a:srgbClr val="002060"/>
                          </a:solidFill>
                          <a:latin typeface="Times New Roman"/>
                          <a:cs typeface="Times New Roman"/>
                        </a:rPr>
                        <a:t> </a:t>
                      </a:r>
                      <a:r>
                        <a:rPr sz="1600" b="1" spc="-10" dirty="0">
                          <a:solidFill>
                            <a:srgbClr val="002060"/>
                          </a:solidFill>
                          <a:latin typeface="Times New Roman"/>
                          <a:cs typeface="Times New Roman"/>
                        </a:rPr>
                        <a:t>dịch</a:t>
                      </a:r>
                      <a:endParaRPr sz="1600" dirty="0">
                        <a:solidFill>
                          <a:srgbClr val="002060"/>
                        </a:solidFill>
                        <a:latin typeface="Times New Roman"/>
                        <a:cs typeface="Times New Roman"/>
                      </a:endParaRPr>
                    </a:p>
                    <a:p>
                      <a:pPr marL="98425">
                        <a:lnSpc>
                          <a:spcPct val="100000"/>
                        </a:lnSpc>
                        <a:spcBef>
                          <a:spcPts val="380"/>
                        </a:spcBef>
                      </a:pPr>
                      <a:r>
                        <a:rPr sz="1600" b="1" spc="-5" dirty="0">
                          <a:solidFill>
                            <a:srgbClr val="002060"/>
                          </a:solidFill>
                          <a:latin typeface="Times New Roman"/>
                          <a:cs typeface="Times New Roman"/>
                        </a:rPr>
                        <a:t>Lịch sử giao</a:t>
                      </a:r>
                      <a:r>
                        <a:rPr sz="1600" b="1" spc="15" dirty="0">
                          <a:solidFill>
                            <a:srgbClr val="002060"/>
                          </a:solidFill>
                          <a:latin typeface="Times New Roman"/>
                          <a:cs typeface="Times New Roman"/>
                        </a:rPr>
                        <a:t> </a:t>
                      </a:r>
                      <a:r>
                        <a:rPr sz="1600" b="1" spc="-10" dirty="0">
                          <a:solidFill>
                            <a:srgbClr val="002060"/>
                          </a:solidFill>
                          <a:latin typeface="Times New Roman"/>
                          <a:cs typeface="Times New Roman"/>
                        </a:rPr>
                        <a:t>dịch</a:t>
                      </a:r>
                      <a:endParaRPr sz="1600" dirty="0">
                        <a:solidFill>
                          <a:srgbClr val="002060"/>
                        </a:solidFill>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2" name="TextBox 1"/>
          <p:cNvSpPr txBox="1"/>
          <p:nvPr/>
        </p:nvSpPr>
        <p:spPr>
          <a:xfrm>
            <a:off x="8305800" y="3676887"/>
            <a:ext cx="3886200" cy="513730"/>
          </a:xfrm>
          <a:prstGeom prst="rect">
            <a:avLst/>
          </a:prstGeom>
          <a:noFill/>
        </p:spPr>
        <p:txBody>
          <a:bodyPr wrap="square" rtlCol="0">
            <a:spAutoFit/>
          </a:bodyPr>
          <a:lstStyle/>
          <a:p>
            <a:pPr marL="12700">
              <a:lnSpc>
                <a:spcPct val="120000"/>
              </a:lnSpc>
              <a:spcBef>
                <a:spcPts val="815"/>
              </a:spcBef>
              <a:buSzPct val="100000"/>
              <a:tabLst>
                <a:tab pos="233363" algn="l"/>
              </a:tabLst>
            </a:pPr>
            <a:r>
              <a:rPr lang="vi-VN" sz="2500" b="1">
                <a:solidFill>
                  <a:srgbClr val="FF0000"/>
                </a:solidFill>
                <a:latin typeface="Times New Roman" panose="02020603050405020304" pitchFamily="18" charset="0"/>
                <a:cs typeface="Times New Roman" panose="02020603050405020304" pitchFamily="18" charset="0"/>
              </a:rPr>
              <a:t>Các cụm danh từ tìm được</a:t>
            </a:r>
            <a:endParaRPr lang="en-US" sz="2500" b="1">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2534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 y="914401"/>
            <a:ext cx="8632826" cy="1061829"/>
          </a:xfrm>
          <a:prstGeom prst="rect">
            <a:avLst/>
          </a:prstGeom>
        </p:spPr>
        <p:txBody>
          <a:bodyPr vert="horz" wrap="square" lIns="0" tIns="121920" rIns="0" bIns="0" rtlCol="0">
            <a:spAutoFit/>
          </a:bodyPr>
          <a:lstStyle/>
          <a:p>
            <a:pPr marL="469900" indent="-457200">
              <a:spcBef>
                <a:spcPts val="960"/>
              </a:spcBef>
              <a:buSzPct val="100000"/>
              <a:buFont typeface="Wingdings" panose="05000000000000000000" pitchFamily="2" charset="2"/>
              <a:buChar char="§"/>
              <a:tabLst>
                <a:tab pos="332105" algn="l"/>
                <a:tab pos="332740" algn="l"/>
              </a:tabLst>
            </a:pPr>
            <a:r>
              <a:rPr sz="2800" b="1" spc="-30">
                <a:solidFill>
                  <a:srgbClr val="FF0000"/>
                </a:solidFill>
                <a:latin typeface="Times New Roman" panose="02020603050405020304" pitchFamily="18" charset="0"/>
                <a:cs typeface="Times New Roman" panose="02020603050405020304" pitchFamily="18" charset="0"/>
              </a:rPr>
              <a:t>Tiếp </a:t>
            </a:r>
            <a:r>
              <a:rPr sz="2800" b="1" dirty="0">
                <a:solidFill>
                  <a:srgbClr val="FF0000"/>
                </a:solidFill>
                <a:latin typeface="Times New Roman" panose="02020603050405020304" pitchFamily="18" charset="0"/>
                <a:cs typeface="Times New Roman" panose="02020603050405020304" pitchFamily="18" charset="0"/>
              </a:rPr>
              <a:t>cận </a:t>
            </a:r>
            <a:r>
              <a:rPr sz="2800" b="1" spc="-5" dirty="0">
                <a:solidFill>
                  <a:srgbClr val="FF0000"/>
                </a:solidFill>
                <a:latin typeface="Times New Roman" panose="02020603050405020304" pitchFamily="18" charset="0"/>
                <a:cs typeface="Times New Roman" panose="02020603050405020304" pitchFamily="18" charset="0"/>
              </a:rPr>
              <a:t>theo cụm danh </a:t>
            </a:r>
            <a:r>
              <a:rPr sz="2800" b="1" dirty="0">
                <a:solidFill>
                  <a:srgbClr val="FF0000"/>
                </a:solidFill>
                <a:latin typeface="Times New Roman" panose="02020603050405020304" pitchFamily="18" charset="0"/>
                <a:cs typeface="Times New Roman" panose="02020603050405020304" pitchFamily="18" charset="0"/>
              </a:rPr>
              <a:t>từ (</a:t>
            </a:r>
            <a:r>
              <a:rPr sz="2800" b="1">
                <a:solidFill>
                  <a:srgbClr val="FF0000"/>
                </a:solidFill>
                <a:latin typeface="Times New Roman" panose="02020603050405020304" pitchFamily="18" charset="0"/>
                <a:cs typeface="Times New Roman" panose="02020603050405020304" pitchFamily="18" charset="0"/>
              </a:rPr>
              <a:t>noun</a:t>
            </a:r>
            <a:r>
              <a:rPr sz="2800" b="1" spc="55">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a:t>
            </a:r>
            <a:r>
              <a:rPr lang="en-US" sz="2800" b="1">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phrase</a:t>
            </a:r>
            <a:r>
              <a:rPr sz="2800" b="1" dirty="0">
                <a:solidFill>
                  <a:srgbClr val="FF0000"/>
                </a:solidFill>
                <a:latin typeface="Times New Roman" panose="02020603050405020304" pitchFamily="18" charset="0"/>
                <a:cs typeface="Times New Roman" panose="02020603050405020304" pitchFamily="18" charset="0"/>
              </a:rPr>
              <a:t>)</a:t>
            </a:r>
            <a:endParaRPr sz="2800" b="1">
              <a:solidFill>
                <a:srgbClr val="FF0000"/>
              </a:solidFill>
              <a:latin typeface="Times New Roman" panose="02020603050405020304" pitchFamily="18" charset="0"/>
              <a:cs typeface="Times New Roman" panose="02020603050405020304" pitchFamily="18" charset="0"/>
            </a:endParaRPr>
          </a:p>
          <a:p>
            <a:pPr marL="835025" indent="-457200">
              <a:spcBef>
                <a:spcPts val="625"/>
              </a:spcBef>
              <a:buFont typeface="Arial" panose="020B0604020202020204" pitchFamily="34" charset="0"/>
              <a:buChar char="•"/>
            </a:pPr>
            <a:r>
              <a:rPr sz="2800" spc="-5">
                <a:solidFill>
                  <a:srgbClr val="00B050"/>
                </a:solidFill>
                <a:latin typeface="Times New Roman" panose="02020603050405020304" pitchFamily="18" charset="0"/>
                <a:cs typeface="Times New Roman" panose="02020603050405020304" pitchFamily="18" charset="0"/>
              </a:rPr>
              <a:t>Loại </a:t>
            </a:r>
            <a:r>
              <a:rPr sz="2800" spc="-5" dirty="0">
                <a:solidFill>
                  <a:srgbClr val="00B050"/>
                </a:solidFill>
                <a:latin typeface="Times New Roman" panose="02020603050405020304" pitchFamily="18" charset="0"/>
                <a:cs typeface="Times New Roman" panose="02020603050405020304" pitchFamily="18" charset="0"/>
              </a:rPr>
              <a:t>bỏ </a:t>
            </a:r>
            <a:r>
              <a:rPr sz="2800" dirty="0">
                <a:solidFill>
                  <a:srgbClr val="00B050"/>
                </a:solidFill>
                <a:latin typeface="Times New Roman" panose="02020603050405020304" pitchFamily="18" charset="0"/>
                <a:cs typeface="Times New Roman" panose="02020603050405020304" pitchFamily="18" charset="0"/>
              </a:rPr>
              <a:t>các </a:t>
            </a:r>
            <a:r>
              <a:rPr sz="2800" spc="-5" dirty="0">
                <a:solidFill>
                  <a:srgbClr val="00B050"/>
                </a:solidFill>
                <a:latin typeface="Times New Roman" panose="02020603050405020304" pitchFamily="18" charset="0"/>
                <a:cs typeface="Times New Roman" panose="02020603050405020304" pitchFamily="18" charset="0"/>
              </a:rPr>
              <a:t>lớp giả</a:t>
            </a:r>
            <a:r>
              <a:rPr sz="2800" spc="210" dirty="0">
                <a:solidFill>
                  <a:srgbClr val="00B050"/>
                </a:solidFill>
                <a:latin typeface="Times New Roman" panose="02020603050405020304" pitchFamily="18" charset="0"/>
                <a:cs typeface="Times New Roman" panose="02020603050405020304" pitchFamily="18" charset="0"/>
              </a:rPr>
              <a:t> </a:t>
            </a:r>
            <a:r>
              <a:rPr sz="2800" spc="-5" dirty="0">
                <a:solidFill>
                  <a:srgbClr val="00B050"/>
                </a:solidFill>
                <a:latin typeface="Times New Roman" panose="02020603050405020304" pitchFamily="18" charset="0"/>
                <a:cs typeface="Times New Roman" panose="02020603050405020304" pitchFamily="18" charset="0"/>
              </a:rPr>
              <a:t>(irrelevant):</a:t>
            </a:r>
            <a:endParaRPr sz="2800">
              <a:solidFill>
                <a:srgbClr val="00B050"/>
              </a:solidFill>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2607868262"/>
              </p:ext>
            </p:extLst>
          </p:nvPr>
        </p:nvGraphicFramePr>
        <p:xfrm>
          <a:off x="2133600" y="2175653"/>
          <a:ext cx="7696200" cy="4138929"/>
        </p:xfrm>
        <a:graphic>
          <a:graphicData uri="http://schemas.openxmlformats.org/drawingml/2006/table">
            <a:tbl>
              <a:tblPr firstRow="1" bandRow="1">
                <a:tableStyleId>{2D5ABB26-0587-4C30-8999-92F81FD0307C}</a:tableStyleId>
              </a:tblPr>
              <a:tblGrid>
                <a:gridCol w="38100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4138929">
                <a:tc>
                  <a:txBody>
                    <a:bodyPr/>
                    <a:lstStyle/>
                    <a:p>
                      <a:pPr marL="97790">
                        <a:lnSpc>
                          <a:spcPct val="100000"/>
                        </a:lnSpc>
                        <a:spcBef>
                          <a:spcPts val="310"/>
                        </a:spcBef>
                      </a:pPr>
                      <a:r>
                        <a:rPr sz="1600" b="1" spc="-5" dirty="0">
                          <a:solidFill>
                            <a:srgbClr val="002060"/>
                          </a:solidFill>
                          <a:latin typeface="Times New Roman"/>
                          <a:cs typeface="Times New Roman"/>
                        </a:rPr>
                        <a:t>Tài</a:t>
                      </a:r>
                      <a:r>
                        <a:rPr sz="1600" b="1" spc="-10" dirty="0">
                          <a:solidFill>
                            <a:srgbClr val="002060"/>
                          </a:solidFill>
                          <a:latin typeface="Times New Roman"/>
                          <a:cs typeface="Times New Roman"/>
                        </a:rPr>
                        <a:t> </a:t>
                      </a:r>
                      <a:r>
                        <a:rPr sz="1600" b="1" spc="-5" dirty="0">
                          <a:solidFill>
                            <a:srgbClr val="002060"/>
                          </a:solidFill>
                          <a:latin typeface="Times New Roman"/>
                          <a:cs typeface="Times New Roman"/>
                        </a:rPr>
                        <a:t>khoản</a:t>
                      </a:r>
                      <a:endParaRPr sz="1600">
                        <a:solidFill>
                          <a:srgbClr val="002060"/>
                        </a:solidFill>
                        <a:latin typeface="Times New Roman"/>
                        <a:cs typeface="Times New Roman"/>
                      </a:endParaRPr>
                    </a:p>
                    <a:p>
                      <a:pPr marL="97790" marR="2332355">
                        <a:lnSpc>
                          <a:spcPct val="120000"/>
                        </a:lnSpc>
                      </a:pPr>
                      <a:r>
                        <a:rPr sz="1600" b="1" spc="-5" dirty="0">
                          <a:solidFill>
                            <a:srgbClr val="002060"/>
                          </a:solidFill>
                          <a:latin typeface="Times New Roman"/>
                          <a:cs typeface="Times New Roman"/>
                        </a:rPr>
                        <a:t>Số dư </a:t>
                      </a:r>
                      <a:r>
                        <a:rPr sz="1600" b="1" spc="-5">
                          <a:solidFill>
                            <a:srgbClr val="002060"/>
                          </a:solidFill>
                          <a:latin typeface="Times New Roman"/>
                          <a:cs typeface="Times New Roman"/>
                        </a:rPr>
                        <a:t>tài</a:t>
                      </a:r>
                      <a:r>
                        <a:rPr sz="1600" b="1" spc="-45">
                          <a:solidFill>
                            <a:srgbClr val="002060"/>
                          </a:solidFill>
                          <a:latin typeface="Times New Roman"/>
                          <a:cs typeface="Times New Roman"/>
                        </a:rPr>
                        <a:t> </a:t>
                      </a:r>
                      <a:r>
                        <a:rPr sz="1600" b="1" spc="-5">
                          <a:solidFill>
                            <a:srgbClr val="002060"/>
                          </a:solidFill>
                          <a:latin typeface="Times New Roman"/>
                          <a:cs typeface="Times New Roman"/>
                        </a:rPr>
                        <a:t>khoản</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Số</a:t>
                      </a:r>
                      <a:r>
                        <a:rPr lang="en-US" sz="1600" b="1" spc="-5" baseline="0">
                          <a:solidFill>
                            <a:srgbClr val="002060"/>
                          </a:solidFill>
                          <a:latin typeface="Times New Roman"/>
                          <a:cs typeface="Times New Roman"/>
                        </a:rPr>
                        <a:t> </a:t>
                      </a:r>
                      <a:r>
                        <a:rPr sz="1600" b="1" spc="-5">
                          <a:solidFill>
                            <a:srgbClr val="002060"/>
                          </a:solidFill>
                          <a:latin typeface="Times New Roman"/>
                          <a:cs typeface="Times New Roman"/>
                        </a:rPr>
                        <a:t>tiền</a:t>
                      </a:r>
                      <a:endParaRPr sz="1600">
                        <a:solidFill>
                          <a:srgbClr val="002060"/>
                        </a:solidFill>
                        <a:latin typeface="Times New Roman"/>
                        <a:cs typeface="Times New Roman"/>
                      </a:endParaRPr>
                    </a:p>
                    <a:p>
                      <a:pPr marL="97790">
                        <a:lnSpc>
                          <a:spcPct val="100000"/>
                        </a:lnSpc>
                        <a:spcBef>
                          <a:spcPts val="385"/>
                        </a:spcBef>
                      </a:pPr>
                      <a:r>
                        <a:rPr sz="1600" b="1" spc="-10" dirty="0">
                          <a:solidFill>
                            <a:srgbClr val="002060"/>
                          </a:solidFill>
                          <a:latin typeface="Times New Roman"/>
                          <a:cs typeface="Times New Roman"/>
                        </a:rPr>
                        <a:t>Tiến </a:t>
                      </a:r>
                      <a:r>
                        <a:rPr sz="1600" b="1" spc="-5" dirty="0">
                          <a:solidFill>
                            <a:srgbClr val="002060"/>
                          </a:solidFill>
                          <a:latin typeface="Times New Roman"/>
                          <a:cs typeface="Times New Roman"/>
                        </a:rPr>
                        <a:t>trình đăng</a:t>
                      </a:r>
                      <a:r>
                        <a:rPr sz="1600" b="1" spc="30" dirty="0">
                          <a:solidFill>
                            <a:srgbClr val="002060"/>
                          </a:solidFill>
                          <a:latin typeface="Times New Roman"/>
                          <a:cs typeface="Times New Roman"/>
                        </a:rPr>
                        <a:t> </a:t>
                      </a:r>
                      <a:r>
                        <a:rPr sz="1600" b="1" spc="-5" dirty="0">
                          <a:solidFill>
                            <a:srgbClr val="002060"/>
                          </a:solidFill>
                          <a:latin typeface="Times New Roman"/>
                          <a:cs typeface="Times New Roman"/>
                        </a:rPr>
                        <a:t>nhập</a:t>
                      </a:r>
                      <a:endParaRPr sz="1600">
                        <a:solidFill>
                          <a:srgbClr val="002060"/>
                        </a:solidFill>
                        <a:latin typeface="Times New Roman"/>
                        <a:cs typeface="Times New Roman"/>
                      </a:endParaRPr>
                    </a:p>
                    <a:p>
                      <a:pPr marL="97790" marR="2762250" algn="just">
                        <a:lnSpc>
                          <a:spcPct val="120000"/>
                        </a:lnSpc>
                        <a:spcBef>
                          <a:spcPts val="5"/>
                        </a:spcBef>
                      </a:pPr>
                      <a:r>
                        <a:rPr sz="1600" b="1" spc="-5">
                          <a:solidFill>
                            <a:srgbClr val="002060"/>
                          </a:solidFill>
                          <a:latin typeface="Times New Roman"/>
                          <a:cs typeface="Times New Roman"/>
                        </a:rPr>
                        <a:t>Thẻ</a:t>
                      </a:r>
                      <a:r>
                        <a:rPr lang="en-US" sz="1600" b="1" spc="-5" baseline="0">
                          <a:solidFill>
                            <a:srgbClr val="002060"/>
                          </a:solidFill>
                          <a:latin typeface="Times New Roman"/>
                          <a:cs typeface="Times New Roman"/>
                        </a:rPr>
                        <a:t> ATM</a:t>
                      </a:r>
                    </a:p>
                    <a:p>
                      <a:pPr marL="97790" marR="2762250" algn="just">
                        <a:lnSpc>
                          <a:spcPct val="120000"/>
                        </a:lnSpc>
                        <a:spcBef>
                          <a:spcPts val="5"/>
                        </a:spcBef>
                      </a:pPr>
                      <a:r>
                        <a:rPr sz="1600" b="1">
                          <a:solidFill>
                            <a:srgbClr val="002060"/>
                          </a:solidFill>
                          <a:latin typeface="Times New Roman"/>
                          <a:cs typeface="Times New Roman"/>
                        </a:rPr>
                        <a:t>Máy</a:t>
                      </a:r>
                      <a:r>
                        <a:rPr lang="en-US" sz="1600" b="1" baseline="0">
                          <a:solidFill>
                            <a:srgbClr val="002060"/>
                          </a:solidFill>
                          <a:latin typeface="Times New Roman"/>
                          <a:cs typeface="Times New Roman"/>
                        </a:rPr>
                        <a:t> ATM</a:t>
                      </a:r>
                    </a:p>
                    <a:p>
                      <a:pPr marL="97790" marR="2762250" algn="just">
                        <a:lnSpc>
                          <a:spcPct val="120000"/>
                        </a:lnSpc>
                        <a:spcBef>
                          <a:spcPts val="5"/>
                        </a:spcBef>
                      </a:pPr>
                      <a:r>
                        <a:rPr sz="1600" b="1">
                          <a:solidFill>
                            <a:srgbClr val="002060"/>
                          </a:solidFill>
                          <a:latin typeface="Times New Roman"/>
                          <a:cs typeface="Times New Roman"/>
                        </a:rPr>
                        <a:t>Ngân</a:t>
                      </a:r>
                      <a:r>
                        <a:rPr sz="1600" b="1" spc="-95">
                          <a:solidFill>
                            <a:srgbClr val="002060"/>
                          </a:solidFill>
                          <a:latin typeface="Times New Roman"/>
                          <a:cs typeface="Times New Roman"/>
                        </a:rPr>
                        <a:t> </a:t>
                      </a:r>
                      <a:r>
                        <a:rPr sz="1600" b="1" spc="-5" dirty="0">
                          <a:solidFill>
                            <a:srgbClr val="002060"/>
                          </a:solidFill>
                          <a:latin typeface="Times New Roman"/>
                          <a:cs typeface="Times New Roman"/>
                        </a:rPr>
                        <a:t>hàng</a:t>
                      </a:r>
                      <a:endParaRPr sz="1600">
                        <a:solidFill>
                          <a:srgbClr val="002060"/>
                        </a:solidFill>
                        <a:latin typeface="Times New Roman"/>
                        <a:cs typeface="Times New Roman"/>
                      </a:endParaRPr>
                    </a:p>
                    <a:p>
                      <a:pPr marL="97790" marR="1685925">
                        <a:lnSpc>
                          <a:spcPct val="120000"/>
                        </a:lnSpc>
                      </a:pPr>
                      <a:r>
                        <a:rPr sz="1600" b="1" spc="-5" dirty="0">
                          <a:solidFill>
                            <a:srgbClr val="002060"/>
                          </a:solidFill>
                          <a:latin typeface="Times New Roman"/>
                          <a:cs typeface="Times New Roman"/>
                        </a:rPr>
                        <a:t>Khách hàng </a:t>
                      </a:r>
                      <a:r>
                        <a:rPr sz="1600" b="1">
                          <a:solidFill>
                            <a:srgbClr val="002060"/>
                          </a:solidFill>
                          <a:latin typeface="Times New Roman"/>
                          <a:cs typeface="Times New Roman"/>
                        </a:rPr>
                        <a:t>ngân</a:t>
                      </a:r>
                      <a:r>
                        <a:rPr sz="1600" b="1" spc="-30">
                          <a:solidFill>
                            <a:srgbClr val="002060"/>
                          </a:solidFill>
                          <a:latin typeface="Times New Roman"/>
                          <a:cs typeface="Times New Roman"/>
                        </a:rPr>
                        <a:t> </a:t>
                      </a:r>
                      <a:r>
                        <a:rPr sz="1600" b="1" spc="-5">
                          <a:solidFill>
                            <a:srgbClr val="002060"/>
                          </a:solidFill>
                          <a:latin typeface="Times New Roman"/>
                          <a:cs typeface="Times New Roman"/>
                        </a:rPr>
                        <a:t>hàng</a:t>
                      </a:r>
                      <a:r>
                        <a:rPr lang="en-US" sz="1600" b="1" spc="-5">
                          <a:solidFill>
                            <a:srgbClr val="002060"/>
                          </a:solidFill>
                          <a:latin typeface="Times New Roman"/>
                          <a:cs typeface="Times New Roman"/>
                        </a:rPr>
                        <a:t> </a:t>
                      </a:r>
                      <a:r>
                        <a:rPr sz="1600" b="1" spc="-10">
                          <a:solidFill>
                            <a:srgbClr val="002060"/>
                          </a:solidFill>
                          <a:latin typeface="Times New Roman"/>
                          <a:cs typeface="Times New Roman"/>
                        </a:rPr>
                        <a:t>Thẻ</a:t>
                      </a:r>
                      <a:endParaRPr sz="1600">
                        <a:solidFill>
                          <a:srgbClr val="002060"/>
                        </a:solidFill>
                        <a:latin typeface="Times New Roman"/>
                        <a:cs typeface="Times New Roman"/>
                      </a:endParaRPr>
                    </a:p>
                    <a:p>
                      <a:pPr marL="97790" marR="2647315">
                        <a:lnSpc>
                          <a:spcPct val="120000"/>
                        </a:lnSpc>
                      </a:pPr>
                      <a:r>
                        <a:rPr sz="1600" b="1" spc="-10">
                          <a:solidFill>
                            <a:srgbClr val="002060"/>
                          </a:solidFill>
                          <a:latin typeface="Times New Roman"/>
                          <a:cs typeface="Times New Roman"/>
                        </a:rPr>
                        <a:t>Tiền mặt</a:t>
                      </a:r>
                      <a:r>
                        <a:rPr lang="en-US" sz="1600" b="1" spc="-10">
                          <a:solidFill>
                            <a:srgbClr val="002060"/>
                          </a:solidFill>
                          <a:latin typeface="Times New Roman"/>
                          <a:cs typeface="Times New Roman"/>
                        </a:rPr>
                        <a:t> </a:t>
                      </a:r>
                      <a:r>
                        <a:rPr sz="1600" b="1" spc="-5">
                          <a:solidFill>
                            <a:srgbClr val="002060"/>
                          </a:solidFill>
                          <a:latin typeface="Times New Roman"/>
                          <a:cs typeface="Times New Roman"/>
                        </a:rPr>
                        <a:t>Khách</a:t>
                      </a:r>
                      <a:r>
                        <a:rPr sz="1600" b="1" spc="-55">
                          <a:solidFill>
                            <a:srgbClr val="002060"/>
                          </a:solidFill>
                          <a:latin typeface="Times New Roman"/>
                          <a:cs typeface="Times New Roman"/>
                        </a:rPr>
                        <a:t> </a:t>
                      </a:r>
                      <a:r>
                        <a:rPr sz="1600" b="1" spc="-5" dirty="0">
                          <a:solidFill>
                            <a:srgbClr val="002060"/>
                          </a:solidFill>
                          <a:latin typeface="Times New Roman"/>
                          <a:cs typeface="Times New Roman"/>
                        </a:rPr>
                        <a:t>hàng</a:t>
                      </a:r>
                      <a:endParaRPr sz="1600">
                        <a:solidFill>
                          <a:srgbClr val="002060"/>
                        </a:solidFill>
                        <a:latin typeface="Times New Roman"/>
                        <a:cs typeface="Times New Roman"/>
                      </a:endParaRPr>
                    </a:p>
                    <a:p>
                      <a:pPr marL="97790" marR="1755139">
                        <a:lnSpc>
                          <a:spcPct val="120000"/>
                        </a:lnSpc>
                      </a:pPr>
                      <a:r>
                        <a:rPr sz="1600" b="1" spc="-5" dirty="0">
                          <a:solidFill>
                            <a:srgbClr val="002060"/>
                          </a:solidFill>
                          <a:latin typeface="Times New Roman"/>
                          <a:cs typeface="Times New Roman"/>
                        </a:rPr>
                        <a:t>Tài khoản </a:t>
                      </a:r>
                      <a:r>
                        <a:rPr sz="1600" b="1" spc="-5">
                          <a:solidFill>
                            <a:srgbClr val="002060"/>
                          </a:solidFill>
                          <a:latin typeface="Times New Roman"/>
                          <a:cs typeface="Times New Roman"/>
                        </a:rPr>
                        <a:t>khách hàng</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VND</a:t>
                      </a:r>
                      <a:endParaRPr sz="1600">
                        <a:solidFill>
                          <a:srgbClr val="002060"/>
                        </a:solidFill>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310"/>
                        </a:spcBef>
                      </a:pPr>
                      <a:r>
                        <a:rPr sz="1600" strike="sngStrike" spc="-395" dirty="0">
                          <a:solidFill>
                            <a:srgbClr val="002060"/>
                          </a:solidFill>
                          <a:latin typeface="Times New Roman"/>
                          <a:cs typeface="Times New Roman"/>
                        </a:rPr>
                        <a:t> </a:t>
                      </a:r>
                      <a:r>
                        <a:rPr sz="1600" b="1" strike="sngStrike" spc="-5" dirty="0">
                          <a:solidFill>
                            <a:srgbClr val="FF0066"/>
                          </a:solidFill>
                          <a:latin typeface="Times New Roman"/>
                          <a:cs typeface="Times New Roman"/>
                        </a:rPr>
                        <a:t>Bao</a:t>
                      </a:r>
                      <a:r>
                        <a:rPr sz="1600" b="1" strike="sngStrike" spc="-20" dirty="0">
                          <a:solidFill>
                            <a:srgbClr val="FF0066"/>
                          </a:solidFill>
                          <a:latin typeface="Times New Roman"/>
                          <a:cs typeface="Times New Roman"/>
                        </a:rPr>
                        <a:t> </a:t>
                      </a:r>
                      <a:r>
                        <a:rPr sz="1600" b="1" strike="sngStrike" spc="-10" dirty="0">
                          <a:solidFill>
                            <a:srgbClr val="FF0066"/>
                          </a:solidFill>
                          <a:latin typeface="Times New Roman"/>
                          <a:cs typeface="Times New Roman"/>
                        </a:rPr>
                        <a:t>thư</a:t>
                      </a:r>
                      <a:endParaRPr sz="1600" dirty="0">
                        <a:solidFill>
                          <a:srgbClr val="FF0066"/>
                        </a:solidFill>
                        <a:latin typeface="Times New Roman"/>
                        <a:cs typeface="Times New Roman"/>
                      </a:endParaRPr>
                    </a:p>
                    <a:p>
                      <a:pPr marL="98425" marR="2934970" indent="-1270" algn="just">
                        <a:lnSpc>
                          <a:spcPct val="120000"/>
                        </a:lnSpc>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Bốn </a:t>
                      </a:r>
                      <a:r>
                        <a:rPr sz="1600" b="1" strike="sngStrike" spc="-10">
                          <a:solidFill>
                            <a:srgbClr val="FF0066"/>
                          </a:solidFill>
                          <a:latin typeface="Times New Roman"/>
                          <a:cs typeface="Times New Roman"/>
                        </a:rPr>
                        <a:t>ký</a:t>
                      </a:r>
                      <a:r>
                        <a:rPr sz="1600" b="1" strike="sngStrike" spc="-85">
                          <a:solidFill>
                            <a:srgbClr val="FF0066"/>
                          </a:solidFill>
                          <a:latin typeface="Times New Roman"/>
                          <a:cs typeface="Times New Roman"/>
                        </a:rPr>
                        <a:t> </a:t>
                      </a:r>
                      <a:r>
                        <a:rPr sz="1600" b="1" strike="sngStrike" spc="-5">
                          <a:solidFill>
                            <a:srgbClr val="FF0066"/>
                          </a:solidFill>
                          <a:latin typeface="Times New Roman"/>
                          <a:cs typeface="Times New Roman"/>
                        </a:rPr>
                        <a:t>số</a:t>
                      </a:r>
                      <a:r>
                        <a:rPr lang="en-US" sz="1600" b="1" strike="sngStrike" spc="-5">
                          <a:solidFill>
                            <a:srgbClr val="FF0066"/>
                          </a:solidFill>
                          <a:latin typeface="Times New Roman"/>
                          <a:cs typeface="Times New Roman"/>
                        </a:rPr>
                        <a:t> </a:t>
                      </a:r>
                      <a:r>
                        <a:rPr sz="1600" b="1" strike="noStrike" spc="-5">
                          <a:solidFill>
                            <a:srgbClr val="002060"/>
                          </a:solidFill>
                          <a:latin typeface="Times New Roman"/>
                          <a:cs typeface="Times New Roman"/>
                        </a:rPr>
                        <a:t>Ngân</a:t>
                      </a:r>
                      <a:r>
                        <a:rPr sz="1600" b="1" strike="noStrike" spc="-90">
                          <a:solidFill>
                            <a:srgbClr val="002060"/>
                          </a:solidFill>
                          <a:latin typeface="Times New Roman"/>
                          <a:cs typeface="Times New Roman"/>
                        </a:rPr>
                        <a:t> </a:t>
                      </a:r>
                      <a:r>
                        <a:rPr sz="1600" b="1" strike="noStrike" spc="-10">
                          <a:solidFill>
                            <a:srgbClr val="002060"/>
                          </a:solidFill>
                          <a:latin typeface="Times New Roman"/>
                          <a:cs typeface="Times New Roman"/>
                        </a:rPr>
                        <a:t>quỹ</a:t>
                      </a:r>
                      <a:r>
                        <a:rPr lang="en-US" sz="1600" b="1" strike="noStrike" spc="-10">
                          <a:solidFill>
                            <a:srgbClr val="002060"/>
                          </a:solidFill>
                          <a:latin typeface="Times New Roman"/>
                          <a:cs typeface="Times New Roman"/>
                        </a:rPr>
                        <a:t> </a:t>
                      </a:r>
                      <a:r>
                        <a:rPr sz="1600" b="1" strike="noStrike" spc="-10">
                          <a:solidFill>
                            <a:srgbClr val="002060"/>
                          </a:solidFill>
                          <a:latin typeface="Times New Roman"/>
                          <a:cs typeface="Times New Roman"/>
                        </a:rPr>
                        <a:t>Tiền</a:t>
                      </a:r>
                      <a:endParaRPr sz="1600" dirty="0">
                        <a:solidFill>
                          <a:srgbClr val="002060"/>
                        </a:solidFill>
                        <a:latin typeface="Times New Roman"/>
                        <a:cs typeface="Times New Roman"/>
                      </a:endParaRPr>
                    </a:p>
                    <a:p>
                      <a:pPr marL="98425">
                        <a:lnSpc>
                          <a:spcPct val="100000"/>
                        </a:lnSpc>
                        <a:spcBef>
                          <a:spcPts val="390"/>
                        </a:spcBef>
                      </a:pPr>
                      <a:r>
                        <a:rPr sz="1600" b="1" spc="-5" dirty="0">
                          <a:solidFill>
                            <a:srgbClr val="002060"/>
                          </a:solidFill>
                          <a:latin typeface="Times New Roman"/>
                          <a:cs typeface="Times New Roman"/>
                        </a:rPr>
                        <a:t>PIN</a:t>
                      </a:r>
                      <a:endParaRPr sz="1600" dirty="0">
                        <a:solidFill>
                          <a:srgbClr val="002060"/>
                        </a:solidFill>
                        <a:latin typeface="Times New Roman"/>
                        <a:cs typeface="Times New Roman"/>
                      </a:endParaRPr>
                    </a:p>
                    <a:p>
                      <a:pPr marL="98425" marR="2252980">
                        <a:lnSpc>
                          <a:spcPct val="120000"/>
                        </a:lnSpc>
                      </a:pPr>
                      <a:r>
                        <a:rPr sz="1600" b="1" spc="-5" dirty="0">
                          <a:solidFill>
                            <a:srgbClr val="002060"/>
                          </a:solidFill>
                          <a:latin typeface="Times New Roman"/>
                          <a:cs typeface="Times New Roman"/>
                        </a:rPr>
                        <a:t>PIN </a:t>
                      </a:r>
                      <a:r>
                        <a:rPr sz="1600" b="1" spc="-10" dirty="0">
                          <a:solidFill>
                            <a:srgbClr val="002060"/>
                          </a:solidFill>
                          <a:latin typeface="Times New Roman"/>
                          <a:cs typeface="Times New Roman"/>
                        </a:rPr>
                        <a:t>không </a:t>
                      </a:r>
                      <a:r>
                        <a:rPr sz="1600" b="1" spc="-10">
                          <a:solidFill>
                            <a:srgbClr val="002060"/>
                          </a:solidFill>
                          <a:latin typeface="Times New Roman"/>
                          <a:cs typeface="Times New Roman"/>
                        </a:rPr>
                        <a:t>hợp </a:t>
                      </a:r>
                      <a:r>
                        <a:rPr sz="1600" b="1" spc="-5">
                          <a:solidFill>
                            <a:srgbClr val="002060"/>
                          </a:solidFill>
                          <a:latin typeface="Times New Roman"/>
                          <a:cs typeface="Times New Roman"/>
                        </a:rPr>
                        <a:t>lệ</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Thông</a:t>
                      </a:r>
                      <a:r>
                        <a:rPr sz="1600" b="1" spc="-25">
                          <a:solidFill>
                            <a:srgbClr val="002060"/>
                          </a:solidFill>
                          <a:latin typeface="Times New Roman"/>
                          <a:cs typeface="Times New Roman"/>
                        </a:rPr>
                        <a:t> </a:t>
                      </a:r>
                      <a:r>
                        <a:rPr sz="1600" b="1" spc="-10" dirty="0">
                          <a:solidFill>
                            <a:srgbClr val="002060"/>
                          </a:solidFill>
                          <a:latin typeface="Times New Roman"/>
                          <a:cs typeface="Times New Roman"/>
                        </a:rPr>
                        <a:t>điệp</a:t>
                      </a:r>
                      <a:endParaRPr sz="1600" dirty="0">
                        <a:solidFill>
                          <a:srgbClr val="002060"/>
                        </a:solidFill>
                        <a:latin typeface="Times New Roman"/>
                        <a:cs typeface="Times New Roman"/>
                      </a:endParaRPr>
                    </a:p>
                    <a:p>
                      <a:pPr marL="98425" marR="2928620">
                        <a:lnSpc>
                          <a:spcPct val="120000"/>
                        </a:lnSpc>
                      </a:pPr>
                      <a:r>
                        <a:rPr sz="1600" b="1" spc="-5">
                          <a:solidFill>
                            <a:srgbClr val="002060"/>
                          </a:solidFill>
                          <a:latin typeface="Times New Roman"/>
                          <a:cs typeface="Times New Roman"/>
                        </a:rPr>
                        <a:t>Mật</a:t>
                      </a:r>
                      <a:r>
                        <a:rPr sz="1600" b="1" spc="-75">
                          <a:solidFill>
                            <a:srgbClr val="002060"/>
                          </a:solidFill>
                          <a:latin typeface="Times New Roman"/>
                          <a:cs typeface="Times New Roman"/>
                        </a:rPr>
                        <a:t> </a:t>
                      </a:r>
                      <a:r>
                        <a:rPr sz="1600" b="1" spc="-10">
                          <a:solidFill>
                            <a:srgbClr val="002060"/>
                          </a:solidFill>
                          <a:latin typeface="Times New Roman"/>
                          <a:cs typeface="Times New Roman"/>
                        </a:rPr>
                        <a:t>khẩu</a:t>
                      </a:r>
                      <a:r>
                        <a:rPr lang="en-US" sz="1600" b="1" spc="-10">
                          <a:solidFill>
                            <a:srgbClr val="002060"/>
                          </a:solidFill>
                          <a:latin typeface="Times New Roman"/>
                          <a:cs typeface="Times New Roman"/>
                        </a:rPr>
                        <a:t> </a:t>
                      </a:r>
                      <a:r>
                        <a:rPr sz="1600" b="1" spc="-5">
                          <a:solidFill>
                            <a:srgbClr val="002060"/>
                          </a:solidFill>
                          <a:latin typeface="Times New Roman"/>
                          <a:cs typeface="Times New Roman"/>
                        </a:rPr>
                        <a:t>Mã</a:t>
                      </a:r>
                      <a:r>
                        <a:rPr sz="1600" b="1" spc="-20">
                          <a:solidFill>
                            <a:srgbClr val="002060"/>
                          </a:solidFill>
                          <a:latin typeface="Times New Roman"/>
                          <a:cs typeface="Times New Roman"/>
                        </a:rPr>
                        <a:t> </a:t>
                      </a:r>
                      <a:r>
                        <a:rPr sz="1600" b="1" spc="-10" dirty="0">
                          <a:solidFill>
                            <a:srgbClr val="002060"/>
                          </a:solidFill>
                          <a:latin typeface="Times New Roman"/>
                          <a:cs typeface="Times New Roman"/>
                        </a:rPr>
                        <a:t>PIN</a:t>
                      </a:r>
                      <a:endParaRPr sz="1600" dirty="0">
                        <a:solidFill>
                          <a:srgbClr val="002060"/>
                        </a:solidFill>
                        <a:latin typeface="Times New Roman"/>
                        <a:cs typeface="Times New Roman"/>
                      </a:endParaRPr>
                    </a:p>
                    <a:p>
                      <a:pPr marL="98425">
                        <a:lnSpc>
                          <a:spcPct val="100000"/>
                        </a:lnSpc>
                        <a:spcBef>
                          <a:spcPts val="385"/>
                        </a:spcBef>
                      </a:pPr>
                      <a:r>
                        <a:rPr sz="1600" b="1" spc="-5" dirty="0">
                          <a:solidFill>
                            <a:srgbClr val="002060"/>
                          </a:solidFill>
                          <a:latin typeface="Times New Roman"/>
                          <a:cs typeface="Times New Roman"/>
                        </a:rPr>
                        <a:t>Mẫu</a:t>
                      </a:r>
                      <a:r>
                        <a:rPr sz="1600" b="1" spc="-100" dirty="0">
                          <a:solidFill>
                            <a:srgbClr val="002060"/>
                          </a:solidFill>
                          <a:latin typeface="Times New Roman"/>
                          <a:cs typeface="Times New Roman"/>
                        </a:rPr>
                        <a:t> </a:t>
                      </a:r>
                      <a:r>
                        <a:rPr sz="1600" b="1" spc="-5" dirty="0">
                          <a:solidFill>
                            <a:srgbClr val="002060"/>
                          </a:solidFill>
                          <a:latin typeface="Times New Roman"/>
                          <a:cs typeface="Times New Roman"/>
                        </a:rPr>
                        <a:t>tin</a:t>
                      </a:r>
                      <a:endParaRPr sz="1600" dirty="0">
                        <a:solidFill>
                          <a:srgbClr val="002060"/>
                        </a:solidFill>
                        <a:latin typeface="Times New Roman"/>
                        <a:cs typeface="Times New Roman"/>
                      </a:endParaRPr>
                    </a:p>
                    <a:p>
                      <a:pPr marL="97155">
                        <a:lnSpc>
                          <a:spcPct val="100000"/>
                        </a:lnSpc>
                        <a:spcBef>
                          <a:spcPts val="384"/>
                        </a:spcBef>
                      </a:pPr>
                      <a:r>
                        <a:rPr sz="1600" strike="sngStrike" spc="-395" dirty="0">
                          <a:solidFill>
                            <a:srgbClr val="002060"/>
                          </a:solidFill>
                          <a:latin typeface="Times New Roman"/>
                          <a:cs typeface="Times New Roman"/>
                        </a:rPr>
                        <a:t> </a:t>
                      </a:r>
                      <a:r>
                        <a:rPr sz="1600" b="1" strike="sngStrike" spc="-5" dirty="0">
                          <a:solidFill>
                            <a:srgbClr val="FF0066"/>
                          </a:solidFill>
                          <a:latin typeface="Times New Roman"/>
                          <a:cs typeface="Times New Roman"/>
                        </a:rPr>
                        <a:t>Bước</a:t>
                      </a:r>
                      <a:endParaRPr sz="1600" dirty="0">
                        <a:solidFill>
                          <a:srgbClr val="FF0066"/>
                        </a:solidFill>
                        <a:latin typeface="Times New Roman"/>
                        <a:cs typeface="Times New Roman"/>
                      </a:endParaRPr>
                    </a:p>
                    <a:p>
                      <a:pPr marL="98425" marR="2939415">
                        <a:lnSpc>
                          <a:spcPct val="120000"/>
                        </a:lnSpc>
                      </a:pPr>
                      <a:r>
                        <a:rPr sz="1600" b="1" spc="-10">
                          <a:solidFill>
                            <a:srgbClr val="002060"/>
                          </a:solidFill>
                          <a:latin typeface="Times New Roman"/>
                          <a:cs typeface="Times New Roman"/>
                        </a:rPr>
                        <a:t>Hệ </a:t>
                      </a:r>
                      <a:r>
                        <a:rPr sz="1600" b="1" spc="-5">
                          <a:solidFill>
                            <a:srgbClr val="002060"/>
                          </a:solidFill>
                          <a:latin typeface="Times New Roman"/>
                          <a:cs typeface="Times New Roman"/>
                        </a:rPr>
                        <a:t>thống</a:t>
                      </a:r>
                      <a:r>
                        <a:rPr lang="en-US" sz="1600" b="1" spc="-5">
                          <a:solidFill>
                            <a:srgbClr val="002060"/>
                          </a:solidFill>
                          <a:latin typeface="Times New Roman"/>
                          <a:cs typeface="Times New Roman"/>
                        </a:rPr>
                        <a:t> </a:t>
                      </a:r>
                      <a:r>
                        <a:rPr sz="1600" b="1" spc="-5">
                          <a:solidFill>
                            <a:srgbClr val="002060"/>
                          </a:solidFill>
                          <a:latin typeface="Times New Roman"/>
                          <a:cs typeface="Times New Roman"/>
                        </a:rPr>
                        <a:t>Giao</a:t>
                      </a:r>
                      <a:r>
                        <a:rPr sz="1600" b="1" spc="-65">
                          <a:solidFill>
                            <a:srgbClr val="002060"/>
                          </a:solidFill>
                          <a:latin typeface="Times New Roman"/>
                          <a:cs typeface="Times New Roman"/>
                        </a:rPr>
                        <a:t> </a:t>
                      </a:r>
                      <a:r>
                        <a:rPr sz="1600" b="1" spc="-10" dirty="0">
                          <a:solidFill>
                            <a:srgbClr val="002060"/>
                          </a:solidFill>
                          <a:latin typeface="Times New Roman"/>
                          <a:cs typeface="Times New Roman"/>
                        </a:rPr>
                        <a:t>dịch</a:t>
                      </a:r>
                      <a:endParaRPr sz="1600" dirty="0">
                        <a:solidFill>
                          <a:srgbClr val="002060"/>
                        </a:solidFill>
                        <a:latin typeface="Times New Roman"/>
                        <a:cs typeface="Times New Roman"/>
                      </a:endParaRPr>
                    </a:p>
                    <a:p>
                      <a:pPr marL="98425">
                        <a:lnSpc>
                          <a:spcPct val="100000"/>
                        </a:lnSpc>
                        <a:spcBef>
                          <a:spcPts val="380"/>
                        </a:spcBef>
                      </a:pPr>
                      <a:r>
                        <a:rPr sz="1600" b="1" spc="-5" dirty="0">
                          <a:solidFill>
                            <a:srgbClr val="002060"/>
                          </a:solidFill>
                          <a:latin typeface="Times New Roman"/>
                          <a:cs typeface="Times New Roman"/>
                        </a:rPr>
                        <a:t>Lịch sử giao</a:t>
                      </a:r>
                      <a:r>
                        <a:rPr sz="1600" b="1" spc="15" dirty="0">
                          <a:solidFill>
                            <a:srgbClr val="002060"/>
                          </a:solidFill>
                          <a:latin typeface="Times New Roman"/>
                          <a:cs typeface="Times New Roman"/>
                        </a:rPr>
                        <a:t> </a:t>
                      </a:r>
                      <a:r>
                        <a:rPr sz="1600" b="1" spc="-10" dirty="0">
                          <a:solidFill>
                            <a:srgbClr val="002060"/>
                          </a:solidFill>
                          <a:latin typeface="Times New Roman"/>
                          <a:cs typeface="Times New Roman"/>
                        </a:rPr>
                        <a:t>dịch</a:t>
                      </a:r>
                      <a:endParaRPr sz="1600" dirty="0">
                        <a:solidFill>
                          <a:srgbClr val="002060"/>
                        </a:solidFill>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8333566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14400"/>
            <a:ext cx="12192000" cy="1474762"/>
          </a:xfrm>
          <a:prstGeom prst="rect">
            <a:avLst/>
          </a:prstGeom>
        </p:spPr>
        <p:txBody>
          <a:bodyPr vert="horz" wrap="square" lIns="0" tIns="104139" rIns="0" bIns="0" rtlCol="0">
            <a:spAutoFit/>
          </a:bodyPr>
          <a:lstStyle/>
          <a:p>
            <a:pPr marL="469900" indent="-457200">
              <a:lnSpc>
                <a:spcPct val="150000"/>
              </a:lnSpc>
              <a:spcBef>
                <a:spcPts val="819"/>
              </a:spcBef>
              <a:buSzPct val="100000"/>
              <a:buFont typeface="Wingdings" panose="05000000000000000000" pitchFamily="2" charset="2"/>
              <a:buChar char="§"/>
              <a:tabLst>
                <a:tab pos="332105" algn="l"/>
                <a:tab pos="332740" algn="l"/>
              </a:tabLst>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cụm </a:t>
            </a:r>
            <a:r>
              <a:rPr sz="2800" b="1" spc="-5" dirty="0">
                <a:solidFill>
                  <a:srgbClr val="FF0000"/>
                </a:solidFill>
                <a:latin typeface="Times New Roman" panose="02020603050405020304" pitchFamily="18" charset="0"/>
                <a:cs typeface="Times New Roman" panose="02020603050405020304" pitchFamily="18" charset="0"/>
              </a:rPr>
              <a:t>danh </a:t>
            </a:r>
            <a:r>
              <a:rPr sz="2800" b="1" dirty="0">
                <a:solidFill>
                  <a:srgbClr val="FF0000"/>
                </a:solidFill>
                <a:latin typeface="Times New Roman" panose="02020603050405020304" pitchFamily="18" charset="0"/>
                <a:cs typeface="Times New Roman" panose="02020603050405020304" pitchFamily="18" charset="0"/>
              </a:rPr>
              <a:t>từ </a:t>
            </a:r>
            <a:r>
              <a:rPr sz="2800" b="1" spc="-5" dirty="0">
                <a:solidFill>
                  <a:srgbClr val="FF0000"/>
                </a:solidFill>
                <a:latin typeface="Times New Roman" panose="02020603050405020304" pitchFamily="18" charset="0"/>
                <a:cs typeface="Times New Roman" panose="02020603050405020304" pitchFamily="18" charset="0"/>
              </a:rPr>
              <a:t>(</a:t>
            </a:r>
            <a:r>
              <a:rPr sz="2800" b="1" spc="-5">
                <a:solidFill>
                  <a:srgbClr val="FF0000"/>
                </a:solidFill>
                <a:latin typeface="Times New Roman" panose="02020603050405020304" pitchFamily="18" charset="0"/>
                <a:cs typeface="Times New Roman" panose="02020603050405020304" pitchFamily="18" charset="0"/>
              </a:rPr>
              <a:t>noun</a:t>
            </a:r>
            <a:r>
              <a:rPr sz="2800" b="1" spc="-1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a:t>
            </a:r>
            <a:r>
              <a:rPr lang="en-US" sz="2800" b="1" spc="-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phrase</a:t>
            </a:r>
            <a:r>
              <a:rPr sz="2800" b="1" spc="-5" dirty="0">
                <a:solidFill>
                  <a:srgbClr val="FF0000"/>
                </a:solidFill>
                <a:latin typeface="Times New Roman" panose="02020603050405020304" pitchFamily="18" charset="0"/>
                <a:cs typeface="Times New Roman" panose="02020603050405020304" pitchFamily="18" charset="0"/>
              </a:rPr>
              <a:t>)</a:t>
            </a:r>
            <a:endParaRPr sz="2800" b="1" dirty="0">
              <a:solidFill>
                <a:srgbClr val="FF0000"/>
              </a:solidFill>
              <a:latin typeface="Times New Roman" panose="02020603050405020304" pitchFamily="18" charset="0"/>
              <a:cs typeface="Times New Roman" panose="02020603050405020304" pitchFamily="18" charset="0"/>
            </a:endParaRPr>
          </a:p>
          <a:p>
            <a:pPr marL="835025" indent="-457200">
              <a:lnSpc>
                <a:spcPct val="150000"/>
              </a:lnSpc>
              <a:spcBef>
                <a:spcPts val="610"/>
              </a:spcBef>
              <a:buFont typeface="Arial" panose="020B0604020202020204" pitchFamily="34" charset="0"/>
              <a:buChar char="•"/>
            </a:pPr>
            <a:r>
              <a:rPr sz="2800" spc="-5">
                <a:solidFill>
                  <a:srgbClr val="00B050"/>
                </a:solidFill>
                <a:latin typeface="Times New Roman" panose="02020603050405020304" pitchFamily="18" charset="0"/>
                <a:cs typeface="Times New Roman" panose="02020603050405020304" pitchFamily="18" charset="0"/>
              </a:rPr>
              <a:t>Đồng </a:t>
            </a:r>
            <a:r>
              <a:rPr sz="2800" spc="-5" dirty="0">
                <a:solidFill>
                  <a:srgbClr val="00B050"/>
                </a:solidFill>
                <a:latin typeface="Times New Roman" panose="02020603050405020304" pitchFamily="18" charset="0"/>
                <a:cs typeface="Times New Roman" panose="02020603050405020304" pitchFamily="18" charset="0"/>
              </a:rPr>
              <a:t>nhất </a:t>
            </a:r>
            <a:r>
              <a:rPr sz="2800" dirty="0">
                <a:solidFill>
                  <a:srgbClr val="00B050"/>
                </a:solidFill>
                <a:latin typeface="Times New Roman" panose="02020603050405020304" pitchFamily="18" charset="0"/>
                <a:cs typeface="Times New Roman" panose="02020603050405020304" pitchFamily="18" charset="0"/>
              </a:rPr>
              <a:t>các </a:t>
            </a:r>
            <a:r>
              <a:rPr sz="2800" spc="-5" dirty="0">
                <a:solidFill>
                  <a:srgbClr val="00B050"/>
                </a:solidFill>
                <a:latin typeface="Times New Roman" panose="02020603050405020304" pitchFamily="18" charset="0"/>
                <a:cs typeface="Times New Roman" panose="02020603050405020304" pitchFamily="18" charset="0"/>
              </a:rPr>
              <a:t>ứng viên trùng</a:t>
            </a:r>
            <a:r>
              <a:rPr sz="2800" spc="165" dirty="0">
                <a:solidFill>
                  <a:srgbClr val="00B050"/>
                </a:solidFill>
                <a:latin typeface="Times New Roman" panose="02020603050405020304" pitchFamily="18" charset="0"/>
                <a:cs typeface="Times New Roman" panose="02020603050405020304" pitchFamily="18" charset="0"/>
              </a:rPr>
              <a:t> </a:t>
            </a:r>
            <a:r>
              <a:rPr sz="2800" spc="-5" dirty="0">
                <a:solidFill>
                  <a:srgbClr val="00B050"/>
                </a:solidFill>
                <a:latin typeface="Times New Roman" panose="02020603050405020304" pitchFamily="18" charset="0"/>
                <a:cs typeface="Times New Roman" panose="02020603050405020304" pitchFamily="18" charset="0"/>
              </a:rPr>
              <a:t>lắp</a:t>
            </a:r>
            <a:endParaRPr sz="2800" dirty="0">
              <a:solidFill>
                <a:srgbClr val="00B05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981201" y="2660394"/>
            <a:ext cx="4526916" cy="2783454"/>
          </a:xfrm>
          <a:prstGeom prst="rect">
            <a:avLst/>
          </a:prstGeom>
        </p:spPr>
        <p:txBody>
          <a:bodyPr vert="horz" wrap="square" lIns="0" tIns="13335" rIns="0" bIns="0" rtlCol="0">
            <a:spAutoFit/>
          </a:bodyPr>
          <a:lstStyle/>
          <a:p>
            <a:pPr marL="12700" marR="5080">
              <a:lnSpc>
                <a:spcPct val="150000"/>
              </a:lnSpc>
              <a:spcBef>
                <a:spcPts val="105"/>
              </a:spcBef>
            </a:pPr>
            <a:r>
              <a:rPr sz="2400" dirty="0">
                <a:latin typeface="Times New Roman" panose="02020603050405020304" pitchFamily="18" charset="0"/>
                <a:cs typeface="Times New Roman" panose="02020603050405020304" pitchFamily="18" charset="0"/>
              </a:rPr>
              <a:t>Khách hàng, Khách hàng </a:t>
            </a:r>
            <a:r>
              <a:rPr sz="2400">
                <a:latin typeface="Times New Roman" panose="02020603050405020304" pitchFamily="18" charset="0"/>
                <a:cs typeface="Times New Roman" panose="02020603050405020304" pitchFamily="18" charset="0"/>
              </a:rPr>
              <a:t>ngân</a:t>
            </a:r>
            <a:r>
              <a:rPr sz="2400" spc="-15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hàng</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Tài </a:t>
            </a:r>
            <a:r>
              <a:rPr sz="2400" dirty="0">
                <a:latin typeface="Times New Roman" panose="02020603050405020304" pitchFamily="18" charset="0"/>
                <a:cs typeface="Times New Roman" panose="02020603050405020304" pitchFamily="18" charset="0"/>
              </a:rPr>
              <a:t>khoản, Tài khoản </a:t>
            </a:r>
            <a:r>
              <a:rPr sz="2400">
                <a:latin typeface="Times New Roman" panose="02020603050405020304" pitchFamily="18" charset="0"/>
                <a:cs typeface="Times New Roman" panose="02020603050405020304" pitchFamily="18" charset="0"/>
              </a:rPr>
              <a:t>khách </a:t>
            </a:r>
            <a:r>
              <a:rPr sz="2400" spc="-5">
                <a:latin typeface="Times New Roman" panose="02020603050405020304" pitchFamily="18" charset="0"/>
                <a:cs typeface="Times New Roman" panose="02020603050405020304" pitchFamily="18" charset="0"/>
              </a:rPr>
              <a:t>hàng</a:t>
            </a:r>
            <a:r>
              <a:rPr lang="en-US" sz="2400" spc="-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PIN</a:t>
            </a:r>
            <a:r>
              <a:rPr sz="2400" spc="-5" dirty="0">
                <a:latin typeface="Times New Roman" panose="02020603050405020304" pitchFamily="18" charset="0"/>
                <a:cs typeface="Times New Roman" panose="02020603050405020304" pitchFamily="18" charset="0"/>
              </a:rPr>
              <a:t>, Mã</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PIN</a:t>
            </a:r>
            <a:endParaRPr sz="2400" dirty="0">
              <a:latin typeface="Times New Roman" panose="02020603050405020304" pitchFamily="18" charset="0"/>
              <a:cs typeface="Times New Roman" panose="02020603050405020304" pitchFamily="18" charset="0"/>
            </a:endParaRPr>
          </a:p>
          <a:p>
            <a:pPr marL="12700">
              <a:lnSpc>
                <a:spcPct val="150000"/>
              </a:lnSpc>
            </a:pPr>
            <a:r>
              <a:rPr sz="2400" spc="-20" dirty="0">
                <a:latin typeface="Times New Roman" panose="02020603050405020304" pitchFamily="18" charset="0"/>
                <a:cs typeface="Times New Roman" panose="02020603050405020304" pitchFamily="18" charset="0"/>
              </a:rPr>
              <a:t>Tiền, </a:t>
            </a:r>
            <a:r>
              <a:rPr sz="2400" dirty="0">
                <a:latin typeface="Times New Roman" panose="02020603050405020304" pitchFamily="18" charset="0"/>
                <a:cs typeface="Times New Roman" panose="02020603050405020304" pitchFamily="18" charset="0"/>
              </a:rPr>
              <a:t>Ngân</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quỹ</a:t>
            </a:r>
            <a:endParaRPr sz="2400" dirty="0">
              <a:latin typeface="Times New Roman" panose="02020603050405020304" pitchFamily="18" charset="0"/>
              <a:cs typeface="Times New Roman" panose="02020603050405020304" pitchFamily="18" charset="0"/>
            </a:endParaRPr>
          </a:p>
          <a:p>
            <a:pPr marL="12700">
              <a:lnSpc>
                <a:spcPct val="150000"/>
              </a:lnSpc>
            </a:pPr>
            <a:r>
              <a:rPr sz="2400" dirty="0">
                <a:latin typeface="Times New Roman" panose="02020603050405020304" pitchFamily="18" charset="0"/>
                <a:cs typeface="Times New Roman" panose="02020603050405020304" pitchFamily="18" charset="0"/>
              </a:rPr>
              <a:t>Thẻ </a:t>
            </a:r>
            <a:r>
              <a:rPr sz="2400" spc="-40" dirty="0">
                <a:latin typeface="Times New Roman" panose="02020603050405020304" pitchFamily="18" charset="0"/>
                <a:cs typeface="Times New Roman" panose="02020603050405020304" pitchFamily="18" charset="0"/>
              </a:rPr>
              <a:t>ATM,</a:t>
            </a:r>
            <a:r>
              <a:rPr sz="2400" spc="-1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Thẻ</a:t>
            </a:r>
          </a:p>
        </p:txBody>
      </p:sp>
      <p:sp>
        <p:nvSpPr>
          <p:cNvPr id="5" name="object 5"/>
          <p:cNvSpPr txBox="1"/>
          <p:nvPr/>
        </p:nvSpPr>
        <p:spPr>
          <a:xfrm>
            <a:off x="7620000" y="2660395"/>
            <a:ext cx="2743200" cy="2717090"/>
          </a:xfrm>
          <a:prstGeom prst="rect">
            <a:avLst/>
          </a:prstGeom>
        </p:spPr>
        <p:txBody>
          <a:bodyPr vert="horz" wrap="square" lIns="0" tIns="13335" rIns="0" bIns="0" rtlCol="0">
            <a:spAutoFit/>
          </a:bodyPr>
          <a:lstStyle/>
          <a:p>
            <a:pPr marL="12700">
              <a:lnSpc>
                <a:spcPct val="150000"/>
              </a:lnSpc>
              <a:spcBef>
                <a:spcPts val="105"/>
              </a:spcBef>
            </a:pPr>
            <a:r>
              <a:rPr sz="2400" dirty="0">
                <a:latin typeface="Times New Roman" panose="02020603050405020304" pitchFamily="18" charset="0"/>
                <a:cs typeface="Times New Roman" panose="02020603050405020304" pitchFamily="18" charset="0"/>
              </a:rPr>
              <a:t>= </a:t>
            </a:r>
            <a:r>
              <a:rPr sz="2400" dirty="0">
                <a:solidFill>
                  <a:srgbClr val="C00000"/>
                </a:solidFill>
                <a:latin typeface="Times New Roman" panose="02020603050405020304" pitchFamily="18" charset="0"/>
                <a:cs typeface="Times New Roman" panose="02020603050405020304" pitchFamily="18" charset="0"/>
              </a:rPr>
              <a:t>Khách</a:t>
            </a:r>
            <a:r>
              <a:rPr sz="2400" spc="-110" dirty="0">
                <a:solidFill>
                  <a:srgbClr val="C00000"/>
                </a:solidFill>
                <a:latin typeface="Times New Roman" panose="02020603050405020304" pitchFamily="18" charset="0"/>
                <a:cs typeface="Times New Roman" panose="02020603050405020304" pitchFamily="18" charset="0"/>
              </a:rPr>
              <a:t> </a:t>
            </a:r>
            <a:r>
              <a:rPr sz="2400" dirty="0">
                <a:solidFill>
                  <a:srgbClr val="C00000"/>
                </a:solidFill>
                <a:latin typeface="Times New Roman" panose="02020603050405020304" pitchFamily="18" charset="0"/>
                <a:cs typeface="Times New Roman" panose="02020603050405020304" pitchFamily="18" charset="0"/>
              </a:rPr>
              <a:t>hàng</a:t>
            </a:r>
            <a:endParaRPr sz="2400">
              <a:latin typeface="Times New Roman" panose="02020603050405020304" pitchFamily="18" charset="0"/>
              <a:cs typeface="Times New Roman" panose="02020603050405020304" pitchFamily="18" charset="0"/>
            </a:endParaRPr>
          </a:p>
          <a:p>
            <a:pPr marL="12700">
              <a:lnSpc>
                <a:spcPct val="150000"/>
              </a:lnSpc>
            </a:pPr>
            <a:r>
              <a:rPr sz="2400" dirty="0">
                <a:latin typeface="Times New Roman" panose="02020603050405020304" pitchFamily="18" charset="0"/>
                <a:cs typeface="Times New Roman" panose="02020603050405020304" pitchFamily="18" charset="0"/>
              </a:rPr>
              <a:t>= </a:t>
            </a:r>
            <a:r>
              <a:rPr sz="2400" dirty="0">
                <a:solidFill>
                  <a:srgbClr val="C00000"/>
                </a:solidFill>
                <a:latin typeface="Times New Roman" panose="02020603050405020304" pitchFamily="18" charset="0"/>
                <a:cs typeface="Times New Roman" panose="02020603050405020304" pitchFamily="18" charset="0"/>
              </a:rPr>
              <a:t>Tài</a:t>
            </a:r>
            <a:r>
              <a:rPr sz="2400" spc="-80" dirty="0">
                <a:solidFill>
                  <a:srgbClr val="C00000"/>
                </a:solidFill>
                <a:latin typeface="Times New Roman" panose="02020603050405020304" pitchFamily="18" charset="0"/>
                <a:cs typeface="Times New Roman" panose="02020603050405020304" pitchFamily="18" charset="0"/>
              </a:rPr>
              <a:t> </a:t>
            </a:r>
            <a:r>
              <a:rPr sz="2400" dirty="0">
                <a:solidFill>
                  <a:srgbClr val="C00000"/>
                </a:solidFill>
                <a:latin typeface="Times New Roman" panose="02020603050405020304" pitchFamily="18" charset="0"/>
                <a:cs typeface="Times New Roman" panose="02020603050405020304" pitchFamily="18" charset="0"/>
              </a:rPr>
              <a:t>khoản</a:t>
            </a:r>
            <a:endParaRPr sz="2400">
              <a:latin typeface="Times New Roman" panose="02020603050405020304" pitchFamily="18" charset="0"/>
              <a:cs typeface="Times New Roman" panose="02020603050405020304" pitchFamily="18" charset="0"/>
            </a:endParaRPr>
          </a:p>
          <a:p>
            <a:pPr marL="12700">
              <a:lnSpc>
                <a:spcPct val="150000"/>
              </a:lnSpc>
            </a:pPr>
            <a:r>
              <a:rPr sz="2400" dirty="0">
                <a:latin typeface="Times New Roman" panose="02020603050405020304" pitchFamily="18" charset="0"/>
                <a:cs typeface="Times New Roman" panose="02020603050405020304" pitchFamily="18" charset="0"/>
              </a:rPr>
              <a:t>=</a:t>
            </a:r>
            <a:r>
              <a:rPr sz="2400" spc="-20" dirty="0">
                <a:latin typeface="Times New Roman" panose="02020603050405020304" pitchFamily="18" charset="0"/>
                <a:cs typeface="Times New Roman" panose="02020603050405020304" pitchFamily="18" charset="0"/>
              </a:rPr>
              <a:t> </a:t>
            </a:r>
            <a:r>
              <a:rPr sz="2400" spc="-5" dirty="0">
                <a:solidFill>
                  <a:srgbClr val="C00000"/>
                </a:solidFill>
                <a:latin typeface="Times New Roman" panose="02020603050405020304" pitchFamily="18" charset="0"/>
                <a:cs typeface="Times New Roman" panose="02020603050405020304" pitchFamily="18" charset="0"/>
              </a:rPr>
              <a:t>PIN</a:t>
            </a:r>
            <a:endParaRPr sz="2400">
              <a:latin typeface="Times New Roman" panose="02020603050405020304" pitchFamily="18" charset="0"/>
              <a:cs typeface="Times New Roman" panose="02020603050405020304" pitchFamily="18" charset="0"/>
            </a:endParaRPr>
          </a:p>
          <a:p>
            <a:pPr marL="12700">
              <a:lnSpc>
                <a:spcPct val="150000"/>
              </a:lnSpc>
            </a:pPr>
            <a:r>
              <a:rPr sz="2400" dirty="0">
                <a:latin typeface="Times New Roman" panose="02020603050405020304" pitchFamily="18" charset="0"/>
                <a:cs typeface="Times New Roman" panose="02020603050405020304" pitchFamily="18" charset="0"/>
              </a:rPr>
              <a:t>= </a:t>
            </a:r>
            <a:r>
              <a:rPr sz="2400" dirty="0">
                <a:solidFill>
                  <a:srgbClr val="C00000"/>
                </a:solidFill>
                <a:latin typeface="Times New Roman" panose="02020603050405020304" pitchFamily="18" charset="0"/>
                <a:cs typeface="Times New Roman" panose="02020603050405020304" pitchFamily="18" charset="0"/>
              </a:rPr>
              <a:t>Ngân</a:t>
            </a:r>
            <a:r>
              <a:rPr sz="2400" spc="-70" dirty="0">
                <a:solidFill>
                  <a:srgbClr val="C00000"/>
                </a:solidFill>
                <a:latin typeface="Times New Roman" panose="02020603050405020304" pitchFamily="18" charset="0"/>
                <a:cs typeface="Times New Roman" panose="02020603050405020304" pitchFamily="18" charset="0"/>
              </a:rPr>
              <a:t> </a:t>
            </a:r>
            <a:r>
              <a:rPr sz="2400" spc="-5" dirty="0">
                <a:solidFill>
                  <a:srgbClr val="C00000"/>
                </a:solidFill>
                <a:latin typeface="Times New Roman" panose="02020603050405020304" pitchFamily="18" charset="0"/>
                <a:cs typeface="Times New Roman" panose="02020603050405020304" pitchFamily="18" charset="0"/>
              </a:rPr>
              <a:t>quỹ</a:t>
            </a:r>
            <a:endParaRPr sz="2400">
              <a:latin typeface="Times New Roman" panose="02020603050405020304" pitchFamily="18" charset="0"/>
              <a:cs typeface="Times New Roman" panose="02020603050405020304" pitchFamily="18" charset="0"/>
            </a:endParaRPr>
          </a:p>
          <a:p>
            <a:pPr marL="12700">
              <a:lnSpc>
                <a:spcPct val="150000"/>
              </a:lnSpc>
            </a:pPr>
            <a:r>
              <a:rPr sz="2400" dirty="0">
                <a:latin typeface="Times New Roman" panose="02020603050405020304" pitchFamily="18" charset="0"/>
                <a:cs typeface="Times New Roman" panose="02020603050405020304" pitchFamily="18" charset="0"/>
              </a:rPr>
              <a:t>= </a:t>
            </a:r>
            <a:r>
              <a:rPr sz="2400" dirty="0">
                <a:solidFill>
                  <a:srgbClr val="C00000"/>
                </a:solidFill>
                <a:latin typeface="Times New Roman" panose="02020603050405020304" pitchFamily="18" charset="0"/>
                <a:cs typeface="Times New Roman" panose="02020603050405020304" pitchFamily="18" charset="0"/>
              </a:rPr>
              <a:t>Thẻ</a:t>
            </a:r>
            <a:r>
              <a:rPr sz="2400" spc="-200" dirty="0">
                <a:solidFill>
                  <a:srgbClr val="C00000"/>
                </a:solidFill>
                <a:latin typeface="Times New Roman" panose="02020603050405020304" pitchFamily="18" charset="0"/>
                <a:cs typeface="Times New Roman" panose="02020603050405020304" pitchFamily="18" charset="0"/>
              </a:rPr>
              <a:t> </a:t>
            </a:r>
            <a:r>
              <a:rPr sz="2400" spc="-50" dirty="0">
                <a:solidFill>
                  <a:srgbClr val="C00000"/>
                </a:solidFill>
                <a:latin typeface="Times New Roman" panose="02020603050405020304" pitchFamily="18" charset="0"/>
                <a:cs typeface="Times New Roman" panose="02020603050405020304" pitchFamily="18" charset="0"/>
              </a:rPr>
              <a:t>ATM</a:t>
            </a:r>
            <a:endParaRPr sz="2400">
              <a:latin typeface="Times New Roman" panose="02020603050405020304" pitchFamily="18" charset="0"/>
              <a:cs typeface="Times New Roman" panose="02020603050405020304" pitchFamily="18" charset="0"/>
            </a:endParaRPr>
          </a:p>
        </p:txBody>
      </p:sp>
      <p:sp>
        <p:nvSpPr>
          <p:cNvPr id="8"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7"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2233423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Grp="1"/>
          </p:cNvGraphicFramePr>
          <p:nvPr>
            <p:extLst>
              <p:ext uri="{D42A27DB-BD31-4B8C-83A1-F6EECF244321}">
                <p14:modId xmlns:p14="http://schemas.microsoft.com/office/powerpoint/2010/main" val="3759649104"/>
              </p:ext>
            </p:extLst>
          </p:nvPr>
        </p:nvGraphicFramePr>
        <p:xfrm>
          <a:off x="3293746" y="2130630"/>
          <a:ext cx="5944235" cy="4138929"/>
        </p:xfrm>
        <a:graphic>
          <a:graphicData uri="http://schemas.openxmlformats.org/drawingml/2006/table">
            <a:tbl>
              <a:tblPr firstRow="1" bandRow="1">
                <a:tableStyleId>{2D5ABB26-0587-4C30-8999-92F81FD0307C}</a:tableStyleId>
              </a:tblPr>
              <a:tblGrid>
                <a:gridCol w="2941955">
                  <a:extLst>
                    <a:ext uri="{9D8B030D-6E8A-4147-A177-3AD203B41FA5}">
                      <a16:colId xmlns:a16="http://schemas.microsoft.com/office/drawing/2014/main" val="20000"/>
                    </a:ext>
                  </a:extLst>
                </a:gridCol>
                <a:gridCol w="3002280">
                  <a:extLst>
                    <a:ext uri="{9D8B030D-6E8A-4147-A177-3AD203B41FA5}">
                      <a16:colId xmlns:a16="http://schemas.microsoft.com/office/drawing/2014/main" val="20001"/>
                    </a:ext>
                  </a:extLst>
                </a:gridCol>
              </a:tblGrid>
              <a:tr h="4138929">
                <a:tc>
                  <a:txBody>
                    <a:bodyPr/>
                    <a:lstStyle/>
                    <a:p>
                      <a:pPr marL="97790">
                        <a:lnSpc>
                          <a:spcPct val="100000"/>
                        </a:lnSpc>
                        <a:spcBef>
                          <a:spcPts val="310"/>
                        </a:spcBef>
                      </a:pPr>
                      <a:r>
                        <a:rPr sz="1600" b="1" spc="-5" dirty="0">
                          <a:solidFill>
                            <a:schemeClr val="tx1"/>
                          </a:solidFill>
                          <a:latin typeface="Times New Roman"/>
                          <a:cs typeface="Times New Roman"/>
                        </a:rPr>
                        <a:t>Tài</a:t>
                      </a:r>
                      <a:r>
                        <a:rPr sz="1600" b="1" spc="-10" dirty="0">
                          <a:solidFill>
                            <a:schemeClr val="tx1"/>
                          </a:solidFill>
                          <a:latin typeface="Times New Roman"/>
                          <a:cs typeface="Times New Roman"/>
                        </a:rPr>
                        <a:t> khoản</a:t>
                      </a:r>
                      <a:endParaRPr sz="1600" dirty="0">
                        <a:solidFill>
                          <a:schemeClr val="tx1"/>
                        </a:solidFill>
                        <a:latin typeface="Times New Roman"/>
                        <a:cs typeface="Times New Roman"/>
                      </a:endParaRPr>
                    </a:p>
                    <a:p>
                      <a:pPr marL="97790" marR="1466850">
                        <a:lnSpc>
                          <a:spcPct val="120000"/>
                        </a:lnSpc>
                      </a:pPr>
                      <a:r>
                        <a:rPr sz="1600" b="1" spc="-5" dirty="0">
                          <a:solidFill>
                            <a:schemeClr val="tx1"/>
                          </a:solidFill>
                          <a:latin typeface="Times New Roman"/>
                          <a:cs typeface="Times New Roman"/>
                        </a:rPr>
                        <a:t>Số dư </a:t>
                      </a:r>
                      <a:r>
                        <a:rPr sz="1600" b="1" spc="-5">
                          <a:solidFill>
                            <a:schemeClr val="tx1"/>
                          </a:solidFill>
                          <a:latin typeface="Times New Roman"/>
                          <a:cs typeface="Times New Roman"/>
                        </a:rPr>
                        <a:t>tài</a:t>
                      </a:r>
                      <a:r>
                        <a:rPr sz="1600" b="1" spc="-60">
                          <a:solidFill>
                            <a:schemeClr val="tx1"/>
                          </a:solidFill>
                          <a:latin typeface="Times New Roman"/>
                          <a:cs typeface="Times New Roman"/>
                        </a:rPr>
                        <a:t> </a:t>
                      </a:r>
                      <a:r>
                        <a:rPr sz="1600" b="1" spc="-10">
                          <a:solidFill>
                            <a:schemeClr val="tx1"/>
                          </a:solidFill>
                          <a:latin typeface="Times New Roman"/>
                          <a:cs typeface="Times New Roman"/>
                        </a:rPr>
                        <a:t>khoản</a:t>
                      </a:r>
                      <a:r>
                        <a:rPr lang="en-US" sz="1600" b="1" spc="-10">
                          <a:solidFill>
                            <a:schemeClr val="tx1"/>
                          </a:solidFill>
                          <a:latin typeface="Times New Roman"/>
                          <a:cs typeface="Times New Roman"/>
                        </a:rPr>
                        <a:t> </a:t>
                      </a:r>
                      <a:r>
                        <a:rPr sz="1600" b="1" spc="-5">
                          <a:solidFill>
                            <a:schemeClr val="tx1"/>
                          </a:solidFill>
                          <a:latin typeface="Times New Roman"/>
                          <a:cs typeface="Times New Roman"/>
                        </a:rPr>
                        <a:t>Số</a:t>
                      </a:r>
                      <a:r>
                        <a:rPr sz="1600" b="1" spc="-10">
                          <a:solidFill>
                            <a:schemeClr val="tx1"/>
                          </a:solidFill>
                          <a:latin typeface="Times New Roman"/>
                          <a:cs typeface="Times New Roman"/>
                        </a:rPr>
                        <a:t> </a:t>
                      </a:r>
                      <a:r>
                        <a:rPr sz="1600" b="1" spc="-5" dirty="0">
                          <a:solidFill>
                            <a:schemeClr val="tx1"/>
                          </a:solidFill>
                          <a:latin typeface="Times New Roman"/>
                          <a:cs typeface="Times New Roman"/>
                        </a:rPr>
                        <a:t>tiền</a:t>
                      </a:r>
                      <a:endParaRPr sz="1600" dirty="0">
                        <a:solidFill>
                          <a:schemeClr val="tx1"/>
                        </a:solidFill>
                        <a:latin typeface="Times New Roman"/>
                        <a:cs typeface="Times New Roman"/>
                      </a:endParaRPr>
                    </a:p>
                    <a:p>
                      <a:pPr marL="97790" marR="982344">
                        <a:lnSpc>
                          <a:spcPts val="2310"/>
                        </a:lnSpc>
                        <a:spcBef>
                          <a:spcPts val="140"/>
                        </a:spcBef>
                      </a:pPr>
                      <a:r>
                        <a:rPr sz="1600" b="1" spc="-10" dirty="0">
                          <a:solidFill>
                            <a:schemeClr val="tx1"/>
                          </a:solidFill>
                          <a:latin typeface="Times New Roman"/>
                          <a:cs typeface="Times New Roman"/>
                        </a:rPr>
                        <a:t>Tiến </a:t>
                      </a:r>
                      <a:r>
                        <a:rPr sz="1600" b="1" spc="-5" dirty="0">
                          <a:solidFill>
                            <a:schemeClr val="tx1"/>
                          </a:solidFill>
                          <a:latin typeface="Times New Roman"/>
                          <a:cs typeface="Times New Roman"/>
                        </a:rPr>
                        <a:t>trình </a:t>
                      </a:r>
                      <a:r>
                        <a:rPr sz="1600" b="1" spc="-5">
                          <a:solidFill>
                            <a:schemeClr val="tx1"/>
                          </a:solidFill>
                          <a:latin typeface="Times New Roman"/>
                          <a:cs typeface="Times New Roman"/>
                        </a:rPr>
                        <a:t>đăng </a:t>
                      </a:r>
                      <a:r>
                        <a:rPr sz="1600" b="1" spc="-10">
                          <a:solidFill>
                            <a:schemeClr val="tx1"/>
                          </a:solidFill>
                          <a:latin typeface="Times New Roman"/>
                          <a:cs typeface="Times New Roman"/>
                        </a:rPr>
                        <a:t>nhập</a:t>
                      </a:r>
                      <a:r>
                        <a:rPr lang="en-US" sz="1600" b="1" spc="-10">
                          <a:solidFill>
                            <a:schemeClr val="tx1"/>
                          </a:solidFill>
                          <a:latin typeface="Times New Roman"/>
                          <a:cs typeface="Times New Roman"/>
                        </a:rPr>
                        <a:t> </a:t>
                      </a:r>
                      <a:r>
                        <a:rPr sz="1600" b="1" spc="-5">
                          <a:solidFill>
                            <a:schemeClr val="tx1"/>
                          </a:solidFill>
                          <a:latin typeface="Times New Roman"/>
                          <a:cs typeface="Times New Roman"/>
                        </a:rPr>
                        <a:t>Thẻ</a:t>
                      </a:r>
                      <a:r>
                        <a:rPr sz="1600" b="1" spc="-90">
                          <a:solidFill>
                            <a:schemeClr val="tx1"/>
                          </a:solidFill>
                          <a:latin typeface="Times New Roman"/>
                          <a:cs typeface="Times New Roman"/>
                        </a:rPr>
                        <a:t> </a:t>
                      </a:r>
                      <a:r>
                        <a:rPr sz="1600" b="1" spc="-45" dirty="0">
                          <a:solidFill>
                            <a:schemeClr val="tx1"/>
                          </a:solidFill>
                          <a:latin typeface="Times New Roman"/>
                          <a:cs typeface="Times New Roman"/>
                        </a:rPr>
                        <a:t>ATM</a:t>
                      </a:r>
                      <a:endParaRPr sz="1600" dirty="0">
                        <a:solidFill>
                          <a:schemeClr val="tx1"/>
                        </a:solidFill>
                        <a:latin typeface="Times New Roman"/>
                        <a:cs typeface="Times New Roman"/>
                      </a:endParaRPr>
                    </a:p>
                    <a:p>
                      <a:pPr marL="97790">
                        <a:lnSpc>
                          <a:spcPct val="100000"/>
                        </a:lnSpc>
                        <a:spcBef>
                          <a:spcPts val="235"/>
                        </a:spcBef>
                      </a:pPr>
                      <a:r>
                        <a:rPr sz="1600" b="1" spc="-5" dirty="0">
                          <a:solidFill>
                            <a:schemeClr val="tx1"/>
                          </a:solidFill>
                          <a:latin typeface="Times New Roman"/>
                          <a:cs typeface="Times New Roman"/>
                        </a:rPr>
                        <a:t>Máy</a:t>
                      </a:r>
                      <a:r>
                        <a:rPr sz="1600" b="1" spc="-105" dirty="0">
                          <a:solidFill>
                            <a:schemeClr val="tx1"/>
                          </a:solidFill>
                          <a:latin typeface="Times New Roman"/>
                          <a:cs typeface="Times New Roman"/>
                        </a:rPr>
                        <a:t> </a:t>
                      </a:r>
                      <a:r>
                        <a:rPr sz="1600" b="1" spc="-45" dirty="0">
                          <a:solidFill>
                            <a:schemeClr val="tx1"/>
                          </a:solidFill>
                          <a:latin typeface="Times New Roman"/>
                          <a:cs typeface="Times New Roman"/>
                        </a:rPr>
                        <a:t>ATM</a:t>
                      </a:r>
                      <a:endParaRPr sz="1600" dirty="0">
                        <a:solidFill>
                          <a:schemeClr val="tx1"/>
                        </a:solidFill>
                        <a:latin typeface="Times New Roman"/>
                        <a:cs typeface="Times New Roman"/>
                      </a:endParaRPr>
                    </a:p>
                    <a:p>
                      <a:pPr marL="97790">
                        <a:lnSpc>
                          <a:spcPct val="100000"/>
                        </a:lnSpc>
                        <a:spcBef>
                          <a:spcPts val="385"/>
                        </a:spcBef>
                      </a:pPr>
                      <a:r>
                        <a:rPr sz="1600" b="1" spc="-5" dirty="0">
                          <a:solidFill>
                            <a:schemeClr val="tx1"/>
                          </a:solidFill>
                          <a:latin typeface="Times New Roman"/>
                          <a:cs typeface="Times New Roman"/>
                        </a:rPr>
                        <a:t>Ngân</a:t>
                      </a:r>
                      <a:r>
                        <a:rPr sz="1600" b="1" spc="-25" dirty="0">
                          <a:solidFill>
                            <a:schemeClr val="tx1"/>
                          </a:solidFill>
                          <a:latin typeface="Times New Roman"/>
                          <a:cs typeface="Times New Roman"/>
                        </a:rPr>
                        <a:t> </a:t>
                      </a:r>
                      <a:r>
                        <a:rPr sz="1600" b="1" spc="-5" dirty="0">
                          <a:solidFill>
                            <a:schemeClr val="tx1"/>
                          </a:solidFill>
                          <a:latin typeface="Times New Roman"/>
                          <a:cs typeface="Times New Roman"/>
                        </a:rPr>
                        <a:t>hàng</a:t>
                      </a:r>
                      <a:endParaRPr sz="1600" dirty="0">
                        <a:solidFill>
                          <a:schemeClr val="tx1"/>
                        </a:solidFill>
                        <a:latin typeface="Times New Roman"/>
                        <a:cs typeface="Times New Roman"/>
                      </a:endParaRPr>
                    </a:p>
                    <a:p>
                      <a:pPr marL="97790">
                        <a:lnSpc>
                          <a:spcPct val="100000"/>
                        </a:lnSpc>
                        <a:spcBef>
                          <a:spcPts val="385"/>
                        </a:spcBef>
                      </a:pPr>
                      <a:r>
                        <a:rPr sz="1600" b="1" strike="sngStrike" spc="-5" dirty="0">
                          <a:solidFill>
                            <a:srgbClr val="FF0066"/>
                          </a:solidFill>
                          <a:latin typeface="Times New Roman"/>
                          <a:cs typeface="Times New Roman"/>
                        </a:rPr>
                        <a:t>Khách hàng ngân</a:t>
                      </a:r>
                      <a:r>
                        <a:rPr sz="1600" b="1" strike="sngStrike" dirty="0">
                          <a:solidFill>
                            <a:srgbClr val="FF0066"/>
                          </a:solidFill>
                          <a:latin typeface="Times New Roman"/>
                          <a:cs typeface="Times New Roman"/>
                        </a:rPr>
                        <a:t> </a:t>
                      </a:r>
                      <a:r>
                        <a:rPr sz="1600" b="1" strike="sngStrike" spc="-5" dirty="0">
                          <a:solidFill>
                            <a:srgbClr val="FF0066"/>
                          </a:solidFill>
                          <a:latin typeface="Times New Roman"/>
                          <a:cs typeface="Times New Roman"/>
                        </a:rPr>
                        <a:t>hàng</a:t>
                      </a:r>
                      <a:endParaRPr sz="1600" dirty="0">
                        <a:latin typeface="Times New Roman"/>
                        <a:cs typeface="Times New Roman"/>
                      </a:endParaRPr>
                    </a:p>
                    <a:p>
                      <a:pPr marL="97790">
                        <a:lnSpc>
                          <a:spcPct val="100000"/>
                        </a:lnSpc>
                        <a:spcBef>
                          <a:spcPts val="384"/>
                        </a:spcBef>
                      </a:pPr>
                      <a:r>
                        <a:rPr sz="1600" strike="sngStrike" spc="-400" dirty="0">
                          <a:solidFill>
                            <a:srgbClr val="FF0066"/>
                          </a:solidFill>
                          <a:latin typeface="Times New Roman"/>
                          <a:cs typeface="Times New Roman"/>
                        </a:rPr>
                        <a:t> </a:t>
                      </a:r>
                      <a:r>
                        <a:rPr sz="1600" b="1" strike="sngStrike" spc="-5" dirty="0">
                          <a:solidFill>
                            <a:srgbClr val="FF0066"/>
                          </a:solidFill>
                          <a:latin typeface="Times New Roman"/>
                          <a:cs typeface="Times New Roman"/>
                        </a:rPr>
                        <a:t>Thẻ</a:t>
                      </a:r>
                      <a:endParaRPr sz="1600" dirty="0">
                        <a:latin typeface="Times New Roman"/>
                        <a:cs typeface="Times New Roman"/>
                      </a:endParaRPr>
                    </a:p>
                    <a:p>
                      <a:pPr marL="97790">
                        <a:lnSpc>
                          <a:spcPct val="100000"/>
                        </a:lnSpc>
                        <a:spcBef>
                          <a:spcPts val="380"/>
                        </a:spcBef>
                      </a:pPr>
                      <a:r>
                        <a:rPr sz="1600" b="1" spc="-10" dirty="0">
                          <a:solidFill>
                            <a:schemeClr val="tx1"/>
                          </a:solidFill>
                          <a:latin typeface="Times New Roman"/>
                          <a:cs typeface="Times New Roman"/>
                        </a:rPr>
                        <a:t>Tiền</a:t>
                      </a:r>
                      <a:r>
                        <a:rPr sz="1600" b="1" spc="-15" dirty="0">
                          <a:solidFill>
                            <a:schemeClr val="tx1"/>
                          </a:solidFill>
                          <a:latin typeface="Times New Roman"/>
                          <a:cs typeface="Times New Roman"/>
                        </a:rPr>
                        <a:t> </a:t>
                      </a:r>
                      <a:r>
                        <a:rPr sz="1600" b="1" spc="-10" dirty="0">
                          <a:solidFill>
                            <a:schemeClr val="tx1"/>
                          </a:solidFill>
                          <a:latin typeface="Times New Roman"/>
                          <a:cs typeface="Times New Roman"/>
                        </a:rPr>
                        <a:t>mặt</a:t>
                      </a:r>
                      <a:endParaRPr sz="1600" dirty="0">
                        <a:solidFill>
                          <a:schemeClr val="tx1"/>
                        </a:solidFill>
                        <a:latin typeface="Times New Roman"/>
                        <a:cs typeface="Times New Roman"/>
                      </a:endParaRPr>
                    </a:p>
                    <a:p>
                      <a:pPr marL="97790">
                        <a:lnSpc>
                          <a:spcPct val="100000"/>
                        </a:lnSpc>
                        <a:spcBef>
                          <a:spcPts val="390"/>
                        </a:spcBef>
                      </a:pPr>
                      <a:r>
                        <a:rPr sz="1600" b="1" spc="-5" dirty="0">
                          <a:solidFill>
                            <a:schemeClr val="tx1"/>
                          </a:solidFill>
                          <a:latin typeface="Times New Roman"/>
                          <a:cs typeface="Times New Roman"/>
                        </a:rPr>
                        <a:t>Khách</a:t>
                      </a:r>
                      <a:r>
                        <a:rPr sz="1600" b="1" dirty="0">
                          <a:solidFill>
                            <a:schemeClr val="tx1"/>
                          </a:solidFill>
                          <a:latin typeface="Times New Roman"/>
                          <a:cs typeface="Times New Roman"/>
                        </a:rPr>
                        <a:t> </a:t>
                      </a:r>
                      <a:r>
                        <a:rPr sz="1600" b="1" spc="-5" dirty="0">
                          <a:solidFill>
                            <a:schemeClr val="tx1"/>
                          </a:solidFill>
                          <a:latin typeface="Times New Roman"/>
                          <a:cs typeface="Times New Roman"/>
                        </a:rPr>
                        <a:t>hàng</a:t>
                      </a:r>
                      <a:endParaRPr sz="1600" dirty="0">
                        <a:solidFill>
                          <a:schemeClr val="tx1"/>
                        </a:solidFill>
                        <a:latin typeface="Times New Roman"/>
                        <a:cs typeface="Times New Roman"/>
                      </a:endParaRPr>
                    </a:p>
                    <a:p>
                      <a:pPr marL="97790" marR="888365" indent="-635">
                        <a:lnSpc>
                          <a:spcPct val="120000"/>
                        </a:lnSpc>
                      </a:pPr>
                      <a:r>
                        <a:rPr sz="1600" strike="sngStrike" spc="-400" dirty="0">
                          <a:solidFill>
                            <a:srgbClr val="FF0066"/>
                          </a:solidFill>
                          <a:latin typeface="Times New Roman"/>
                          <a:cs typeface="Times New Roman"/>
                        </a:rPr>
                        <a:t> </a:t>
                      </a:r>
                      <a:r>
                        <a:rPr sz="1600" b="1" strike="sngStrike" spc="-5" dirty="0">
                          <a:solidFill>
                            <a:srgbClr val="FF0066"/>
                          </a:solidFill>
                          <a:latin typeface="Times New Roman"/>
                          <a:cs typeface="Times New Roman"/>
                        </a:rPr>
                        <a:t>Tài </a:t>
                      </a:r>
                      <a:r>
                        <a:rPr sz="1600" b="1" strike="sngStrike" spc="-10" dirty="0">
                          <a:solidFill>
                            <a:srgbClr val="FF0066"/>
                          </a:solidFill>
                          <a:latin typeface="Times New Roman"/>
                          <a:cs typeface="Times New Roman"/>
                        </a:rPr>
                        <a:t>khoản </a:t>
                      </a:r>
                      <a:r>
                        <a:rPr sz="1600" b="1" strike="sngStrike" spc="-10">
                          <a:solidFill>
                            <a:srgbClr val="FF0066"/>
                          </a:solidFill>
                          <a:latin typeface="Times New Roman"/>
                          <a:cs typeface="Times New Roman"/>
                        </a:rPr>
                        <a:t>khách </a:t>
                      </a:r>
                      <a:r>
                        <a:rPr sz="1600" b="1" strike="sngStrike" spc="-5">
                          <a:solidFill>
                            <a:srgbClr val="FF0066"/>
                          </a:solidFill>
                          <a:latin typeface="Times New Roman"/>
                          <a:cs typeface="Times New Roman"/>
                        </a:rPr>
                        <a:t>hàng</a:t>
                      </a:r>
                      <a:r>
                        <a:rPr lang="en-US" sz="1600" b="1" strike="sngStrike" spc="-5">
                          <a:solidFill>
                            <a:srgbClr val="FF0066"/>
                          </a:solidFill>
                          <a:latin typeface="Times New Roman"/>
                          <a:cs typeface="Times New Roman"/>
                        </a:rPr>
                        <a:t> </a:t>
                      </a:r>
                      <a:r>
                        <a:rPr sz="1600" b="1" strike="noStrike" spc="-10">
                          <a:solidFill>
                            <a:schemeClr val="tx1"/>
                          </a:solidFill>
                          <a:latin typeface="Times New Roman"/>
                          <a:cs typeface="Times New Roman"/>
                        </a:rPr>
                        <a:t>VND</a:t>
                      </a:r>
                      <a:endParaRPr sz="1600" dirty="0">
                        <a:solidFill>
                          <a:schemeClr val="tx1"/>
                        </a:solidFill>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310"/>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Bao</a:t>
                      </a:r>
                      <a:r>
                        <a:rPr sz="1600" b="1" strike="sngStrike" spc="-15" dirty="0">
                          <a:solidFill>
                            <a:srgbClr val="FF0066"/>
                          </a:solidFill>
                          <a:latin typeface="Times New Roman"/>
                          <a:cs typeface="Times New Roman"/>
                        </a:rPr>
                        <a:t> </a:t>
                      </a:r>
                      <a:r>
                        <a:rPr sz="1600" b="1" strike="sngStrike" spc="-10" dirty="0">
                          <a:solidFill>
                            <a:srgbClr val="FF0066"/>
                          </a:solidFill>
                          <a:latin typeface="Times New Roman"/>
                          <a:cs typeface="Times New Roman"/>
                        </a:rPr>
                        <a:t>thư</a:t>
                      </a:r>
                      <a:endParaRPr sz="1600" dirty="0">
                        <a:latin typeface="Times New Roman"/>
                        <a:cs typeface="Times New Roman"/>
                      </a:endParaRPr>
                    </a:p>
                    <a:p>
                      <a:pPr marL="97790" marR="2051050" indent="-635">
                        <a:lnSpc>
                          <a:spcPct val="120000"/>
                        </a:lnSpc>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Bốn </a:t>
                      </a:r>
                      <a:r>
                        <a:rPr sz="1600" b="1" strike="sngStrike" spc="-10">
                          <a:solidFill>
                            <a:srgbClr val="FF0066"/>
                          </a:solidFill>
                          <a:latin typeface="Times New Roman"/>
                          <a:cs typeface="Times New Roman"/>
                        </a:rPr>
                        <a:t>ký</a:t>
                      </a:r>
                      <a:r>
                        <a:rPr sz="1600" b="1" strike="sngStrike" spc="-80">
                          <a:solidFill>
                            <a:srgbClr val="FF0066"/>
                          </a:solidFill>
                          <a:latin typeface="Times New Roman"/>
                          <a:cs typeface="Times New Roman"/>
                        </a:rPr>
                        <a:t> </a:t>
                      </a:r>
                      <a:r>
                        <a:rPr sz="1600" b="1" strike="sngStrike" spc="-5">
                          <a:solidFill>
                            <a:srgbClr val="FF0066"/>
                          </a:solidFill>
                          <a:latin typeface="Times New Roman"/>
                          <a:cs typeface="Times New Roman"/>
                        </a:rPr>
                        <a:t>số</a:t>
                      </a:r>
                      <a:r>
                        <a:rPr lang="en-US" sz="1600" b="1" strike="sngStrike" spc="-5">
                          <a:solidFill>
                            <a:srgbClr val="FF0066"/>
                          </a:solidFill>
                          <a:latin typeface="Times New Roman"/>
                          <a:cs typeface="Times New Roman"/>
                        </a:rPr>
                        <a:t> </a:t>
                      </a:r>
                      <a:r>
                        <a:rPr sz="1600" b="1" strike="noStrike" spc="-5">
                          <a:solidFill>
                            <a:schemeClr val="tx1"/>
                          </a:solidFill>
                          <a:latin typeface="Times New Roman"/>
                          <a:cs typeface="Times New Roman"/>
                        </a:rPr>
                        <a:t>Ngân</a:t>
                      </a:r>
                      <a:r>
                        <a:rPr sz="1600" b="1" strike="noStrike" spc="-85">
                          <a:solidFill>
                            <a:schemeClr val="tx1"/>
                          </a:solidFill>
                          <a:latin typeface="Times New Roman"/>
                          <a:cs typeface="Times New Roman"/>
                        </a:rPr>
                        <a:t> </a:t>
                      </a:r>
                      <a:r>
                        <a:rPr sz="1600" b="1" strike="noStrike" spc="-5" dirty="0">
                          <a:solidFill>
                            <a:schemeClr val="tx1"/>
                          </a:solidFill>
                          <a:latin typeface="Times New Roman"/>
                          <a:cs typeface="Times New Roman"/>
                        </a:rPr>
                        <a:t>quỹ</a:t>
                      </a:r>
                      <a:endParaRPr sz="1600" dirty="0">
                        <a:solidFill>
                          <a:schemeClr val="tx1"/>
                        </a:solidFill>
                        <a:latin typeface="Times New Roman"/>
                        <a:cs typeface="Times New Roman"/>
                      </a:endParaRPr>
                    </a:p>
                    <a:p>
                      <a:pPr marL="97790" marR="2505075" indent="-635">
                        <a:lnSpc>
                          <a:spcPts val="2310"/>
                        </a:lnSpc>
                        <a:spcBef>
                          <a:spcPts val="140"/>
                        </a:spcBef>
                      </a:pPr>
                      <a:r>
                        <a:rPr sz="1600" strike="sngStrike" spc="-395">
                          <a:solidFill>
                            <a:srgbClr val="FF0066"/>
                          </a:solidFill>
                          <a:latin typeface="Times New Roman"/>
                          <a:cs typeface="Times New Roman"/>
                        </a:rPr>
                        <a:t> </a:t>
                      </a:r>
                      <a:r>
                        <a:rPr sz="1600" b="1" strike="sngStrike" spc="-20">
                          <a:solidFill>
                            <a:srgbClr val="FF0066"/>
                          </a:solidFill>
                          <a:latin typeface="Times New Roman"/>
                          <a:cs typeface="Times New Roman"/>
                        </a:rPr>
                        <a:t>T</a:t>
                      </a:r>
                      <a:r>
                        <a:rPr sz="1600" b="1" strike="sngStrike">
                          <a:solidFill>
                            <a:srgbClr val="FF0066"/>
                          </a:solidFill>
                          <a:latin typeface="Times New Roman"/>
                          <a:cs typeface="Times New Roman"/>
                        </a:rPr>
                        <a:t>iề</a:t>
                      </a:r>
                      <a:r>
                        <a:rPr sz="1600" b="1" strike="sngStrike" spc="-10">
                          <a:solidFill>
                            <a:srgbClr val="FF0066"/>
                          </a:solidFill>
                          <a:latin typeface="Times New Roman"/>
                          <a:cs typeface="Times New Roman"/>
                        </a:rPr>
                        <a:t>n</a:t>
                      </a:r>
                      <a:r>
                        <a:rPr lang="en-US" sz="1600" b="1" strike="sngStrike" spc="-10">
                          <a:solidFill>
                            <a:srgbClr val="FF0066"/>
                          </a:solidFill>
                          <a:latin typeface="Times New Roman"/>
                          <a:cs typeface="Times New Roman"/>
                        </a:rPr>
                        <a:t> </a:t>
                      </a:r>
                      <a:r>
                        <a:rPr sz="1600" b="1" strike="noStrike" spc="-5">
                          <a:solidFill>
                            <a:schemeClr val="tx1"/>
                          </a:solidFill>
                          <a:latin typeface="Times New Roman"/>
                          <a:cs typeface="Times New Roman"/>
                        </a:rPr>
                        <a:t>PIN</a:t>
                      </a:r>
                      <a:endParaRPr sz="1600" dirty="0">
                        <a:solidFill>
                          <a:schemeClr val="tx1"/>
                        </a:solidFill>
                        <a:latin typeface="Times New Roman"/>
                        <a:cs typeface="Times New Roman"/>
                      </a:endParaRPr>
                    </a:p>
                    <a:p>
                      <a:pPr marL="97790">
                        <a:lnSpc>
                          <a:spcPct val="100000"/>
                        </a:lnSpc>
                        <a:spcBef>
                          <a:spcPts val="235"/>
                        </a:spcBef>
                      </a:pPr>
                      <a:r>
                        <a:rPr sz="1600" b="1" spc="-5" dirty="0">
                          <a:solidFill>
                            <a:schemeClr val="tx1"/>
                          </a:solidFill>
                          <a:latin typeface="Times New Roman"/>
                          <a:cs typeface="Times New Roman"/>
                        </a:rPr>
                        <a:t>PIN </a:t>
                      </a:r>
                      <a:r>
                        <a:rPr sz="1600" b="1" spc="-10" dirty="0">
                          <a:solidFill>
                            <a:schemeClr val="tx1"/>
                          </a:solidFill>
                          <a:latin typeface="Times New Roman"/>
                          <a:cs typeface="Times New Roman"/>
                        </a:rPr>
                        <a:t>không </a:t>
                      </a:r>
                      <a:r>
                        <a:rPr sz="1600" b="1" spc="-5" dirty="0">
                          <a:solidFill>
                            <a:schemeClr val="tx1"/>
                          </a:solidFill>
                          <a:latin typeface="Times New Roman"/>
                          <a:cs typeface="Times New Roman"/>
                        </a:rPr>
                        <a:t>hợp</a:t>
                      </a:r>
                      <a:r>
                        <a:rPr sz="1600" b="1" spc="10" dirty="0">
                          <a:solidFill>
                            <a:schemeClr val="tx1"/>
                          </a:solidFill>
                          <a:latin typeface="Times New Roman"/>
                          <a:cs typeface="Times New Roman"/>
                        </a:rPr>
                        <a:t> </a:t>
                      </a:r>
                      <a:r>
                        <a:rPr sz="1600" b="1" spc="-5" dirty="0">
                          <a:solidFill>
                            <a:schemeClr val="tx1"/>
                          </a:solidFill>
                          <a:latin typeface="Times New Roman"/>
                          <a:cs typeface="Times New Roman"/>
                        </a:rPr>
                        <a:t>lệ</a:t>
                      </a:r>
                      <a:endParaRPr sz="1600" dirty="0">
                        <a:solidFill>
                          <a:schemeClr val="tx1"/>
                        </a:solidFill>
                        <a:latin typeface="Times New Roman"/>
                        <a:cs typeface="Times New Roman"/>
                      </a:endParaRPr>
                    </a:p>
                    <a:p>
                      <a:pPr marL="97790" marR="1909445">
                        <a:lnSpc>
                          <a:spcPct val="120000"/>
                        </a:lnSpc>
                      </a:pPr>
                      <a:r>
                        <a:rPr sz="1600" b="1" spc="-5">
                          <a:solidFill>
                            <a:schemeClr val="tx1"/>
                          </a:solidFill>
                          <a:latin typeface="Times New Roman"/>
                          <a:cs typeface="Times New Roman"/>
                        </a:rPr>
                        <a:t>Thông</a:t>
                      </a:r>
                      <a:r>
                        <a:rPr sz="1600" b="1" spc="-90">
                          <a:solidFill>
                            <a:schemeClr val="tx1"/>
                          </a:solidFill>
                          <a:latin typeface="Times New Roman"/>
                          <a:cs typeface="Times New Roman"/>
                        </a:rPr>
                        <a:t> </a:t>
                      </a:r>
                      <a:r>
                        <a:rPr sz="1600" b="1" spc="-5">
                          <a:solidFill>
                            <a:schemeClr val="tx1"/>
                          </a:solidFill>
                          <a:latin typeface="Times New Roman"/>
                          <a:cs typeface="Times New Roman"/>
                        </a:rPr>
                        <a:t>điệp</a:t>
                      </a:r>
                      <a:r>
                        <a:rPr lang="en-US" sz="1600" b="1" spc="-5">
                          <a:solidFill>
                            <a:schemeClr val="tx1"/>
                          </a:solidFill>
                          <a:latin typeface="Times New Roman"/>
                          <a:cs typeface="Times New Roman"/>
                        </a:rPr>
                        <a:t> </a:t>
                      </a:r>
                      <a:r>
                        <a:rPr sz="1600" b="1">
                          <a:solidFill>
                            <a:schemeClr val="tx1"/>
                          </a:solidFill>
                          <a:latin typeface="Times New Roman"/>
                          <a:cs typeface="Times New Roman"/>
                        </a:rPr>
                        <a:t>Mật </a:t>
                      </a:r>
                      <a:r>
                        <a:rPr sz="1600" b="1" spc="-5">
                          <a:solidFill>
                            <a:schemeClr val="tx1"/>
                          </a:solidFill>
                          <a:latin typeface="Times New Roman"/>
                          <a:cs typeface="Times New Roman"/>
                        </a:rPr>
                        <a:t>khẩu</a:t>
                      </a:r>
                      <a:r>
                        <a:rPr lang="en-US" sz="1600" b="1" spc="-5">
                          <a:solidFill>
                            <a:schemeClr val="tx1"/>
                          </a:solidFill>
                          <a:latin typeface="Times New Roman"/>
                          <a:cs typeface="Times New Roman"/>
                        </a:rPr>
                        <a:t> </a:t>
                      </a:r>
                      <a:r>
                        <a:rPr sz="1600" b="1" strike="sngStrike" spc="-5">
                          <a:solidFill>
                            <a:srgbClr val="FF0066"/>
                          </a:solidFill>
                          <a:latin typeface="Times New Roman"/>
                          <a:cs typeface="Times New Roman"/>
                        </a:rPr>
                        <a:t>Mã</a:t>
                      </a:r>
                      <a:r>
                        <a:rPr sz="1600" b="1" strike="sngStrike" spc="-10">
                          <a:solidFill>
                            <a:srgbClr val="FF0066"/>
                          </a:solidFill>
                          <a:latin typeface="Times New Roman"/>
                          <a:cs typeface="Times New Roman"/>
                        </a:rPr>
                        <a:t> </a:t>
                      </a:r>
                      <a:r>
                        <a:rPr sz="1600" b="1" strike="sngStrike" spc="-5" dirty="0">
                          <a:solidFill>
                            <a:srgbClr val="FF0066"/>
                          </a:solidFill>
                          <a:latin typeface="Times New Roman"/>
                          <a:cs typeface="Times New Roman"/>
                        </a:rPr>
                        <a:t>PIN</a:t>
                      </a:r>
                      <a:endParaRPr sz="1600" dirty="0">
                        <a:latin typeface="Times New Roman"/>
                        <a:cs typeface="Times New Roman"/>
                      </a:endParaRPr>
                    </a:p>
                    <a:p>
                      <a:pPr marL="97790">
                        <a:lnSpc>
                          <a:spcPct val="100000"/>
                        </a:lnSpc>
                        <a:spcBef>
                          <a:spcPts val="385"/>
                        </a:spcBef>
                      </a:pPr>
                      <a:r>
                        <a:rPr sz="1600" b="1" dirty="0">
                          <a:solidFill>
                            <a:schemeClr val="tx1"/>
                          </a:solidFill>
                          <a:latin typeface="Times New Roman"/>
                          <a:cs typeface="Times New Roman"/>
                        </a:rPr>
                        <a:t>Mẫu</a:t>
                      </a:r>
                      <a:r>
                        <a:rPr sz="1600" b="1" spc="-95" dirty="0">
                          <a:solidFill>
                            <a:schemeClr val="tx1"/>
                          </a:solidFill>
                          <a:latin typeface="Times New Roman"/>
                          <a:cs typeface="Times New Roman"/>
                        </a:rPr>
                        <a:t> </a:t>
                      </a:r>
                      <a:r>
                        <a:rPr sz="1600" b="1" spc="-5" dirty="0">
                          <a:solidFill>
                            <a:schemeClr val="tx1"/>
                          </a:solidFill>
                          <a:latin typeface="Times New Roman"/>
                          <a:cs typeface="Times New Roman"/>
                        </a:rPr>
                        <a:t>tin</a:t>
                      </a:r>
                      <a:endParaRPr sz="1600" dirty="0">
                        <a:solidFill>
                          <a:schemeClr val="tx1"/>
                        </a:solidFill>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Bước</a:t>
                      </a:r>
                      <a:endParaRPr sz="1600" dirty="0">
                        <a:latin typeface="Times New Roman"/>
                        <a:cs typeface="Times New Roman"/>
                      </a:endParaRPr>
                    </a:p>
                    <a:p>
                      <a:pPr marL="97790" marR="2054860">
                        <a:lnSpc>
                          <a:spcPct val="120000"/>
                        </a:lnSpc>
                      </a:pPr>
                      <a:r>
                        <a:rPr sz="1600" b="1" spc="-5">
                          <a:solidFill>
                            <a:schemeClr val="tx1"/>
                          </a:solidFill>
                          <a:latin typeface="Times New Roman"/>
                          <a:cs typeface="Times New Roman"/>
                        </a:rPr>
                        <a:t>Hệ thống</a:t>
                      </a:r>
                      <a:r>
                        <a:rPr lang="en-US" sz="1600" b="1" spc="-5">
                          <a:solidFill>
                            <a:schemeClr val="tx1"/>
                          </a:solidFill>
                          <a:latin typeface="Times New Roman"/>
                          <a:cs typeface="Times New Roman"/>
                        </a:rPr>
                        <a:t> </a:t>
                      </a:r>
                      <a:r>
                        <a:rPr sz="1600" b="1" spc="-5">
                          <a:solidFill>
                            <a:schemeClr val="tx1"/>
                          </a:solidFill>
                          <a:latin typeface="Times New Roman"/>
                          <a:cs typeface="Times New Roman"/>
                        </a:rPr>
                        <a:t>Giao</a:t>
                      </a:r>
                      <a:r>
                        <a:rPr sz="1600" b="1" spc="-70">
                          <a:solidFill>
                            <a:schemeClr val="tx1"/>
                          </a:solidFill>
                          <a:latin typeface="Times New Roman"/>
                          <a:cs typeface="Times New Roman"/>
                        </a:rPr>
                        <a:t> </a:t>
                      </a:r>
                      <a:r>
                        <a:rPr sz="1600" b="1" spc="-5" dirty="0">
                          <a:solidFill>
                            <a:schemeClr val="tx1"/>
                          </a:solidFill>
                          <a:latin typeface="Times New Roman"/>
                          <a:cs typeface="Times New Roman"/>
                        </a:rPr>
                        <a:t>dịch</a:t>
                      </a:r>
                      <a:endParaRPr sz="1600" dirty="0">
                        <a:solidFill>
                          <a:schemeClr val="tx1"/>
                        </a:solidFill>
                        <a:latin typeface="Times New Roman"/>
                        <a:cs typeface="Times New Roman"/>
                      </a:endParaRPr>
                    </a:p>
                    <a:p>
                      <a:pPr marL="97790">
                        <a:lnSpc>
                          <a:spcPct val="100000"/>
                        </a:lnSpc>
                        <a:spcBef>
                          <a:spcPts val="385"/>
                        </a:spcBef>
                      </a:pPr>
                      <a:r>
                        <a:rPr sz="1600" b="1" spc="-5" dirty="0">
                          <a:solidFill>
                            <a:schemeClr val="tx1"/>
                          </a:solidFill>
                          <a:latin typeface="Times New Roman"/>
                          <a:cs typeface="Times New Roman"/>
                        </a:rPr>
                        <a:t>Lịch sử giao</a:t>
                      </a:r>
                      <a:r>
                        <a:rPr sz="1600" b="1" spc="20" dirty="0">
                          <a:solidFill>
                            <a:schemeClr val="tx1"/>
                          </a:solidFill>
                          <a:latin typeface="Times New Roman"/>
                          <a:cs typeface="Times New Roman"/>
                        </a:rPr>
                        <a:t> </a:t>
                      </a:r>
                      <a:r>
                        <a:rPr sz="1600" b="1" spc="-10" dirty="0">
                          <a:solidFill>
                            <a:schemeClr val="tx1"/>
                          </a:solidFill>
                          <a:latin typeface="Times New Roman"/>
                          <a:cs typeface="Times New Roman"/>
                        </a:rPr>
                        <a:t>dịch</a:t>
                      </a:r>
                      <a:endParaRPr sz="1600" dirty="0">
                        <a:solidFill>
                          <a:schemeClr val="tx1"/>
                        </a:solidFill>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object 3"/>
          <p:cNvSpPr txBox="1"/>
          <p:nvPr/>
        </p:nvSpPr>
        <p:spPr>
          <a:xfrm>
            <a:off x="0" y="914401"/>
            <a:ext cx="12192000" cy="1216229"/>
          </a:xfrm>
          <a:prstGeom prst="rect">
            <a:avLst/>
          </a:prstGeom>
        </p:spPr>
        <p:txBody>
          <a:bodyPr vert="horz" wrap="square" lIns="0" tIns="104139" rIns="0" bIns="0" rtlCol="0">
            <a:spAutoFit/>
          </a:bodyPr>
          <a:lstStyle/>
          <a:p>
            <a:pPr marL="469900" indent="-457200">
              <a:lnSpc>
                <a:spcPct val="120000"/>
              </a:lnSpc>
              <a:spcBef>
                <a:spcPts val="819"/>
              </a:spcBef>
              <a:buSzPct val="100000"/>
              <a:buFont typeface="Wingdings" panose="05000000000000000000" pitchFamily="2" charset="2"/>
              <a:buChar char="§"/>
              <a:tabLst>
                <a:tab pos="332105" algn="l"/>
                <a:tab pos="332740" algn="l"/>
              </a:tabLst>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cụm </a:t>
            </a:r>
            <a:r>
              <a:rPr sz="2800" b="1" spc="-5" dirty="0">
                <a:solidFill>
                  <a:srgbClr val="FF0000"/>
                </a:solidFill>
                <a:latin typeface="Times New Roman" panose="02020603050405020304" pitchFamily="18" charset="0"/>
                <a:cs typeface="Times New Roman" panose="02020603050405020304" pitchFamily="18" charset="0"/>
              </a:rPr>
              <a:t>danh </a:t>
            </a:r>
            <a:r>
              <a:rPr sz="2800" b="1" dirty="0">
                <a:solidFill>
                  <a:srgbClr val="FF0000"/>
                </a:solidFill>
                <a:latin typeface="Times New Roman" panose="02020603050405020304" pitchFamily="18" charset="0"/>
                <a:cs typeface="Times New Roman" panose="02020603050405020304" pitchFamily="18" charset="0"/>
              </a:rPr>
              <a:t>từ </a:t>
            </a:r>
            <a:r>
              <a:rPr sz="2800" b="1" spc="-5" dirty="0">
                <a:solidFill>
                  <a:srgbClr val="FF0000"/>
                </a:solidFill>
                <a:latin typeface="Times New Roman" panose="02020603050405020304" pitchFamily="18" charset="0"/>
                <a:cs typeface="Times New Roman" panose="02020603050405020304" pitchFamily="18" charset="0"/>
              </a:rPr>
              <a:t>(</a:t>
            </a:r>
            <a:r>
              <a:rPr sz="2800" b="1" spc="-5">
                <a:solidFill>
                  <a:srgbClr val="FF0000"/>
                </a:solidFill>
                <a:latin typeface="Times New Roman" panose="02020603050405020304" pitchFamily="18" charset="0"/>
                <a:cs typeface="Times New Roman" panose="02020603050405020304" pitchFamily="18" charset="0"/>
              </a:rPr>
              <a:t>noun</a:t>
            </a:r>
            <a:r>
              <a:rPr sz="2800" b="1" spc="-1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a:t>
            </a:r>
            <a:r>
              <a:rPr lang="en-US" sz="2800" b="1" spc="-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phrase</a:t>
            </a:r>
            <a:r>
              <a:rPr sz="2800" b="1" spc="-5" dirty="0">
                <a:solidFill>
                  <a:srgbClr val="FF0000"/>
                </a:solidFill>
                <a:latin typeface="Times New Roman" panose="02020603050405020304" pitchFamily="18" charset="0"/>
                <a:cs typeface="Times New Roman" panose="02020603050405020304" pitchFamily="18" charset="0"/>
              </a:rPr>
              <a:t>)</a:t>
            </a:r>
            <a:endParaRPr sz="2800" b="1" dirty="0">
              <a:solidFill>
                <a:srgbClr val="FF0000"/>
              </a:solidFill>
              <a:latin typeface="Times New Roman" panose="02020603050405020304" pitchFamily="18" charset="0"/>
              <a:cs typeface="Times New Roman" panose="02020603050405020304" pitchFamily="18" charset="0"/>
            </a:endParaRPr>
          </a:p>
          <a:p>
            <a:pPr marL="835025" indent="-457200">
              <a:lnSpc>
                <a:spcPct val="120000"/>
              </a:lnSpc>
              <a:spcBef>
                <a:spcPts val="610"/>
              </a:spcBef>
              <a:buFont typeface="Arial" panose="020B0604020202020204" pitchFamily="34" charset="0"/>
              <a:buChar char="•"/>
            </a:pPr>
            <a:r>
              <a:rPr sz="2800" spc="-5">
                <a:solidFill>
                  <a:srgbClr val="00B050"/>
                </a:solidFill>
                <a:latin typeface="Times New Roman" panose="02020603050405020304" pitchFamily="18" charset="0"/>
                <a:cs typeface="Times New Roman" panose="02020603050405020304" pitchFamily="18" charset="0"/>
              </a:rPr>
              <a:t>Đồng </a:t>
            </a:r>
            <a:r>
              <a:rPr sz="2800" spc="-5" dirty="0">
                <a:solidFill>
                  <a:srgbClr val="00B050"/>
                </a:solidFill>
                <a:latin typeface="Times New Roman" panose="02020603050405020304" pitchFamily="18" charset="0"/>
                <a:cs typeface="Times New Roman" panose="02020603050405020304" pitchFamily="18" charset="0"/>
              </a:rPr>
              <a:t>nhất </a:t>
            </a:r>
            <a:r>
              <a:rPr sz="2800" dirty="0">
                <a:solidFill>
                  <a:srgbClr val="00B050"/>
                </a:solidFill>
                <a:latin typeface="Times New Roman" panose="02020603050405020304" pitchFamily="18" charset="0"/>
                <a:cs typeface="Times New Roman" panose="02020603050405020304" pitchFamily="18" charset="0"/>
              </a:rPr>
              <a:t>các </a:t>
            </a:r>
            <a:r>
              <a:rPr sz="2800" spc="-5" dirty="0">
                <a:solidFill>
                  <a:srgbClr val="00B050"/>
                </a:solidFill>
                <a:latin typeface="Times New Roman" panose="02020603050405020304" pitchFamily="18" charset="0"/>
                <a:cs typeface="Times New Roman" panose="02020603050405020304" pitchFamily="18" charset="0"/>
              </a:rPr>
              <a:t>ứng viên trùng</a:t>
            </a:r>
            <a:r>
              <a:rPr sz="2800" spc="165" dirty="0">
                <a:solidFill>
                  <a:srgbClr val="00B050"/>
                </a:solidFill>
                <a:latin typeface="Times New Roman" panose="02020603050405020304" pitchFamily="18" charset="0"/>
                <a:cs typeface="Times New Roman" panose="02020603050405020304" pitchFamily="18" charset="0"/>
              </a:rPr>
              <a:t> </a:t>
            </a:r>
            <a:r>
              <a:rPr sz="2800" spc="-5" dirty="0">
                <a:solidFill>
                  <a:srgbClr val="00B050"/>
                </a:solidFill>
                <a:latin typeface="Times New Roman" panose="02020603050405020304" pitchFamily="18" charset="0"/>
                <a:cs typeface="Times New Roman" panose="02020603050405020304" pitchFamily="18" charset="0"/>
              </a:rPr>
              <a:t>lắp</a:t>
            </a:r>
            <a:endParaRPr sz="2800" dirty="0">
              <a:solidFill>
                <a:srgbClr val="00B050"/>
              </a:solidFill>
              <a:latin typeface="Times New Roman" panose="02020603050405020304" pitchFamily="18" charset="0"/>
              <a:cs typeface="Times New Roman" panose="02020603050405020304" pitchFamily="18" charset="0"/>
            </a:endParaRPr>
          </a:p>
        </p:txBody>
      </p:sp>
      <p:sp>
        <p:nvSpPr>
          <p:cNvPr id="7"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4683487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762000"/>
            <a:ext cx="12192000" cy="5911874"/>
          </a:xfrm>
          <a:prstGeom prst="rect">
            <a:avLst/>
          </a:prstGeom>
        </p:spPr>
        <p:txBody>
          <a:bodyPr vert="horz" wrap="square" lIns="0" tIns="104139" rIns="0" bIns="0" rtlCol="0">
            <a:spAutoFit/>
          </a:bodyPr>
          <a:lstStyle/>
          <a:p>
            <a:pPr marL="355600" indent="-342900">
              <a:lnSpc>
                <a:spcPct val="150000"/>
              </a:lnSpc>
              <a:spcBef>
                <a:spcPts val="819"/>
              </a:spcBef>
              <a:buSzPct val="100000"/>
              <a:buFont typeface="Wingdings" panose="05000000000000000000" pitchFamily="2" charset="2"/>
              <a:buChar char="§"/>
              <a:tabLst>
                <a:tab pos="332105" algn="l"/>
                <a:tab pos="332740" algn="l"/>
              </a:tabLst>
            </a:pPr>
            <a:r>
              <a:rPr sz="2800" b="1" spc="-30">
                <a:solidFill>
                  <a:srgbClr val="FF0000"/>
                </a:solidFill>
                <a:latin typeface="Times New Roman" panose="02020603050405020304" pitchFamily="18" charset="0"/>
                <a:cs typeface="Times New Roman" panose="02020603050405020304" pitchFamily="18" charset="0"/>
              </a:rPr>
              <a:t>Tiếp </a:t>
            </a:r>
            <a:r>
              <a:rPr sz="2800" b="1">
                <a:solidFill>
                  <a:srgbClr val="FF0000"/>
                </a:solidFill>
                <a:latin typeface="Times New Roman" panose="02020603050405020304" pitchFamily="18" charset="0"/>
                <a:cs typeface="Times New Roman" panose="02020603050405020304" pitchFamily="18" charset="0"/>
              </a:rPr>
              <a:t>cận </a:t>
            </a:r>
            <a:r>
              <a:rPr sz="2800" b="1" spc="-5">
                <a:solidFill>
                  <a:srgbClr val="FF0000"/>
                </a:solidFill>
                <a:latin typeface="Times New Roman" panose="02020603050405020304" pitchFamily="18" charset="0"/>
                <a:cs typeface="Times New Roman" panose="02020603050405020304" pitchFamily="18" charset="0"/>
              </a:rPr>
              <a:t>theo cụm danh </a:t>
            </a:r>
            <a:r>
              <a:rPr sz="2800" b="1">
                <a:solidFill>
                  <a:srgbClr val="FF0000"/>
                </a:solidFill>
                <a:latin typeface="Times New Roman" panose="02020603050405020304" pitchFamily="18" charset="0"/>
                <a:cs typeface="Times New Roman" panose="02020603050405020304" pitchFamily="18" charset="0"/>
              </a:rPr>
              <a:t>từ (noun</a:t>
            </a:r>
            <a:r>
              <a:rPr sz="2800" b="1" spc="60">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a:t>
            </a:r>
            <a:r>
              <a:rPr lang="en-US" sz="2800" b="1">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phrase)</a:t>
            </a:r>
          </a:p>
          <a:p>
            <a:pPr marL="721360" lvl="1" indent="-342900">
              <a:lnSpc>
                <a:spcPct val="150000"/>
              </a:lnSpc>
              <a:spcBef>
                <a:spcPts val="620"/>
              </a:spcBef>
              <a:buSzPct val="100000"/>
              <a:buFont typeface="Arial" panose="020B0604020202020204" pitchFamily="34" charset="0"/>
              <a:buChar char="•"/>
              <a:tabLst>
                <a:tab pos="653415" algn="l"/>
              </a:tabLst>
            </a:pPr>
            <a:r>
              <a:rPr sz="2200" b="1" spc="-5">
                <a:solidFill>
                  <a:schemeClr val="tx2"/>
                </a:solidFill>
                <a:latin typeface="Times New Roman" panose="02020603050405020304" pitchFamily="18" charset="0"/>
                <a:cs typeface="Times New Roman" panose="02020603050405020304" pitchFamily="18" charset="0"/>
              </a:rPr>
              <a:t>Xác định danh </a:t>
            </a:r>
            <a:r>
              <a:rPr sz="2200" b="1">
                <a:solidFill>
                  <a:schemeClr val="tx2"/>
                </a:solidFill>
                <a:latin typeface="Times New Roman" panose="02020603050405020304" pitchFamily="18" charset="0"/>
                <a:cs typeface="Times New Roman" panose="02020603050405020304" pitchFamily="18" charset="0"/>
              </a:rPr>
              <a:t>từ, cụm </a:t>
            </a:r>
            <a:r>
              <a:rPr sz="2200" b="1" spc="-5">
                <a:solidFill>
                  <a:schemeClr val="tx2"/>
                </a:solidFill>
                <a:latin typeface="Times New Roman" panose="02020603050405020304" pitchFamily="18" charset="0"/>
                <a:cs typeface="Times New Roman" panose="02020603050405020304" pitchFamily="18" charset="0"/>
              </a:rPr>
              <a:t>danh </a:t>
            </a:r>
            <a:r>
              <a:rPr sz="2200" b="1">
                <a:solidFill>
                  <a:schemeClr val="tx2"/>
                </a:solidFill>
                <a:latin typeface="Times New Roman" panose="02020603050405020304" pitchFamily="18" charset="0"/>
                <a:cs typeface="Times New Roman" panose="02020603050405020304" pitchFamily="18" charset="0"/>
              </a:rPr>
              <a:t>từ </a:t>
            </a:r>
            <a:r>
              <a:rPr sz="2200" b="1" spc="-5">
                <a:solidFill>
                  <a:schemeClr val="tx2"/>
                </a:solidFill>
                <a:latin typeface="Times New Roman" panose="02020603050405020304" pitchFamily="18" charset="0"/>
                <a:cs typeface="Times New Roman" panose="02020603050405020304" pitchFamily="18" charset="0"/>
              </a:rPr>
              <a:t>có </a:t>
            </a:r>
            <a:r>
              <a:rPr sz="2200" b="1">
                <a:solidFill>
                  <a:schemeClr val="tx2"/>
                </a:solidFill>
                <a:latin typeface="Times New Roman" panose="02020603050405020304" pitchFamily="18" charset="0"/>
                <a:cs typeface="Times New Roman" panose="02020603050405020304" pitchFamily="18" charset="0"/>
              </a:rPr>
              <a:t>thể </a:t>
            </a:r>
            <a:r>
              <a:rPr sz="2200" b="1" spc="-5">
                <a:solidFill>
                  <a:schemeClr val="tx2"/>
                </a:solidFill>
                <a:latin typeface="Times New Roman" panose="02020603050405020304" pitchFamily="18" charset="0"/>
                <a:cs typeface="Times New Roman" panose="02020603050405020304" pitchFamily="18" charset="0"/>
              </a:rPr>
              <a:t>là thuộc</a:t>
            </a:r>
            <a:r>
              <a:rPr sz="2200" b="1" spc="-15">
                <a:solidFill>
                  <a:schemeClr val="tx2"/>
                </a:solidFill>
                <a:latin typeface="Times New Roman" panose="02020603050405020304" pitchFamily="18" charset="0"/>
                <a:cs typeface="Times New Roman" panose="02020603050405020304" pitchFamily="18" charset="0"/>
              </a:rPr>
              <a:t> </a:t>
            </a:r>
            <a:r>
              <a:rPr sz="2200" b="1">
                <a:solidFill>
                  <a:schemeClr val="tx2"/>
                </a:solidFill>
                <a:latin typeface="Times New Roman" panose="02020603050405020304" pitchFamily="18" charset="0"/>
                <a:cs typeface="Times New Roman" panose="02020603050405020304" pitchFamily="18" charset="0"/>
              </a:rPr>
              <a:t>tính:</a:t>
            </a:r>
          </a:p>
          <a:p>
            <a:pPr marL="1041400" lvl="2" indent="-342900">
              <a:lnSpc>
                <a:spcPct val="150000"/>
              </a:lnSpc>
              <a:spcBef>
                <a:spcPts val="505"/>
              </a:spcBef>
              <a:buSzPct val="100000"/>
              <a:buFont typeface="Wingdings" panose="05000000000000000000" pitchFamily="2" charset="2"/>
              <a:buChar char="ü"/>
            </a:pPr>
            <a:r>
              <a:rPr sz="2200">
                <a:latin typeface="Times New Roman" panose="02020603050405020304" pitchFamily="18" charset="0"/>
                <a:cs typeface="Times New Roman" panose="02020603050405020304" pitchFamily="18" charset="0"/>
              </a:rPr>
              <a:t>Chỉ </a:t>
            </a:r>
            <a:r>
              <a:rPr sz="2200" spc="-5">
                <a:latin typeface="Times New Roman" panose="02020603050405020304" pitchFamily="18" charset="0"/>
                <a:cs typeface="Times New Roman" panose="02020603050405020304" pitchFamily="18" charset="0"/>
              </a:rPr>
              <a:t>được </a:t>
            </a:r>
            <a:r>
              <a:rPr sz="2200">
                <a:latin typeface="Times New Roman" panose="02020603050405020304" pitchFamily="18" charset="0"/>
                <a:cs typeface="Times New Roman" panose="02020603050405020304" pitchFamily="18" charset="0"/>
              </a:rPr>
              <a:t>sử </a:t>
            </a:r>
            <a:r>
              <a:rPr sz="2200" spc="-5">
                <a:latin typeface="Times New Roman" panose="02020603050405020304" pitchFamily="18" charset="0"/>
                <a:cs typeface="Times New Roman" panose="02020603050405020304" pitchFamily="18" charset="0"/>
              </a:rPr>
              <a:t>dụng như là giá</a:t>
            </a:r>
            <a:r>
              <a:rPr sz="2200" spc="-8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trị</a:t>
            </a:r>
          </a:p>
          <a:p>
            <a:pPr marL="1041400" marR="127635" lvl="2" indent="-342900">
              <a:lnSpc>
                <a:spcPct val="150000"/>
              </a:lnSpc>
              <a:spcBef>
                <a:spcPts val="495"/>
              </a:spcBef>
              <a:buSzPct val="100000"/>
              <a:buFont typeface="Wingdings" panose="05000000000000000000" pitchFamily="2" charset="2"/>
              <a:buChar char="ü"/>
            </a:pPr>
            <a:r>
              <a:rPr sz="2200">
                <a:latin typeface="Times New Roman" panose="02020603050405020304" pitchFamily="18" charset="0"/>
                <a:cs typeface="Times New Roman" panose="02020603050405020304" pitchFamily="18" charset="0"/>
              </a:rPr>
              <a:t>Không có </a:t>
            </a:r>
            <a:r>
              <a:rPr sz="2200" spc="-5">
                <a:latin typeface="Times New Roman" panose="02020603050405020304" pitchFamily="18" charset="0"/>
                <a:cs typeface="Times New Roman" panose="02020603050405020304" pitchFamily="18" charset="0"/>
              </a:rPr>
              <a:t>nhiều </a:t>
            </a:r>
            <a:r>
              <a:rPr sz="2200">
                <a:latin typeface="Times New Roman" panose="02020603050405020304" pitchFamily="18" charset="0"/>
                <a:cs typeface="Times New Roman" panose="02020603050405020304" pitchFamily="18" charset="0"/>
              </a:rPr>
              <a:t>hơn một </a:t>
            </a:r>
            <a:r>
              <a:rPr sz="2200" spc="-5">
                <a:latin typeface="Times New Roman" panose="02020603050405020304" pitchFamily="18" charset="0"/>
                <a:cs typeface="Times New Roman" panose="02020603050405020304" pitchFamily="18" charset="0"/>
              </a:rPr>
              <a:t>đặc </a:t>
            </a:r>
            <a:r>
              <a:rPr sz="2200">
                <a:latin typeface="Times New Roman" panose="02020603050405020304" pitchFamily="18" charset="0"/>
                <a:cs typeface="Times New Roman" panose="02020603050405020304" pitchFamily="18" charset="0"/>
              </a:rPr>
              <a:t>trưng riêng, </a:t>
            </a:r>
            <a:r>
              <a:rPr sz="2200" spc="-5">
                <a:latin typeface="Times New Roman" panose="02020603050405020304" pitchFamily="18" charset="0"/>
                <a:cs typeface="Times New Roman" panose="02020603050405020304" pitchFamily="18" charset="0"/>
              </a:rPr>
              <a:t>hoặc </a:t>
            </a:r>
            <a:r>
              <a:rPr sz="2200">
                <a:latin typeface="Times New Roman" panose="02020603050405020304" pitchFamily="18" charset="0"/>
                <a:cs typeface="Times New Roman" panose="02020603050405020304" pitchFamily="18" charset="0"/>
              </a:rPr>
              <a:t>chỉ mô tả</a:t>
            </a:r>
            <a:r>
              <a:rPr sz="2200" spc="-200">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một</a:t>
            </a:r>
            <a:r>
              <a:rPr lang="en-US" sz="2200">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đặc </a:t>
            </a:r>
            <a:r>
              <a:rPr sz="2200">
                <a:latin typeface="Times New Roman" panose="02020603050405020304" pitchFamily="18" charset="0"/>
                <a:cs typeface="Times New Roman" panose="02020603050405020304" pitchFamily="18" charset="0"/>
              </a:rPr>
              <a:t>trưng của </a:t>
            </a:r>
            <a:r>
              <a:rPr sz="2200" spc="-5">
                <a:latin typeface="Times New Roman" panose="02020603050405020304" pitchFamily="18" charset="0"/>
                <a:cs typeface="Times New Roman" panose="02020603050405020304" pitchFamily="18" charset="0"/>
              </a:rPr>
              <a:t>đối tượng</a:t>
            </a:r>
            <a:r>
              <a:rPr sz="2200" spc="-9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khác</a:t>
            </a:r>
          </a:p>
          <a:p>
            <a:pPr marL="1498600" lvl="3" indent="-342900">
              <a:lnSpc>
                <a:spcPct val="150000"/>
              </a:lnSpc>
              <a:spcBef>
                <a:spcPts val="509"/>
              </a:spcBef>
              <a:buSzPct val="100000"/>
              <a:buFont typeface="Wingdings" panose="05000000000000000000" pitchFamily="2" charset="2"/>
              <a:buChar char="v"/>
            </a:pPr>
            <a:r>
              <a:rPr sz="2200" b="1">
                <a:solidFill>
                  <a:srgbClr val="C00000"/>
                </a:solidFill>
                <a:latin typeface="Times New Roman" panose="02020603050405020304" pitchFamily="18" charset="0"/>
                <a:cs typeface="Times New Roman" panose="02020603050405020304" pitchFamily="18" charset="0"/>
              </a:rPr>
              <a:t>Số tiền</a:t>
            </a:r>
            <a:r>
              <a:rPr sz="2200" b="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sym typeface="Wingdings" panose="05000000000000000000" pitchFamily="2" charset="2"/>
              </a:rPr>
              <a:t></a:t>
            </a:r>
            <a:r>
              <a:rPr sz="2200">
                <a:latin typeface="Times New Roman" panose="02020603050405020304" pitchFamily="18" charset="0"/>
                <a:cs typeface="Times New Roman" panose="02020603050405020304" pitchFamily="18" charset="0"/>
              </a:rPr>
              <a:t> một </a:t>
            </a:r>
            <a:r>
              <a:rPr sz="2200" spc="-5">
                <a:latin typeface="Times New Roman" panose="02020603050405020304" pitchFamily="18" charset="0"/>
                <a:cs typeface="Times New Roman" panose="02020603050405020304" pitchFamily="18" charset="0"/>
              </a:rPr>
              <a:t>giá </a:t>
            </a:r>
            <a:r>
              <a:rPr sz="2200">
                <a:latin typeface="Times New Roman" panose="02020603050405020304" pitchFamily="18" charset="0"/>
                <a:cs typeface="Times New Roman" panose="02020603050405020304" pitchFamily="18" charset="0"/>
              </a:rPr>
              <a:t>trị, không phải một</a:t>
            </a:r>
            <a:r>
              <a:rPr sz="2200" spc="-6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lớp</a:t>
            </a:r>
          </a:p>
          <a:p>
            <a:pPr marL="1498600" lvl="3" indent="-342900">
              <a:lnSpc>
                <a:spcPct val="150000"/>
              </a:lnSpc>
              <a:spcBef>
                <a:spcPts val="505"/>
              </a:spcBef>
              <a:buSzPct val="100000"/>
              <a:buFont typeface="Wingdings" panose="05000000000000000000" pitchFamily="2" charset="2"/>
              <a:buChar char="v"/>
            </a:pPr>
            <a:r>
              <a:rPr sz="2200" b="1">
                <a:solidFill>
                  <a:srgbClr val="C00000"/>
                </a:solidFill>
                <a:latin typeface="Times New Roman" panose="02020603050405020304" pitchFamily="18" charset="0"/>
                <a:cs typeface="Times New Roman" panose="02020603050405020304" pitchFamily="18" charset="0"/>
              </a:rPr>
              <a:t>Số dư tài khoản</a:t>
            </a:r>
            <a:r>
              <a:rPr sz="2200" b="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sym typeface="Wingdings" panose="05000000000000000000" pitchFamily="2" charset="2"/>
              </a:rPr>
              <a:t></a:t>
            </a:r>
            <a:r>
              <a:rPr sz="2200">
                <a:latin typeface="Times New Roman" panose="02020603050405020304" pitchFamily="18" charset="0"/>
                <a:cs typeface="Times New Roman" panose="02020603050405020304" pitchFamily="18" charset="0"/>
              </a:rPr>
              <a:t> thuộc </a:t>
            </a:r>
            <a:r>
              <a:rPr sz="2200" spc="-5">
                <a:latin typeface="Times New Roman" panose="02020603050405020304" pitchFamily="18" charset="0"/>
                <a:cs typeface="Times New Roman" panose="02020603050405020304" pitchFamily="18" charset="0"/>
              </a:rPr>
              <a:t>tính </a:t>
            </a:r>
            <a:r>
              <a:rPr sz="2200">
                <a:latin typeface="Times New Roman" panose="02020603050405020304" pitchFamily="18" charset="0"/>
                <a:cs typeface="Times New Roman" panose="02020603050405020304" pitchFamily="18" charset="0"/>
              </a:rPr>
              <a:t>của </a:t>
            </a:r>
            <a:r>
              <a:rPr sz="2200" spc="-5">
                <a:latin typeface="Times New Roman" panose="02020603050405020304" pitchFamily="18" charset="0"/>
                <a:cs typeface="Times New Roman" panose="02020603050405020304" pitchFamily="18" charset="0"/>
              </a:rPr>
              <a:t>lớp </a:t>
            </a:r>
            <a:r>
              <a:rPr sz="2200">
                <a:latin typeface="Times New Roman" panose="02020603050405020304" pitchFamily="18" charset="0"/>
                <a:cs typeface="Times New Roman" panose="02020603050405020304" pitchFamily="18" charset="0"/>
              </a:rPr>
              <a:t>Tài</a:t>
            </a:r>
            <a:r>
              <a:rPr sz="2200" spc="-130">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khoản</a:t>
            </a:r>
          </a:p>
          <a:p>
            <a:pPr marL="1498600" lvl="3" indent="-342900">
              <a:lnSpc>
                <a:spcPct val="150000"/>
              </a:lnSpc>
              <a:spcBef>
                <a:spcPts val="490"/>
              </a:spcBef>
              <a:buSzPct val="100000"/>
              <a:buFont typeface="Wingdings" panose="05000000000000000000" pitchFamily="2" charset="2"/>
              <a:buChar char="v"/>
            </a:pPr>
            <a:r>
              <a:rPr sz="2200" b="1" spc="-5">
                <a:solidFill>
                  <a:srgbClr val="C00000"/>
                </a:solidFill>
                <a:latin typeface="Times New Roman" panose="02020603050405020304" pitchFamily="18" charset="0"/>
                <a:cs typeface="Times New Roman" panose="02020603050405020304" pitchFamily="18" charset="0"/>
              </a:rPr>
              <a:t>PIN </a:t>
            </a:r>
            <a:r>
              <a:rPr sz="2200" b="1">
                <a:solidFill>
                  <a:srgbClr val="C00000"/>
                </a:solidFill>
                <a:latin typeface="Times New Roman" panose="02020603050405020304" pitchFamily="18" charset="0"/>
                <a:cs typeface="Times New Roman" panose="02020603050405020304" pitchFamily="18" charset="0"/>
              </a:rPr>
              <a:t>không hợp lệ</a:t>
            </a:r>
            <a:r>
              <a:rPr sz="2200" b="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sym typeface="Wingdings" panose="05000000000000000000" pitchFamily="2" charset="2"/>
              </a:rPr>
              <a:t> </a:t>
            </a:r>
            <a:r>
              <a:rPr sz="2200">
                <a:latin typeface="Times New Roman" panose="02020603050405020304" pitchFamily="18" charset="0"/>
                <a:cs typeface="Times New Roman" panose="02020603050405020304" pitchFamily="18" charset="0"/>
              </a:rPr>
              <a:t>một </a:t>
            </a:r>
            <a:r>
              <a:rPr sz="2200" spc="-5">
                <a:latin typeface="Times New Roman" panose="02020603050405020304" pitchFamily="18" charset="0"/>
                <a:cs typeface="Times New Roman" panose="02020603050405020304" pitchFamily="18" charset="0"/>
              </a:rPr>
              <a:t>giá trị, </a:t>
            </a:r>
            <a:r>
              <a:rPr sz="2200">
                <a:latin typeface="Times New Roman" panose="02020603050405020304" pitchFamily="18" charset="0"/>
                <a:cs typeface="Times New Roman" panose="02020603050405020304" pitchFamily="18" charset="0"/>
              </a:rPr>
              <a:t>không </a:t>
            </a:r>
            <a:r>
              <a:rPr sz="2200" spc="-5">
                <a:latin typeface="Times New Roman" panose="02020603050405020304" pitchFamily="18" charset="0"/>
                <a:cs typeface="Times New Roman" panose="02020603050405020304" pitchFamily="18" charset="0"/>
              </a:rPr>
              <a:t>phải </a:t>
            </a:r>
            <a:r>
              <a:rPr sz="2200">
                <a:latin typeface="Times New Roman" panose="02020603050405020304" pitchFamily="18" charset="0"/>
                <a:cs typeface="Times New Roman" panose="02020603050405020304" pitchFamily="18" charset="0"/>
              </a:rPr>
              <a:t>một</a:t>
            </a:r>
            <a:r>
              <a:rPr sz="2200" spc="-105">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lớp</a:t>
            </a:r>
            <a:endParaRPr sz="2200">
              <a:latin typeface="Times New Roman" panose="02020603050405020304" pitchFamily="18" charset="0"/>
              <a:cs typeface="Times New Roman" panose="02020603050405020304" pitchFamily="18" charset="0"/>
            </a:endParaRPr>
          </a:p>
          <a:p>
            <a:pPr marL="1498600" lvl="3" indent="-342900">
              <a:lnSpc>
                <a:spcPct val="150000"/>
              </a:lnSpc>
              <a:spcBef>
                <a:spcPts val="505"/>
              </a:spcBef>
              <a:buSzPct val="100000"/>
              <a:buFont typeface="Wingdings" panose="05000000000000000000" pitchFamily="2" charset="2"/>
              <a:buChar char="v"/>
            </a:pPr>
            <a:r>
              <a:rPr sz="2200" b="1">
                <a:solidFill>
                  <a:srgbClr val="C00000"/>
                </a:solidFill>
                <a:latin typeface="Times New Roman" panose="02020603050405020304" pitchFamily="18" charset="0"/>
                <a:cs typeface="Times New Roman" panose="02020603050405020304" pitchFamily="18" charset="0"/>
              </a:rPr>
              <a:t>Mật khẩu: </a:t>
            </a:r>
            <a:r>
              <a:rPr lang="en-US" sz="2200">
                <a:latin typeface="Times New Roman" panose="02020603050405020304" pitchFamily="18" charset="0"/>
                <a:cs typeface="Times New Roman" panose="02020603050405020304" pitchFamily="18" charset="0"/>
                <a:sym typeface="Wingdings" panose="05000000000000000000" pitchFamily="2" charset="2"/>
              </a:rPr>
              <a:t> </a:t>
            </a:r>
            <a:r>
              <a:rPr sz="2200">
                <a:latin typeface="Times New Roman" panose="02020603050405020304" pitchFamily="18" charset="0"/>
                <a:cs typeface="Times New Roman" panose="02020603050405020304" pitchFamily="18" charset="0"/>
              </a:rPr>
              <a:t>một thuộc </a:t>
            </a:r>
            <a:r>
              <a:rPr sz="2200" spc="-5">
                <a:latin typeface="Times New Roman" panose="02020603050405020304" pitchFamily="18" charset="0"/>
                <a:cs typeface="Times New Roman" panose="02020603050405020304" pitchFamily="18" charset="0"/>
              </a:rPr>
              <a:t>tính </a:t>
            </a:r>
            <a:r>
              <a:rPr sz="2200">
                <a:latin typeface="Times New Roman" panose="02020603050405020304" pitchFamily="18" charset="0"/>
                <a:cs typeface="Times New Roman" panose="02020603050405020304" pitchFamily="18" charset="0"/>
              </a:rPr>
              <a:t>(có thể của </a:t>
            </a:r>
            <a:r>
              <a:rPr sz="2200" spc="-5">
                <a:latin typeface="Times New Roman" panose="02020603050405020304" pitchFamily="18" charset="0"/>
                <a:cs typeface="Times New Roman" panose="02020603050405020304" pitchFamily="18" charset="0"/>
              </a:rPr>
              <a:t>lớp Khách</a:t>
            </a:r>
            <a:r>
              <a:rPr sz="2200" spc="-15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hàng)</a:t>
            </a:r>
          </a:p>
          <a:p>
            <a:pPr marL="1498600" lvl="3" indent="-342900">
              <a:lnSpc>
                <a:spcPct val="150000"/>
              </a:lnSpc>
              <a:spcBef>
                <a:spcPts val="505"/>
              </a:spcBef>
              <a:buSzPct val="100000"/>
              <a:buFont typeface="Wingdings" panose="05000000000000000000" pitchFamily="2" charset="2"/>
              <a:buChar char="v"/>
            </a:pPr>
            <a:r>
              <a:rPr sz="2200" b="1" spc="-5">
                <a:solidFill>
                  <a:srgbClr val="C00000"/>
                </a:solidFill>
                <a:latin typeface="Times New Roman" panose="02020603050405020304" pitchFamily="18" charset="0"/>
                <a:cs typeface="Times New Roman" panose="02020603050405020304" pitchFamily="18" charset="0"/>
              </a:rPr>
              <a:t>Lịch </a:t>
            </a:r>
            <a:r>
              <a:rPr sz="2200" b="1">
                <a:solidFill>
                  <a:srgbClr val="C00000"/>
                </a:solidFill>
                <a:latin typeface="Times New Roman" panose="02020603050405020304" pitchFamily="18" charset="0"/>
                <a:cs typeface="Times New Roman" panose="02020603050405020304" pitchFamily="18" charset="0"/>
              </a:rPr>
              <a:t>sử </a:t>
            </a:r>
            <a:r>
              <a:rPr sz="2200" b="1" spc="-5">
                <a:solidFill>
                  <a:srgbClr val="C00000"/>
                </a:solidFill>
                <a:latin typeface="Times New Roman" panose="02020603050405020304" pitchFamily="18" charset="0"/>
                <a:cs typeface="Times New Roman" panose="02020603050405020304" pitchFamily="18" charset="0"/>
              </a:rPr>
              <a:t>giao </a:t>
            </a:r>
            <a:r>
              <a:rPr sz="2200" b="1">
                <a:solidFill>
                  <a:srgbClr val="C00000"/>
                </a:solidFill>
                <a:latin typeface="Times New Roman" panose="02020603050405020304" pitchFamily="18" charset="0"/>
                <a:cs typeface="Times New Roman" panose="02020603050405020304" pitchFamily="18" charset="0"/>
              </a:rPr>
              <a:t>dịch</a:t>
            </a:r>
            <a:r>
              <a:rPr sz="2200" b="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sym typeface="Wingdings" panose="05000000000000000000" pitchFamily="2" charset="2"/>
              </a:rPr>
              <a:t></a:t>
            </a:r>
            <a:r>
              <a:rPr sz="2200">
                <a:latin typeface="Times New Roman" panose="02020603050405020304" pitchFamily="18" charset="0"/>
                <a:cs typeface="Times New Roman" panose="02020603050405020304" pitchFamily="18" charset="0"/>
              </a:rPr>
              <a:t> một thuộc </a:t>
            </a:r>
            <a:r>
              <a:rPr sz="2200" spc="-5">
                <a:latin typeface="Times New Roman" panose="02020603050405020304" pitchFamily="18" charset="0"/>
                <a:cs typeface="Times New Roman" panose="02020603050405020304" pitchFamily="18" charset="0"/>
              </a:rPr>
              <a:t>tính </a:t>
            </a:r>
            <a:r>
              <a:rPr sz="2200">
                <a:latin typeface="Times New Roman" panose="02020603050405020304" pitchFamily="18" charset="0"/>
                <a:cs typeface="Times New Roman" panose="02020603050405020304" pitchFamily="18" charset="0"/>
              </a:rPr>
              <a:t>(có thể của </a:t>
            </a:r>
            <a:r>
              <a:rPr sz="2200" spc="-5">
                <a:latin typeface="Times New Roman" panose="02020603050405020304" pitchFamily="18" charset="0"/>
                <a:cs typeface="Times New Roman" panose="02020603050405020304" pitchFamily="18" charset="0"/>
              </a:rPr>
              <a:t>lớp </a:t>
            </a:r>
            <a:r>
              <a:rPr sz="2200">
                <a:latin typeface="Times New Roman" panose="02020603050405020304" pitchFamily="18" charset="0"/>
                <a:cs typeface="Times New Roman" panose="02020603050405020304" pitchFamily="18" charset="0"/>
              </a:rPr>
              <a:t>Giao</a:t>
            </a:r>
            <a:r>
              <a:rPr sz="2200" spc="-130">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dịch)</a:t>
            </a:r>
            <a:endParaRPr sz="2200">
              <a:latin typeface="Times New Roman" panose="02020603050405020304" pitchFamily="18" charset="0"/>
              <a:cs typeface="Times New Roman" panose="02020603050405020304" pitchFamily="18" charset="0"/>
            </a:endParaRPr>
          </a:p>
          <a:p>
            <a:pPr marL="1498600" lvl="3" indent="-342900">
              <a:lnSpc>
                <a:spcPct val="150000"/>
              </a:lnSpc>
              <a:spcBef>
                <a:spcPts val="495"/>
              </a:spcBef>
              <a:buSzPct val="100000"/>
              <a:buFont typeface="Wingdings" panose="05000000000000000000" pitchFamily="2" charset="2"/>
              <a:buChar char="v"/>
            </a:pPr>
            <a:r>
              <a:rPr sz="2200" b="1" spc="-5">
                <a:solidFill>
                  <a:srgbClr val="C00000"/>
                </a:solidFill>
                <a:latin typeface="Times New Roman" panose="02020603050405020304" pitchFamily="18" charset="0"/>
                <a:cs typeface="Times New Roman" panose="02020603050405020304" pitchFamily="18" charset="0"/>
              </a:rPr>
              <a:t>PIN</a:t>
            </a:r>
            <a:r>
              <a:rPr sz="2200" b="1" spc="-5">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sym typeface="Wingdings" panose="05000000000000000000" pitchFamily="2" charset="2"/>
              </a:rPr>
              <a:t></a:t>
            </a:r>
            <a:r>
              <a:rPr sz="220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một thuộc </a:t>
            </a:r>
            <a:r>
              <a:rPr sz="2200" spc="-5" dirty="0">
                <a:latin typeface="Times New Roman" panose="02020603050405020304" pitchFamily="18" charset="0"/>
                <a:cs typeface="Times New Roman" panose="02020603050405020304" pitchFamily="18" charset="0"/>
              </a:rPr>
              <a:t>tính </a:t>
            </a:r>
            <a:r>
              <a:rPr sz="2200" dirty="0">
                <a:latin typeface="Times New Roman" panose="02020603050405020304" pitchFamily="18" charset="0"/>
                <a:cs typeface="Times New Roman" panose="02020603050405020304" pitchFamily="18" charset="0"/>
              </a:rPr>
              <a:t>(có thể của </a:t>
            </a:r>
            <a:r>
              <a:rPr sz="2200" spc="-5" dirty="0">
                <a:latin typeface="Times New Roman" panose="02020603050405020304" pitchFamily="18" charset="0"/>
                <a:cs typeface="Times New Roman" panose="02020603050405020304" pitchFamily="18" charset="0"/>
              </a:rPr>
              <a:t>lớp </a:t>
            </a:r>
            <a:r>
              <a:rPr sz="2200" dirty="0">
                <a:latin typeface="Times New Roman" panose="02020603050405020304" pitchFamily="18" charset="0"/>
                <a:cs typeface="Times New Roman" panose="02020603050405020304" pitchFamily="18" charset="0"/>
              </a:rPr>
              <a:t>Khách</a:t>
            </a:r>
            <a:r>
              <a:rPr sz="2200" spc="-114"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hàng)</a:t>
            </a:r>
            <a:endParaRPr sz="2200">
              <a:latin typeface="Times New Roman" panose="02020603050405020304" pitchFamily="18" charset="0"/>
              <a:cs typeface="Times New Roman" panose="02020603050405020304" pitchFamily="18" charset="0"/>
            </a:endParaRPr>
          </a:p>
        </p:txBody>
      </p:sp>
      <p:sp>
        <p:nvSpPr>
          <p:cNvPr id="4"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8207520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69764"/>
            <a:ext cx="12192000" cy="1142363"/>
          </a:xfrm>
          <a:prstGeom prst="rect">
            <a:avLst/>
          </a:prstGeom>
        </p:spPr>
        <p:txBody>
          <a:bodyPr vert="horz" wrap="square" lIns="0" tIns="104139" rIns="0" bIns="0" rtlCol="0">
            <a:spAutoFit/>
          </a:bodyPr>
          <a:lstStyle/>
          <a:p>
            <a:pPr marL="469900" indent="-457200">
              <a:lnSpc>
                <a:spcPct val="120000"/>
              </a:lnSpc>
              <a:spcBef>
                <a:spcPts val="819"/>
              </a:spcBef>
              <a:buSzPct val="100000"/>
              <a:buFont typeface="Wingdings" panose="05000000000000000000" pitchFamily="2" charset="2"/>
              <a:buChar char="§"/>
              <a:tabLst>
                <a:tab pos="332105" algn="l"/>
                <a:tab pos="332740" algn="l"/>
              </a:tabLst>
            </a:pPr>
            <a:r>
              <a:rPr sz="2800" b="1" spc="-30" dirty="0">
                <a:solidFill>
                  <a:srgbClr val="FF0000"/>
                </a:solidFill>
                <a:latin typeface="Times New Roman" panose="02020603050405020304" pitchFamily="18" charset="0"/>
                <a:cs typeface="Times New Roman" panose="02020603050405020304" pitchFamily="18" charset="0"/>
              </a:rPr>
              <a:t>Tiếp </a:t>
            </a:r>
            <a:r>
              <a:rPr sz="2800" b="1" dirty="0">
                <a:solidFill>
                  <a:srgbClr val="FF0000"/>
                </a:solidFill>
                <a:latin typeface="Times New Roman" panose="02020603050405020304" pitchFamily="18" charset="0"/>
                <a:cs typeface="Times New Roman" panose="02020603050405020304" pitchFamily="18" charset="0"/>
              </a:rPr>
              <a:t>cận </a:t>
            </a:r>
            <a:r>
              <a:rPr sz="2800" b="1" spc="-5" dirty="0">
                <a:solidFill>
                  <a:srgbClr val="FF0000"/>
                </a:solidFill>
                <a:latin typeface="Times New Roman" panose="02020603050405020304" pitchFamily="18" charset="0"/>
                <a:cs typeface="Times New Roman" panose="02020603050405020304" pitchFamily="18" charset="0"/>
              </a:rPr>
              <a:t>theo cụm danh </a:t>
            </a:r>
            <a:r>
              <a:rPr sz="2800" b="1" dirty="0">
                <a:solidFill>
                  <a:srgbClr val="FF0000"/>
                </a:solidFill>
                <a:latin typeface="Times New Roman" panose="02020603050405020304" pitchFamily="18" charset="0"/>
                <a:cs typeface="Times New Roman" panose="02020603050405020304" pitchFamily="18" charset="0"/>
              </a:rPr>
              <a:t>từ (</a:t>
            </a:r>
            <a:r>
              <a:rPr sz="2800" b="1">
                <a:solidFill>
                  <a:srgbClr val="FF0000"/>
                </a:solidFill>
                <a:latin typeface="Times New Roman" panose="02020603050405020304" pitchFamily="18" charset="0"/>
                <a:cs typeface="Times New Roman" panose="02020603050405020304" pitchFamily="18" charset="0"/>
              </a:rPr>
              <a:t>noun</a:t>
            </a:r>
            <a:r>
              <a:rPr sz="2800" b="1" spc="55">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a:t>
            </a:r>
            <a:r>
              <a:rPr lang="en-US" sz="2800" b="1">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phrase</a:t>
            </a:r>
            <a:r>
              <a:rPr sz="2800" b="1" dirty="0">
                <a:solidFill>
                  <a:srgbClr val="FF0000"/>
                </a:solidFill>
                <a:latin typeface="Times New Roman" panose="02020603050405020304" pitchFamily="18" charset="0"/>
                <a:cs typeface="Times New Roman" panose="02020603050405020304" pitchFamily="18" charset="0"/>
              </a:rPr>
              <a:t>)</a:t>
            </a:r>
            <a:endParaRPr sz="2800" b="1">
              <a:solidFill>
                <a:srgbClr val="FF0000"/>
              </a:solidFill>
              <a:latin typeface="Times New Roman" panose="02020603050405020304" pitchFamily="18" charset="0"/>
              <a:cs typeface="Times New Roman" panose="02020603050405020304" pitchFamily="18" charset="0"/>
            </a:endParaRPr>
          </a:p>
          <a:p>
            <a:pPr marL="721360" indent="-342900">
              <a:lnSpc>
                <a:spcPct val="120000"/>
              </a:lnSpc>
              <a:spcBef>
                <a:spcPts val="620"/>
              </a:spcBef>
              <a:buFont typeface="Arial" panose="020B0604020202020204" pitchFamily="34" charset="0"/>
              <a:buChar char="•"/>
            </a:pPr>
            <a:r>
              <a:rPr sz="2400" spc="-5">
                <a:solidFill>
                  <a:srgbClr val="00B050"/>
                </a:solidFill>
                <a:latin typeface="Times New Roman" panose="02020603050405020304" pitchFamily="18" charset="0"/>
                <a:cs typeface="Times New Roman" panose="02020603050405020304" pitchFamily="18" charset="0"/>
              </a:rPr>
              <a:t>Danh </a:t>
            </a:r>
            <a:r>
              <a:rPr sz="2400" dirty="0">
                <a:solidFill>
                  <a:srgbClr val="00B050"/>
                </a:solidFill>
                <a:latin typeface="Times New Roman" panose="02020603050405020304" pitchFamily="18" charset="0"/>
                <a:cs typeface="Times New Roman" panose="02020603050405020304" pitchFamily="18" charset="0"/>
              </a:rPr>
              <a:t>sách </a:t>
            </a:r>
            <a:r>
              <a:rPr sz="2400" spc="-5" dirty="0">
                <a:solidFill>
                  <a:srgbClr val="00B050"/>
                </a:solidFill>
                <a:latin typeface="Times New Roman" panose="02020603050405020304" pitchFamily="18" charset="0"/>
                <a:cs typeface="Times New Roman" panose="02020603050405020304" pitchFamily="18" charset="0"/>
              </a:rPr>
              <a:t>danh </a:t>
            </a:r>
            <a:r>
              <a:rPr sz="2400" dirty="0">
                <a:solidFill>
                  <a:srgbClr val="00B050"/>
                </a:solidFill>
                <a:latin typeface="Times New Roman" panose="02020603050405020304" pitchFamily="18" charset="0"/>
                <a:cs typeface="Times New Roman" panose="02020603050405020304" pitchFamily="18" charset="0"/>
              </a:rPr>
              <a:t>từ, cụm </a:t>
            </a:r>
            <a:r>
              <a:rPr sz="2400" spc="-5" dirty="0">
                <a:solidFill>
                  <a:srgbClr val="00B050"/>
                </a:solidFill>
                <a:latin typeface="Times New Roman" panose="02020603050405020304" pitchFamily="18" charset="0"/>
                <a:cs typeface="Times New Roman" panose="02020603050405020304" pitchFamily="18" charset="0"/>
              </a:rPr>
              <a:t>danh </a:t>
            </a:r>
            <a:r>
              <a:rPr sz="2400" dirty="0">
                <a:solidFill>
                  <a:srgbClr val="00B050"/>
                </a:solidFill>
                <a:latin typeface="Times New Roman" panose="02020603050405020304" pitchFamily="18" charset="0"/>
                <a:cs typeface="Times New Roman" panose="02020603050405020304" pitchFamily="18" charset="0"/>
              </a:rPr>
              <a:t>từ </a:t>
            </a:r>
            <a:r>
              <a:rPr sz="2400" spc="-5" dirty="0">
                <a:solidFill>
                  <a:srgbClr val="00B050"/>
                </a:solidFill>
                <a:latin typeface="Times New Roman" panose="02020603050405020304" pitchFamily="18" charset="0"/>
                <a:cs typeface="Times New Roman" panose="02020603050405020304" pitchFamily="18" charset="0"/>
              </a:rPr>
              <a:t>còn</a:t>
            </a:r>
            <a:r>
              <a:rPr sz="2400" spc="-160" dirty="0">
                <a:solidFill>
                  <a:srgbClr val="00B050"/>
                </a:solidFill>
                <a:latin typeface="Times New Roman" panose="02020603050405020304" pitchFamily="18" charset="0"/>
                <a:cs typeface="Times New Roman" panose="02020603050405020304" pitchFamily="18" charset="0"/>
              </a:rPr>
              <a:t> </a:t>
            </a:r>
            <a:r>
              <a:rPr sz="2400" spc="-5" dirty="0">
                <a:solidFill>
                  <a:srgbClr val="00B050"/>
                </a:solidFill>
                <a:latin typeface="Times New Roman" panose="02020603050405020304" pitchFamily="18" charset="0"/>
                <a:cs typeface="Times New Roman" panose="02020603050405020304" pitchFamily="18" charset="0"/>
              </a:rPr>
              <a:t>lại</a:t>
            </a:r>
            <a:endParaRPr sz="2400">
              <a:solidFill>
                <a:srgbClr val="00B050"/>
              </a:solidFill>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4139213706"/>
              </p:ext>
            </p:extLst>
          </p:nvPr>
        </p:nvGraphicFramePr>
        <p:xfrm>
          <a:off x="3200401" y="2312741"/>
          <a:ext cx="5944235" cy="4138929"/>
        </p:xfrm>
        <a:graphic>
          <a:graphicData uri="http://schemas.openxmlformats.org/drawingml/2006/table">
            <a:tbl>
              <a:tblPr firstRow="1" bandRow="1">
                <a:tableStyleId>{2D5ABB26-0587-4C30-8999-92F81FD0307C}</a:tableStyleId>
              </a:tblPr>
              <a:tblGrid>
                <a:gridCol w="2941955">
                  <a:extLst>
                    <a:ext uri="{9D8B030D-6E8A-4147-A177-3AD203B41FA5}">
                      <a16:colId xmlns:a16="http://schemas.microsoft.com/office/drawing/2014/main" val="20000"/>
                    </a:ext>
                  </a:extLst>
                </a:gridCol>
                <a:gridCol w="3002280">
                  <a:extLst>
                    <a:ext uri="{9D8B030D-6E8A-4147-A177-3AD203B41FA5}">
                      <a16:colId xmlns:a16="http://schemas.microsoft.com/office/drawing/2014/main" val="20001"/>
                    </a:ext>
                  </a:extLst>
                </a:gridCol>
              </a:tblGrid>
              <a:tr h="4138929">
                <a:tc>
                  <a:txBody>
                    <a:bodyPr/>
                    <a:lstStyle/>
                    <a:p>
                      <a:pPr marL="97790">
                        <a:lnSpc>
                          <a:spcPct val="100000"/>
                        </a:lnSpc>
                        <a:spcBef>
                          <a:spcPts val="310"/>
                        </a:spcBef>
                      </a:pPr>
                      <a:r>
                        <a:rPr sz="1600" b="1" spc="-5" dirty="0">
                          <a:solidFill>
                            <a:schemeClr val="tx1"/>
                          </a:solidFill>
                          <a:latin typeface="Times New Roman"/>
                          <a:cs typeface="Times New Roman"/>
                        </a:rPr>
                        <a:t>Tài</a:t>
                      </a:r>
                      <a:r>
                        <a:rPr sz="1600" b="1" spc="-10" dirty="0">
                          <a:solidFill>
                            <a:schemeClr val="tx1"/>
                          </a:solidFill>
                          <a:latin typeface="Times New Roman"/>
                          <a:cs typeface="Times New Roman"/>
                        </a:rPr>
                        <a:t> khoản</a:t>
                      </a:r>
                      <a:endParaRPr sz="1600" dirty="0">
                        <a:solidFill>
                          <a:schemeClr val="tx1"/>
                        </a:solidFill>
                        <a:latin typeface="Times New Roman"/>
                        <a:cs typeface="Times New Roman"/>
                      </a:endParaRPr>
                    </a:p>
                    <a:p>
                      <a:pPr marL="97790">
                        <a:lnSpc>
                          <a:spcPct val="100000"/>
                        </a:lnSpc>
                        <a:spcBef>
                          <a:spcPts val="385"/>
                        </a:spcBef>
                      </a:pPr>
                      <a:r>
                        <a:rPr sz="1600" strike="sngStrike" spc="-400" dirty="0">
                          <a:solidFill>
                            <a:srgbClr val="FF0066"/>
                          </a:solidFill>
                          <a:latin typeface="Times New Roman"/>
                          <a:cs typeface="Times New Roman"/>
                        </a:rPr>
                        <a:t> </a:t>
                      </a:r>
                      <a:r>
                        <a:rPr sz="1600" b="1" strike="sngStrike" spc="-5" dirty="0">
                          <a:solidFill>
                            <a:srgbClr val="FF0066"/>
                          </a:solidFill>
                          <a:latin typeface="Times New Roman"/>
                          <a:cs typeface="Times New Roman"/>
                        </a:rPr>
                        <a:t>Số dư tài</a:t>
                      </a:r>
                      <a:r>
                        <a:rPr sz="1600" b="1" strike="sngStrike" spc="10" dirty="0">
                          <a:solidFill>
                            <a:srgbClr val="FF0066"/>
                          </a:solidFill>
                          <a:latin typeface="Times New Roman"/>
                          <a:cs typeface="Times New Roman"/>
                        </a:rPr>
                        <a:t> </a:t>
                      </a:r>
                      <a:r>
                        <a:rPr sz="1600" b="1" strike="sngStrike" spc="-10" dirty="0">
                          <a:solidFill>
                            <a:srgbClr val="FF0066"/>
                          </a:solidFill>
                          <a:latin typeface="Times New Roman"/>
                          <a:cs typeface="Times New Roman"/>
                        </a:rPr>
                        <a:t>khoản</a:t>
                      </a:r>
                      <a:endParaRPr sz="1600" dirty="0">
                        <a:latin typeface="Times New Roman"/>
                        <a:cs typeface="Times New Roman"/>
                      </a:endParaRPr>
                    </a:p>
                    <a:p>
                      <a:pPr marL="97790">
                        <a:lnSpc>
                          <a:spcPct val="100000"/>
                        </a:lnSpc>
                        <a:spcBef>
                          <a:spcPts val="385"/>
                        </a:spcBef>
                      </a:pPr>
                      <a:r>
                        <a:rPr sz="1600" strike="sngStrike" spc="-400" dirty="0">
                          <a:solidFill>
                            <a:srgbClr val="FF0066"/>
                          </a:solidFill>
                          <a:latin typeface="Times New Roman"/>
                          <a:cs typeface="Times New Roman"/>
                        </a:rPr>
                        <a:t> </a:t>
                      </a:r>
                      <a:r>
                        <a:rPr sz="1600" b="1" strike="sngStrike" spc="-5" dirty="0">
                          <a:solidFill>
                            <a:srgbClr val="FF0066"/>
                          </a:solidFill>
                          <a:latin typeface="Times New Roman"/>
                          <a:cs typeface="Times New Roman"/>
                        </a:rPr>
                        <a:t>Số tiền</a:t>
                      </a:r>
                      <a:endParaRPr sz="1600" dirty="0">
                        <a:latin typeface="Times New Roman"/>
                        <a:cs typeface="Times New Roman"/>
                      </a:endParaRPr>
                    </a:p>
                    <a:p>
                      <a:pPr marL="97790" marR="982344">
                        <a:lnSpc>
                          <a:spcPts val="2310"/>
                        </a:lnSpc>
                        <a:spcBef>
                          <a:spcPts val="135"/>
                        </a:spcBef>
                      </a:pPr>
                      <a:r>
                        <a:rPr sz="1600" b="1" spc="-10" dirty="0">
                          <a:solidFill>
                            <a:schemeClr val="tx1"/>
                          </a:solidFill>
                          <a:latin typeface="Times New Roman"/>
                          <a:cs typeface="Times New Roman"/>
                        </a:rPr>
                        <a:t>Tiến </a:t>
                      </a:r>
                      <a:r>
                        <a:rPr sz="1600" b="1" spc="-5" dirty="0">
                          <a:solidFill>
                            <a:schemeClr val="tx1"/>
                          </a:solidFill>
                          <a:latin typeface="Times New Roman"/>
                          <a:cs typeface="Times New Roman"/>
                        </a:rPr>
                        <a:t>trình </a:t>
                      </a:r>
                      <a:r>
                        <a:rPr sz="1600" b="1" spc="-5">
                          <a:solidFill>
                            <a:schemeClr val="tx1"/>
                          </a:solidFill>
                          <a:latin typeface="Times New Roman"/>
                          <a:cs typeface="Times New Roman"/>
                        </a:rPr>
                        <a:t>đăng </a:t>
                      </a:r>
                      <a:r>
                        <a:rPr sz="1600" b="1" spc="-10">
                          <a:solidFill>
                            <a:schemeClr val="tx1"/>
                          </a:solidFill>
                          <a:latin typeface="Times New Roman"/>
                          <a:cs typeface="Times New Roman"/>
                        </a:rPr>
                        <a:t>nhập</a:t>
                      </a:r>
                      <a:r>
                        <a:rPr lang="en-US" sz="1600" b="1" spc="-10">
                          <a:solidFill>
                            <a:schemeClr val="tx1"/>
                          </a:solidFill>
                          <a:latin typeface="Times New Roman"/>
                          <a:cs typeface="Times New Roman"/>
                        </a:rPr>
                        <a:t> </a:t>
                      </a:r>
                      <a:r>
                        <a:rPr sz="1600" b="1" spc="-5">
                          <a:solidFill>
                            <a:schemeClr val="tx1"/>
                          </a:solidFill>
                          <a:latin typeface="Times New Roman"/>
                          <a:cs typeface="Times New Roman"/>
                        </a:rPr>
                        <a:t>Thẻ</a:t>
                      </a:r>
                      <a:r>
                        <a:rPr sz="1600" b="1" spc="-90">
                          <a:solidFill>
                            <a:schemeClr val="tx1"/>
                          </a:solidFill>
                          <a:latin typeface="Times New Roman"/>
                          <a:cs typeface="Times New Roman"/>
                        </a:rPr>
                        <a:t> </a:t>
                      </a:r>
                      <a:r>
                        <a:rPr sz="1600" b="1" spc="-45" dirty="0">
                          <a:solidFill>
                            <a:schemeClr val="tx1"/>
                          </a:solidFill>
                          <a:latin typeface="Times New Roman"/>
                          <a:cs typeface="Times New Roman"/>
                        </a:rPr>
                        <a:t>ATM</a:t>
                      </a:r>
                      <a:endParaRPr sz="1600" dirty="0">
                        <a:solidFill>
                          <a:schemeClr val="tx1"/>
                        </a:solidFill>
                        <a:latin typeface="Times New Roman"/>
                        <a:cs typeface="Times New Roman"/>
                      </a:endParaRPr>
                    </a:p>
                    <a:p>
                      <a:pPr marL="97790">
                        <a:lnSpc>
                          <a:spcPct val="100000"/>
                        </a:lnSpc>
                        <a:spcBef>
                          <a:spcPts val="240"/>
                        </a:spcBef>
                      </a:pPr>
                      <a:r>
                        <a:rPr sz="1600" b="1" spc="-5" dirty="0">
                          <a:solidFill>
                            <a:schemeClr val="tx1"/>
                          </a:solidFill>
                          <a:latin typeface="Times New Roman"/>
                          <a:cs typeface="Times New Roman"/>
                        </a:rPr>
                        <a:t>Máy</a:t>
                      </a:r>
                      <a:r>
                        <a:rPr sz="1600" b="1" spc="-105" dirty="0">
                          <a:solidFill>
                            <a:schemeClr val="tx1"/>
                          </a:solidFill>
                          <a:latin typeface="Times New Roman"/>
                          <a:cs typeface="Times New Roman"/>
                        </a:rPr>
                        <a:t> </a:t>
                      </a:r>
                      <a:r>
                        <a:rPr sz="1600" b="1" spc="-45" dirty="0">
                          <a:solidFill>
                            <a:schemeClr val="tx1"/>
                          </a:solidFill>
                          <a:latin typeface="Times New Roman"/>
                          <a:cs typeface="Times New Roman"/>
                        </a:rPr>
                        <a:t>ATM</a:t>
                      </a:r>
                      <a:endParaRPr sz="1600" dirty="0">
                        <a:solidFill>
                          <a:schemeClr val="tx1"/>
                        </a:solidFill>
                        <a:latin typeface="Times New Roman"/>
                        <a:cs typeface="Times New Roman"/>
                      </a:endParaRPr>
                    </a:p>
                    <a:p>
                      <a:pPr marL="97790">
                        <a:lnSpc>
                          <a:spcPct val="100000"/>
                        </a:lnSpc>
                        <a:spcBef>
                          <a:spcPts val="380"/>
                        </a:spcBef>
                      </a:pPr>
                      <a:r>
                        <a:rPr sz="1600" b="1" spc="-5" dirty="0">
                          <a:solidFill>
                            <a:schemeClr val="tx1"/>
                          </a:solidFill>
                          <a:latin typeface="Times New Roman"/>
                          <a:cs typeface="Times New Roman"/>
                        </a:rPr>
                        <a:t>Ngân</a:t>
                      </a:r>
                      <a:r>
                        <a:rPr sz="1600" b="1" spc="-25" dirty="0">
                          <a:solidFill>
                            <a:schemeClr val="tx1"/>
                          </a:solidFill>
                          <a:latin typeface="Times New Roman"/>
                          <a:cs typeface="Times New Roman"/>
                        </a:rPr>
                        <a:t> </a:t>
                      </a:r>
                      <a:r>
                        <a:rPr sz="1600" b="1" spc="-5" dirty="0">
                          <a:solidFill>
                            <a:schemeClr val="tx1"/>
                          </a:solidFill>
                          <a:latin typeface="Times New Roman"/>
                          <a:cs typeface="Times New Roman"/>
                        </a:rPr>
                        <a:t>hàng</a:t>
                      </a:r>
                      <a:endParaRPr sz="1600" dirty="0">
                        <a:solidFill>
                          <a:schemeClr val="tx1"/>
                        </a:solidFill>
                        <a:latin typeface="Times New Roman"/>
                        <a:cs typeface="Times New Roman"/>
                      </a:endParaRPr>
                    </a:p>
                    <a:p>
                      <a:pPr marL="97790">
                        <a:lnSpc>
                          <a:spcPct val="100000"/>
                        </a:lnSpc>
                        <a:spcBef>
                          <a:spcPts val="385"/>
                        </a:spcBef>
                      </a:pPr>
                      <a:r>
                        <a:rPr sz="1600" b="1" strike="sngStrike" spc="-5" dirty="0">
                          <a:solidFill>
                            <a:srgbClr val="FF0066"/>
                          </a:solidFill>
                          <a:latin typeface="Times New Roman"/>
                          <a:cs typeface="Times New Roman"/>
                        </a:rPr>
                        <a:t>Khách hàng ngân</a:t>
                      </a:r>
                      <a:r>
                        <a:rPr sz="1600" b="1" strike="sngStrike" dirty="0">
                          <a:solidFill>
                            <a:srgbClr val="FF0066"/>
                          </a:solidFill>
                          <a:latin typeface="Times New Roman"/>
                          <a:cs typeface="Times New Roman"/>
                        </a:rPr>
                        <a:t> </a:t>
                      </a:r>
                      <a:r>
                        <a:rPr sz="1600" b="1" strike="sngStrike" spc="-5" dirty="0">
                          <a:solidFill>
                            <a:srgbClr val="FF0066"/>
                          </a:solidFill>
                          <a:latin typeface="Times New Roman"/>
                          <a:cs typeface="Times New Roman"/>
                        </a:rPr>
                        <a:t>hàng</a:t>
                      </a:r>
                      <a:endParaRPr sz="1600" dirty="0">
                        <a:latin typeface="Times New Roman"/>
                        <a:cs typeface="Times New Roman"/>
                      </a:endParaRPr>
                    </a:p>
                    <a:p>
                      <a:pPr marL="97790">
                        <a:lnSpc>
                          <a:spcPct val="100000"/>
                        </a:lnSpc>
                        <a:spcBef>
                          <a:spcPts val="385"/>
                        </a:spcBef>
                      </a:pPr>
                      <a:r>
                        <a:rPr sz="1600" strike="sngStrike" spc="-400" dirty="0">
                          <a:solidFill>
                            <a:srgbClr val="FF0066"/>
                          </a:solidFill>
                          <a:latin typeface="Times New Roman"/>
                          <a:cs typeface="Times New Roman"/>
                        </a:rPr>
                        <a:t> </a:t>
                      </a:r>
                      <a:r>
                        <a:rPr sz="1600" b="1" strike="sngStrike" spc="-5" dirty="0">
                          <a:solidFill>
                            <a:srgbClr val="FF0066"/>
                          </a:solidFill>
                          <a:latin typeface="Times New Roman"/>
                          <a:cs typeface="Times New Roman"/>
                        </a:rPr>
                        <a:t>Thẻ</a:t>
                      </a:r>
                      <a:endParaRPr sz="1600" dirty="0">
                        <a:latin typeface="Times New Roman"/>
                        <a:cs typeface="Times New Roman"/>
                      </a:endParaRPr>
                    </a:p>
                    <a:p>
                      <a:pPr marL="97790">
                        <a:lnSpc>
                          <a:spcPct val="100000"/>
                        </a:lnSpc>
                        <a:spcBef>
                          <a:spcPts val="385"/>
                        </a:spcBef>
                      </a:pPr>
                      <a:r>
                        <a:rPr sz="1600" b="1" spc="-10" dirty="0">
                          <a:solidFill>
                            <a:schemeClr val="tx1"/>
                          </a:solidFill>
                          <a:latin typeface="Times New Roman"/>
                          <a:cs typeface="Times New Roman"/>
                        </a:rPr>
                        <a:t>Tiền</a:t>
                      </a:r>
                      <a:r>
                        <a:rPr sz="1600" b="1" spc="-15" dirty="0">
                          <a:solidFill>
                            <a:schemeClr val="tx1"/>
                          </a:solidFill>
                          <a:latin typeface="Times New Roman"/>
                          <a:cs typeface="Times New Roman"/>
                        </a:rPr>
                        <a:t> </a:t>
                      </a:r>
                      <a:r>
                        <a:rPr sz="1600" b="1" spc="-10" dirty="0">
                          <a:solidFill>
                            <a:schemeClr val="tx1"/>
                          </a:solidFill>
                          <a:latin typeface="Times New Roman"/>
                          <a:cs typeface="Times New Roman"/>
                        </a:rPr>
                        <a:t>mặt</a:t>
                      </a:r>
                      <a:endParaRPr sz="1600" dirty="0">
                        <a:solidFill>
                          <a:schemeClr val="tx1"/>
                        </a:solidFill>
                        <a:latin typeface="Times New Roman"/>
                        <a:cs typeface="Times New Roman"/>
                      </a:endParaRPr>
                    </a:p>
                    <a:p>
                      <a:pPr marL="97790">
                        <a:lnSpc>
                          <a:spcPct val="100000"/>
                        </a:lnSpc>
                        <a:spcBef>
                          <a:spcPts val="385"/>
                        </a:spcBef>
                      </a:pPr>
                      <a:r>
                        <a:rPr sz="1600" b="1" spc="-5" dirty="0">
                          <a:solidFill>
                            <a:schemeClr val="tx1"/>
                          </a:solidFill>
                          <a:latin typeface="Times New Roman"/>
                          <a:cs typeface="Times New Roman"/>
                        </a:rPr>
                        <a:t>Khách</a:t>
                      </a:r>
                      <a:r>
                        <a:rPr sz="1600" b="1" dirty="0">
                          <a:solidFill>
                            <a:schemeClr val="tx1"/>
                          </a:solidFill>
                          <a:latin typeface="Times New Roman"/>
                          <a:cs typeface="Times New Roman"/>
                        </a:rPr>
                        <a:t> </a:t>
                      </a:r>
                      <a:r>
                        <a:rPr sz="1600" b="1" spc="-5" dirty="0">
                          <a:solidFill>
                            <a:schemeClr val="tx1"/>
                          </a:solidFill>
                          <a:latin typeface="Times New Roman"/>
                          <a:cs typeface="Times New Roman"/>
                        </a:rPr>
                        <a:t>hàng</a:t>
                      </a:r>
                      <a:endParaRPr sz="1600" dirty="0">
                        <a:solidFill>
                          <a:schemeClr val="tx1"/>
                        </a:solidFill>
                        <a:latin typeface="Times New Roman"/>
                        <a:cs typeface="Times New Roman"/>
                      </a:endParaRPr>
                    </a:p>
                    <a:p>
                      <a:pPr marL="97790" marR="888365" indent="-635">
                        <a:lnSpc>
                          <a:spcPct val="120000"/>
                        </a:lnSpc>
                      </a:pPr>
                      <a:r>
                        <a:rPr sz="1600" strike="sngStrike" spc="-400" dirty="0">
                          <a:solidFill>
                            <a:srgbClr val="FF0066"/>
                          </a:solidFill>
                          <a:latin typeface="Times New Roman"/>
                          <a:cs typeface="Times New Roman"/>
                        </a:rPr>
                        <a:t> </a:t>
                      </a:r>
                      <a:r>
                        <a:rPr sz="1600" b="1" strike="sngStrike" spc="-5" dirty="0">
                          <a:solidFill>
                            <a:srgbClr val="FF0066"/>
                          </a:solidFill>
                          <a:latin typeface="Times New Roman"/>
                          <a:cs typeface="Times New Roman"/>
                        </a:rPr>
                        <a:t>Tài </a:t>
                      </a:r>
                      <a:r>
                        <a:rPr sz="1600" b="1" strike="sngStrike" spc="-10" dirty="0">
                          <a:solidFill>
                            <a:srgbClr val="FF0066"/>
                          </a:solidFill>
                          <a:latin typeface="Times New Roman"/>
                          <a:cs typeface="Times New Roman"/>
                        </a:rPr>
                        <a:t>khoản </a:t>
                      </a:r>
                      <a:r>
                        <a:rPr sz="1600" b="1" strike="sngStrike" spc="-10">
                          <a:solidFill>
                            <a:srgbClr val="FF0066"/>
                          </a:solidFill>
                          <a:latin typeface="Times New Roman"/>
                          <a:cs typeface="Times New Roman"/>
                        </a:rPr>
                        <a:t>khách </a:t>
                      </a:r>
                      <a:r>
                        <a:rPr sz="1600" b="1" strike="sngStrike" spc="-5">
                          <a:solidFill>
                            <a:srgbClr val="FF0066"/>
                          </a:solidFill>
                          <a:latin typeface="Times New Roman"/>
                          <a:cs typeface="Times New Roman"/>
                        </a:rPr>
                        <a:t>hàng</a:t>
                      </a:r>
                      <a:r>
                        <a:rPr lang="en-US" sz="1600" b="1" strike="sngStrike" spc="-5">
                          <a:solidFill>
                            <a:srgbClr val="FF0066"/>
                          </a:solidFill>
                          <a:latin typeface="Times New Roman"/>
                          <a:cs typeface="Times New Roman"/>
                        </a:rPr>
                        <a:t> </a:t>
                      </a:r>
                      <a:r>
                        <a:rPr sz="1600" b="1" strike="noStrike" spc="-10">
                          <a:solidFill>
                            <a:schemeClr val="tx1"/>
                          </a:solidFill>
                          <a:latin typeface="Times New Roman"/>
                          <a:cs typeface="Times New Roman"/>
                        </a:rPr>
                        <a:t>VND</a:t>
                      </a:r>
                      <a:endParaRPr sz="1600" dirty="0">
                        <a:solidFill>
                          <a:schemeClr val="tx1"/>
                        </a:solidFill>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310"/>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Bao</a:t>
                      </a:r>
                      <a:r>
                        <a:rPr sz="1600" b="1" strike="sngStrike" spc="-20" dirty="0">
                          <a:solidFill>
                            <a:srgbClr val="FF0066"/>
                          </a:solidFill>
                          <a:latin typeface="Times New Roman"/>
                          <a:cs typeface="Times New Roman"/>
                        </a:rPr>
                        <a:t> </a:t>
                      </a:r>
                      <a:r>
                        <a:rPr sz="1600" b="1" strike="sngStrike" spc="-10" dirty="0">
                          <a:solidFill>
                            <a:srgbClr val="FF0066"/>
                          </a:solidFill>
                          <a:latin typeface="Times New Roman"/>
                          <a:cs typeface="Times New Roman"/>
                        </a:rPr>
                        <a:t>thư</a:t>
                      </a:r>
                      <a:endParaRPr sz="1600" dirty="0">
                        <a:latin typeface="Times New Roman"/>
                        <a:cs typeface="Times New Roman"/>
                      </a:endParaRPr>
                    </a:p>
                    <a:p>
                      <a:pPr marL="98425" marR="2051050" indent="-1270">
                        <a:lnSpc>
                          <a:spcPct val="120000"/>
                        </a:lnSpc>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Bốn </a:t>
                      </a:r>
                      <a:r>
                        <a:rPr sz="1600" b="1" strike="sngStrike" spc="-10">
                          <a:solidFill>
                            <a:srgbClr val="FF0066"/>
                          </a:solidFill>
                          <a:latin typeface="Times New Roman"/>
                          <a:cs typeface="Times New Roman"/>
                        </a:rPr>
                        <a:t>ký</a:t>
                      </a:r>
                      <a:r>
                        <a:rPr sz="1600" b="1" strike="sngStrike" spc="-85">
                          <a:solidFill>
                            <a:srgbClr val="FF0066"/>
                          </a:solidFill>
                          <a:latin typeface="Times New Roman"/>
                          <a:cs typeface="Times New Roman"/>
                        </a:rPr>
                        <a:t> </a:t>
                      </a:r>
                      <a:r>
                        <a:rPr sz="1600" b="1" strike="sngStrike" spc="-5">
                          <a:solidFill>
                            <a:srgbClr val="FF0066"/>
                          </a:solidFill>
                          <a:latin typeface="Times New Roman"/>
                          <a:cs typeface="Times New Roman"/>
                        </a:rPr>
                        <a:t>số</a:t>
                      </a:r>
                      <a:r>
                        <a:rPr lang="en-US" sz="1600" b="1" strike="sngStrike" spc="-5">
                          <a:solidFill>
                            <a:srgbClr val="FF0066"/>
                          </a:solidFill>
                          <a:latin typeface="Times New Roman"/>
                          <a:cs typeface="Times New Roman"/>
                        </a:rPr>
                        <a:t> </a:t>
                      </a:r>
                      <a:r>
                        <a:rPr sz="1600" b="1" strike="noStrike" spc="-5">
                          <a:solidFill>
                            <a:schemeClr val="tx1"/>
                          </a:solidFill>
                          <a:latin typeface="Times New Roman"/>
                          <a:cs typeface="Times New Roman"/>
                        </a:rPr>
                        <a:t>Ngân</a:t>
                      </a:r>
                      <a:r>
                        <a:rPr sz="1600" b="1" strike="noStrike" spc="-90">
                          <a:solidFill>
                            <a:schemeClr val="tx1"/>
                          </a:solidFill>
                          <a:latin typeface="Times New Roman"/>
                          <a:cs typeface="Times New Roman"/>
                        </a:rPr>
                        <a:t> </a:t>
                      </a:r>
                      <a:r>
                        <a:rPr sz="1600" b="1" strike="noStrike" spc="-10" dirty="0">
                          <a:solidFill>
                            <a:schemeClr val="tx1"/>
                          </a:solidFill>
                          <a:latin typeface="Times New Roman"/>
                          <a:cs typeface="Times New Roman"/>
                        </a:rPr>
                        <a:t>quỹ</a:t>
                      </a:r>
                      <a:endParaRPr sz="1600" dirty="0">
                        <a:solidFill>
                          <a:schemeClr val="tx1"/>
                        </a:solidFill>
                        <a:latin typeface="Times New Roman"/>
                        <a:cs typeface="Times New Roman"/>
                      </a:endParaRPr>
                    </a:p>
                    <a:p>
                      <a:pPr marL="98425" marR="2505075" indent="-1270">
                        <a:lnSpc>
                          <a:spcPts val="2310"/>
                        </a:lnSpc>
                        <a:spcBef>
                          <a:spcPts val="140"/>
                        </a:spcBef>
                      </a:pPr>
                      <a:r>
                        <a:rPr sz="1600" strike="sngStrike" spc="-395">
                          <a:solidFill>
                            <a:srgbClr val="FF0066"/>
                          </a:solidFill>
                          <a:latin typeface="Times New Roman"/>
                          <a:cs typeface="Times New Roman"/>
                        </a:rPr>
                        <a:t> </a:t>
                      </a:r>
                      <a:r>
                        <a:rPr sz="1600" b="1" strike="sngStrike" spc="-25">
                          <a:solidFill>
                            <a:srgbClr val="FF0066"/>
                          </a:solidFill>
                          <a:latin typeface="Times New Roman"/>
                          <a:cs typeface="Times New Roman"/>
                        </a:rPr>
                        <a:t>T</a:t>
                      </a:r>
                      <a:r>
                        <a:rPr sz="1600" b="1" strike="sngStrike">
                          <a:solidFill>
                            <a:srgbClr val="FF0066"/>
                          </a:solidFill>
                          <a:latin typeface="Times New Roman"/>
                          <a:cs typeface="Times New Roman"/>
                        </a:rPr>
                        <a:t>iề</a:t>
                      </a:r>
                      <a:r>
                        <a:rPr sz="1600" b="1" strike="sngStrike" spc="-10">
                          <a:solidFill>
                            <a:srgbClr val="FF0066"/>
                          </a:solidFill>
                          <a:latin typeface="Times New Roman"/>
                          <a:cs typeface="Times New Roman"/>
                        </a:rPr>
                        <a:t>n</a:t>
                      </a:r>
                      <a:r>
                        <a:rPr lang="en-US" sz="1600" b="1" strike="sngStrike" spc="-10">
                          <a:solidFill>
                            <a:srgbClr val="FF0066"/>
                          </a:solidFill>
                          <a:latin typeface="Times New Roman"/>
                          <a:cs typeface="Times New Roman"/>
                        </a:rPr>
                        <a:t> </a:t>
                      </a:r>
                      <a:r>
                        <a:rPr sz="1600" b="1" strike="sngStrike" spc="-5">
                          <a:solidFill>
                            <a:srgbClr val="FF0066"/>
                          </a:solidFill>
                          <a:latin typeface="Times New Roman"/>
                          <a:cs typeface="Times New Roman"/>
                        </a:rPr>
                        <a:t>PIN</a:t>
                      </a:r>
                      <a:endParaRPr sz="1600" dirty="0">
                        <a:latin typeface="Times New Roman"/>
                        <a:cs typeface="Times New Roman"/>
                      </a:endParaRPr>
                    </a:p>
                    <a:p>
                      <a:pPr marL="97155">
                        <a:lnSpc>
                          <a:spcPct val="100000"/>
                        </a:lnSpc>
                        <a:spcBef>
                          <a:spcPts val="23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PIN </a:t>
                      </a:r>
                      <a:r>
                        <a:rPr sz="1600" b="1" strike="sngStrike" spc="-10" dirty="0">
                          <a:solidFill>
                            <a:srgbClr val="FF0066"/>
                          </a:solidFill>
                          <a:latin typeface="Times New Roman"/>
                          <a:cs typeface="Times New Roman"/>
                        </a:rPr>
                        <a:t>không hợp</a:t>
                      </a:r>
                      <a:r>
                        <a:rPr sz="1600" b="1" strike="sngStrike" spc="10" dirty="0">
                          <a:solidFill>
                            <a:srgbClr val="FF0066"/>
                          </a:solidFill>
                          <a:latin typeface="Times New Roman"/>
                          <a:cs typeface="Times New Roman"/>
                        </a:rPr>
                        <a:t> </a:t>
                      </a:r>
                      <a:r>
                        <a:rPr sz="1600" b="1" strike="sngStrike" spc="-5" dirty="0">
                          <a:solidFill>
                            <a:srgbClr val="FF0066"/>
                          </a:solidFill>
                          <a:latin typeface="Times New Roman"/>
                          <a:cs typeface="Times New Roman"/>
                        </a:rPr>
                        <a:t>lệ</a:t>
                      </a:r>
                      <a:endParaRPr sz="1600" dirty="0">
                        <a:latin typeface="Times New Roman"/>
                        <a:cs typeface="Times New Roman"/>
                      </a:endParaRPr>
                    </a:p>
                    <a:p>
                      <a:pPr marL="98425">
                        <a:lnSpc>
                          <a:spcPct val="100000"/>
                        </a:lnSpc>
                        <a:spcBef>
                          <a:spcPts val="385"/>
                        </a:spcBef>
                      </a:pPr>
                      <a:r>
                        <a:rPr sz="1600" b="1" spc="-5" dirty="0">
                          <a:solidFill>
                            <a:schemeClr val="tx1"/>
                          </a:solidFill>
                          <a:latin typeface="Times New Roman"/>
                          <a:cs typeface="Times New Roman"/>
                        </a:rPr>
                        <a:t>Thông</a:t>
                      </a:r>
                      <a:r>
                        <a:rPr sz="1600" b="1" spc="-20" dirty="0">
                          <a:solidFill>
                            <a:schemeClr val="tx1"/>
                          </a:solidFill>
                          <a:latin typeface="Times New Roman"/>
                          <a:cs typeface="Times New Roman"/>
                        </a:rPr>
                        <a:t> </a:t>
                      </a:r>
                      <a:r>
                        <a:rPr sz="1600" b="1" spc="-10" dirty="0">
                          <a:solidFill>
                            <a:schemeClr val="tx1"/>
                          </a:solidFill>
                          <a:latin typeface="Times New Roman"/>
                          <a:cs typeface="Times New Roman"/>
                        </a:rPr>
                        <a:t>điệp</a:t>
                      </a:r>
                      <a:endParaRPr sz="1600" dirty="0">
                        <a:solidFill>
                          <a:schemeClr val="tx1"/>
                        </a:solidFill>
                        <a:latin typeface="Times New Roman"/>
                        <a:cs typeface="Times New Roman"/>
                      </a:endParaRPr>
                    </a:p>
                    <a:p>
                      <a:pPr marL="98425" marR="2044700" indent="-1270">
                        <a:lnSpc>
                          <a:spcPct val="120000"/>
                        </a:lnSpc>
                      </a:pPr>
                      <a:r>
                        <a:rPr sz="1600" strike="sngStrike" spc="-395" dirty="0">
                          <a:solidFill>
                            <a:srgbClr val="FF0066"/>
                          </a:solidFill>
                          <a:latin typeface="Times New Roman"/>
                          <a:cs typeface="Times New Roman"/>
                        </a:rPr>
                        <a:t> </a:t>
                      </a:r>
                      <a:r>
                        <a:rPr sz="1600" b="1" strike="sngStrike" spc="-5">
                          <a:solidFill>
                            <a:srgbClr val="FF0066"/>
                          </a:solidFill>
                          <a:latin typeface="Times New Roman"/>
                          <a:cs typeface="Times New Roman"/>
                        </a:rPr>
                        <a:t>Mật</a:t>
                      </a:r>
                      <a:r>
                        <a:rPr sz="1600" b="1" strike="sngStrike" spc="-75">
                          <a:solidFill>
                            <a:srgbClr val="FF0066"/>
                          </a:solidFill>
                          <a:latin typeface="Times New Roman"/>
                          <a:cs typeface="Times New Roman"/>
                        </a:rPr>
                        <a:t> </a:t>
                      </a:r>
                      <a:r>
                        <a:rPr sz="1600" b="1" strike="sngStrike" spc="-10">
                          <a:solidFill>
                            <a:srgbClr val="FF0066"/>
                          </a:solidFill>
                          <a:latin typeface="Times New Roman"/>
                          <a:cs typeface="Times New Roman"/>
                        </a:rPr>
                        <a:t>khẩu</a:t>
                      </a:r>
                      <a:r>
                        <a:rPr lang="en-US" sz="1600" b="1" strike="sngStrike" spc="-10">
                          <a:solidFill>
                            <a:srgbClr val="FF0066"/>
                          </a:solidFill>
                          <a:latin typeface="Times New Roman"/>
                          <a:cs typeface="Times New Roman"/>
                        </a:rPr>
                        <a:t> </a:t>
                      </a:r>
                      <a:r>
                        <a:rPr sz="1600" b="1" strike="sngStrike" spc="-5">
                          <a:solidFill>
                            <a:srgbClr val="FF0066"/>
                          </a:solidFill>
                          <a:latin typeface="Times New Roman"/>
                          <a:cs typeface="Times New Roman"/>
                        </a:rPr>
                        <a:t>Mã</a:t>
                      </a:r>
                      <a:r>
                        <a:rPr sz="1600" b="1" strike="sngStrike" spc="-20">
                          <a:solidFill>
                            <a:srgbClr val="FF0066"/>
                          </a:solidFill>
                          <a:latin typeface="Times New Roman"/>
                          <a:cs typeface="Times New Roman"/>
                        </a:rPr>
                        <a:t> </a:t>
                      </a:r>
                      <a:r>
                        <a:rPr sz="1600" b="1" strike="sngStrike" spc="-10" dirty="0">
                          <a:solidFill>
                            <a:srgbClr val="FF0066"/>
                          </a:solidFill>
                          <a:latin typeface="Times New Roman"/>
                          <a:cs typeface="Times New Roman"/>
                        </a:rPr>
                        <a:t>PIN</a:t>
                      </a:r>
                      <a:endParaRPr sz="1600" dirty="0">
                        <a:latin typeface="Times New Roman"/>
                        <a:cs typeface="Times New Roman"/>
                      </a:endParaRPr>
                    </a:p>
                    <a:p>
                      <a:pPr marL="98425">
                        <a:lnSpc>
                          <a:spcPct val="100000"/>
                        </a:lnSpc>
                        <a:spcBef>
                          <a:spcPts val="385"/>
                        </a:spcBef>
                      </a:pPr>
                      <a:r>
                        <a:rPr sz="1600" b="1" dirty="0">
                          <a:solidFill>
                            <a:schemeClr val="tx1"/>
                          </a:solidFill>
                          <a:latin typeface="Times New Roman"/>
                          <a:cs typeface="Times New Roman"/>
                        </a:rPr>
                        <a:t>Mẫu</a:t>
                      </a:r>
                      <a:r>
                        <a:rPr sz="1600" b="1" spc="-105" dirty="0">
                          <a:solidFill>
                            <a:schemeClr val="tx1"/>
                          </a:solidFill>
                          <a:latin typeface="Times New Roman"/>
                          <a:cs typeface="Times New Roman"/>
                        </a:rPr>
                        <a:t> </a:t>
                      </a:r>
                      <a:r>
                        <a:rPr sz="1600" b="1" spc="-5" dirty="0">
                          <a:solidFill>
                            <a:schemeClr val="tx1"/>
                          </a:solidFill>
                          <a:latin typeface="Times New Roman"/>
                          <a:cs typeface="Times New Roman"/>
                        </a:rPr>
                        <a:t>tin</a:t>
                      </a:r>
                      <a:endParaRPr sz="1600" dirty="0">
                        <a:solidFill>
                          <a:schemeClr val="tx1"/>
                        </a:solidFill>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Bước</a:t>
                      </a:r>
                      <a:endParaRPr sz="1600" dirty="0">
                        <a:latin typeface="Times New Roman"/>
                        <a:cs typeface="Times New Roman"/>
                      </a:endParaRPr>
                    </a:p>
                    <a:p>
                      <a:pPr marL="98425" marR="2055495">
                        <a:lnSpc>
                          <a:spcPct val="120000"/>
                        </a:lnSpc>
                      </a:pPr>
                      <a:r>
                        <a:rPr sz="1600" b="1" spc="-10">
                          <a:solidFill>
                            <a:schemeClr val="tx1"/>
                          </a:solidFill>
                          <a:latin typeface="Times New Roman"/>
                          <a:cs typeface="Times New Roman"/>
                        </a:rPr>
                        <a:t>Hệ </a:t>
                      </a:r>
                      <a:r>
                        <a:rPr sz="1600" b="1" spc="-5">
                          <a:solidFill>
                            <a:schemeClr val="tx1"/>
                          </a:solidFill>
                          <a:latin typeface="Times New Roman"/>
                          <a:cs typeface="Times New Roman"/>
                        </a:rPr>
                        <a:t>thống</a:t>
                      </a:r>
                      <a:r>
                        <a:rPr lang="en-US" sz="1600" b="1" spc="-5">
                          <a:solidFill>
                            <a:schemeClr val="tx1"/>
                          </a:solidFill>
                          <a:latin typeface="Times New Roman"/>
                          <a:cs typeface="Times New Roman"/>
                        </a:rPr>
                        <a:t> </a:t>
                      </a:r>
                      <a:r>
                        <a:rPr sz="1600" b="1" spc="-5">
                          <a:solidFill>
                            <a:schemeClr val="tx1"/>
                          </a:solidFill>
                          <a:latin typeface="Times New Roman"/>
                          <a:cs typeface="Times New Roman"/>
                        </a:rPr>
                        <a:t>Giao</a:t>
                      </a:r>
                      <a:r>
                        <a:rPr sz="1600" b="1" spc="-65">
                          <a:solidFill>
                            <a:schemeClr val="tx1"/>
                          </a:solidFill>
                          <a:latin typeface="Times New Roman"/>
                          <a:cs typeface="Times New Roman"/>
                        </a:rPr>
                        <a:t> </a:t>
                      </a:r>
                      <a:r>
                        <a:rPr sz="1600" b="1" spc="-10" dirty="0">
                          <a:solidFill>
                            <a:schemeClr val="tx1"/>
                          </a:solidFill>
                          <a:latin typeface="Times New Roman"/>
                          <a:cs typeface="Times New Roman"/>
                        </a:rPr>
                        <a:t>dịch</a:t>
                      </a:r>
                      <a:endParaRPr sz="1600" dirty="0">
                        <a:solidFill>
                          <a:schemeClr val="tx1"/>
                        </a:solidFill>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Lịch sử giao</a:t>
                      </a:r>
                      <a:r>
                        <a:rPr sz="1600" b="1" strike="sngStrike" spc="10" dirty="0">
                          <a:solidFill>
                            <a:srgbClr val="FF0066"/>
                          </a:solidFill>
                          <a:latin typeface="Times New Roman"/>
                          <a:cs typeface="Times New Roman"/>
                        </a:rPr>
                        <a:t> </a:t>
                      </a:r>
                      <a:r>
                        <a:rPr sz="1600" b="1" strike="sngStrike" spc="-10" dirty="0">
                          <a:solidFill>
                            <a:srgbClr val="FF0066"/>
                          </a:solidFill>
                          <a:latin typeface="Times New Roman"/>
                          <a:cs typeface="Times New Roman"/>
                        </a:rPr>
                        <a:t>dịch</a:t>
                      </a:r>
                      <a:endParaRPr sz="1600" dirty="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3690004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 y="943896"/>
            <a:ext cx="12039599" cy="5145383"/>
          </a:xfrm>
          <a:prstGeom prst="rect">
            <a:avLst/>
          </a:prstGeom>
        </p:spPr>
        <p:txBody>
          <a:bodyPr vert="horz" wrap="square" lIns="0" tIns="103505" rIns="0" bIns="0" rtlCol="0">
            <a:spAutoFit/>
          </a:bodyPr>
          <a:lstStyle/>
          <a:p>
            <a:pPr marL="355600" indent="-342900" algn="just">
              <a:lnSpc>
                <a:spcPct val="120000"/>
              </a:lnSpc>
              <a:spcBef>
                <a:spcPts val="815"/>
              </a:spcBef>
              <a:buSzPct val="100000"/>
              <a:buFont typeface="Wingdings" panose="05000000000000000000" pitchFamily="2" charset="2"/>
              <a:buChar char="§"/>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cụm </a:t>
            </a:r>
            <a:r>
              <a:rPr sz="2800" b="1" spc="-5" dirty="0">
                <a:solidFill>
                  <a:srgbClr val="FF0000"/>
                </a:solidFill>
                <a:latin typeface="Times New Roman" panose="02020603050405020304" pitchFamily="18" charset="0"/>
                <a:cs typeface="Times New Roman" panose="02020603050405020304" pitchFamily="18" charset="0"/>
              </a:rPr>
              <a:t>danh </a:t>
            </a:r>
            <a:r>
              <a:rPr sz="2800" b="1" dirty="0">
                <a:solidFill>
                  <a:srgbClr val="FF0000"/>
                </a:solidFill>
                <a:latin typeface="Times New Roman" panose="02020603050405020304" pitchFamily="18" charset="0"/>
                <a:cs typeface="Times New Roman" panose="02020603050405020304" pitchFamily="18" charset="0"/>
              </a:rPr>
              <a:t>từ </a:t>
            </a:r>
            <a:r>
              <a:rPr sz="2800" b="1" spc="-5" dirty="0">
                <a:solidFill>
                  <a:srgbClr val="FF0000"/>
                </a:solidFill>
                <a:latin typeface="Times New Roman" panose="02020603050405020304" pitchFamily="18" charset="0"/>
                <a:cs typeface="Times New Roman" panose="02020603050405020304" pitchFamily="18" charset="0"/>
              </a:rPr>
              <a:t>(</a:t>
            </a:r>
            <a:r>
              <a:rPr sz="2800" b="1" spc="-5">
                <a:solidFill>
                  <a:srgbClr val="FF0000"/>
                </a:solidFill>
                <a:latin typeface="Times New Roman" panose="02020603050405020304" pitchFamily="18" charset="0"/>
                <a:cs typeface="Times New Roman" panose="02020603050405020304" pitchFamily="18" charset="0"/>
              </a:rPr>
              <a:t>noun</a:t>
            </a:r>
            <a:r>
              <a:rPr sz="2800" b="1">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a:t>
            </a:r>
            <a:r>
              <a:rPr lang="en-US" sz="2800" b="1" spc="-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phrase</a:t>
            </a:r>
            <a:r>
              <a:rPr sz="2800" b="1" spc="-5" dirty="0">
                <a:solidFill>
                  <a:srgbClr val="FF0000"/>
                </a:solidFill>
                <a:latin typeface="Times New Roman" panose="02020603050405020304" pitchFamily="18" charset="0"/>
                <a:cs typeface="Times New Roman" panose="02020603050405020304" pitchFamily="18" charset="0"/>
              </a:rPr>
              <a:t>)</a:t>
            </a:r>
            <a:endParaRPr sz="2800" b="1">
              <a:solidFill>
                <a:srgbClr val="FF0000"/>
              </a:solidFill>
              <a:latin typeface="Times New Roman" panose="02020603050405020304" pitchFamily="18" charset="0"/>
              <a:cs typeface="Times New Roman" panose="02020603050405020304" pitchFamily="18" charset="0"/>
            </a:endParaRPr>
          </a:p>
          <a:p>
            <a:pPr marL="401638" lvl="1" indent="-342900" algn="just">
              <a:lnSpc>
                <a:spcPct val="120000"/>
              </a:lnSpc>
              <a:spcBef>
                <a:spcPts val="600"/>
              </a:spcBef>
              <a:buSzPct val="100000"/>
              <a:buFont typeface="Arial" panose="020B0604020202020204" pitchFamily="34" charset="0"/>
              <a:buChar char="•"/>
            </a:pPr>
            <a:r>
              <a:rPr sz="2400" spc="-5">
                <a:solidFill>
                  <a:srgbClr val="00B050"/>
                </a:solidFill>
                <a:latin typeface="Times New Roman" panose="02020603050405020304" pitchFamily="18" charset="0"/>
                <a:cs typeface="Times New Roman" panose="02020603050405020304" pitchFamily="18" charset="0"/>
              </a:rPr>
              <a:t>Loại </a:t>
            </a:r>
            <a:r>
              <a:rPr sz="2400" dirty="0">
                <a:solidFill>
                  <a:srgbClr val="00B050"/>
                </a:solidFill>
                <a:latin typeface="Times New Roman" panose="02020603050405020304" pitchFamily="18" charset="0"/>
                <a:cs typeface="Times New Roman" panose="02020603050405020304" pitchFamily="18" charset="0"/>
              </a:rPr>
              <a:t>bỏ các ứng </a:t>
            </a:r>
            <a:r>
              <a:rPr sz="2400" spc="-5" dirty="0">
                <a:solidFill>
                  <a:srgbClr val="00B050"/>
                </a:solidFill>
                <a:latin typeface="Times New Roman" panose="02020603050405020304" pitchFamily="18" charset="0"/>
                <a:cs typeface="Times New Roman" panose="02020603050405020304" pitchFamily="18" charset="0"/>
              </a:rPr>
              <a:t>viên </a:t>
            </a:r>
            <a:r>
              <a:rPr sz="2400" dirty="0">
                <a:solidFill>
                  <a:srgbClr val="00B050"/>
                </a:solidFill>
                <a:latin typeface="Times New Roman" panose="02020603050405020304" pitchFamily="18" charset="0"/>
                <a:cs typeface="Times New Roman" panose="02020603050405020304" pitchFamily="18" charset="0"/>
              </a:rPr>
              <a:t>không mục </a:t>
            </a:r>
            <a:r>
              <a:rPr sz="2400" spc="-5" dirty="0">
                <a:solidFill>
                  <a:srgbClr val="00B050"/>
                </a:solidFill>
                <a:latin typeface="Times New Roman" panose="02020603050405020304" pitchFamily="18" charset="0"/>
                <a:cs typeface="Times New Roman" panose="02020603050405020304" pitchFamily="18" charset="0"/>
              </a:rPr>
              <a:t>tiêu hoặc </a:t>
            </a:r>
            <a:r>
              <a:rPr sz="2400" dirty="0">
                <a:solidFill>
                  <a:srgbClr val="00B050"/>
                </a:solidFill>
                <a:latin typeface="Times New Roman" panose="02020603050405020304" pitchFamily="18" charset="0"/>
                <a:cs typeface="Times New Roman" panose="02020603050405020304" pitchFamily="18" charset="0"/>
              </a:rPr>
              <a:t>không thuộc </a:t>
            </a:r>
            <a:r>
              <a:rPr sz="2400">
                <a:solidFill>
                  <a:srgbClr val="00B050"/>
                </a:solidFill>
                <a:latin typeface="Times New Roman" panose="02020603050405020304" pitchFamily="18" charset="0"/>
                <a:cs typeface="Times New Roman" panose="02020603050405020304" pitchFamily="18" charset="0"/>
              </a:rPr>
              <a:t>phạm</a:t>
            </a:r>
            <a:r>
              <a:rPr sz="2400" spc="-175">
                <a:solidFill>
                  <a:srgbClr val="00B050"/>
                </a:solidFill>
                <a:latin typeface="Times New Roman" panose="02020603050405020304" pitchFamily="18" charset="0"/>
                <a:cs typeface="Times New Roman" panose="02020603050405020304" pitchFamily="18" charset="0"/>
              </a:rPr>
              <a:t> </a:t>
            </a:r>
            <a:r>
              <a:rPr sz="2400" spc="-135">
                <a:solidFill>
                  <a:srgbClr val="00B050"/>
                </a:solidFill>
                <a:latin typeface="Times New Roman" panose="02020603050405020304" pitchFamily="18" charset="0"/>
                <a:cs typeface="Times New Roman" panose="02020603050405020304" pitchFamily="18" charset="0"/>
              </a:rPr>
              <a:t>vi</a:t>
            </a:r>
            <a:r>
              <a:rPr lang="en-US" sz="2400">
                <a:solidFill>
                  <a:srgbClr val="00B050"/>
                </a:solidFill>
                <a:latin typeface="Times New Roman" panose="02020603050405020304" pitchFamily="18" charset="0"/>
                <a:cs typeface="Times New Roman" panose="02020603050405020304" pitchFamily="18" charset="0"/>
              </a:rPr>
              <a:t> </a:t>
            </a:r>
            <a:r>
              <a:rPr sz="2400" spc="-5">
                <a:solidFill>
                  <a:srgbClr val="00B050"/>
                </a:solidFill>
                <a:latin typeface="Times New Roman" panose="02020603050405020304" pitchFamily="18" charset="0"/>
                <a:cs typeface="Times New Roman" panose="02020603050405020304" pitchFamily="18" charset="0"/>
              </a:rPr>
              <a:t>hệ</a:t>
            </a:r>
            <a:r>
              <a:rPr sz="2400" spc="-20">
                <a:solidFill>
                  <a:srgbClr val="00B050"/>
                </a:solidFill>
                <a:latin typeface="Times New Roman" panose="02020603050405020304" pitchFamily="18" charset="0"/>
                <a:cs typeface="Times New Roman" panose="02020603050405020304" pitchFamily="18" charset="0"/>
              </a:rPr>
              <a:t> </a:t>
            </a:r>
            <a:r>
              <a:rPr sz="2400" dirty="0">
                <a:solidFill>
                  <a:srgbClr val="00B050"/>
                </a:solidFill>
                <a:latin typeface="Times New Roman" panose="02020603050405020304" pitchFamily="18" charset="0"/>
                <a:cs typeface="Times New Roman" panose="02020603050405020304" pitchFamily="18" charset="0"/>
              </a:rPr>
              <a:t>thống:</a:t>
            </a:r>
            <a:endParaRPr sz="2400">
              <a:solidFill>
                <a:srgbClr val="00B050"/>
              </a:solidFill>
              <a:latin typeface="Times New Roman" panose="02020603050405020304" pitchFamily="18" charset="0"/>
              <a:cs typeface="Times New Roman" panose="02020603050405020304" pitchFamily="18" charset="0"/>
            </a:endParaRPr>
          </a:p>
          <a:p>
            <a:pPr marL="1041400" lvl="2" indent="-342900" algn="just">
              <a:lnSpc>
                <a:spcPct val="150000"/>
              </a:lnSpc>
              <a:spcBef>
                <a:spcPts val="505"/>
              </a:spcBef>
              <a:buSzPct val="100000"/>
              <a:buFont typeface="Wingdings" panose="05000000000000000000" pitchFamily="2" charset="2"/>
              <a:buChar char="ü"/>
            </a:pPr>
            <a:r>
              <a:rPr sz="2200" dirty="0">
                <a:latin typeface="Times New Roman" panose="02020603050405020304" pitchFamily="18" charset="0"/>
                <a:cs typeface="Times New Roman" panose="02020603050405020304" pitchFamily="18" charset="0"/>
              </a:rPr>
              <a:t>Thông</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điệp</a:t>
            </a:r>
            <a:endParaRPr sz="2200">
              <a:latin typeface="Times New Roman" panose="02020603050405020304" pitchFamily="18" charset="0"/>
              <a:cs typeface="Times New Roman" panose="02020603050405020304" pitchFamily="18" charset="0"/>
            </a:endParaRPr>
          </a:p>
          <a:p>
            <a:pPr marL="1041400" lvl="2" indent="-342900" algn="just">
              <a:lnSpc>
                <a:spcPct val="150000"/>
              </a:lnSpc>
              <a:spcBef>
                <a:spcPts val="490"/>
              </a:spcBef>
              <a:buSzPct val="100000"/>
              <a:buFont typeface="Wingdings" panose="05000000000000000000" pitchFamily="2" charset="2"/>
              <a:buChar char="ü"/>
            </a:pPr>
            <a:r>
              <a:rPr sz="2200" dirty="0">
                <a:latin typeface="Times New Roman" panose="02020603050405020304" pitchFamily="18" charset="0"/>
                <a:cs typeface="Times New Roman" panose="02020603050405020304" pitchFamily="18" charset="0"/>
              </a:rPr>
              <a:t>Hệ</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thống</a:t>
            </a:r>
            <a:endParaRPr sz="2200">
              <a:latin typeface="Times New Roman" panose="02020603050405020304" pitchFamily="18" charset="0"/>
              <a:cs typeface="Times New Roman" panose="02020603050405020304" pitchFamily="18" charset="0"/>
            </a:endParaRPr>
          </a:p>
          <a:p>
            <a:pPr marL="1041400" lvl="2" indent="-342900" algn="just">
              <a:lnSpc>
                <a:spcPct val="150000"/>
              </a:lnSpc>
              <a:spcBef>
                <a:spcPts val="505"/>
              </a:spcBef>
              <a:buSzPct val="100000"/>
              <a:buFont typeface="Wingdings" panose="05000000000000000000" pitchFamily="2" charset="2"/>
              <a:buChar char="ü"/>
            </a:pPr>
            <a:r>
              <a:rPr sz="2200" dirty="0">
                <a:latin typeface="Times New Roman" panose="02020603050405020304" pitchFamily="18" charset="0"/>
                <a:cs typeface="Times New Roman" panose="02020603050405020304" pitchFamily="18" charset="0"/>
              </a:rPr>
              <a:t>Mẫu</a:t>
            </a:r>
            <a:r>
              <a:rPr sz="2200" spc="-2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tin</a:t>
            </a:r>
            <a:endParaRPr sz="2200">
              <a:latin typeface="Times New Roman" panose="02020603050405020304" pitchFamily="18" charset="0"/>
              <a:cs typeface="Times New Roman" panose="02020603050405020304" pitchFamily="18" charset="0"/>
            </a:endParaRPr>
          </a:p>
          <a:p>
            <a:pPr marL="1041400" lvl="2" indent="-342900" algn="just">
              <a:lnSpc>
                <a:spcPct val="150000"/>
              </a:lnSpc>
              <a:spcBef>
                <a:spcPts val="505"/>
              </a:spcBef>
              <a:buSzPct val="100000"/>
              <a:buFont typeface="Wingdings" panose="05000000000000000000" pitchFamily="2" charset="2"/>
              <a:buChar char="ü"/>
            </a:pPr>
            <a:r>
              <a:rPr sz="2200" spc="-5" dirty="0">
                <a:latin typeface="Times New Roman" panose="02020603050405020304" pitchFamily="18" charset="0"/>
                <a:cs typeface="Times New Roman" panose="02020603050405020304" pitchFamily="18" charset="0"/>
              </a:rPr>
              <a:t>Ngân</a:t>
            </a:r>
            <a:r>
              <a:rPr sz="2200" spc="-2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quỹ</a:t>
            </a:r>
            <a:endParaRPr sz="2200">
              <a:latin typeface="Times New Roman" panose="02020603050405020304" pitchFamily="18" charset="0"/>
              <a:cs typeface="Times New Roman" panose="02020603050405020304" pitchFamily="18" charset="0"/>
            </a:endParaRPr>
          </a:p>
          <a:p>
            <a:pPr marL="1041400" lvl="2" indent="-342900" algn="just">
              <a:lnSpc>
                <a:spcPct val="150000"/>
              </a:lnSpc>
              <a:spcBef>
                <a:spcPts val="495"/>
              </a:spcBef>
              <a:buSzPct val="100000"/>
              <a:buFont typeface="Wingdings" panose="05000000000000000000" pitchFamily="2" charset="2"/>
              <a:buChar char="ü"/>
            </a:pPr>
            <a:r>
              <a:rPr sz="2200" dirty="0">
                <a:latin typeface="Times New Roman" panose="02020603050405020304" pitchFamily="18" charset="0"/>
                <a:cs typeface="Times New Roman" panose="02020603050405020304" pitchFamily="18" charset="0"/>
              </a:rPr>
              <a:t>VND</a:t>
            </a:r>
            <a:endParaRPr sz="2200">
              <a:latin typeface="Times New Roman" panose="02020603050405020304" pitchFamily="18" charset="0"/>
              <a:cs typeface="Times New Roman" panose="02020603050405020304" pitchFamily="18" charset="0"/>
            </a:endParaRPr>
          </a:p>
          <a:p>
            <a:pPr marL="1041400" lvl="2" indent="-342900" algn="just">
              <a:lnSpc>
                <a:spcPct val="150000"/>
              </a:lnSpc>
              <a:spcBef>
                <a:spcPts val="500"/>
              </a:spcBef>
              <a:buSzPct val="100000"/>
              <a:buFont typeface="Wingdings" panose="05000000000000000000" pitchFamily="2" charset="2"/>
              <a:buChar char="ü"/>
            </a:pPr>
            <a:r>
              <a:rPr sz="2200" spc="-20" dirty="0">
                <a:latin typeface="Times New Roman" panose="02020603050405020304" pitchFamily="18" charset="0"/>
                <a:cs typeface="Times New Roman" panose="02020603050405020304" pitchFamily="18" charset="0"/>
              </a:rPr>
              <a:t>Tiền</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mặt</a:t>
            </a:r>
            <a:endParaRPr sz="2200">
              <a:latin typeface="Times New Roman" panose="02020603050405020304" pitchFamily="18" charset="0"/>
              <a:cs typeface="Times New Roman" panose="02020603050405020304" pitchFamily="18" charset="0"/>
            </a:endParaRPr>
          </a:p>
          <a:p>
            <a:pPr marL="1041400" lvl="2" indent="-342900" algn="just">
              <a:lnSpc>
                <a:spcPct val="150000"/>
              </a:lnSpc>
              <a:spcBef>
                <a:spcPts val="505"/>
              </a:spcBef>
              <a:buSzPct val="100000"/>
              <a:buFont typeface="Wingdings" panose="05000000000000000000" pitchFamily="2" charset="2"/>
              <a:buChar char="ü"/>
            </a:pPr>
            <a:r>
              <a:rPr sz="2200" spc="-20" dirty="0">
                <a:latin typeface="Times New Roman" panose="02020603050405020304" pitchFamily="18" charset="0"/>
                <a:cs typeface="Times New Roman" panose="02020603050405020304" pitchFamily="18" charset="0"/>
              </a:rPr>
              <a:t>Tiến </a:t>
            </a:r>
            <a:r>
              <a:rPr sz="2200" spc="-5" dirty="0">
                <a:latin typeface="Times New Roman" panose="02020603050405020304" pitchFamily="18" charset="0"/>
                <a:cs typeface="Times New Roman" panose="02020603050405020304" pitchFamily="18" charset="0"/>
              </a:rPr>
              <a:t>trình </a:t>
            </a:r>
            <a:r>
              <a:rPr sz="2200" spc="-5">
                <a:latin typeface="Times New Roman" panose="02020603050405020304" pitchFamily="18" charset="0"/>
                <a:cs typeface="Times New Roman" panose="02020603050405020304" pitchFamily="18" charset="0"/>
              </a:rPr>
              <a:t>đăng</a:t>
            </a:r>
            <a:r>
              <a:rPr sz="2200" spc="-45">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nhập</a:t>
            </a:r>
            <a:endParaRPr lang="en-US" sz="2200" spc="-5">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1177131636"/>
              </p:ext>
            </p:extLst>
          </p:nvPr>
        </p:nvGraphicFramePr>
        <p:xfrm>
          <a:off x="5638801" y="2086781"/>
          <a:ext cx="4801235" cy="4138929"/>
        </p:xfrm>
        <a:graphic>
          <a:graphicData uri="http://schemas.openxmlformats.org/drawingml/2006/table">
            <a:tbl>
              <a:tblPr firstRow="1" bandRow="1">
                <a:tableStyleId>{2D5ABB26-0587-4C30-8999-92F81FD0307C}</a:tableStyleId>
              </a:tblPr>
              <a:tblGrid>
                <a:gridCol w="2376805">
                  <a:extLst>
                    <a:ext uri="{9D8B030D-6E8A-4147-A177-3AD203B41FA5}">
                      <a16:colId xmlns:a16="http://schemas.microsoft.com/office/drawing/2014/main" val="20000"/>
                    </a:ext>
                  </a:extLst>
                </a:gridCol>
                <a:gridCol w="2424430">
                  <a:extLst>
                    <a:ext uri="{9D8B030D-6E8A-4147-A177-3AD203B41FA5}">
                      <a16:colId xmlns:a16="http://schemas.microsoft.com/office/drawing/2014/main" val="20001"/>
                    </a:ext>
                  </a:extLst>
                </a:gridCol>
              </a:tblGrid>
              <a:tr h="4138929">
                <a:tc>
                  <a:txBody>
                    <a:bodyPr/>
                    <a:lstStyle/>
                    <a:p>
                      <a:pPr marL="98425">
                        <a:lnSpc>
                          <a:spcPct val="100000"/>
                        </a:lnSpc>
                        <a:spcBef>
                          <a:spcPts val="310"/>
                        </a:spcBef>
                      </a:pPr>
                      <a:r>
                        <a:rPr sz="1600" b="1" spc="-5" dirty="0">
                          <a:solidFill>
                            <a:schemeClr val="tx1"/>
                          </a:solidFill>
                          <a:latin typeface="Times New Roman"/>
                          <a:cs typeface="Times New Roman"/>
                        </a:rPr>
                        <a:t>Tài</a:t>
                      </a:r>
                      <a:r>
                        <a:rPr sz="1600" b="1" spc="-10" dirty="0">
                          <a:solidFill>
                            <a:schemeClr val="tx1"/>
                          </a:solidFill>
                          <a:latin typeface="Times New Roman"/>
                          <a:cs typeface="Times New Roman"/>
                        </a:rPr>
                        <a:t> khoản</a:t>
                      </a:r>
                      <a:endParaRPr sz="1600">
                        <a:solidFill>
                          <a:schemeClr val="tx1"/>
                        </a:solidFill>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Số dư tài</a:t>
                      </a:r>
                      <a:r>
                        <a:rPr sz="1600" b="1" strike="sngStrike" spc="5" dirty="0">
                          <a:solidFill>
                            <a:srgbClr val="FF0066"/>
                          </a:solidFill>
                          <a:latin typeface="Times New Roman"/>
                          <a:cs typeface="Times New Roman"/>
                        </a:rPr>
                        <a:t> </a:t>
                      </a:r>
                      <a:r>
                        <a:rPr sz="1600" b="1" strike="sngStrike" spc="-10" dirty="0">
                          <a:solidFill>
                            <a:srgbClr val="FF0066"/>
                          </a:solidFill>
                          <a:latin typeface="Times New Roman"/>
                          <a:cs typeface="Times New Roman"/>
                        </a:rPr>
                        <a:t>khoản</a:t>
                      </a:r>
                      <a:endParaRPr sz="1600">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Số </a:t>
                      </a:r>
                      <a:r>
                        <a:rPr sz="1600" b="1" strike="sngStrike" spc="-10" dirty="0">
                          <a:solidFill>
                            <a:srgbClr val="FF0066"/>
                          </a:solidFill>
                          <a:latin typeface="Times New Roman"/>
                          <a:cs typeface="Times New Roman"/>
                        </a:rPr>
                        <a:t>tiền</a:t>
                      </a:r>
                      <a:endParaRPr sz="1600">
                        <a:latin typeface="Times New Roman"/>
                        <a:cs typeface="Times New Roman"/>
                      </a:endParaRPr>
                    </a:p>
                    <a:p>
                      <a:pPr marL="97155">
                        <a:lnSpc>
                          <a:spcPct val="100000"/>
                        </a:lnSpc>
                        <a:spcBef>
                          <a:spcPts val="384"/>
                        </a:spcBef>
                      </a:pPr>
                      <a:r>
                        <a:rPr sz="1600" strike="sngStrike" spc="-395" dirty="0">
                          <a:solidFill>
                            <a:srgbClr val="FF0066"/>
                          </a:solidFill>
                          <a:latin typeface="Times New Roman"/>
                          <a:cs typeface="Times New Roman"/>
                        </a:rPr>
                        <a:t> </a:t>
                      </a:r>
                      <a:r>
                        <a:rPr sz="1600" b="1" strike="sngStrike" spc="-10" dirty="0">
                          <a:solidFill>
                            <a:srgbClr val="FF0066"/>
                          </a:solidFill>
                          <a:latin typeface="Times New Roman"/>
                          <a:cs typeface="Times New Roman"/>
                        </a:rPr>
                        <a:t>Tiến </a:t>
                      </a:r>
                      <a:r>
                        <a:rPr sz="1600" b="1" strike="sngStrike" spc="-5" dirty="0">
                          <a:solidFill>
                            <a:srgbClr val="FF0066"/>
                          </a:solidFill>
                          <a:latin typeface="Times New Roman"/>
                          <a:cs typeface="Times New Roman"/>
                        </a:rPr>
                        <a:t>trình đăng</a:t>
                      </a:r>
                      <a:r>
                        <a:rPr sz="1600" b="1" strike="sngStrike" spc="10" dirty="0">
                          <a:solidFill>
                            <a:srgbClr val="FF0066"/>
                          </a:solidFill>
                          <a:latin typeface="Times New Roman"/>
                          <a:cs typeface="Times New Roman"/>
                        </a:rPr>
                        <a:t> </a:t>
                      </a:r>
                      <a:r>
                        <a:rPr sz="1600" b="1" strike="sngStrike" spc="-10" dirty="0">
                          <a:solidFill>
                            <a:srgbClr val="FF0066"/>
                          </a:solidFill>
                          <a:latin typeface="Times New Roman"/>
                          <a:cs typeface="Times New Roman"/>
                        </a:rPr>
                        <a:t>nhập</a:t>
                      </a:r>
                      <a:endParaRPr sz="1600">
                        <a:latin typeface="Times New Roman"/>
                        <a:cs typeface="Times New Roman"/>
                      </a:endParaRPr>
                    </a:p>
                    <a:p>
                      <a:pPr marL="98425">
                        <a:lnSpc>
                          <a:spcPct val="100000"/>
                        </a:lnSpc>
                        <a:spcBef>
                          <a:spcPts val="380"/>
                        </a:spcBef>
                      </a:pPr>
                      <a:r>
                        <a:rPr sz="1600" b="1" spc="-5" dirty="0">
                          <a:solidFill>
                            <a:schemeClr val="tx1"/>
                          </a:solidFill>
                          <a:latin typeface="Times New Roman"/>
                          <a:cs typeface="Times New Roman"/>
                        </a:rPr>
                        <a:t>Thẻ</a:t>
                      </a:r>
                      <a:r>
                        <a:rPr sz="1600" b="1" spc="-95" dirty="0">
                          <a:solidFill>
                            <a:schemeClr val="tx1"/>
                          </a:solidFill>
                          <a:latin typeface="Times New Roman"/>
                          <a:cs typeface="Times New Roman"/>
                        </a:rPr>
                        <a:t> </a:t>
                      </a:r>
                      <a:r>
                        <a:rPr sz="1600" b="1" spc="-45" dirty="0">
                          <a:solidFill>
                            <a:schemeClr val="tx1"/>
                          </a:solidFill>
                          <a:latin typeface="Times New Roman"/>
                          <a:cs typeface="Times New Roman"/>
                        </a:rPr>
                        <a:t>ATM</a:t>
                      </a:r>
                      <a:endParaRPr sz="1600">
                        <a:solidFill>
                          <a:schemeClr val="tx1"/>
                        </a:solidFill>
                        <a:latin typeface="Times New Roman"/>
                        <a:cs typeface="Times New Roman"/>
                      </a:endParaRPr>
                    </a:p>
                    <a:p>
                      <a:pPr marL="98425" marR="1329690">
                        <a:lnSpc>
                          <a:spcPct val="120000"/>
                        </a:lnSpc>
                        <a:spcBef>
                          <a:spcPts val="5"/>
                        </a:spcBef>
                      </a:pPr>
                      <a:r>
                        <a:rPr sz="1600" b="1" spc="-5">
                          <a:solidFill>
                            <a:schemeClr val="tx1"/>
                          </a:solidFill>
                          <a:latin typeface="Times New Roman"/>
                          <a:cs typeface="Times New Roman"/>
                        </a:rPr>
                        <a:t>Máy </a:t>
                      </a:r>
                      <a:r>
                        <a:rPr sz="1600" b="1" spc="-45">
                          <a:solidFill>
                            <a:schemeClr val="tx1"/>
                          </a:solidFill>
                          <a:latin typeface="Times New Roman"/>
                          <a:cs typeface="Times New Roman"/>
                        </a:rPr>
                        <a:t>ATM</a:t>
                      </a:r>
                      <a:r>
                        <a:rPr lang="en-US" sz="1600" b="1" spc="-45">
                          <a:solidFill>
                            <a:schemeClr val="tx1"/>
                          </a:solidFill>
                          <a:latin typeface="Times New Roman"/>
                          <a:cs typeface="Times New Roman"/>
                        </a:rPr>
                        <a:t> </a:t>
                      </a:r>
                      <a:r>
                        <a:rPr sz="1600" b="1" spc="-5">
                          <a:solidFill>
                            <a:schemeClr val="tx1"/>
                          </a:solidFill>
                          <a:latin typeface="Times New Roman"/>
                          <a:cs typeface="Times New Roman"/>
                        </a:rPr>
                        <a:t>Ngân</a:t>
                      </a:r>
                      <a:r>
                        <a:rPr sz="1600" b="1" spc="-95">
                          <a:solidFill>
                            <a:schemeClr val="tx1"/>
                          </a:solidFill>
                          <a:latin typeface="Times New Roman"/>
                          <a:cs typeface="Times New Roman"/>
                        </a:rPr>
                        <a:t> </a:t>
                      </a:r>
                      <a:r>
                        <a:rPr sz="1600" b="1" spc="-5" dirty="0">
                          <a:solidFill>
                            <a:schemeClr val="tx1"/>
                          </a:solidFill>
                          <a:latin typeface="Times New Roman"/>
                          <a:cs typeface="Times New Roman"/>
                        </a:rPr>
                        <a:t>hàng</a:t>
                      </a:r>
                      <a:endParaRPr sz="1600">
                        <a:solidFill>
                          <a:schemeClr val="tx1"/>
                        </a:solidFill>
                        <a:latin typeface="Times New Roman"/>
                        <a:cs typeface="Times New Roman"/>
                      </a:endParaRPr>
                    </a:p>
                    <a:p>
                      <a:pPr marL="98425">
                        <a:lnSpc>
                          <a:spcPct val="100000"/>
                        </a:lnSpc>
                        <a:spcBef>
                          <a:spcPts val="384"/>
                        </a:spcBef>
                      </a:pPr>
                      <a:r>
                        <a:rPr sz="1600" b="1" strike="sngStrike" spc="-5" dirty="0">
                          <a:solidFill>
                            <a:srgbClr val="FF0066"/>
                          </a:solidFill>
                          <a:latin typeface="Times New Roman"/>
                          <a:cs typeface="Times New Roman"/>
                        </a:rPr>
                        <a:t>Khách hàng ngân</a:t>
                      </a:r>
                      <a:r>
                        <a:rPr sz="1600" b="1" strike="sngStrike" spc="-15" dirty="0">
                          <a:solidFill>
                            <a:srgbClr val="FF0066"/>
                          </a:solidFill>
                          <a:latin typeface="Times New Roman"/>
                          <a:cs typeface="Times New Roman"/>
                        </a:rPr>
                        <a:t> </a:t>
                      </a:r>
                      <a:r>
                        <a:rPr sz="1600" b="1" strike="sngStrike" spc="-5" dirty="0">
                          <a:solidFill>
                            <a:srgbClr val="FF0066"/>
                          </a:solidFill>
                          <a:latin typeface="Times New Roman"/>
                          <a:cs typeface="Times New Roman"/>
                        </a:rPr>
                        <a:t>hàng</a:t>
                      </a:r>
                      <a:endParaRPr sz="1600">
                        <a:latin typeface="Times New Roman"/>
                        <a:cs typeface="Times New Roman"/>
                      </a:endParaRPr>
                    </a:p>
                    <a:p>
                      <a:pPr marL="97155">
                        <a:lnSpc>
                          <a:spcPct val="100000"/>
                        </a:lnSpc>
                        <a:spcBef>
                          <a:spcPts val="384"/>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Thẻ</a:t>
                      </a:r>
                      <a:endParaRPr sz="1600">
                        <a:latin typeface="Times New Roman"/>
                        <a:cs typeface="Times New Roman"/>
                      </a:endParaRPr>
                    </a:p>
                    <a:p>
                      <a:pPr marL="97155">
                        <a:lnSpc>
                          <a:spcPct val="100000"/>
                        </a:lnSpc>
                        <a:spcBef>
                          <a:spcPts val="380"/>
                        </a:spcBef>
                      </a:pPr>
                      <a:r>
                        <a:rPr sz="1600" strike="sngStrike" spc="-395" dirty="0">
                          <a:solidFill>
                            <a:srgbClr val="FF0066"/>
                          </a:solidFill>
                          <a:latin typeface="Times New Roman"/>
                          <a:cs typeface="Times New Roman"/>
                        </a:rPr>
                        <a:t> </a:t>
                      </a:r>
                      <a:r>
                        <a:rPr sz="1600" b="1" strike="sngStrike" spc="-10" dirty="0">
                          <a:solidFill>
                            <a:srgbClr val="FF0066"/>
                          </a:solidFill>
                          <a:latin typeface="Times New Roman"/>
                          <a:cs typeface="Times New Roman"/>
                        </a:rPr>
                        <a:t>Tiền</a:t>
                      </a:r>
                      <a:r>
                        <a:rPr sz="1600" b="1" strike="sngStrike" spc="-15" dirty="0">
                          <a:solidFill>
                            <a:srgbClr val="FF0066"/>
                          </a:solidFill>
                          <a:latin typeface="Times New Roman"/>
                          <a:cs typeface="Times New Roman"/>
                        </a:rPr>
                        <a:t> mặt</a:t>
                      </a:r>
                      <a:endParaRPr sz="1600">
                        <a:latin typeface="Times New Roman"/>
                        <a:cs typeface="Times New Roman"/>
                      </a:endParaRPr>
                    </a:p>
                    <a:p>
                      <a:pPr marL="98425">
                        <a:lnSpc>
                          <a:spcPct val="100000"/>
                        </a:lnSpc>
                        <a:spcBef>
                          <a:spcPts val="390"/>
                        </a:spcBef>
                      </a:pPr>
                      <a:r>
                        <a:rPr sz="1600" b="1" spc="-5" dirty="0">
                          <a:solidFill>
                            <a:schemeClr val="tx1"/>
                          </a:solidFill>
                          <a:latin typeface="Times New Roman"/>
                          <a:cs typeface="Times New Roman"/>
                        </a:rPr>
                        <a:t>Khách</a:t>
                      </a:r>
                      <a:r>
                        <a:rPr sz="1600" b="1" dirty="0">
                          <a:solidFill>
                            <a:schemeClr val="tx1"/>
                          </a:solidFill>
                          <a:latin typeface="Times New Roman"/>
                          <a:cs typeface="Times New Roman"/>
                        </a:rPr>
                        <a:t> </a:t>
                      </a:r>
                      <a:r>
                        <a:rPr sz="1600" b="1" spc="-5" dirty="0">
                          <a:solidFill>
                            <a:schemeClr val="tx1"/>
                          </a:solidFill>
                          <a:latin typeface="Times New Roman"/>
                          <a:cs typeface="Times New Roman"/>
                        </a:rPr>
                        <a:t>hàng</a:t>
                      </a:r>
                      <a:endParaRPr sz="1600">
                        <a:solidFill>
                          <a:schemeClr val="tx1"/>
                        </a:solidFill>
                        <a:latin typeface="Times New Roman"/>
                        <a:cs typeface="Times New Roman"/>
                      </a:endParaRPr>
                    </a:p>
                    <a:p>
                      <a:pPr marL="98425" marR="323215" indent="-635">
                        <a:lnSpc>
                          <a:spcPct val="120000"/>
                        </a:lnSpc>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Tài </a:t>
                      </a:r>
                      <a:r>
                        <a:rPr sz="1600" b="1" strike="sngStrike" spc="-10" dirty="0">
                          <a:solidFill>
                            <a:srgbClr val="FF0066"/>
                          </a:solidFill>
                          <a:latin typeface="Times New Roman"/>
                          <a:cs typeface="Times New Roman"/>
                        </a:rPr>
                        <a:t>khoản </a:t>
                      </a:r>
                      <a:r>
                        <a:rPr sz="1600" b="1" strike="sngStrike" spc="-10">
                          <a:solidFill>
                            <a:srgbClr val="FF0066"/>
                          </a:solidFill>
                          <a:latin typeface="Times New Roman"/>
                          <a:cs typeface="Times New Roman"/>
                        </a:rPr>
                        <a:t>khách </a:t>
                      </a:r>
                      <a:r>
                        <a:rPr sz="1600" b="1" strike="sngStrike" spc="-5">
                          <a:solidFill>
                            <a:srgbClr val="FF0066"/>
                          </a:solidFill>
                          <a:latin typeface="Times New Roman"/>
                          <a:cs typeface="Times New Roman"/>
                        </a:rPr>
                        <a:t>hàng</a:t>
                      </a:r>
                      <a:r>
                        <a:rPr lang="en-US" sz="1600" b="1" strike="sngStrike" spc="-5">
                          <a:solidFill>
                            <a:srgbClr val="FF0066"/>
                          </a:solidFill>
                          <a:latin typeface="Times New Roman"/>
                          <a:cs typeface="Times New Roman"/>
                        </a:rPr>
                        <a:t> </a:t>
                      </a:r>
                      <a:r>
                        <a:rPr sz="1600" b="1" strike="sngStrike" spc="-10">
                          <a:solidFill>
                            <a:srgbClr val="FF0066"/>
                          </a:solidFill>
                          <a:latin typeface="Times New Roman"/>
                          <a:cs typeface="Times New Roman"/>
                        </a:rPr>
                        <a:t>VND</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7155">
                        <a:lnSpc>
                          <a:spcPct val="100000"/>
                        </a:lnSpc>
                        <a:spcBef>
                          <a:spcPts val="310"/>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Bao</a:t>
                      </a:r>
                      <a:r>
                        <a:rPr sz="1600" b="1" strike="sngStrike" spc="-20" dirty="0">
                          <a:solidFill>
                            <a:srgbClr val="FF0066"/>
                          </a:solidFill>
                          <a:latin typeface="Times New Roman"/>
                          <a:cs typeface="Times New Roman"/>
                        </a:rPr>
                        <a:t> </a:t>
                      </a:r>
                      <a:r>
                        <a:rPr sz="1600" b="1" strike="sngStrike" spc="-10" dirty="0">
                          <a:solidFill>
                            <a:srgbClr val="FF0066"/>
                          </a:solidFill>
                          <a:latin typeface="Times New Roman"/>
                          <a:cs typeface="Times New Roman"/>
                        </a:rPr>
                        <a:t>thư</a:t>
                      </a:r>
                      <a:endParaRPr sz="1600">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Bốn </a:t>
                      </a:r>
                      <a:r>
                        <a:rPr sz="1600" b="1" strike="sngStrike" spc="-10" dirty="0">
                          <a:solidFill>
                            <a:srgbClr val="FF0066"/>
                          </a:solidFill>
                          <a:latin typeface="Times New Roman"/>
                          <a:cs typeface="Times New Roman"/>
                        </a:rPr>
                        <a:t>ký</a:t>
                      </a:r>
                      <a:r>
                        <a:rPr sz="1600" b="1" strike="sngStrike" spc="-90" dirty="0">
                          <a:solidFill>
                            <a:srgbClr val="FF0066"/>
                          </a:solidFill>
                          <a:latin typeface="Times New Roman"/>
                          <a:cs typeface="Times New Roman"/>
                        </a:rPr>
                        <a:t> </a:t>
                      </a:r>
                      <a:r>
                        <a:rPr sz="1600" b="1" strike="sngStrike" spc="-5" dirty="0">
                          <a:solidFill>
                            <a:srgbClr val="FF0066"/>
                          </a:solidFill>
                          <a:latin typeface="Times New Roman"/>
                          <a:cs typeface="Times New Roman"/>
                        </a:rPr>
                        <a:t>số</a:t>
                      </a:r>
                      <a:endParaRPr sz="1600">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Ngân</a:t>
                      </a:r>
                      <a:r>
                        <a:rPr sz="1600" b="1" strike="sngStrike" spc="-105" dirty="0">
                          <a:solidFill>
                            <a:srgbClr val="FF0066"/>
                          </a:solidFill>
                          <a:latin typeface="Times New Roman"/>
                          <a:cs typeface="Times New Roman"/>
                        </a:rPr>
                        <a:t> </a:t>
                      </a:r>
                      <a:r>
                        <a:rPr sz="1600" b="1" strike="sngStrike" spc="-10" dirty="0">
                          <a:solidFill>
                            <a:srgbClr val="FF0066"/>
                          </a:solidFill>
                          <a:latin typeface="Times New Roman"/>
                          <a:cs typeface="Times New Roman"/>
                        </a:rPr>
                        <a:t>quỹ</a:t>
                      </a:r>
                      <a:endParaRPr sz="1600">
                        <a:latin typeface="Times New Roman"/>
                        <a:cs typeface="Times New Roman"/>
                      </a:endParaRPr>
                    </a:p>
                    <a:p>
                      <a:pPr marL="97155">
                        <a:lnSpc>
                          <a:spcPct val="100000"/>
                        </a:lnSpc>
                        <a:spcBef>
                          <a:spcPts val="384"/>
                        </a:spcBef>
                      </a:pPr>
                      <a:r>
                        <a:rPr sz="1600" strike="sngStrike" spc="-395" dirty="0">
                          <a:solidFill>
                            <a:srgbClr val="FF0066"/>
                          </a:solidFill>
                          <a:latin typeface="Times New Roman"/>
                          <a:cs typeface="Times New Roman"/>
                        </a:rPr>
                        <a:t> </a:t>
                      </a:r>
                      <a:r>
                        <a:rPr sz="1600" b="1" strike="sngStrike" spc="-15" dirty="0">
                          <a:solidFill>
                            <a:srgbClr val="FF0066"/>
                          </a:solidFill>
                          <a:latin typeface="Times New Roman"/>
                          <a:cs typeface="Times New Roman"/>
                        </a:rPr>
                        <a:t>Tiền</a:t>
                      </a:r>
                      <a:endParaRPr sz="1600">
                        <a:latin typeface="Times New Roman"/>
                        <a:cs typeface="Times New Roman"/>
                      </a:endParaRPr>
                    </a:p>
                    <a:p>
                      <a:pPr marL="98425">
                        <a:lnSpc>
                          <a:spcPct val="100000"/>
                        </a:lnSpc>
                        <a:spcBef>
                          <a:spcPts val="380"/>
                        </a:spcBef>
                      </a:pPr>
                      <a:r>
                        <a:rPr sz="1600" b="1" strike="sngStrike" spc="-5" dirty="0">
                          <a:solidFill>
                            <a:srgbClr val="FF0066"/>
                          </a:solidFill>
                          <a:latin typeface="Times New Roman"/>
                          <a:cs typeface="Times New Roman"/>
                        </a:rPr>
                        <a:t>PIN</a:t>
                      </a:r>
                      <a:endParaRPr sz="1600">
                        <a:latin typeface="Times New Roman"/>
                        <a:cs typeface="Times New Roman"/>
                      </a:endParaRPr>
                    </a:p>
                    <a:p>
                      <a:pPr marL="97155">
                        <a:lnSpc>
                          <a:spcPct val="100000"/>
                        </a:lnSpc>
                        <a:spcBef>
                          <a:spcPts val="390"/>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PIN </a:t>
                      </a:r>
                      <a:r>
                        <a:rPr sz="1600" b="1" strike="sngStrike" spc="-10" dirty="0">
                          <a:solidFill>
                            <a:srgbClr val="FF0066"/>
                          </a:solidFill>
                          <a:latin typeface="Times New Roman"/>
                          <a:cs typeface="Times New Roman"/>
                        </a:rPr>
                        <a:t>không hợp</a:t>
                      </a:r>
                      <a:r>
                        <a:rPr sz="1600" b="1" strike="sngStrike" spc="10" dirty="0">
                          <a:solidFill>
                            <a:srgbClr val="FF0066"/>
                          </a:solidFill>
                          <a:latin typeface="Times New Roman"/>
                          <a:cs typeface="Times New Roman"/>
                        </a:rPr>
                        <a:t> </a:t>
                      </a:r>
                      <a:r>
                        <a:rPr sz="1600" b="1" strike="sngStrike" spc="-5" dirty="0">
                          <a:solidFill>
                            <a:srgbClr val="FF0066"/>
                          </a:solidFill>
                          <a:latin typeface="Times New Roman"/>
                          <a:cs typeface="Times New Roman"/>
                        </a:rPr>
                        <a:t>lệ</a:t>
                      </a:r>
                      <a:endParaRPr sz="1600">
                        <a:latin typeface="Times New Roman"/>
                        <a:cs typeface="Times New Roman"/>
                      </a:endParaRPr>
                    </a:p>
                    <a:p>
                      <a:pPr marL="97155">
                        <a:lnSpc>
                          <a:spcPct val="100000"/>
                        </a:lnSpc>
                        <a:spcBef>
                          <a:spcPts val="380"/>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Thông</a:t>
                      </a:r>
                      <a:r>
                        <a:rPr sz="1600" b="1" strike="sngStrike" spc="-20" dirty="0">
                          <a:solidFill>
                            <a:srgbClr val="FF0066"/>
                          </a:solidFill>
                          <a:latin typeface="Times New Roman"/>
                          <a:cs typeface="Times New Roman"/>
                        </a:rPr>
                        <a:t> </a:t>
                      </a:r>
                      <a:r>
                        <a:rPr sz="1600" b="1" strike="sngStrike" spc="-10" dirty="0">
                          <a:solidFill>
                            <a:srgbClr val="FF0066"/>
                          </a:solidFill>
                          <a:latin typeface="Times New Roman"/>
                          <a:cs typeface="Times New Roman"/>
                        </a:rPr>
                        <a:t>điệp</a:t>
                      </a:r>
                      <a:endParaRPr sz="1600">
                        <a:latin typeface="Times New Roman"/>
                        <a:cs typeface="Times New Roman"/>
                      </a:endParaRPr>
                    </a:p>
                    <a:p>
                      <a:pPr marL="98425" marR="1466850" indent="-1270">
                        <a:lnSpc>
                          <a:spcPct val="120000"/>
                        </a:lnSpc>
                      </a:pPr>
                      <a:r>
                        <a:rPr sz="1600" strike="sngStrike" spc="-395" dirty="0">
                          <a:solidFill>
                            <a:srgbClr val="FF0066"/>
                          </a:solidFill>
                          <a:latin typeface="Times New Roman"/>
                          <a:cs typeface="Times New Roman"/>
                        </a:rPr>
                        <a:t> </a:t>
                      </a:r>
                      <a:r>
                        <a:rPr sz="1600" b="1" strike="sngStrike" spc="-5">
                          <a:solidFill>
                            <a:srgbClr val="FF0066"/>
                          </a:solidFill>
                          <a:latin typeface="Times New Roman"/>
                          <a:cs typeface="Times New Roman"/>
                        </a:rPr>
                        <a:t>Mật</a:t>
                      </a:r>
                      <a:r>
                        <a:rPr sz="1600" b="1" strike="sngStrike" spc="-75">
                          <a:solidFill>
                            <a:srgbClr val="FF0066"/>
                          </a:solidFill>
                          <a:latin typeface="Times New Roman"/>
                          <a:cs typeface="Times New Roman"/>
                        </a:rPr>
                        <a:t> </a:t>
                      </a:r>
                      <a:r>
                        <a:rPr sz="1600" b="1" strike="sngStrike" spc="-10">
                          <a:solidFill>
                            <a:srgbClr val="FF0066"/>
                          </a:solidFill>
                          <a:latin typeface="Times New Roman"/>
                          <a:cs typeface="Times New Roman"/>
                        </a:rPr>
                        <a:t>khẩu</a:t>
                      </a:r>
                      <a:r>
                        <a:rPr lang="en-US" sz="1600" b="1" strike="sngStrike" spc="-10">
                          <a:solidFill>
                            <a:srgbClr val="FF0066"/>
                          </a:solidFill>
                          <a:latin typeface="Times New Roman"/>
                          <a:cs typeface="Times New Roman"/>
                        </a:rPr>
                        <a:t> </a:t>
                      </a:r>
                      <a:r>
                        <a:rPr sz="1600" b="1" strike="sngStrike" spc="-5">
                          <a:solidFill>
                            <a:srgbClr val="FF0066"/>
                          </a:solidFill>
                          <a:latin typeface="Times New Roman"/>
                          <a:cs typeface="Times New Roman"/>
                        </a:rPr>
                        <a:t>Mã</a:t>
                      </a:r>
                      <a:r>
                        <a:rPr sz="1600" b="1" strike="sngStrike" spc="-20">
                          <a:solidFill>
                            <a:srgbClr val="FF0066"/>
                          </a:solidFill>
                          <a:latin typeface="Times New Roman"/>
                          <a:cs typeface="Times New Roman"/>
                        </a:rPr>
                        <a:t> </a:t>
                      </a:r>
                      <a:r>
                        <a:rPr sz="1600" b="1" strike="sngStrike" spc="-10" dirty="0">
                          <a:solidFill>
                            <a:srgbClr val="FF0066"/>
                          </a:solidFill>
                          <a:latin typeface="Times New Roman"/>
                          <a:cs typeface="Times New Roman"/>
                        </a:rPr>
                        <a:t>PIN</a:t>
                      </a:r>
                      <a:endParaRPr sz="1600">
                        <a:latin typeface="Times New Roman"/>
                        <a:cs typeface="Times New Roman"/>
                      </a:endParaRPr>
                    </a:p>
                    <a:p>
                      <a:pPr marL="97155">
                        <a:lnSpc>
                          <a:spcPct val="100000"/>
                        </a:lnSpc>
                        <a:spcBef>
                          <a:spcPts val="385"/>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Mẫu</a:t>
                      </a:r>
                      <a:r>
                        <a:rPr sz="1600" b="1" strike="sngStrike" spc="-90" dirty="0">
                          <a:solidFill>
                            <a:srgbClr val="FF0066"/>
                          </a:solidFill>
                          <a:latin typeface="Times New Roman"/>
                          <a:cs typeface="Times New Roman"/>
                        </a:rPr>
                        <a:t> </a:t>
                      </a:r>
                      <a:r>
                        <a:rPr sz="1600" b="1" strike="sngStrike" spc="-10" dirty="0">
                          <a:solidFill>
                            <a:srgbClr val="FF0066"/>
                          </a:solidFill>
                          <a:latin typeface="Times New Roman"/>
                          <a:cs typeface="Times New Roman"/>
                        </a:rPr>
                        <a:t>tin</a:t>
                      </a:r>
                      <a:endParaRPr sz="1600">
                        <a:latin typeface="Times New Roman"/>
                        <a:cs typeface="Times New Roman"/>
                      </a:endParaRPr>
                    </a:p>
                    <a:p>
                      <a:pPr marL="97155">
                        <a:lnSpc>
                          <a:spcPct val="100000"/>
                        </a:lnSpc>
                        <a:spcBef>
                          <a:spcPts val="390"/>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Bước</a:t>
                      </a:r>
                      <a:endParaRPr sz="1600">
                        <a:latin typeface="Times New Roman"/>
                        <a:cs typeface="Times New Roman"/>
                      </a:endParaRPr>
                    </a:p>
                    <a:p>
                      <a:pPr marL="98425" marR="1477645" indent="-1270">
                        <a:lnSpc>
                          <a:spcPct val="120000"/>
                        </a:lnSpc>
                      </a:pPr>
                      <a:r>
                        <a:rPr sz="1600" strike="sngStrike" spc="-395" dirty="0">
                          <a:solidFill>
                            <a:srgbClr val="FF0066"/>
                          </a:solidFill>
                          <a:latin typeface="Times New Roman"/>
                          <a:cs typeface="Times New Roman"/>
                        </a:rPr>
                        <a:t> </a:t>
                      </a:r>
                      <a:r>
                        <a:rPr sz="1600" b="1" strike="sngStrike" spc="-10">
                          <a:solidFill>
                            <a:srgbClr val="FF0066"/>
                          </a:solidFill>
                          <a:latin typeface="Times New Roman"/>
                          <a:cs typeface="Times New Roman"/>
                        </a:rPr>
                        <a:t>Hệ </a:t>
                      </a:r>
                      <a:r>
                        <a:rPr sz="1600" b="1" strike="sngStrike" spc="-5">
                          <a:solidFill>
                            <a:srgbClr val="FF0066"/>
                          </a:solidFill>
                          <a:latin typeface="Times New Roman"/>
                          <a:cs typeface="Times New Roman"/>
                        </a:rPr>
                        <a:t>thống</a:t>
                      </a:r>
                      <a:r>
                        <a:rPr lang="en-US" sz="1600" b="1" strike="sngStrike" spc="-5">
                          <a:solidFill>
                            <a:srgbClr val="FF0066"/>
                          </a:solidFill>
                          <a:latin typeface="Times New Roman"/>
                          <a:cs typeface="Times New Roman"/>
                        </a:rPr>
                        <a:t> </a:t>
                      </a:r>
                      <a:r>
                        <a:rPr sz="1600" b="1" strike="noStrike" spc="-5">
                          <a:solidFill>
                            <a:schemeClr val="tx1"/>
                          </a:solidFill>
                          <a:latin typeface="Times New Roman"/>
                          <a:cs typeface="Times New Roman"/>
                        </a:rPr>
                        <a:t>Giao</a:t>
                      </a:r>
                      <a:r>
                        <a:rPr sz="1600" b="1" strike="noStrike" spc="-65">
                          <a:solidFill>
                            <a:schemeClr val="tx1"/>
                          </a:solidFill>
                          <a:latin typeface="Times New Roman"/>
                          <a:cs typeface="Times New Roman"/>
                        </a:rPr>
                        <a:t> </a:t>
                      </a:r>
                      <a:r>
                        <a:rPr sz="1600" b="1" strike="noStrike" spc="-10" dirty="0">
                          <a:solidFill>
                            <a:schemeClr val="tx1"/>
                          </a:solidFill>
                          <a:latin typeface="Times New Roman"/>
                          <a:cs typeface="Times New Roman"/>
                        </a:rPr>
                        <a:t>dịch</a:t>
                      </a:r>
                      <a:endParaRPr sz="1600">
                        <a:solidFill>
                          <a:schemeClr val="tx1"/>
                        </a:solidFill>
                        <a:latin typeface="Times New Roman"/>
                        <a:cs typeface="Times New Roman"/>
                      </a:endParaRPr>
                    </a:p>
                    <a:p>
                      <a:pPr marL="97155">
                        <a:lnSpc>
                          <a:spcPct val="100000"/>
                        </a:lnSpc>
                        <a:spcBef>
                          <a:spcPts val="380"/>
                        </a:spcBef>
                      </a:pPr>
                      <a:r>
                        <a:rPr sz="1600" strike="sngStrike" spc="-395" dirty="0">
                          <a:solidFill>
                            <a:srgbClr val="FF0066"/>
                          </a:solidFill>
                          <a:latin typeface="Times New Roman"/>
                          <a:cs typeface="Times New Roman"/>
                        </a:rPr>
                        <a:t> </a:t>
                      </a:r>
                      <a:r>
                        <a:rPr sz="1600" b="1" strike="sngStrike" spc="-5" dirty="0">
                          <a:solidFill>
                            <a:srgbClr val="FF0066"/>
                          </a:solidFill>
                          <a:latin typeface="Times New Roman"/>
                          <a:cs typeface="Times New Roman"/>
                        </a:rPr>
                        <a:t>Lịch sử giao</a:t>
                      </a:r>
                      <a:r>
                        <a:rPr sz="1600" b="1" strike="sngStrike" spc="10" dirty="0">
                          <a:solidFill>
                            <a:srgbClr val="FF0066"/>
                          </a:solidFill>
                          <a:latin typeface="Times New Roman"/>
                          <a:cs typeface="Times New Roman"/>
                        </a:rPr>
                        <a:t> </a:t>
                      </a:r>
                      <a:r>
                        <a:rPr sz="1600" b="1" strike="sngStrike" spc="-10" dirty="0">
                          <a:solidFill>
                            <a:srgbClr val="FF0066"/>
                          </a:solidFill>
                          <a:latin typeface="Times New Roman"/>
                          <a:cs typeface="Times New Roman"/>
                        </a:rPr>
                        <a:t>dịch</a:t>
                      </a:r>
                      <a:endParaRPr sz="1600">
                        <a:latin typeface="Times New Roman"/>
                        <a:cs typeface="Times New Roman"/>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30902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51747"/>
            <a:ext cx="12192000" cy="5682067"/>
          </a:xfrm>
          <a:prstGeom prst="rect">
            <a:avLst/>
          </a:prstGeom>
        </p:spPr>
        <p:txBody>
          <a:bodyPr vert="horz" wrap="square" lIns="0" tIns="104139" rIns="0" bIns="0" rtlCol="0">
            <a:spAutoFit/>
          </a:bodyPr>
          <a:lstStyle/>
          <a:p>
            <a:pPr marL="469900" indent="-457200" algn="just">
              <a:lnSpc>
                <a:spcPct val="150000"/>
              </a:lnSpc>
              <a:spcBef>
                <a:spcPts val="819"/>
              </a:spcBef>
              <a:buSzPct val="100000"/>
              <a:buFont typeface="Wingdings" panose="05000000000000000000" pitchFamily="2" charset="2"/>
              <a:buChar char="§"/>
            </a:pPr>
            <a:r>
              <a:rPr sz="2800" b="1" spc="-30" dirty="0">
                <a:solidFill>
                  <a:srgbClr val="FF0000"/>
                </a:solidFill>
                <a:latin typeface="Times New Roman" panose="02020603050405020304" pitchFamily="18" charset="0"/>
                <a:cs typeface="Times New Roman" panose="02020603050405020304" pitchFamily="18" charset="0"/>
              </a:rPr>
              <a:t>Tiếp </a:t>
            </a:r>
            <a:r>
              <a:rPr sz="2800" b="1" dirty="0">
                <a:solidFill>
                  <a:srgbClr val="FF0000"/>
                </a:solidFill>
                <a:latin typeface="Times New Roman" panose="02020603050405020304" pitchFamily="18" charset="0"/>
                <a:cs typeface="Times New Roman" panose="02020603050405020304" pitchFamily="18" charset="0"/>
              </a:rPr>
              <a:t>cận </a:t>
            </a:r>
            <a:r>
              <a:rPr sz="2800" b="1" spc="-5" dirty="0">
                <a:solidFill>
                  <a:srgbClr val="FF0000"/>
                </a:solidFill>
                <a:latin typeface="Times New Roman" panose="02020603050405020304" pitchFamily="18" charset="0"/>
                <a:cs typeface="Times New Roman" panose="02020603050405020304" pitchFamily="18" charset="0"/>
              </a:rPr>
              <a:t>theo </a:t>
            </a:r>
            <a:r>
              <a:rPr sz="2800" b="1" dirty="0">
                <a:solidFill>
                  <a:srgbClr val="FF0000"/>
                </a:solidFill>
                <a:latin typeface="Times New Roman" panose="02020603050405020304" pitchFamily="18" charset="0"/>
                <a:cs typeface="Times New Roman" panose="02020603050405020304" pitchFamily="18" charset="0"/>
              </a:rPr>
              <a:t>cụm </a:t>
            </a:r>
            <a:r>
              <a:rPr sz="2800" b="1" spc="-5" dirty="0">
                <a:solidFill>
                  <a:srgbClr val="FF0000"/>
                </a:solidFill>
                <a:latin typeface="Times New Roman" panose="02020603050405020304" pitchFamily="18" charset="0"/>
                <a:cs typeface="Times New Roman" panose="02020603050405020304" pitchFamily="18" charset="0"/>
              </a:rPr>
              <a:t>danh </a:t>
            </a:r>
            <a:r>
              <a:rPr sz="2800" b="1" dirty="0">
                <a:solidFill>
                  <a:srgbClr val="FF0000"/>
                </a:solidFill>
                <a:latin typeface="Times New Roman" panose="02020603050405020304" pitchFamily="18" charset="0"/>
                <a:cs typeface="Times New Roman" panose="02020603050405020304" pitchFamily="18" charset="0"/>
              </a:rPr>
              <a:t>từ (</a:t>
            </a:r>
            <a:r>
              <a:rPr sz="2800" b="1">
                <a:solidFill>
                  <a:srgbClr val="FF0000"/>
                </a:solidFill>
                <a:latin typeface="Times New Roman" panose="02020603050405020304" pitchFamily="18" charset="0"/>
                <a:cs typeface="Times New Roman" panose="02020603050405020304" pitchFamily="18" charset="0"/>
              </a:rPr>
              <a:t>noun</a:t>
            </a:r>
            <a:r>
              <a:rPr sz="2800" b="1" spc="30">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a:t>
            </a:r>
            <a:r>
              <a:rPr lang="en-US" sz="2800" b="1" spc="-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phrase</a:t>
            </a:r>
            <a:r>
              <a:rPr sz="2800" b="1" spc="-5" dirty="0">
                <a:solidFill>
                  <a:srgbClr val="FF0000"/>
                </a:solidFill>
                <a:latin typeface="Times New Roman" panose="02020603050405020304" pitchFamily="18" charset="0"/>
                <a:cs typeface="Times New Roman" panose="02020603050405020304" pitchFamily="18" charset="0"/>
              </a:rPr>
              <a:t>)</a:t>
            </a:r>
            <a:endParaRPr sz="2800" b="1" dirty="0">
              <a:solidFill>
                <a:srgbClr val="FF0000"/>
              </a:solidFill>
              <a:latin typeface="Times New Roman" panose="02020603050405020304" pitchFamily="18" charset="0"/>
              <a:cs typeface="Times New Roman" panose="02020603050405020304" pitchFamily="18" charset="0"/>
            </a:endParaRPr>
          </a:p>
          <a:p>
            <a:pPr marL="720725" lvl="1" indent="-342900" algn="just">
              <a:lnSpc>
                <a:spcPct val="150000"/>
              </a:lnSpc>
              <a:spcBef>
                <a:spcPts val="610"/>
              </a:spcBef>
              <a:buSzPct val="100000"/>
              <a:buFont typeface="Arial" panose="020B0604020202020204" pitchFamily="34" charset="0"/>
              <a:buChar char="•"/>
            </a:pPr>
            <a:r>
              <a:rPr sz="2200" dirty="0">
                <a:latin typeface="Times New Roman" panose="02020603050405020304" pitchFamily="18" charset="0"/>
                <a:cs typeface="Times New Roman" panose="02020603050405020304" pitchFamily="18" charset="0"/>
              </a:rPr>
              <a:t>Kết </a:t>
            </a:r>
            <a:r>
              <a:rPr sz="2200" spc="-5" dirty="0">
                <a:latin typeface="Times New Roman" panose="02020603050405020304" pitchFamily="18" charset="0"/>
                <a:cs typeface="Times New Roman" panose="02020603050405020304" pitchFamily="18" charset="0"/>
              </a:rPr>
              <a:t>quả </a:t>
            </a:r>
            <a:r>
              <a:rPr sz="2200" dirty="0">
                <a:latin typeface="Times New Roman" panose="02020603050405020304" pitchFamily="18" charset="0"/>
                <a:cs typeface="Times New Roman" panose="02020603050405020304" pitchFamily="18" charset="0"/>
              </a:rPr>
              <a:t>các </a:t>
            </a:r>
            <a:r>
              <a:rPr sz="2200" spc="-5" dirty="0">
                <a:latin typeface="Times New Roman" panose="02020603050405020304" pitchFamily="18" charset="0"/>
                <a:cs typeface="Times New Roman" panose="02020603050405020304" pitchFamily="18" charset="0"/>
              </a:rPr>
              <a:t>lớp </a:t>
            </a:r>
            <a:r>
              <a:rPr sz="2200" dirty="0">
                <a:latin typeface="Times New Roman" panose="02020603050405020304" pitchFamily="18" charset="0"/>
                <a:cs typeface="Times New Roman" panose="02020603050405020304" pitchFamily="18" charset="0"/>
              </a:rPr>
              <a:t>được xác</a:t>
            </a:r>
            <a:r>
              <a:rPr sz="2200" spc="-10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định:</a:t>
            </a:r>
            <a:endParaRPr sz="2200" dirty="0">
              <a:latin typeface="Times New Roman" panose="02020603050405020304" pitchFamily="18" charset="0"/>
              <a:cs typeface="Times New Roman" panose="02020603050405020304" pitchFamily="18" charset="0"/>
            </a:endParaRPr>
          </a:p>
          <a:p>
            <a:pPr marL="909637" lvl="2" indent="-342900" algn="just">
              <a:lnSpc>
                <a:spcPct val="130000"/>
              </a:lnSpc>
              <a:spcBef>
                <a:spcPts val="509"/>
              </a:spcBef>
              <a:buSzPct val="100000"/>
              <a:buFont typeface="Wingdings" panose="05000000000000000000" pitchFamily="2" charset="2"/>
              <a:buChar char="ü"/>
            </a:pPr>
            <a:r>
              <a:rPr sz="2200" b="1" spc="-5" dirty="0">
                <a:solidFill>
                  <a:srgbClr val="FF0000"/>
                </a:solidFill>
                <a:latin typeface="Times New Roman" panose="02020603050405020304" pitchFamily="18" charset="0"/>
                <a:cs typeface="Times New Roman" panose="02020603050405020304" pitchFamily="18" charset="0"/>
              </a:rPr>
              <a:t>Máy </a:t>
            </a:r>
            <a:r>
              <a:rPr sz="2200" b="1" spc="-50" dirty="0">
                <a:solidFill>
                  <a:srgbClr val="FF0000"/>
                </a:solidFill>
                <a:latin typeface="Times New Roman" panose="02020603050405020304" pitchFamily="18" charset="0"/>
                <a:cs typeface="Times New Roman" panose="02020603050405020304" pitchFamily="18" charset="0"/>
              </a:rPr>
              <a:t>ATM: </a:t>
            </a:r>
            <a:r>
              <a:rPr sz="2200" spc="-5" dirty="0">
                <a:latin typeface="Times New Roman" panose="02020603050405020304" pitchFamily="18" charset="0"/>
                <a:cs typeface="Times New Roman" panose="02020603050405020304" pitchFamily="18" charset="0"/>
              </a:rPr>
              <a:t>cung </a:t>
            </a:r>
            <a:r>
              <a:rPr sz="2200" dirty="0">
                <a:latin typeface="Times New Roman" panose="02020603050405020304" pitchFamily="18" charset="0"/>
                <a:cs typeface="Times New Roman" panose="02020603050405020304" pitchFamily="18" charset="0"/>
              </a:rPr>
              <a:t>cấp một </a:t>
            </a:r>
            <a:r>
              <a:rPr sz="2200" spc="-5" dirty="0">
                <a:latin typeface="Times New Roman" panose="02020603050405020304" pitchFamily="18" charset="0"/>
                <a:cs typeface="Times New Roman" panose="02020603050405020304" pitchFamily="18" charset="0"/>
              </a:rPr>
              <a:t>giao diện </a:t>
            </a:r>
            <a:r>
              <a:rPr sz="2200" dirty="0">
                <a:latin typeface="Times New Roman" panose="02020603050405020304" pitchFamily="18" charset="0"/>
                <a:cs typeface="Times New Roman" panose="02020603050405020304" pitchFamily="18" charset="0"/>
              </a:rPr>
              <a:t>tới </a:t>
            </a:r>
            <a:r>
              <a:rPr sz="2200" spc="-5">
                <a:latin typeface="Times New Roman" panose="02020603050405020304" pitchFamily="18" charset="0"/>
                <a:cs typeface="Times New Roman" panose="02020603050405020304" pitchFamily="18" charset="0"/>
              </a:rPr>
              <a:t>ngân</a:t>
            </a:r>
            <a:r>
              <a:rPr sz="2200" spc="30">
                <a:latin typeface="Times New Roman" panose="02020603050405020304" pitchFamily="18" charset="0"/>
                <a:cs typeface="Times New Roman" panose="02020603050405020304" pitchFamily="18" charset="0"/>
              </a:rPr>
              <a:t> </a:t>
            </a:r>
            <a:r>
              <a:rPr sz="2200" spc="-10">
                <a:latin typeface="Times New Roman" panose="02020603050405020304" pitchFamily="18" charset="0"/>
                <a:cs typeface="Times New Roman" panose="02020603050405020304" pitchFamily="18" charset="0"/>
              </a:rPr>
              <a:t>hàng</a:t>
            </a:r>
            <a:endParaRPr sz="2200" dirty="0">
              <a:latin typeface="Times New Roman" panose="02020603050405020304" pitchFamily="18" charset="0"/>
              <a:cs typeface="Times New Roman" panose="02020603050405020304" pitchFamily="18" charset="0"/>
            </a:endParaRPr>
          </a:p>
          <a:p>
            <a:pPr marL="909637" lvl="2" indent="-342900" algn="just">
              <a:lnSpc>
                <a:spcPct val="130000"/>
              </a:lnSpc>
              <a:spcBef>
                <a:spcPts val="490"/>
              </a:spcBef>
              <a:buSzPct val="100000"/>
              <a:buFont typeface="Wingdings" panose="05000000000000000000" pitchFamily="2" charset="2"/>
              <a:buChar char="ü"/>
            </a:pPr>
            <a:r>
              <a:rPr sz="2200" b="1" dirty="0">
                <a:solidFill>
                  <a:srgbClr val="FF0000"/>
                </a:solidFill>
                <a:latin typeface="Times New Roman" panose="02020603050405020304" pitchFamily="18" charset="0"/>
                <a:cs typeface="Times New Roman" panose="02020603050405020304" pitchFamily="18" charset="0"/>
              </a:rPr>
              <a:t>Thẻ </a:t>
            </a:r>
            <a:r>
              <a:rPr sz="2200" b="1" spc="-45" dirty="0">
                <a:solidFill>
                  <a:srgbClr val="FF0000"/>
                </a:solidFill>
                <a:latin typeface="Times New Roman" panose="02020603050405020304" pitchFamily="18" charset="0"/>
                <a:cs typeface="Times New Roman" panose="02020603050405020304" pitchFamily="18" charset="0"/>
              </a:rPr>
              <a:t>ATM</a:t>
            </a:r>
            <a:r>
              <a:rPr sz="2200" spc="-45" dirty="0">
                <a:solidFill>
                  <a:srgbClr val="FF0000"/>
                </a:solidFill>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cung </a:t>
            </a:r>
            <a:r>
              <a:rPr sz="2200" dirty="0">
                <a:latin typeface="Times New Roman" panose="02020603050405020304" pitchFamily="18" charset="0"/>
                <a:cs typeface="Times New Roman" panose="02020603050405020304" pitchFamily="18" charset="0"/>
              </a:rPr>
              <a:t>cấp một </a:t>
            </a:r>
            <a:r>
              <a:rPr sz="2200" spc="-5" dirty="0">
                <a:latin typeface="Times New Roman" panose="02020603050405020304" pitchFamily="18" charset="0"/>
                <a:cs typeface="Times New Roman" panose="02020603050405020304" pitchFamily="18" charset="0"/>
              </a:rPr>
              <a:t>khách </a:t>
            </a:r>
            <a:r>
              <a:rPr sz="2200" spc="-10" dirty="0">
                <a:latin typeface="Times New Roman" panose="02020603050405020304" pitchFamily="18" charset="0"/>
                <a:cs typeface="Times New Roman" panose="02020603050405020304" pitchFamily="18" charset="0"/>
              </a:rPr>
              <a:t>hàng </a:t>
            </a:r>
            <a:r>
              <a:rPr sz="2200" dirty="0">
                <a:latin typeface="Times New Roman" panose="02020603050405020304" pitchFamily="18" charset="0"/>
                <a:cs typeface="Times New Roman" panose="02020603050405020304" pitchFamily="18" charset="0"/>
              </a:rPr>
              <a:t>với một </a:t>
            </a:r>
            <a:r>
              <a:rPr sz="2200" spc="-5" dirty="0">
                <a:latin typeface="Times New Roman" panose="02020603050405020304" pitchFamily="18" charset="0"/>
                <a:cs typeface="Times New Roman" panose="02020603050405020304" pitchFamily="18" charset="0"/>
              </a:rPr>
              <a:t>khoá </a:t>
            </a:r>
            <a:r>
              <a:rPr sz="2200" dirty="0">
                <a:latin typeface="Times New Roman" panose="02020603050405020304" pitchFamily="18" charset="0"/>
                <a:cs typeface="Times New Roman" panose="02020603050405020304" pitchFamily="18" charset="0"/>
              </a:rPr>
              <a:t>tới một </a:t>
            </a:r>
            <a:r>
              <a:rPr sz="2200">
                <a:latin typeface="Times New Roman" panose="02020603050405020304" pitchFamily="18" charset="0"/>
                <a:cs typeface="Times New Roman" panose="02020603050405020304" pitchFamily="18" charset="0"/>
              </a:rPr>
              <a:t>tài</a:t>
            </a:r>
            <a:r>
              <a:rPr sz="2200" spc="-20">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khoản</a:t>
            </a:r>
            <a:endParaRPr sz="2200" dirty="0">
              <a:latin typeface="Times New Roman" panose="02020603050405020304" pitchFamily="18" charset="0"/>
              <a:cs typeface="Times New Roman" panose="02020603050405020304" pitchFamily="18" charset="0"/>
            </a:endParaRPr>
          </a:p>
          <a:p>
            <a:pPr marL="909637" marR="45085" lvl="2" indent="-342900" algn="just">
              <a:lnSpc>
                <a:spcPct val="130000"/>
              </a:lnSpc>
              <a:spcBef>
                <a:spcPts val="505"/>
              </a:spcBef>
              <a:buSzPct val="100000"/>
              <a:buFont typeface="Wingdings" panose="05000000000000000000" pitchFamily="2" charset="2"/>
              <a:buChar char="ü"/>
            </a:pPr>
            <a:r>
              <a:rPr sz="2200" b="1" spc="-5" dirty="0">
                <a:solidFill>
                  <a:srgbClr val="FF0000"/>
                </a:solidFill>
                <a:latin typeface="Times New Roman" panose="02020603050405020304" pitchFamily="18" charset="0"/>
                <a:cs typeface="Times New Roman" panose="02020603050405020304" pitchFamily="18" charset="0"/>
              </a:rPr>
              <a:t>Khách </a:t>
            </a:r>
            <a:r>
              <a:rPr sz="2200" b="1" dirty="0">
                <a:solidFill>
                  <a:srgbClr val="FF0000"/>
                </a:solidFill>
                <a:latin typeface="Times New Roman" panose="02020603050405020304" pitchFamily="18" charset="0"/>
                <a:cs typeface="Times New Roman" panose="02020603050405020304" pitchFamily="18" charset="0"/>
              </a:rPr>
              <a:t>hàng</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một khách hàng là </a:t>
            </a:r>
            <a:r>
              <a:rPr sz="2200" dirty="0">
                <a:latin typeface="Times New Roman" panose="02020603050405020304" pitchFamily="18" charset="0"/>
                <a:cs typeface="Times New Roman" panose="02020603050405020304" pitchFamily="18" charset="0"/>
              </a:rPr>
              <a:t>một cá </a:t>
            </a:r>
            <a:r>
              <a:rPr sz="2200" spc="-10" dirty="0">
                <a:latin typeface="Times New Roman" panose="02020603050405020304" pitchFamily="18" charset="0"/>
                <a:cs typeface="Times New Roman" panose="02020603050405020304" pitchFamily="18" charset="0"/>
              </a:rPr>
              <a:t>nhân </a:t>
            </a:r>
            <a:r>
              <a:rPr sz="2200" dirty="0">
                <a:latin typeface="Times New Roman" panose="02020603050405020304" pitchFamily="18" charset="0"/>
                <a:cs typeface="Times New Roman" panose="02020603050405020304" pitchFamily="18" charset="0"/>
              </a:rPr>
              <a:t>sử </a:t>
            </a:r>
            <a:r>
              <a:rPr sz="2200" spc="-10" dirty="0">
                <a:latin typeface="Times New Roman" panose="02020603050405020304" pitchFamily="18" charset="0"/>
                <a:cs typeface="Times New Roman" panose="02020603050405020304" pitchFamily="18" charset="0"/>
              </a:rPr>
              <a:t>dụng </a:t>
            </a:r>
            <a:r>
              <a:rPr sz="2200" dirty="0">
                <a:latin typeface="Times New Roman" panose="02020603050405020304" pitchFamily="18" charset="0"/>
                <a:cs typeface="Times New Roman" panose="02020603050405020304" pitchFamily="18" charset="0"/>
              </a:rPr>
              <a:t>máy </a:t>
            </a:r>
            <a:r>
              <a:rPr sz="2200" spc="-35" dirty="0">
                <a:latin typeface="Times New Roman" panose="02020603050405020304" pitchFamily="18" charset="0"/>
                <a:cs typeface="Times New Roman" panose="02020603050405020304" pitchFamily="18" charset="0"/>
              </a:rPr>
              <a:t>ATM</a:t>
            </a:r>
            <a:r>
              <a:rPr sz="2200" spc="-3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có</a:t>
            </a:r>
            <a:r>
              <a:rPr lang="en-US" sz="2200">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một tài</a:t>
            </a:r>
            <a:r>
              <a:rPr sz="2200" spc="-15">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khoản</a:t>
            </a:r>
            <a:endParaRPr sz="2200" dirty="0">
              <a:latin typeface="Times New Roman" panose="02020603050405020304" pitchFamily="18" charset="0"/>
              <a:cs typeface="Times New Roman" panose="02020603050405020304" pitchFamily="18" charset="0"/>
            </a:endParaRPr>
          </a:p>
          <a:p>
            <a:pPr marL="909637" marR="281940" lvl="2" indent="-342900" algn="just">
              <a:lnSpc>
                <a:spcPct val="130000"/>
              </a:lnSpc>
              <a:spcBef>
                <a:spcPts val="505"/>
              </a:spcBef>
              <a:buSzPct val="100000"/>
              <a:buFont typeface="Wingdings" panose="05000000000000000000" pitchFamily="2" charset="2"/>
              <a:buChar char="ü"/>
            </a:pPr>
            <a:r>
              <a:rPr sz="2200" b="1" spc="-5" dirty="0">
                <a:solidFill>
                  <a:srgbClr val="FF0000"/>
                </a:solidFill>
                <a:latin typeface="Times New Roman" panose="02020603050405020304" pitchFamily="18" charset="0"/>
                <a:cs typeface="Times New Roman" panose="02020603050405020304" pitchFamily="18" charset="0"/>
              </a:rPr>
              <a:t>Ngân </a:t>
            </a:r>
            <a:r>
              <a:rPr sz="2200" b="1" dirty="0">
                <a:solidFill>
                  <a:srgbClr val="FF0000"/>
                </a:solidFill>
                <a:latin typeface="Times New Roman" panose="02020603050405020304" pitchFamily="18" charset="0"/>
                <a:cs typeface="Times New Roman" panose="02020603050405020304" pitchFamily="18" charset="0"/>
              </a:rPr>
              <a:t>hàng</a:t>
            </a:r>
            <a:r>
              <a:rPr sz="2200" dirty="0">
                <a:solidFill>
                  <a:srgbClr val="FF0000"/>
                </a:solidFill>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các khách </a:t>
            </a:r>
            <a:r>
              <a:rPr sz="2200" spc="-5" dirty="0">
                <a:latin typeface="Times New Roman" panose="02020603050405020304" pitchFamily="18" charset="0"/>
                <a:cs typeface="Times New Roman" panose="02020603050405020304" pitchFamily="18" charset="0"/>
              </a:rPr>
              <a:t>hàng phụ thuộc </a:t>
            </a:r>
            <a:r>
              <a:rPr sz="2200" dirty="0">
                <a:latin typeface="Times New Roman" panose="02020603050405020304" pitchFamily="18" charset="0"/>
                <a:cs typeface="Times New Roman" panose="02020603050405020304" pitchFamily="18" charset="0"/>
              </a:rPr>
              <a:t>vào </a:t>
            </a:r>
            <a:r>
              <a:rPr sz="2200" spc="-5" dirty="0">
                <a:latin typeface="Times New Roman" panose="02020603050405020304" pitchFamily="18" charset="0"/>
                <a:cs typeface="Times New Roman" panose="02020603050405020304" pitchFamily="18" charset="0"/>
              </a:rPr>
              <a:t>ngân hàng. Nó </a:t>
            </a:r>
            <a:r>
              <a:rPr sz="2200" spc="-5">
                <a:latin typeface="Times New Roman" panose="02020603050405020304" pitchFamily="18" charset="0"/>
                <a:cs typeface="Times New Roman" panose="02020603050405020304" pitchFamily="18" charset="0"/>
              </a:rPr>
              <a:t>là </a:t>
            </a:r>
            <a:r>
              <a:rPr sz="2200">
                <a:latin typeface="Times New Roman" panose="02020603050405020304" pitchFamily="18" charset="0"/>
                <a:cs typeface="Times New Roman" panose="02020603050405020304" pitchFamily="18" charset="0"/>
              </a:rPr>
              <a:t>một</a:t>
            </a:r>
            <a:r>
              <a:rPr lang="en-US" sz="2200">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nơi </a:t>
            </a:r>
            <a:r>
              <a:rPr sz="2200" dirty="0">
                <a:latin typeface="Times New Roman" panose="02020603050405020304" pitchFamily="18" charset="0"/>
                <a:cs typeface="Times New Roman" panose="02020603050405020304" pitchFamily="18" charset="0"/>
              </a:rPr>
              <a:t>tập </a:t>
            </a:r>
            <a:r>
              <a:rPr sz="2200" spc="-5" dirty="0">
                <a:latin typeface="Times New Roman" panose="02020603050405020304" pitchFamily="18" charset="0"/>
                <a:cs typeface="Times New Roman" panose="02020603050405020304" pitchFamily="18" charset="0"/>
              </a:rPr>
              <a:t>trung </a:t>
            </a:r>
            <a:r>
              <a:rPr sz="2200" dirty="0">
                <a:latin typeface="Times New Roman" panose="02020603050405020304" pitchFamily="18" charset="0"/>
                <a:cs typeface="Times New Roman" panose="02020603050405020304" pitchFamily="18" charset="0"/>
              </a:rPr>
              <a:t>các tài </a:t>
            </a:r>
            <a:r>
              <a:rPr sz="2200" spc="-5" dirty="0">
                <a:latin typeface="Times New Roman" panose="02020603050405020304" pitchFamily="18" charset="0"/>
                <a:cs typeface="Times New Roman" panose="02020603050405020304" pitchFamily="18" charset="0"/>
              </a:rPr>
              <a:t>khoản </a:t>
            </a:r>
            <a:r>
              <a:rPr sz="2200" dirty="0">
                <a:latin typeface="Times New Roman" panose="02020603050405020304" pitchFamily="18" charset="0"/>
                <a:cs typeface="Times New Roman" panose="02020603050405020304" pitchFamily="18" charset="0"/>
              </a:rPr>
              <a:t>và </a:t>
            </a:r>
            <a:r>
              <a:rPr sz="2200" spc="-10" dirty="0">
                <a:latin typeface="Times New Roman" panose="02020603050405020304" pitchFamily="18" charset="0"/>
                <a:cs typeface="Times New Roman" panose="02020603050405020304" pitchFamily="18" charset="0"/>
              </a:rPr>
              <a:t>xử </a:t>
            </a:r>
            <a:r>
              <a:rPr sz="2200" spc="-5" dirty="0">
                <a:latin typeface="Times New Roman" panose="02020603050405020304" pitchFamily="18" charset="0"/>
                <a:cs typeface="Times New Roman" panose="02020603050405020304" pitchFamily="18" charset="0"/>
              </a:rPr>
              <a:t>lý các giao dịch </a:t>
            </a:r>
            <a:r>
              <a:rPr sz="2200">
                <a:latin typeface="Times New Roman" panose="02020603050405020304" pitchFamily="18" charset="0"/>
                <a:cs typeface="Times New Roman" panose="02020603050405020304" pitchFamily="18" charset="0"/>
              </a:rPr>
              <a:t>tài</a:t>
            </a:r>
            <a:r>
              <a:rPr sz="2200" spc="25">
                <a:latin typeface="Times New Roman" panose="02020603050405020304" pitchFamily="18" charset="0"/>
                <a:cs typeface="Times New Roman" panose="02020603050405020304" pitchFamily="18" charset="0"/>
              </a:rPr>
              <a:t> </a:t>
            </a:r>
            <a:r>
              <a:rPr sz="2200" spc="-10">
                <a:latin typeface="Times New Roman" panose="02020603050405020304" pitchFamily="18" charset="0"/>
                <a:cs typeface="Times New Roman" panose="02020603050405020304" pitchFamily="18" charset="0"/>
              </a:rPr>
              <a:t>khoản</a:t>
            </a:r>
            <a:endParaRPr sz="2200" dirty="0">
              <a:latin typeface="Times New Roman" panose="02020603050405020304" pitchFamily="18" charset="0"/>
              <a:cs typeface="Times New Roman" panose="02020603050405020304" pitchFamily="18" charset="0"/>
            </a:endParaRPr>
          </a:p>
          <a:p>
            <a:pPr marL="909637" marR="193040" lvl="2" indent="-342900" algn="just">
              <a:lnSpc>
                <a:spcPct val="130000"/>
              </a:lnSpc>
              <a:spcBef>
                <a:spcPts val="495"/>
              </a:spcBef>
              <a:buSzPct val="100000"/>
              <a:buFont typeface="Wingdings" panose="05000000000000000000" pitchFamily="2" charset="2"/>
              <a:buChar char="ü"/>
            </a:pPr>
            <a:r>
              <a:rPr sz="2200" b="1" dirty="0">
                <a:solidFill>
                  <a:srgbClr val="FF0000"/>
                </a:solidFill>
                <a:latin typeface="Times New Roman" panose="02020603050405020304" pitchFamily="18" charset="0"/>
                <a:cs typeface="Times New Roman" panose="02020603050405020304" pitchFamily="18" charset="0"/>
              </a:rPr>
              <a:t>Tài </a:t>
            </a:r>
            <a:r>
              <a:rPr sz="2200" b="1" spc="-5" dirty="0">
                <a:solidFill>
                  <a:srgbClr val="FF0000"/>
                </a:solidFill>
                <a:latin typeface="Times New Roman" panose="02020603050405020304" pitchFamily="18" charset="0"/>
                <a:cs typeface="Times New Roman" panose="02020603050405020304" pitchFamily="18" charset="0"/>
              </a:rPr>
              <a:t>khoản</a:t>
            </a:r>
            <a:r>
              <a:rPr sz="2200" spc="-5" dirty="0">
                <a:solidFill>
                  <a:srgbClr val="FF0000"/>
                </a:solidFill>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nó </a:t>
            </a:r>
            <a:r>
              <a:rPr sz="2200" dirty="0">
                <a:latin typeface="Times New Roman" panose="02020603050405020304" pitchFamily="18" charset="0"/>
                <a:cs typeface="Times New Roman" panose="02020603050405020304" pitchFamily="18" charset="0"/>
              </a:rPr>
              <a:t>mô </a:t>
            </a:r>
            <a:r>
              <a:rPr sz="2200" spc="-5" dirty="0">
                <a:latin typeface="Times New Roman" panose="02020603050405020304" pitchFamily="18" charset="0"/>
                <a:cs typeface="Times New Roman" panose="02020603050405020304" pitchFamily="18" charset="0"/>
              </a:rPr>
              <a:t>hình hoá </a:t>
            </a:r>
            <a:r>
              <a:rPr sz="2200" dirty="0">
                <a:latin typeface="Times New Roman" panose="02020603050405020304" pitchFamily="18" charset="0"/>
                <a:cs typeface="Times New Roman" panose="02020603050405020304" pitchFamily="18" charset="0"/>
              </a:rPr>
              <a:t>một tài </a:t>
            </a:r>
            <a:r>
              <a:rPr sz="2200" spc="-5" dirty="0">
                <a:latin typeface="Times New Roman" panose="02020603050405020304" pitchFamily="18" charset="0"/>
                <a:cs typeface="Times New Roman" panose="02020603050405020304" pitchFamily="18" charset="0"/>
              </a:rPr>
              <a:t>khoản </a:t>
            </a:r>
            <a:r>
              <a:rPr sz="2200" dirty="0">
                <a:latin typeface="Times New Roman" panose="02020603050405020304" pitchFamily="18" charset="0"/>
                <a:cs typeface="Times New Roman" panose="02020603050405020304" pitchFamily="18" charset="0"/>
              </a:rPr>
              <a:t>của </a:t>
            </a:r>
            <a:r>
              <a:rPr sz="2200" spc="-5" dirty="0">
                <a:latin typeface="Times New Roman" panose="02020603050405020304" pitchFamily="18" charset="0"/>
                <a:cs typeface="Times New Roman" panose="02020603050405020304" pitchFamily="18" charset="0"/>
              </a:rPr>
              <a:t>khách </a:t>
            </a:r>
            <a:r>
              <a:rPr sz="2200" spc="-10" dirty="0">
                <a:latin typeface="Times New Roman" panose="02020603050405020304" pitchFamily="18" charset="0"/>
                <a:cs typeface="Times New Roman" panose="02020603050405020304" pitchFamily="18" charset="0"/>
              </a:rPr>
              <a:t>hàng </a:t>
            </a:r>
            <a:r>
              <a:rPr sz="2200">
                <a:latin typeface="Times New Roman" panose="02020603050405020304" pitchFamily="18" charset="0"/>
                <a:cs typeface="Times New Roman" panose="02020603050405020304" pitchFamily="18" charset="0"/>
              </a:rPr>
              <a:t>và </a:t>
            </a:r>
            <a:r>
              <a:rPr sz="2200" spc="-5">
                <a:latin typeface="Times New Roman" panose="02020603050405020304" pitchFamily="18" charset="0"/>
                <a:cs typeface="Times New Roman" panose="02020603050405020304" pitchFamily="18" charset="0"/>
              </a:rPr>
              <a:t>cung</a:t>
            </a:r>
            <a:r>
              <a:rPr lang="en-US" sz="2200" spc="-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cấp </a:t>
            </a:r>
            <a:r>
              <a:rPr sz="2200" dirty="0">
                <a:latin typeface="Times New Roman" panose="02020603050405020304" pitchFamily="18" charset="0"/>
                <a:cs typeface="Times New Roman" panose="02020603050405020304" pitchFamily="18" charset="0"/>
              </a:rPr>
              <a:t>các </a:t>
            </a:r>
            <a:r>
              <a:rPr sz="2200" spc="-5" dirty="0">
                <a:latin typeface="Times New Roman" panose="02020603050405020304" pitchFamily="18" charset="0"/>
                <a:cs typeface="Times New Roman" panose="02020603050405020304" pitchFamily="18" charset="0"/>
              </a:rPr>
              <a:t>dịch </a:t>
            </a:r>
            <a:r>
              <a:rPr sz="2200" dirty="0">
                <a:latin typeface="Times New Roman" panose="02020603050405020304" pitchFamily="18" charset="0"/>
                <a:cs typeface="Times New Roman" panose="02020603050405020304" pitchFamily="18" charset="0"/>
              </a:rPr>
              <a:t>vụ về tài </a:t>
            </a:r>
            <a:r>
              <a:rPr sz="2200" spc="-5" dirty="0">
                <a:latin typeface="Times New Roman" panose="02020603050405020304" pitchFamily="18" charset="0"/>
                <a:cs typeface="Times New Roman" panose="02020603050405020304" pitchFamily="18" charset="0"/>
              </a:rPr>
              <a:t>khoản </a:t>
            </a:r>
            <a:r>
              <a:rPr sz="2200" dirty="0">
                <a:latin typeface="Times New Roman" panose="02020603050405020304" pitchFamily="18" charset="0"/>
                <a:cs typeface="Times New Roman" panose="02020603050405020304" pitchFamily="18" charset="0"/>
              </a:rPr>
              <a:t>cho </a:t>
            </a:r>
            <a:r>
              <a:rPr sz="2200" spc="-5">
                <a:latin typeface="Times New Roman" panose="02020603050405020304" pitchFamily="18" charset="0"/>
                <a:cs typeface="Times New Roman" panose="02020603050405020304" pitchFamily="18" charset="0"/>
              </a:rPr>
              <a:t>khách</a:t>
            </a:r>
            <a:r>
              <a:rPr sz="2200" spc="-30">
                <a:latin typeface="Times New Roman" panose="02020603050405020304" pitchFamily="18" charset="0"/>
                <a:cs typeface="Times New Roman" panose="02020603050405020304" pitchFamily="18" charset="0"/>
              </a:rPr>
              <a:t> </a:t>
            </a:r>
            <a:r>
              <a:rPr sz="2200" spc="-10">
                <a:latin typeface="Times New Roman" panose="02020603050405020304" pitchFamily="18" charset="0"/>
                <a:cs typeface="Times New Roman" panose="02020603050405020304" pitchFamily="18" charset="0"/>
              </a:rPr>
              <a:t>hàng</a:t>
            </a:r>
            <a:endParaRPr sz="2200" dirty="0">
              <a:latin typeface="Times New Roman" panose="02020603050405020304" pitchFamily="18" charset="0"/>
              <a:cs typeface="Times New Roman" panose="02020603050405020304" pitchFamily="18" charset="0"/>
            </a:endParaRPr>
          </a:p>
          <a:p>
            <a:pPr marL="909637" marR="5080" lvl="2" indent="-342900" algn="just">
              <a:lnSpc>
                <a:spcPct val="130000"/>
              </a:lnSpc>
              <a:spcBef>
                <a:spcPts val="505"/>
              </a:spcBef>
              <a:buSzPct val="100000"/>
              <a:buFont typeface="Wingdings" panose="05000000000000000000" pitchFamily="2" charset="2"/>
              <a:buChar char="ü"/>
            </a:pPr>
            <a:r>
              <a:rPr sz="2200" b="1" dirty="0">
                <a:solidFill>
                  <a:srgbClr val="FF0000"/>
                </a:solidFill>
                <a:latin typeface="Times New Roman" panose="02020603050405020304" pitchFamily="18" charset="0"/>
                <a:cs typeface="Times New Roman" panose="02020603050405020304" pitchFamily="18" charset="0"/>
              </a:rPr>
              <a:t>Giao dịch</a:t>
            </a:r>
            <a:r>
              <a:rPr sz="2200" dirty="0">
                <a:solidFill>
                  <a:srgbClr val="FF0000"/>
                </a:solidFill>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mô tả một </a:t>
            </a:r>
            <a:r>
              <a:rPr sz="2200" spc="-5" dirty="0">
                <a:latin typeface="Times New Roman" panose="02020603050405020304" pitchFamily="18" charset="0"/>
                <a:cs typeface="Times New Roman" panose="02020603050405020304" pitchFamily="18" charset="0"/>
              </a:rPr>
              <a:t>giao </a:t>
            </a:r>
            <a:r>
              <a:rPr sz="2200" dirty="0">
                <a:latin typeface="Times New Roman" panose="02020603050405020304" pitchFamily="18" charset="0"/>
                <a:cs typeface="Times New Roman" panose="02020603050405020304" pitchFamily="18" charset="0"/>
              </a:rPr>
              <a:t>tác của </a:t>
            </a:r>
            <a:r>
              <a:rPr sz="2200" spc="-5" dirty="0">
                <a:latin typeface="Times New Roman" panose="02020603050405020304" pitchFamily="18" charset="0"/>
                <a:cs typeface="Times New Roman" panose="02020603050405020304" pitchFamily="18" charset="0"/>
              </a:rPr>
              <a:t>khách hàng </a:t>
            </a:r>
            <a:r>
              <a:rPr sz="2200" dirty="0">
                <a:latin typeface="Times New Roman" panose="02020603050405020304" pitchFamily="18" charset="0"/>
                <a:cs typeface="Times New Roman" panose="02020603050405020304" pitchFamily="18" charset="0"/>
              </a:rPr>
              <a:t>khi sử </a:t>
            </a:r>
            <a:r>
              <a:rPr sz="2200" spc="-5" dirty="0">
                <a:latin typeface="Times New Roman" panose="02020603050405020304" pitchFamily="18" charset="0"/>
                <a:cs typeface="Times New Roman" panose="02020603050405020304" pitchFamily="18" charset="0"/>
              </a:rPr>
              <a:t>dụng </a:t>
            </a:r>
            <a:r>
              <a:rPr sz="2200" dirty="0">
                <a:latin typeface="Times New Roman" panose="02020603050405020304" pitchFamily="18" charset="0"/>
                <a:cs typeface="Times New Roman" panose="02020603050405020304" pitchFamily="18" charset="0"/>
              </a:rPr>
              <a:t>thẻ</a:t>
            </a:r>
            <a:r>
              <a:rPr sz="2200" spc="-185" dirty="0">
                <a:latin typeface="Times New Roman" panose="02020603050405020304" pitchFamily="18" charset="0"/>
                <a:cs typeface="Times New Roman" panose="02020603050405020304" pitchFamily="18" charset="0"/>
              </a:rPr>
              <a:t> </a:t>
            </a:r>
            <a:r>
              <a:rPr sz="2200" spc="-35">
                <a:latin typeface="Times New Roman" panose="02020603050405020304" pitchFamily="18" charset="0"/>
                <a:cs typeface="Times New Roman" panose="02020603050405020304" pitchFamily="18" charset="0"/>
              </a:rPr>
              <a:t>ATM.</a:t>
            </a:r>
            <a:r>
              <a:rPr lang="en-US" sz="2200" spc="-3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Một </a:t>
            </a:r>
            <a:r>
              <a:rPr sz="2200" spc="-5" dirty="0">
                <a:latin typeface="Times New Roman" panose="02020603050405020304" pitchFamily="18" charset="0"/>
                <a:cs typeface="Times New Roman" panose="02020603050405020304" pitchFamily="18" charset="0"/>
              </a:rPr>
              <a:t>giao </a:t>
            </a:r>
            <a:r>
              <a:rPr sz="2200" dirty="0">
                <a:latin typeface="Times New Roman" panose="02020603050405020304" pitchFamily="18" charset="0"/>
                <a:cs typeface="Times New Roman" panose="02020603050405020304" pitchFamily="18" charset="0"/>
              </a:rPr>
              <a:t>tác </a:t>
            </a:r>
            <a:r>
              <a:rPr sz="2200" spc="-5" dirty="0">
                <a:latin typeface="Times New Roman" panose="02020603050405020304" pitchFamily="18" charset="0"/>
                <a:cs typeface="Times New Roman" panose="02020603050405020304" pitchFamily="18" charset="0"/>
              </a:rPr>
              <a:t>được lưu </a:t>
            </a:r>
            <a:r>
              <a:rPr sz="2200" dirty="0">
                <a:latin typeface="Times New Roman" panose="02020603050405020304" pitchFamily="18" charset="0"/>
                <a:cs typeface="Times New Roman" panose="02020603050405020304" pitchFamily="18" charset="0"/>
              </a:rPr>
              <a:t>trữ với </a:t>
            </a:r>
            <a:r>
              <a:rPr sz="2200" spc="-5" dirty="0">
                <a:latin typeface="Times New Roman" panose="02020603050405020304" pitchFamily="18" charset="0"/>
                <a:cs typeface="Times New Roman" panose="02020603050405020304" pitchFamily="18" charset="0"/>
              </a:rPr>
              <a:t>thời </a:t>
            </a:r>
            <a:r>
              <a:rPr sz="2200" spc="-10" dirty="0">
                <a:latin typeface="Times New Roman" panose="02020603050405020304" pitchFamily="18" charset="0"/>
                <a:cs typeface="Times New Roman" panose="02020603050405020304" pitchFamily="18" charset="0"/>
              </a:rPr>
              <a:t>gian, </a:t>
            </a:r>
            <a:r>
              <a:rPr sz="2200" spc="-40" dirty="0">
                <a:latin typeface="Times New Roman" panose="02020603050405020304" pitchFamily="18" charset="0"/>
                <a:cs typeface="Times New Roman" panose="02020603050405020304" pitchFamily="18" charset="0"/>
              </a:rPr>
              <a:t>ngày, </a:t>
            </a:r>
            <a:r>
              <a:rPr sz="2200" spc="-10" dirty="0">
                <a:latin typeface="Times New Roman" panose="02020603050405020304" pitchFamily="18" charset="0"/>
                <a:cs typeface="Times New Roman" panose="02020603050405020304" pitchFamily="18" charset="0"/>
              </a:rPr>
              <a:t>loại, </a:t>
            </a:r>
            <a:r>
              <a:rPr sz="2200" dirty="0">
                <a:latin typeface="Times New Roman" panose="02020603050405020304" pitchFamily="18" charset="0"/>
                <a:cs typeface="Times New Roman" panose="02020603050405020304" pitchFamily="18" charset="0"/>
              </a:rPr>
              <a:t>số </a:t>
            </a:r>
            <a:r>
              <a:rPr sz="2200" spc="-5" dirty="0">
                <a:latin typeface="Times New Roman" panose="02020603050405020304" pitchFamily="18" charset="0"/>
                <a:cs typeface="Times New Roman" panose="02020603050405020304" pitchFamily="18" charset="0"/>
              </a:rPr>
              <a:t>tiền, </a:t>
            </a:r>
            <a:r>
              <a:rPr sz="2200" dirty="0">
                <a:latin typeface="Times New Roman" panose="02020603050405020304" pitchFamily="18" charset="0"/>
                <a:cs typeface="Times New Roman" panose="02020603050405020304" pitchFamily="18" charset="0"/>
              </a:rPr>
              <a:t>và </a:t>
            </a:r>
            <a:r>
              <a:rPr sz="2200">
                <a:latin typeface="Times New Roman" panose="02020603050405020304" pitchFamily="18" charset="0"/>
                <a:cs typeface="Times New Roman" panose="02020603050405020304" pitchFamily="18" charset="0"/>
              </a:rPr>
              <a:t>số</a:t>
            </a:r>
            <a:r>
              <a:rPr sz="2200" spc="85">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dư</a:t>
            </a:r>
            <a:endParaRPr sz="2200" dirty="0">
              <a:latin typeface="Times New Roman" panose="02020603050405020304" pitchFamily="18" charset="0"/>
              <a:cs typeface="Times New Roman" panose="02020603050405020304" pitchFamily="18" charset="0"/>
            </a:endParaRPr>
          </a:p>
        </p:txBody>
      </p:sp>
      <p:sp>
        <p:nvSpPr>
          <p:cNvPr id="5"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8948385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26931"/>
            <a:ext cx="10155936" cy="1474762"/>
          </a:xfrm>
          <a:prstGeom prst="rect">
            <a:avLst/>
          </a:prstGeom>
        </p:spPr>
        <p:txBody>
          <a:bodyPr vert="horz" wrap="square" lIns="0" tIns="104139" rIns="0" bIns="0" rtlCol="0">
            <a:spAutoFit/>
          </a:bodyPr>
          <a:lstStyle/>
          <a:p>
            <a:pPr marL="290513" indent="-277813">
              <a:lnSpc>
                <a:spcPct val="150000"/>
              </a:lnSpc>
              <a:spcBef>
                <a:spcPts val="819"/>
              </a:spcBef>
              <a:buSzPct val="100000"/>
              <a:buFont typeface="Wingdings" panose="05000000000000000000" pitchFamily="2" charset="2"/>
              <a:buChar char="§"/>
              <a:tabLst>
                <a:tab pos="332740" algn="l"/>
                <a:tab pos="333375" algn="l"/>
              </a:tabLst>
            </a:pPr>
            <a:r>
              <a:rPr sz="2800" b="1" spc="-30" dirty="0">
                <a:solidFill>
                  <a:srgbClr val="FF0000"/>
                </a:solidFill>
                <a:latin typeface="Times New Roman" panose="02020603050405020304" pitchFamily="18" charset="0"/>
                <a:cs typeface="Times New Roman" panose="02020603050405020304" pitchFamily="18" charset="0"/>
              </a:rPr>
              <a:t>Tiếp </a:t>
            </a:r>
            <a:r>
              <a:rPr sz="2800" b="1" dirty="0">
                <a:solidFill>
                  <a:srgbClr val="FF0000"/>
                </a:solidFill>
                <a:latin typeface="Times New Roman" panose="02020603050405020304" pitchFamily="18" charset="0"/>
                <a:cs typeface="Times New Roman" panose="02020603050405020304" pitchFamily="18" charset="0"/>
              </a:rPr>
              <a:t>cận </a:t>
            </a:r>
            <a:r>
              <a:rPr sz="2800" b="1" spc="-5" dirty="0">
                <a:solidFill>
                  <a:srgbClr val="FF0000"/>
                </a:solidFill>
                <a:latin typeface="Times New Roman" panose="02020603050405020304" pitchFamily="18" charset="0"/>
                <a:cs typeface="Times New Roman" panose="02020603050405020304" pitchFamily="18" charset="0"/>
              </a:rPr>
              <a:t>theo </a:t>
            </a:r>
            <a:r>
              <a:rPr sz="2800" b="1" dirty="0">
                <a:solidFill>
                  <a:srgbClr val="FF0000"/>
                </a:solidFill>
                <a:latin typeface="Times New Roman" panose="02020603050405020304" pitchFamily="18" charset="0"/>
                <a:cs typeface="Times New Roman" panose="02020603050405020304" pitchFamily="18" charset="0"/>
              </a:rPr>
              <a:t>cụm </a:t>
            </a:r>
            <a:r>
              <a:rPr sz="2800" b="1" spc="-5" dirty="0">
                <a:solidFill>
                  <a:srgbClr val="FF0000"/>
                </a:solidFill>
                <a:latin typeface="Times New Roman" panose="02020603050405020304" pitchFamily="18" charset="0"/>
                <a:cs typeface="Times New Roman" panose="02020603050405020304" pitchFamily="18" charset="0"/>
              </a:rPr>
              <a:t>danh </a:t>
            </a:r>
            <a:r>
              <a:rPr sz="2800" b="1" dirty="0">
                <a:solidFill>
                  <a:srgbClr val="FF0000"/>
                </a:solidFill>
                <a:latin typeface="Times New Roman" panose="02020603050405020304" pitchFamily="18" charset="0"/>
                <a:cs typeface="Times New Roman" panose="02020603050405020304" pitchFamily="18" charset="0"/>
              </a:rPr>
              <a:t>từ (noun</a:t>
            </a:r>
            <a:r>
              <a:rPr sz="2800" b="1" spc="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–phrase</a:t>
            </a:r>
            <a:r>
              <a:rPr sz="2800" spc="-5" dirty="0">
                <a:solidFill>
                  <a:srgbClr val="FF0000"/>
                </a:solidFill>
                <a:latin typeface="Times New Roman" panose="02020603050405020304" pitchFamily="18" charset="0"/>
                <a:cs typeface="Times New Roman" panose="02020603050405020304" pitchFamily="18" charset="0"/>
              </a:rPr>
              <a:t>)</a:t>
            </a:r>
            <a:endParaRPr sz="2800">
              <a:solidFill>
                <a:srgbClr val="FF0000"/>
              </a:solidFill>
              <a:latin typeface="Times New Roman" panose="02020603050405020304" pitchFamily="18" charset="0"/>
              <a:cs typeface="Times New Roman" panose="02020603050405020304" pitchFamily="18" charset="0"/>
            </a:endParaRPr>
          </a:p>
          <a:p>
            <a:pPr marL="835025" indent="-457200">
              <a:lnSpc>
                <a:spcPct val="150000"/>
              </a:lnSpc>
              <a:spcBef>
                <a:spcPts val="610"/>
              </a:spcBef>
              <a:buFont typeface="Arial" panose="020B0604020202020204" pitchFamily="34" charset="0"/>
              <a:buChar char="•"/>
            </a:pPr>
            <a:r>
              <a:rPr sz="2800">
                <a:solidFill>
                  <a:srgbClr val="00B050"/>
                </a:solidFill>
                <a:latin typeface="Times New Roman" panose="02020603050405020304" pitchFamily="18" charset="0"/>
                <a:cs typeface="Times New Roman" panose="02020603050405020304" pitchFamily="18" charset="0"/>
              </a:rPr>
              <a:t>Kết </a:t>
            </a:r>
            <a:r>
              <a:rPr sz="2800" spc="-5" dirty="0">
                <a:solidFill>
                  <a:srgbClr val="00B050"/>
                </a:solidFill>
                <a:latin typeface="Times New Roman" panose="02020603050405020304" pitchFamily="18" charset="0"/>
                <a:cs typeface="Times New Roman" panose="02020603050405020304" pitchFamily="18" charset="0"/>
              </a:rPr>
              <a:t>quả </a:t>
            </a:r>
            <a:r>
              <a:rPr sz="2800" dirty="0">
                <a:solidFill>
                  <a:srgbClr val="00B050"/>
                </a:solidFill>
                <a:latin typeface="Times New Roman" panose="02020603050405020304" pitchFamily="18" charset="0"/>
                <a:cs typeface="Times New Roman" panose="02020603050405020304" pitchFamily="18" charset="0"/>
              </a:rPr>
              <a:t>các </a:t>
            </a:r>
            <a:r>
              <a:rPr sz="2800" spc="-5" dirty="0">
                <a:solidFill>
                  <a:srgbClr val="00B050"/>
                </a:solidFill>
                <a:latin typeface="Times New Roman" panose="02020603050405020304" pitchFamily="18" charset="0"/>
                <a:cs typeface="Times New Roman" panose="02020603050405020304" pitchFamily="18" charset="0"/>
              </a:rPr>
              <a:t>lớp </a:t>
            </a:r>
            <a:r>
              <a:rPr sz="2800" dirty="0">
                <a:solidFill>
                  <a:srgbClr val="00B050"/>
                </a:solidFill>
                <a:latin typeface="Times New Roman" panose="02020603050405020304" pitchFamily="18" charset="0"/>
                <a:cs typeface="Times New Roman" panose="02020603050405020304" pitchFamily="18" charset="0"/>
              </a:rPr>
              <a:t>được xác</a:t>
            </a:r>
            <a:r>
              <a:rPr sz="2800" spc="145" dirty="0">
                <a:solidFill>
                  <a:srgbClr val="00B050"/>
                </a:solidFill>
                <a:latin typeface="Times New Roman" panose="02020603050405020304" pitchFamily="18" charset="0"/>
                <a:cs typeface="Times New Roman" panose="02020603050405020304" pitchFamily="18" charset="0"/>
              </a:rPr>
              <a:t> </a:t>
            </a:r>
            <a:r>
              <a:rPr sz="2800" spc="-5" dirty="0">
                <a:solidFill>
                  <a:srgbClr val="00B050"/>
                </a:solidFill>
                <a:latin typeface="Times New Roman" panose="02020603050405020304" pitchFamily="18" charset="0"/>
                <a:cs typeface="Times New Roman" panose="02020603050405020304" pitchFamily="18" charset="0"/>
              </a:rPr>
              <a:t>định:</a:t>
            </a:r>
            <a:endParaRPr sz="2800">
              <a:solidFill>
                <a:srgbClr val="00B05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3269741" y="3166746"/>
            <a:ext cx="1630679" cy="371896"/>
          </a:xfrm>
          <a:prstGeom prst="rect">
            <a:avLst/>
          </a:prstGeom>
          <a:solidFill>
            <a:srgbClr val="EBDDC3"/>
          </a:solidFill>
          <a:ln w="3175">
            <a:solidFill>
              <a:srgbClr val="000000"/>
            </a:solidFill>
          </a:ln>
        </p:spPr>
        <p:txBody>
          <a:bodyPr vert="horz" wrap="square" lIns="0" tIns="33019" rIns="0" bIns="0" rtlCol="0">
            <a:spAutoFit/>
          </a:bodyPr>
          <a:lstStyle/>
          <a:p>
            <a:pPr marL="211454">
              <a:spcBef>
                <a:spcPts val="259"/>
              </a:spcBef>
            </a:pPr>
            <a:r>
              <a:rPr sz="2200" spc="-30" dirty="0">
                <a:latin typeface="Times New Roman" panose="02020603050405020304" pitchFamily="18" charset="0"/>
                <a:cs typeface="Times New Roman" panose="02020603050405020304" pitchFamily="18" charset="0"/>
              </a:rPr>
              <a:t>MáyATM</a:t>
            </a:r>
            <a:endParaRPr sz="2200">
              <a:latin typeface="Times New Roman" panose="02020603050405020304" pitchFamily="18" charset="0"/>
              <a:cs typeface="Times New Roman" panose="02020603050405020304" pitchFamily="18" charset="0"/>
            </a:endParaRPr>
          </a:p>
        </p:txBody>
      </p:sp>
      <p:sp>
        <p:nvSpPr>
          <p:cNvPr id="5" name="object 5"/>
          <p:cNvSpPr txBox="1"/>
          <p:nvPr/>
        </p:nvSpPr>
        <p:spPr>
          <a:xfrm>
            <a:off x="5170170" y="4317367"/>
            <a:ext cx="1598676" cy="371897"/>
          </a:xfrm>
          <a:prstGeom prst="rect">
            <a:avLst/>
          </a:prstGeom>
          <a:solidFill>
            <a:srgbClr val="EBDDC3"/>
          </a:solidFill>
          <a:ln w="3175">
            <a:solidFill>
              <a:srgbClr val="000000"/>
            </a:solidFill>
          </a:ln>
        </p:spPr>
        <p:txBody>
          <a:bodyPr vert="horz" wrap="square" lIns="0" tIns="33020" rIns="0" bIns="0" rtlCol="0">
            <a:spAutoFit/>
          </a:bodyPr>
          <a:lstStyle/>
          <a:p>
            <a:pPr marL="313690">
              <a:spcBef>
                <a:spcPts val="260"/>
              </a:spcBef>
            </a:pPr>
            <a:r>
              <a:rPr sz="2200" spc="-5" dirty="0">
                <a:latin typeface="Times New Roman" panose="02020603050405020304" pitchFamily="18" charset="0"/>
                <a:cs typeface="Times New Roman" panose="02020603050405020304" pitchFamily="18" charset="0"/>
              </a:rPr>
              <a:t>TàiKhoản</a:t>
            </a:r>
            <a:endParaRPr sz="2200">
              <a:latin typeface="Times New Roman" panose="02020603050405020304" pitchFamily="18" charset="0"/>
              <a:cs typeface="Times New Roman" panose="02020603050405020304" pitchFamily="18" charset="0"/>
            </a:endParaRPr>
          </a:p>
        </p:txBody>
      </p:sp>
      <p:sp>
        <p:nvSpPr>
          <p:cNvPr id="6" name="object 6"/>
          <p:cNvSpPr txBox="1"/>
          <p:nvPr/>
        </p:nvSpPr>
        <p:spPr>
          <a:xfrm>
            <a:off x="5170170" y="3188084"/>
            <a:ext cx="1598676" cy="371897"/>
          </a:xfrm>
          <a:prstGeom prst="rect">
            <a:avLst/>
          </a:prstGeom>
          <a:solidFill>
            <a:srgbClr val="EBDDC3"/>
          </a:solidFill>
          <a:ln w="3175">
            <a:solidFill>
              <a:srgbClr val="000000"/>
            </a:solidFill>
          </a:ln>
        </p:spPr>
        <p:txBody>
          <a:bodyPr vert="horz" wrap="square" lIns="0" tIns="33020" rIns="0" bIns="0" rtlCol="0">
            <a:spAutoFit/>
          </a:bodyPr>
          <a:lstStyle/>
          <a:p>
            <a:pPr marL="255270">
              <a:spcBef>
                <a:spcPts val="260"/>
              </a:spcBef>
            </a:pPr>
            <a:r>
              <a:rPr sz="2200" spc="-25" dirty="0">
                <a:latin typeface="Times New Roman" panose="02020603050405020304" pitchFamily="18" charset="0"/>
                <a:cs typeface="Times New Roman" panose="02020603050405020304" pitchFamily="18" charset="0"/>
              </a:rPr>
              <a:t>ThẻATM</a:t>
            </a:r>
            <a:endParaRPr sz="2200">
              <a:latin typeface="Times New Roman" panose="02020603050405020304" pitchFamily="18" charset="0"/>
              <a:cs typeface="Times New Roman" panose="02020603050405020304" pitchFamily="18" charset="0"/>
            </a:endParaRPr>
          </a:p>
        </p:txBody>
      </p:sp>
      <p:sp>
        <p:nvSpPr>
          <p:cNvPr id="7" name="object 7"/>
          <p:cNvSpPr txBox="1"/>
          <p:nvPr/>
        </p:nvSpPr>
        <p:spPr>
          <a:xfrm>
            <a:off x="7162800" y="3151506"/>
            <a:ext cx="1676400" cy="372538"/>
          </a:xfrm>
          <a:prstGeom prst="rect">
            <a:avLst/>
          </a:prstGeom>
          <a:solidFill>
            <a:srgbClr val="EBDDC3"/>
          </a:solidFill>
          <a:ln w="3175">
            <a:solidFill>
              <a:srgbClr val="000000"/>
            </a:solidFill>
          </a:ln>
        </p:spPr>
        <p:txBody>
          <a:bodyPr vert="horz" wrap="square" lIns="0" tIns="33655" rIns="0" bIns="0" rtlCol="0">
            <a:spAutoFit/>
          </a:bodyPr>
          <a:lstStyle/>
          <a:p>
            <a:pPr marL="58738" indent="-58738" algn="ctr">
              <a:spcBef>
                <a:spcPts val="265"/>
              </a:spcBef>
            </a:pPr>
            <a:r>
              <a:rPr sz="2200" spc="-5" dirty="0">
                <a:latin typeface="Times New Roman" panose="02020603050405020304" pitchFamily="18" charset="0"/>
                <a:cs typeface="Times New Roman" panose="02020603050405020304" pitchFamily="18" charset="0"/>
              </a:rPr>
              <a:t>KháchHàng</a:t>
            </a:r>
            <a:endParaRPr sz="2200">
              <a:latin typeface="Times New Roman" panose="02020603050405020304" pitchFamily="18" charset="0"/>
              <a:cs typeface="Times New Roman" panose="02020603050405020304" pitchFamily="18" charset="0"/>
            </a:endParaRPr>
          </a:p>
        </p:txBody>
      </p:sp>
      <p:sp>
        <p:nvSpPr>
          <p:cNvPr id="8" name="object 8"/>
          <p:cNvSpPr txBox="1"/>
          <p:nvPr/>
        </p:nvSpPr>
        <p:spPr>
          <a:xfrm>
            <a:off x="3227071" y="4317367"/>
            <a:ext cx="1673350" cy="371897"/>
          </a:xfrm>
          <a:prstGeom prst="rect">
            <a:avLst/>
          </a:prstGeom>
          <a:solidFill>
            <a:srgbClr val="EBDDC3"/>
          </a:solidFill>
          <a:ln w="3175">
            <a:solidFill>
              <a:srgbClr val="000000"/>
            </a:solidFill>
          </a:ln>
        </p:spPr>
        <p:txBody>
          <a:bodyPr vert="horz" wrap="square" lIns="0" tIns="33020" rIns="0" bIns="0" rtlCol="0">
            <a:spAutoFit/>
          </a:bodyPr>
          <a:lstStyle/>
          <a:p>
            <a:pPr marL="212725">
              <a:spcBef>
                <a:spcPts val="260"/>
              </a:spcBef>
            </a:pPr>
            <a:r>
              <a:rPr sz="2200" spc="-10" dirty="0">
                <a:latin typeface="Times New Roman" panose="02020603050405020304" pitchFamily="18" charset="0"/>
                <a:cs typeface="Times New Roman" panose="02020603050405020304" pitchFamily="18" charset="0"/>
              </a:rPr>
              <a:t>NgânHàng</a:t>
            </a:r>
            <a:endParaRPr sz="2200">
              <a:latin typeface="Times New Roman" panose="02020603050405020304" pitchFamily="18" charset="0"/>
              <a:cs typeface="Times New Roman" panose="02020603050405020304" pitchFamily="18" charset="0"/>
            </a:endParaRPr>
          </a:p>
        </p:txBody>
      </p:sp>
      <p:sp>
        <p:nvSpPr>
          <p:cNvPr id="9" name="object 9"/>
          <p:cNvSpPr txBox="1"/>
          <p:nvPr/>
        </p:nvSpPr>
        <p:spPr>
          <a:xfrm>
            <a:off x="7038595" y="4296031"/>
            <a:ext cx="1648205" cy="371896"/>
          </a:xfrm>
          <a:prstGeom prst="rect">
            <a:avLst/>
          </a:prstGeom>
          <a:solidFill>
            <a:srgbClr val="EBDDC3"/>
          </a:solidFill>
          <a:ln w="3175">
            <a:solidFill>
              <a:srgbClr val="000000"/>
            </a:solidFill>
          </a:ln>
        </p:spPr>
        <p:txBody>
          <a:bodyPr vert="horz" wrap="square" lIns="0" tIns="33019" rIns="0" bIns="0" rtlCol="0">
            <a:spAutoFit/>
          </a:bodyPr>
          <a:lstStyle/>
          <a:p>
            <a:pPr marL="289560">
              <a:spcBef>
                <a:spcPts val="259"/>
              </a:spcBef>
            </a:pPr>
            <a:r>
              <a:rPr sz="2200" spc="-5" dirty="0">
                <a:latin typeface="Times New Roman" panose="02020603050405020304" pitchFamily="18" charset="0"/>
                <a:cs typeface="Times New Roman" panose="02020603050405020304" pitchFamily="18" charset="0"/>
              </a:rPr>
              <a:t>GiaoDịch</a:t>
            </a:r>
            <a:endParaRPr sz="2200">
              <a:latin typeface="Times New Roman" panose="02020603050405020304" pitchFamily="18" charset="0"/>
              <a:cs typeface="Times New Roman" panose="02020603050405020304" pitchFamily="18" charset="0"/>
            </a:endParaRPr>
          </a:p>
        </p:txBody>
      </p:sp>
      <p:sp>
        <p:nvSpPr>
          <p:cNvPr id="11"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12"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4482532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600"/>
            <a:ext cx="12192000" cy="4819268"/>
          </a:xfrm>
          <a:prstGeom prst="rect">
            <a:avLst/>
          </a:prstGeom>
        </p:spPr>
        <p:txBody>
          <a:bodyPr vert="horz" wrap="square" lIns="0" tIns="12700" rIns="0" bIns="0" rtlCol="0">
            <a:spAutoFit/>
          </a:bodyPr>
          <a:lstStyle/>
          <a:p>
            <a:pPr marL="469900" indent="-457200" algn="just">
              <a:lnSpc>
                <a:spcPct val="150000"/>
              </a:lnSpc>
              <a:spcBef>
                <a:spcPts val="100"/>
              </a:spcBef>
              <a:buSzPct val="100000"/>
              <a:buFont typeface="Wingdings" panose="05000000000000000000" pitchFamily="2" charset="2"/>
              <a:buChar char="§"/>
            </a:pPr>
            <a:r>
              <a:rPr sz="2800" b="1" spc="-25" dirty="0">
                <a:solidFill>
                  <a:srgbClr val="FF0000"/>
                </a:solidFill>
                <a:latin typeface="Times New Roman" panose="02020603050405020304" pitchFamily="18" charset="0"/>
                <a:cs typeface="Times New Roman" panose="02020603050405020304" pitchFamily="18" charset="0"/>
              </a:rPr>
              <a:t>Tiếp </a:t>
            </a:r>
            <a:r>
              <a:rPr sz="2800" b="1" dirty="0">
                <a:solidFill>
                  <a:srgbClr val="FF0000"/>
                </a:solidFill>
                <a:latin typeface="Times New Roman" panose="02020603050405020304" pitchFamily="18" charset="0"/>
                <a:cs typeface="Times New Roman" panose="02020603050405020304" pitchFamily="18" charset="0"/>
              </a:rPr>
              <a:t>cận </a:t>
            </a:r>
            <a:r>
              <a:rPr sz="2800" b="1" spc="-5" dirty="0">
                <a:solidFill>
                  <a:srgbClr val="FF0000"/>
                </a:solidFill>
                <a:latin typeface="Times New Roman" panose="02020603050405020304" pitchFamily="18" charset="0"/>
                <a:cs typeface="Times New Roman" panose="02020603050405020304" pitchFamily="18" charset="0"/>
              </a:rPr>
              <a:t>theo phân </a:t>
            </a:r>
            <a:r>
              <a:rPr sz="2800" b="1" spc="-10" dirty="0">
                <a:solidFill>
                  <a:srgbClr val="FF0000"/>
                </a:solidFill>
                <a:latin typeface="Times New Roman" panose="02020603050405020304" pitchFamily="18" charset="0"/>
                <a:cs typeface="Times New Roman" panose="02020603050405020304" pitchFamily="18" charset="0"/>
              </a:rPr>
              <a:t>loại: </a:t>
            </a:r>
            <a:r>
              <a:rPr sz="2400" dirty="0">
                <a:latin typeface="Times New Roman" panose="02020603050405020304" pitchFamily="18" charset="0"/>
                <a:cs typeface="Times New Roman" panose="02020603050405020304" pitchFamily="18" charset="0"/>
              </a:rPr>
              <a:t>phân </a:t>
            </a:r>
            <a:r>
              <a:rPr sz="2400" spc="-5" dirty="0">
                <a:latin typeface="Times New Roman" panose="02020603050405020304" pitchFamily="18" charset="0"/>
                <a:cs typeface="Times New Roman" panose="02020603050405020304" pitchFamily="18" charset="0"/>
              </a:rPr>
              <a:t>loại </a:t>
            </a:r>
            <a:r>
              <a:rPr sz="2400" dirty="0">
                <a:latin typeface="Times New Roman" panose="02020603050405020304" pitchFamily="18" charset="0"/>
                <a:cs typeface="Times New Roman" panose="02020603050405020304" pitchFamily="18" charset="0"/>
              </a:rPr>
              <a:t>các </a:t>
            </a:r>
            <a:r>
              <a:rPr sz="2400" spc="-5" dirty="0">
                <a:latin typeface="Times New Roman" panose="02020603050405020304" pitchFamily="18" charset="0"/>
                <a:cs typeface="Times New Roman" panose="02020603050405020304" pitchFamily="18" charset="0"/>
              </a:rPr>
              <a:t>lớp </a:t>
            </a:r>
            <a:r>
              <a:rPr sz="2400" dirty="0">
                <a:latin typeface="Times New Roman" panose="02020603050405020304" pitchFamily="18" charset="0"/>
                <a:cs typeface="Times New Roman" panose="02020603050405020304" pitchFamily="18" charset="0"/>
              </a:rPr>
              <a:t>của hệ </a:t>
            </a:r>
            <a:r>
              <a:rPr sz="2400">
                <a:latin typeface="Times New Roman" panose="02020603050405020304" pitchFamily="18" charset="0"/>
                <a:cs typeface="Times New Roman" panose="02020603050405020304" pitchFamily="18" charset="0"/>
              </a:rPr>
              <a:t>thống</a:t>
            </a:r>
            <a:r>
              <a:rPr sz="2400" spc="-1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dựa</a:t>
            </a:r>
            <a:r>
              <a:rPr lang="en-US" sz="2400" dirty="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trên </a:t>
            </a:r>
            <a:r>
              <a:rPr sz="2400" dirty="0">
                <a:latin typeface="Times New Roman" panose="02020603050405020304" pitchFamily="18" charset="0"/>
                <a:cs typeface="Times New Roman" panose="02020603050405020304" pitchFamily="18" charset="0"/>
              </a:rPr>
              <a:t>các </a:t>
            </a:r>
            <a:r>
              <a:rPr sz="2400">
                <a:latin typeface="Times New Roman" panose="02020603050405020304" pitchFamily="18" charset="0"/>
                <a:cs typeface="Times New Roman" panose="02020603050405020304" pitchFamily="18" charset="0"/>
              </a:rPr>
              <a:t>mẫu</a:t>
            </a:r>
            <a:r>
              <a:rPr sz="2400" spc="-7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chung</a:t>
            </a:r>
            <a:endParaRPr sz="2400" dirty="0">
              <a:latin typeface="Times New Roman" panose="02020603050405020304" pitchFamily="18" charset="0"/>
              <a:cs typeface="Times New Roman" panose="02020603050405020304" pitchFamily="18" charset="0"/>
            </a:endParaRPr>
          </a:p>
          <a:p>
            <a:pPr marL="1177925" marR="5080" lvl="2" indent="-342900" algn="just">
              <a:lnSpc>
                <a:spcPct val="150000"/>
              </a:lnSpc>
              <a:spcBef>
                <a:spcPts val="605"/>
              </a:spcBef>
              <a:buSzPct val="100000"/>
              <a:buFont typeface="Arial" panose="020B0604020202020204" pitchFamily="34" charset="0"/>
              <a:buChar char="•"/>
            </a:pPr>
            <a:r>
              <a:rPr sz="2400" b="1" dirty="0">
                <a:solidFill>
                  <a:srgbClr val="006FC0"/>
                </a:solidFill>
                <a:latin typeface="Times New Roman" panose="02020603050405020304" pitchFamily="18" charset="0"/>
                <a:cs typeface="Times New Roman" panose="02020603050405020304" pitchFamily="18" charset="0"/>
              </a:rPr>
              <a:t>Lớp khái </a:t>
            </a:r>
            <a:r>
              <a:rPr sz="2400" b="1" spc="-5" dirty="0">
                <a:solidFill>
                  <a:srgbClr val="006FC0"/>
                </a:solidFill>
                <a:latin typeface="Times New Roman" panose="02020603050405020304" pitchFamily="18" charset="0"/>
                <a:cs typeface="Times New Roman" panose="02020603050405020304" pitchFamily="18" charset="0"/>
              </a:rPr>
              <a:t>niệm </a:t>
            </a:r>
            <a:r>
              <a:rPr sz="2400" b="1" dirty="0">
                <a:solidFill>
                  <a:srgbClr val="006FC0"/>
                </a:solidFill>
                <a:latin typeface="Times New Roman" panose="02020603050405020304" pitchFamily="18" charset="0"/>
                <a:cs typeface="Times New Roman" panose="02020603050405020304" pitchFamily="18" charset="0"/>
              </a:rPr>
              <a:t>(concept): </a:t>
            </a:r>
            <a:r>
              <a:rPr sz="2400" dirty="0">
                <a:latin typeface="Times New Roman" panose="02020603050405020304" pitchFamily="18" charset="0"/>
                <a:cs typeface="Times New Roman" panose="02020603050405020304" pitchFamily="18" charset="0"/>
              </a:rPr>
              <a:t>Một </a:t>
            </a:r>
            <a:r>
              <a:rPr sz="2400" spc="-5" dirty="0">
                <a:latin typeface="Times New Roman" panose="02020603050405020304" pitchFamily="18" charset="0"/>
                <a:cs typeface="Times New Roman" panose="02020603050405020304" pitchFamily="18" charset="0"/>
              </a:rPr>
              <a:t>khái niệm là </a:t>
            </a:r>
            <a:r>
              <a:rPr sz="2400" dirty="0">
                <a:latin typeface="Times New Roman" panose="02020603050405020304" pitchFamily="18" charset="0"/>
                <a:cs typeface="Times New Roman" panose="02020603050405020304" pitchFamily="18" charset="0"/>
              </a:rPr>
              <a:t>một </a:t>
            </a:r>
            <a:r>
              <a:rPr sz="2400" spc="-5" dirty="0">
                <a:latin typeface="Times New Roman" panose="02020603050405020304" pitchFamily="18" charset="0"/>
                <a:cs typeface="Times New Roman" panose="02020603050405020304" pitchFamily="18" charset="0"/>
              </a:rPr>
              <a:t>quan niệm </a:t>
            </a:r>
            <a:r>
              <a:rPr sz="2400" spc="-10">
                <a:latin typeface="Times New Roman" panose="02020603050405020304" pitchFamily="18" charset="0"/>
                <a:cs typeface="Times New Roman" panose="02020603050405020304" pitchFamily="18" charset="0"/>
              </a:rPr>
              <a:t>hoặc </a:t>
            </a:r>
            <a:r>
              <a:rPr sz="2400">
                <a:latin typeface="Times New Roman" panose="02020603050405020304" pitchFamily="18" charset="0"/>
                <a:cs typeface="Times New Roman" panose="02020603050405020304" pitchFamily="18" charset="0"/>
              </a:rPr>
              <a:t>sự</a:t>
            </a:r>
            <a:r>
              <a:rPr lang="en-US" sz="240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hiểu </a:t>
            </a:r>
            <a:r>
              <a:rPr sz="2400" spc="-5" dirty="0">
                <a:latin typeface="Times New Roman" panose="02020603050405020304" pitchFamily="18" charset="0"/>
                <a:cs typeface="Times New Roman" panose="02020603050405020304" pitchFamily="18" charset="0"/>
              </a:rPr>
              <a:t>biết riêng biệt </a:t>
            </a:r>
            <a:r>
              <a:rPr sz="2400" dirty="0">
                <a:latin typeface="Times New Roman" panose="02020603050405020304" pitchFamily="18" charset="0"/>
                <a:cs typeface="Times New Roman" panose="02020603050405020304" pitchFamily="18" charset="0"/>
              </a:rPr>
              <a:t>về thế </a:t>
            </a:r>
            <a:r>
              <a:rPr sz="2400" spc="-5" dirty="0">
                <a:latin typeface="Times New Roman" panose="02020603050405020304" pitchFamily="18" charset="0"/>
                <a:cs typeface="Times New Roman" panose="02020603050405020304" pitchFamily="18" charset="0"/>
              </a:rPr>
              <a:t>giới. </a:t>
            </a:r>
            <a:r>
              <a:rPr sz="2400" spc="-10" dirty="0">
                <a:latin typeface="Times New Roman" panose="02020603050405020304" pitchFamily="18" charset="0"/>
                <a:cs typeface="Times New Roman" panose="02020603050405020304" pitchFamily="18" charset="0"/>
              </a:rPr>
              <a:t>Lớp </a:t>
            </a:r>
            <a:r>
              <a:rPr sz="2400" spc="-5" dirty="0">
                <a:latin typeface="Times New Roman" panose="02020603050405020304" pitchFamily="18" charset="0"/>
                <a:cs typeface="Times New Roman" panose="02020603050405020304" pitchFamily="18" charset="0"/>
              </a:rPr>
              <a:t>khái niệm bao </a:t>
            </a:r>
            <a:r>
              <a:rPr sz="2400" spc="-10" dirty="0">
                <a:latin typeface="Times New Roman" panose="02020603050405020304" pitchFamily="18" charset="0"/>
                <a:cs typeface="Times New Roman" panose="02020603050405020304" pitchFamily="18" charset="0"/>
              </a:rPr>
              <a:t>gồm </a:t>
            </a:r>
            <a:r>
              <a:rPr sz="2400" dirty="0">
                <a:latin typeface="Times New Roman" panose="02020603050405020304" pitchFamily="18" charset="0"/>
                <a:cs typeface="Times New Roman" panose="02020603050405020304" pitchFamily="18" charset="0"/>
              </a:rPr>
              <a:t>các </a:t>
            </a:r>
            <a:r>
              <a:rPr sz="2400" spc="-10">
                <a:latin typeface="Times New Roman" panose="02020603050405020304" pitchFamily="18" charset="0"/>
                <a:cs typeface="Times New Roman" panose="02020603050405020304" pitchFamily="18" charset="0"/>
              </a:rPr>
              <a:t>nguyên lý</a:t>
            </a:r>
            <a:r>
              <a:rPr lang="en-US" sz="2400" spc="-10">
                <a:latin typeface="Times New Roman" panose="02020603050405020304" pitchFamily="18" charset="0"/>
                <a:cs typeface="Times New Roman" panose="02020603050405020304" pitchFamily="18" charset="0"/>
              </a:rPr>
              <a:t> </a:t>
            </a:r>
            <a:r>
              <a:rPr sz="2400" spc="-10">
                <a:latin typeface="Times New Roman" panose="02020603050405020304" pitchFamily="18" charset="0"/>
                <a:cs typeface="Times New Roman" panose="02020603050405020304" pitchFamily="18" charset="0"/>
              </a:rPr>
              <a:t>được </a:t>
            </a:r>
            <a:r>
              <a:rPr sz="2400" spc="-5" dirty="0">
                <a:latin typeface="Times New Roman" panose="02020603050405020304" pitchFamily="18" charset="0"/>
                <a:cs typeface="Times New Roman" panose="02020603050405020304" pitchFamily="18" charset="0"/>
              </a:rPr>
              <a:t>dùng để </a:t>
            </a:r>
            <a:r>
              <a:rPr sz="2400" dirty="0">
                <a:latin typeface="Times New Roman" panose="02020603050405020304" pitchFamily="18" charset="0"/>
                <a:cs typeface="Times New Roman" panose="02020603050405020304" pitchFamily="18" charset="0"/>
              </a:rPr>
              <a:t>tổ </a:t>
            </a:r>
            <a:r>
              <a:rPr sz="2400" spc="-5" dirty="0">
                <a:latin typeface="Times New Roman" panose="02020603050405020304" pitchFamily="18" charset="0"/>
                <a:cs typeface="Times New Roman" panose="02020603050405020304" pitchFamily="18" charset="0"/>
              </a:rPr>
              <a:t>chức </a:t>
            </a:r>
            <a:r>
              <a:rPr sz="2400" spc="-10" dirty="0">
                <a:latin typeface="Times New Roman" panose="02020603050405020304" pitchFamily="18" charset="0"/>
                <a:cs typeface="Times New Roman" panose="02020603050405020304" pitchFamily="18" charset="0"/>
              </a:rPr>
              <a:t>hoặc </a:t>
            </a:r>
            <a:r>
              <a:rPr sz="2400" spc="-5" dirty="0">
                <a:latin typeface="Times New Roman" panose="02020603050405020304" pitchFamily="18" charset="0"/>
                <a:cs typeface="Times New Roman" panose="02020603050405020304" pitchFamily="18" charset="0"/>
              </a:rPr>
              <a:t>để lưu </a:t>
            </a:r>
            <a:r>
              <a:rPr sz="2400" dirty="0">
                <a:latin typeface="Times New Roman" panose="02020603050405020304" pitchFamily="18" charset="0"/>
                <a:cs typeface="Times New Roman" panose="02020603050405020304" pitchFamily="18" charset="0"/>
              </a:rPr>
              <a:t>trữ các </a:t>
            </a:r>
            <a:r>
              <a:rPr sz="2400" spc="-10" dirty="0">
                <a:latin typeface="Times New Roman" panose="02020603050405020304" pitchFamily="18" charset="0"/>
                <a:cs typeface="Times New Roman" panose="02020603050405020304" pitchFamily="18" charset="0"/>
              </a:rPr>
              <a:t>hoạt động </a:t>
            </a:r>
            <a:r>
              <a:rPr sz="2400" spc="-5" dirty="0">
                <a:latin typeface="Times New Roman" panose="02020603050405020304" pitchFamily="18" charset="0"/>
                <a:cs typeface="Times New Roman" panose="02020603050405020304" pitchFamily="18" charset="0"/>
              </a:rPr>
              <a:t>và </a:t>
            </a:r>
            <a:r>
              <a:rPr sz="2400" dirty="0">
                <a:latin typeface="Times New Roman" panose="02020603050405020304" pitchFamily="18" charset="0"/>
                <a:cs typeface="Times New Roman" panose="02020603050405020304" pitchFamily="18" charset="0"/>
              </a:rPr>
              <a:t>các trao </a:t>
            </a:r>
            <a:r>
              <a:rPr sz="2400" spc="-10">
                <a:latin typeface="Times New Roman" panose="02020603050405020304" pitchFamily="18" charset="0"/>
                <a:cs typeface="Times New Roman" panose="02020603050405020304" pitchFamily="18" charset="0"/>
              </a:rPr>
              <a:t>đổi </a:t>
            </a:r>
            <a:r>
              <a:rPr sz="2400">
                <a:latin typeface="Times New Roman" panose="02020603050405020304" pitchFamily="18" charset="0"/>
                <a:cs typeface="Times New Roman" panose="02020603050405020304" pitchFamily="18" charset="0"/>
              </a:rPr>
              <a:t>về</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mặt </a:t>
            </a:r>
            <a:r>
              <a:rPr sz="2400" spc="-10">
                <a:latin typeface="Times New Roman" panose="02020603050405020304" pitchFamily="18" charset="0"/>
                <a:cs typeface="Times New Roman" panose="02020603050405020304" pitchFamily="18" charset="0"/>
              </a:rPr>
              <a:t>quản</a:t>
            </a:r>
            <a:r>
              <a:rPr sz="2400" spc="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lý</a:t>
            </a:r>
            <a:endParaRPr sz="2400" dirty="0">
              <a:latin typeface="Times New Roman" panose="02020603050405020304" pitchFamily="18" charset="0"/>
              <a:cs typeface="Times New Roman" panose="02020603050405020304" pitchFamily="18" charset="0"/>
            </a:endParaRPr>
          </a:p>
          <a:p>
            <a:pPr marL="1155700" lvl="3" algn="just">
              <a:lnSpc>
                <a:spcPct val="150000"/>
              </a:lnSpc>
              <a:spcBef>
                <a:spcPts val="515"/>
              </a:spcBef>
              <a:buClr>
                <a:srgbClr val="DD8046"/>
              </a:buClr>
              <a:buSzPct val="75000"/>
              <a:tabLst>
                <a:tab pos="927735" algn="l"/>
              </a:tabLst>
            </a:pPr>
            <a:r>
              <a:rPr sz="2400" b="1" spc="-5" dirty="0">
                <a:solidFill>
                  <a:schemeClr val="tx2"/>
                </a:solidFill>
                <a:latin typeface="Times New Roman" panose="02020603050405020304" pitchFamily="18" charset="0"/>
                <a:cs typeface="Times New Roman" panose="02020603050405020304" pitchFamily="18" charset="0"/>
              </a:rPr>
              <a:t>Ví </a:t>
            </a:r>
            <a:r>
              <a:rPr sz="2400" b="1" spc="-10" dirty="0">
                <a:solidFill>
                  <a:schemeClr val="tx2"/>
                </a:solidFill>
                <a:latin typeface="Times New Roman" panose="02020603050405020304" pitchFamily="18" charset="0"/>
                <a:cs typeface="Times New Roman" panose="02020603050405020304" pitchFamily="18" charset="0"/>
              </a:rPr>
              <a:t>dụ: </a:t>
            </a:r>
            <a:r>
              <a:rPr sz="2400" spc="-5" dirty="0">
                <a:latin typeface="Times New Roman" panose="02020603050405020304" pitchFamily="18" charset="0"/>
                <a:cs typeface="Times New Roman" panose="02020603050405020304" pitchFamily="18" charset="0"/>
              </a:rPr>
              <a:t>các </a:t>
            </a:r>
            <a:r>
              <a:rPr sz="2400" spc="-10" dirty="0">
                <a:latin typeface="Times New Roman" panose="02020603050405020304" pitchFamily="18" charset="0"/>
                <a:cs typeface="Times New Roman" panose="02020603050405020304" pitchFamily="18" charset="0"/>
              </a:rPr>
              <a:t>lớp </a:t>
            </a:r>
            <a:r>
              <a:rPr sz="2400" spc="-5" dirty="0">
                <a:latin typeface="Times New Roman" panose="02020603050405020304" pitchFamily="18" charset="0"/>
                <a:cs typeface="Times New Roman" panose="02020603050405020304" pitchFamily="18" charset="0"/>
              </a:rPr>
              <a:t>khái </a:t>
            </a:r>
            <a:r>
              <a:rPr sz="2400" spc="-10" dirty="0">
                <a:latin typeface="Times New Roman" panose="02020603050405020304" pitchFamily="18" charset="0"/>
                <a:cs typeface="Times New Roman" panose="02020603050405020304" pitchFamily="18" charset="0"/>
              </a:rPr>
              <a:t>niệm </a:t>
            </a:r>
            <a:r>
              <a:rPr sz="2400" spc="-5" dirty="0">
                <a:latin typeface="Times New Roman" panose="02020603050405020304" pitchFamily="18" charset="0"/>
                <a:cs typeface="Times New Roman" panose="02020603050405020304" pitchFamily="18" charset="0"/>
              </a:rPr>
              <a:t>có </a:t>
            </a:r>
            <a:r>
              <a:rPr sz="2400" dirty="0">
                <a:latin typeface="Times New Roman" panose="02020603050405020304" pitchFamily="18" charset="0"/>
                <a:cs typeface="Times New Roman" panose="02020603050405020304" pitchFamily="18" charset="0"/>
              </a:rPr>
              <a:t>thể </a:t>
            </a:r>
            <a:r>
              <a:rPr sz="2400" spc="-5" dirty="0">
                <a:latin typeface="Times New Roman" panose="02020603050405020304" pitchFamily="18" charset="0"/>
                <a:cs typeface="Times New Roman" panose="02020603050405020304" pitchFamily="18" charset="0"/>
              </a:rPr>
              <a:t>là: </a:t>
            </a:r>
            <a:r>
              <a:rPr sz="2400" spc="-10" dirty="0">
                <a:latin typeface="Times New Roman" panose="02020603050405020304" pitchFamily="18" charset="0"/>
                <a:cs typeface="Times New Roman" panose="02020603050405020304" pitchFamily="18" charset="0"/>
              </a:rPr>
              <a:t>phương pháp, </a:t>
            </a:r>
            <a:r>
              <a:rPr sz="2400" spc="-5" dirty="0">
                <a:latin typeface="Times New Roman" panose="02020603050405020304" pitchFamily="18" charset="0"/>
                <a:cs typeface="Times New Roman" panose="02020603050405020304" pitchFamily="18" charset="0"/>
              </a:rPr>
              <a:t>hiệu </a:t>
            </a:r>
            <a:r>
              <a:rPr sz="2400" spc="-10" dirty="0">
                <a:latin typeface="Times New Roman" panose="02020603050405020304" pitchFamily="18" charset="0"/>
                <a:cs typeface="Times New Roman" panose="02020603050405020304" pitchFamily="18" charset="0"/>
              </a:rPr>
              <a:t>năng</a:t>
            </a:r>
            <a:r>
              <a:rPr sz="2400" spc="-10">
                <a:latin typeface="Times New Roman" panose="02020603050405020304" pitchFamily="18" charset="0"/>
                <a:cs typeface="Times New Roman" panose="02020603050405020304" pitchFamily="18" charset="0"/>
              </a:rPr>
              <a:t>,</a:t>
            </a:r>
            <a:r>
              <a:rPr sz="2400" spc="13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mô</a:t>
            </a:r>
            <a:r>
              <a:rPr lang="en-US" sz="2400" dirty="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hình</a:t>
            </a:r>
            <a:r>
              <a:rPr sz="2400" spc="-5"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177925" lvl="2" indent="-342900" algn="just">
              <a:lnSpc>
                <a:spcPct val="150000"/>
              </a:lnSpc>
              <a:spcBef>
                <a:spcPts val="590"/>
              </a:spcBef>
              <a:buSzPct val="100000"/>
              <a:buFont typeface="Arial" panose="020B0604020202020204" pitchFamily="34" charset="0"/>
              <a:buChar char="•"/>
            </a:pPr>
            <a:r>
              <a:rPr sz="2400" b="1" dirty="0">
                <a:solidFill>
                  <a:srgbClr val="006FC0"/>
                </a:solidFill>
                <a:latin typeface="Times New Roman" panose="02020603050405020304" pitchFamily="18" charset="0"/>
                <a:cs typeface="Times New Roman" panose="02020603050405020304" pitchFamily="18" charset="0"/>
              </a:rPr>
              <a:t>Lớp sự kiện</a:t>
            </a:r>
            <a:r>
              <a:rPr sz="2400" b="1" spc="-65" dirty="0">
                <a:solidFill>
                  <a:srgbClr val="006FC0"/>
                </a:solidFill>
                <a:latin typeface="Times New Roman" panose="02020603050405020304" pitchFamily="18" charset="0"/>
                <a:cs typeface="Times New Roman" panose="02020603050405020304" pitchFamily="18" charset="0"/>
              </a:rPr>
              <a:t> </a:t>
            </a:r>
            <a:r>
              <a:rPr sz="2400" b="1" dirty="0">
                <a:solidFill>
                  <a:srgbClr val="006FC0"/>
                </a:solidFill>
                <a:latin typeface="Times New Roman" panose="02020603050405020304" pitchFamily="18" charset="0"/>
                <a:cs typeface="Times New Roman" panose="02020603050405020304" pitchFamily="18" charset="0"/>
              </a:rPr>
              <a:t>(</a:t>
            </a:r>
            <a:r>
              <a:rPr sz="2400" b="1">
                <a:solidFill>
                  <a:srgbClr val="006FC0"/>
                </a:solidFill>
                <a:latin typeface="Times New Roman" panose="02020603050405020304" pitchFamily="18" charset="0"/>
                <a:cs typeface="Times New Roman" panose="02020603050405020304" pitchFamily="18" charset="0"/>
              </a:rPr>
              <a:t>event):</a:t>
            </a:r>
            <a:r>
              <a:rPr lang="en-US" sz="2400" b="1">
                <a:solidFill>
                  <a:srgbClr val="006FC0"/>
                </a:solidFill>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Lớp sự kiện là các điểm thời gian cần được lưu trữ. Các sự việc xảy ra tại một thời điểm, hoặc một bước trong một dãy tuần tự các bước</a:t>
            </a:r>
            <a:endParaRPr sz="2400" dirty="0">
              <a:latin typeface="Times New Roman" panose="02020603050405020304" pitchFamily="18" charset="0"/>
              <a:cs typeface="Times New Roman" panose="02020603050405020304" pitchFamily="18" charset="0"/>
            </a:endParaRPr>
          </a:p>
          <a:p>
            <a:pPr marL="1155700" lvl="3" algn="just">
              <a:lnSpc>
                <a:spcPct val="150000"/>
              </a:lnSpc>
              <a:spcBef>
                <a:spcPts val="509"/>
              </a:spcBef>
              <a:buClr>
                <a:srgbClr val="DD8046"/>
              </a:buClr>
              <a:buSzPct val="75000"/>
              <a:tabLst>
                <a:tab pos="927735" algn="l"/>
                <a:tab pos="4019550" algn="l"/>
              </a:tabLst>
            </a:pPr>
            <a:r>
              <a:rPr sz="2400" b="1" spc="-5">
                <a:solidFill>
                  <a:schemeClr val="tx2"/>
                </a:solidFill>
                <a:latin typeface="Times New Roman" panose="02020603050405020304" pitchFamily="18" charset="0"/>
                <a:cs typeface="Times New Roman" panose="02020603050405020304" pitchFamily="18" charset="0"/>
              </a:rPr>
              <a:t>Ví </a:t>
            </a:r>
            <a:r>
              <a:rPr sz="2400" b="1" spc="-10" dirty="0">
                <a:solidFill>
                  <a:schemeClr val="tx2"/>
                </a:solidFill>
                <a:latin typeface="Times New Roman" panose="02020603050405020304" pitchFamily="18" charset="0"/>
                <a:cs typeface="Times New Roman" panose="02020603050405020304" pitchFamily="18" charset="0"/>
              </a:rPr>
              <a:t>dụ</a:t>
            </a:r>
            <a:r>
              <a:rPr sz="2400" b="1" spc="-10">
                <a:solidFill>
                  <a:schemeClr val="tx2"/>
                </a:solidFill>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hoá</a:t>
            </a:r>
            <a:r>
              <a:rPr sz="2400" spc="65">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đơn</a:t>
            </a:r>
            <a:r>
              <a:rPr sz="2400" spc="-10">
                <a:latin typeface="Times New Roman" panose="02020603050405020304" pitchFamily="18" charset="0"/>
                <a:cs typeface="Times New Roman" panose="02020603050405020304" pitchFamily="18" charset="0"/>
              </a:rPr>
              <a:t>,</a:t>
            </a:r>
            <a:r>
              <a:rPr sz="2400" spc="15">
                <a:latin typeface="Times New Roman" panose="02020603050405020304" pitchFamily="18" charset="0"/>
                <a:cs typeface="Times New Roman" panose="02020603050405020304" pitchFamily="18" charset="0"/>
              </a:rPr>
              <a:t> </a:t>
            </a:r>
            <a:r>
              <a:rPr sz="2400" spc="-10">
                <a:latin typeface="Times New Roman" panose="02020603050405020304" pitchFamily="18" charset="0"/>
                <a:cs typeface="Times New Roman" panose="02020603050405020304" pitchFamily="18" charset="0"/>
              </a:rPr>
              <a:t>đơn</a:t>
            </a:r>
            <a:r>
              <a:rPr lang="en-US" sz="2400" spc="-10">
                <a:latin typeface="Times New Roman" panose="02020603050405020304" pitchFamily="18" charset="0"/>
                <a:cs typeface="Times New Roman" panose="02020603050405020304" pitchFamily="18" charset="0"/>
              </a:rPr>
              <a:t> </a:t>
            </a:r>
            <a:r>
              <a:rPr sz="2400" spc="-10">
                <a:latin typeface="Times New Roman" panose="02020603050405020304" pitchFamily="18" charset="0"/>
                <a:cs typeface="Times New Roman" panose="02020603050405020304" pitchFamily="18" charset="0"/>
              </a:rPr>
              <a:t>hàng</a:t>
            </a:r>
            <a:r>
              <a:rPr sz="2400" spc="-10" dirty="0">
                <a:latin typeface="Times New Roman" panose="02020603050405020304" pitchFamily="18" charset="0"/>
                <a:cs typeface="Times New Roman" panose="02020603050405020304" pitchFamily="18" charset="0"/>
              </a:rPr>
              <a:t>, phiếu</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nhập,…</a:t>
            </a:r>
            <a:endParaRPr sz="2400" dirty="0">
              <a:latin typeface="Times New Roman" panose="02020603050405020304" pitchFamily="18" charset="0"/>
              <a:cs typeface="Times New Roman" panose="02020603050405020304" pitchFamily="18" charset="0"/>
            </a:endParaRPr>
          </a:p>
        </p:txBody>
      </p:sp>
      <p:sp>
        <p:nvSpPr>
          <p:cNvPr id="6"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7486469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29149"/>
            <a:ext cx="12191999" cy="5466240"/>
          </a:xfrm>
          <a:prstGeom prst="rect">
            <a:avLst/>
          </a:prstGeom>
        </p:spPr>
        <p:txBody>
          <a:bodyPr vert="horz" wrap="square" lIns="0" tIns="104775" rIns="0" bIns="0" rtlCol="0">
            <a:spAutoFit/>
          </a:bodyPr>
          <a:lstStyle/>
          <a:p>
            <a:pPr marL="469900" indent="-457200" algn="just">
              <a:lnSpc>
                <a:spcPct val="150000"/>
              </a:lnSpc>
              <a:spcBef>
                <a:spcPts val="825"/>
              </a:spcBef>
              <a:buSzPct val="100000"/>
              <a:buFont typeface="Wingdings" panose="05000000000000000000" pitchFamily="2" charset="2"/>
              <a:buChar char="§"/>
            </a:pPr>
            <a:r>
              <a:rPr sz="2800" b="1" spc="-30" dirty="0">
                <a:solidFill>
                  <a:srgbClr val="FF0000"/>
                </a:solidFill>
                <a:latin typeface="Times New Roman" panose="02020603050405020304" pitchFamily="18" charset="0"/>
                <a:cs typeface="Times New Roman" panose="02020603050405020304" pitchFamily="18" charset="0"/>
              </a:rPr>
              <a:t>Tiếp </a:t>
            </a:r>
            <a:r>
              <a:rPr sz="2800" b="1" dirty="0">
                <a:solidFill>
                  <a:srgbClr val="FF0000"/>
                </a:solidFill>
                <a:latin typeface="Times New Roman" panose="02020603050405020304" pitchFamily="18" charset="0"/>
                <a:cs typeface="Times New Roman" panose="02020603050405020304" pitchFamily="18" charset="0"/>
              </a:rPr>
              <a:t>cận theo </a:t>
            </a:r>
            <a:r>
              <a:rPr sz="2800" b="1" spc="-5" dirty="0">
                <a:solidFill>
                  <a:srgbClr val="FF0000"/>
                </a:solidFill>
                <a:latin typeface="Times New Roman" panose="02020603050405020304" pitchFamily="18" charset="0"/>
                <a:cs typeface="Times New Roman" panose="02020603050405020304" pitchFamily="18" charset="0"/>
              </a:rPr>
              <a:t>phân</a:t>
            </a:r>
            <a:r>
              <a:rPr sz="2800" b="1" spc="3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loại:</a:t>
            </a:r>
            <a:endParaRPr sz="2800" b="1" dirty="0">
              <a:solidFill>
                <a:srgbClr val="FF0000"/>
              </a:solidFill>
              <a:latin typeface="Times New Roman" panose="02020603050405020304" pitchFamily="18" charset="0"/>
              <a:cs typeface="Times New Roman" panose="02020603050405020304" pitchFamily="18" charset="0"/>
            </a:endParaRPr>
          </a:p>
          <a:p>
            <a:pPr marL="1177925" marR="5080" lvl="2" indent="-342900" algn="just">
              <a:lnSpc>
                <a:spcPct val="150000"/>
              </a:lnSpc>
              <a:spcBef>
                <a:spcPts val="605"/>
              </a:spcBef>
              <a:buSzPct val="100000"/>
              <a:buFont typeface="Arial" panose="020B0604020202020204" pitchFamily="34" charset="0"/>
              <a:buChar char="•"/>
            </a:pPr>
            <a:r>
              <a:rPr sz="2400" b="1" dirty="0">
                <a:solidFill>
                  <a:srgbClr val="006FC0"/>
                </a:solidFill>
                <a:latin typeface="Times New Roman" panose="02020603050405020304" pitchFamily="18" charset="0"/>
                <a:cs typeface="Times New Roman" panose="02020603050405020304" pitchFamily="18" charset="0"/>
              </a:rPr>
              <a:t>Lớp </a:t>
            </a:r>
            <a:r>
              <a:rPr sz="2400" b="1" spc="-5" dirty="0">
                <a:solidFill>
                  <a:srgbClr val="006FC0"/>
                </a:solidFill>
                <a:latin typeface="Times New Roman" panose="02020603050405020304" pitchFamily="18" charset="0"/>
                <a:cs typeface="Times New Roman" panose="02020603050405020304" pitchFamily="18" charset="0"/>
              </a:rPr>
              <a:t>tổ </a:t>
            </a:r>
            <a:r>
              <a:rPr sz="2400" b="1" dirty="0">
                <a:solidFill>
                  <a:srgbClr val="006FC0"/>
                </a:solidFill>
                <a:latin typeface="Times New Roman" panose="02020603050405020304" pitchFamily="18" charset="0"/>
                <a:cs typeface="Times New Roman" panose="02020603050405020304" pitchFamily="18" charset="0"/>
              </a:rPr>
              <a:t>chức (organisation): </a:t>
            </a:r>
            <a:r>
              <a:rPr sz="2400" dirty="0">
                <a:latin typeface="Times New Roman" panose="02020603050405020304" pitchFamily="18" charset="0"/>
                <a:cs typeface="Times New Roman" panose="02020603050405020304" pitchFamily="18" charset="0"/>
              </a:rPr>
              <a:t>tập hợp con người, tài </a:t>
            </a:r>
            <a:r>
              <a:rPr sz="2400">
                <a:latin typeface="Times New Roman" panose="02020603050405020304" pitchFamily="18" charset="0"/>
                <a:cs typeface="Times New Roman" panose="02020603050405020304" pitchFamily="18" charset="0"/>
              </a:rPr>
              <a:t>nguyên,</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phương </a:t>
            </a:r>
            <a:r>
              <a:rPr sz="2400" dirty="0">
                <a:latin typeface="Times New Roman" panose="02020603050405020304" pitchFamily="18" charset="0"/>
                <a:cs typeface="Times New Roman" panose="02020603050405020304" pitchFamily="18" charset="0"/>
              </a:rPr>
              <a:t>tiện, hoặc </a:t>
            </a:r>
            <a:r>
              <a:rPr sz="2400" spc="-5" dirty="0">
                <a:latin typeface="Times New Roman" panose="02020603050405020304" pitchFamily="18" charset="0"/>
                <a:cs typeface="Times New Roman" panose="02020603050405020304" pitchFamily="18" charset="0"/>
              </a:rPr>
              <a:t>những </a:t>
            </a:r>
            <a:r>
              <a:rPr sz="2400" dirty="0">
                <a:latin typeface="Times New Roman" panose="02020603050405020304" pitchFamily="18" charset="0"/>
                <a:cs typeface="Times New Roman" panose="02020603050405020304" pitchFamily="18" charset="0"/>
              </a:rPr>
              <a:t>nhóm xác </a:t>
            </a:r>
            <a:r>
              <a:rPr sz="2400" spc="-5" dirty="0">
                <a:latin typeface="Times New Roman" panose="02020603050405020304" pitchFamily="18" charset="0"/>
                <a:cs typeface="Times New Roman" panose="02020603050405020304" pitchFamily="18" charset="0"/>
              </a:rPr>
              <a:t>định </a:t>
            </a:r>
            <a:r>
              <a:rPr sz="2400" dirty="0">
                <a:latin typeface="Times New Roman" panose="02020603050405020304" pitchFamily="18" charset="0"/>
                <a:cs typeface="Times New Roman" panose="02020603050405020304" pitchFamily="18" charset="0"/>
              </a:rPr>
              <a:t>chức năng người</a:t>
            </a:r>
            <a:r>
              <a:rPr sz="2400" spc="-1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dùng</a:t>
            </a:r>
          </a:p>
          <a:p>
            <a:pPr marL="1155700" lvl="3" algn="just">
              <a:lnSpc>
                <a:spcPct val="150000"/>
              </a:lnSpc>
              <a:spcBef>
                <a:spcPts val="505"/>
              </a:spcBef>
              <a:buClr>
                <a:srgbClr val="DD8046"/>
              </a:buClr>
              <a:buSzPct val="75000"/>
              <a:tabLst>
                <a:tab pos="927735" algn="l"/>
              </a:tabLst>
            </a:pPr>
            <a:r>
              <a:rPr sz="2400" b="1" spc="-5" dirty="0">
                <a:solidFill>
                  <a:schemeClr val="tx2"/>
                </a:solidFill>
                <a:latin typeface="Times New Roman" panose="02020603050405020304" pitchFamily="18" charset="0"/>
                <a:cs typeface="Times New Roman" panose="02020603050405020304" pitchFamily="18" charset="0"/>
              </a:rPr>
              <a:t>Ví </a:t>
            </a:r>
            <a:r>
              <a:rPr sz="2400" b="1" dirty="0">
                <a:solidFill>
                  <a:schemeClr val="tx2"/>
                </a:solidFill>
                <a:latin typeface="Times New Roman" panose="02020603050405020304" pitchFamily="18" charset="0"/>
                <a:cs typeface="Times New Roman" panose="02020603050405020304" pitchFamily="18" charset="0"/>
              </a:rPr>
              <a:t>dụ: </a:t>
            </a:r>
            <a:r>
              <a:rPr sz="2400" dirty="0">
                <a:latin typeface="Times New Roman" panose="02020603050405020304" pitchFamily="18" charset="0"/>
                <a:cs typeface="Times New Roman" panose="02020603050405020304" pitchFamily="18" charset="0"/>
              </a:rPr>
              <a:t>đơn </a:t>
            </a:r>
            <a:r>
              <a:rPr sz="2400" spc="-5" dirty="0">
                <a:latin typeface="Times New Roman" panose="02020603050405020304" pitchFamily="18" charset="0"/>
                <a:cs typeface="Times New Roman" panose="02020603050405020304" pitchFamily="18" charset="0"/>
              </a:rPr>
              <a:t>vị, </a:t>
            </a:r>
            <a:r>
              <a:rPr sz="2400" dirty="0">
                <a:latin typeface="Times New Roman" panose="02020603050405020304" pitchFamily="18" charset="0"/>
                <a:cs typeface="Times New Roman" panose="02020603050405020304" pitchFamily="18" charset="0"/>
              </a:rPr>
              <a:t>bộ phận, phòng ban, chức</a:t>
            </a:r>
            <a:r>
              <a:rPr sz="2400" spc="-1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danh,…</a:t>
            </a:r>
          </a:p>
          <a:p>
            <a:pPr marL="1177925" marR="41275" lvl="2" indent="-342900" algn="just">
              <a:lnSpc>
                <a:spcPct val="150000"/>
              </a:lnSpc>
              <a:spcBef>
                <a:spcPts val="600"/>
              </a:spcBef>
              <a:buSzPct val="100000"/>
              <a:buFont typeface="Arial" panose="020B0604020202020204" pitchFamily="34" charset="0"/>
              <a:buChar char="•"/>
            </a:pPr>
            <a:r>
              <a:rPr sz="2400" b="1" dirty="0">
                <a:solidFill>
                  <a:srgbClr val="006FC0"/>
                </a:solidFill>
                <a:latin typeface="Times New Roman" panose="02020603050405020304" pitchFamily="18" charset="0"/>
                <a:cs typeface="Times New Roman" panose="02020603050405020304" pitchFamily="18" charset="0"/>
              </a:rPr>
              <a:t>Lớp con người (people): </a:t>
            </a:r>
            <a:r>
              <a:rPr sz="2400" spc="-5" dirty="0">
                <a:latin typeface="Times New Roman" panose="02020603050405020304" pitchFamily="18" charset="0"/>
                <a:cs typeface="Times New Roman" panose="02020603050405020304" pitchFamily="18" charset="0"/>
              </a:rPr>
              <a:t>lớp </a:t>
            </a:r>
            <a:r>
              <a:rPr sz="2400" dirty="0">
                <a:latin typeface="Times New Roman" panose="02020603050405020304" pitchFamily="18" charset="0"/>
                <a:cs typeface="Times New Roman" panose="02020603050405020304" pitchFamily="18" charset="0"/>
              </a:rPr>
              <a:t>con người thể </a:t>
            </a:r>
            <a:r>
              <a:rPr sz="2400" spc="-5" dirty="0">
                <a:latin typeface="Times New Roman" panose="02020603050405020304" pitchFamily="18" charset="0"/>
                <a:cs typeface="Times New Roman" panose="02020603050405020304" pitchFamily="18" charset="0"/>
              </a:rPr>
              <a:t>hiện </a:t>
            </a:r>
            <a:r>
              <a:rPr sz="2400" dirty="0">
                <a:latin typeface="Times New Roman" panose="02020603050405020304" pitchFamily="18" charset="0"/>
                <a:cs typeface="Times New Roman" panose="02020603050405020304" pitchFamily="18" charset="0"/>
              </a:rPr>
              <a:t>các vai </a:t>
            </a:r>
            <a:r>
              <a:rPr sz="2400">
                <a:latin typeface="Times New Roman" panose="02020603050405020304" pitchFamily="18" charset="0"/>
                <a:cs typeface="Times New Roman" panose="02020603050405020304" pitchFamily="18" charset="0"/>
              </a:rPr>
              <a:t>trò </a:t>
            </a:r>
            <a:r>
              <a:rPr sz="2400" spc="-65">
                <a:latin typeface="Times New Roman" panose="02020603050405020304" pitchFamily="18" charset="0"/>
                <a:cs typeface="Times New Roman" panose="02020603050405020304" pitchFamily="18" charset="0"/>
              </a:rPr>
              <a:t>khác</a:t>
            </a:r>
            <a:r>
              <a:rPr lang="en-US" sz="2400" spc="-6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nhau </a:t>
            </a:r>
            <a:r>
              <a:rPr sz="2400" dirty="0">
                <a:latin typeface="Times New Roman" panose="02020603050405020304" pitchFamily="18" charset="0"/>
                <a:cs typeface="Times New Roman" panose="02020603050405020304" pitchFamily="18" charset="0"/>
              </a:rPr>
              <a:t>của người dùng trong </a:t>
            </a:r>
            <a:r>
              <a:rPr sz="2400" spc="-5" dirty="0">
                <a:latin typeface="Times New Roman" panose="02020603050405020304" pitchFamily="18" charset="0"/>
                <a:cs typeface="Times New Roman" panose="02020603050405020304" pitchFamily="18" charset="0"/>
              </a:rPr>
              <a:t>việc </a:t>
            </a:r>
            <a:r>
              <a:rPr sz="2400" dirty="0">
                <a:latin typeface="Times New Roman" panose="02020603050405020304" pitchFamily="18" charset="0"/>
                <a:cs typeface="Times New Roman" panose="02020603050405020304" pitchFamily="18" charset="0"/>
              </a:rPr>
              <a:t>tương tác với hệ thống</a:t>
            </a:r>
            <a:r>
              <a:rPr sz="240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Những</a:t>
            </a:r>
            <a:r>
              <a:rPr lang="en-US" sz="2400"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đối </a:t>
            </a:r>
            <a:r>
              <a:rPr sz="2400" dirty="0">
                <a:latin typeface="Times New Roman" panose="02020603050405020304" pitchFamily="18" charset="0"/>
                <a:cs typeface="Times New Roman" panose="02020603050405020304" pitchFamily="18" charset="0"/>
              </a:rPr>
              <a:t>tượng này thường </a:t>
            </a:r>
            <a:r>
              <a:rPr sz="2400" spc="-5" dirty="0">
                <a:latin typeface="Times New Roman" panose="02020603050405020304" pitchFamily="18" charset="0"/>
                <a:cs typeface="Times New Roman" panose="02020603050405020304" pitchFamily="18" charset="0"/>
              </a:rPr>
              <a:t>là </a:t>
            </a:r>
            <a:r>
              <a:rPr sz="2400" dirty="0">
                <a:latin typeface="Times New Roman" panose="02020603050405020304" pitchFamily="18" charset="0"/>
                <a:cs typeface="Times New Roman" panose="02020603050405020304" pitchFamily="18" charset="0"/>
              </a:rPr>
              <a:t>người dùng hệ thống </a:t>
            </a:r>
            <a:r>
              <a:rPr sz="2400">
                <a:latin typeface="Times New Roman" panose="02020603050405020304" pitchFamily="18" charset="0"/>
                <a:cs typeface="Times New Roman" panose="02020603050405020304" pitchFamily="18" charset="0"/>
              </a:rPr>
              <a:t>hoặc </a:t>
            </a:r>
            <a:r>
              <a:rPr sz="2400" spc="-5">
                <a:latin typeface="Times New Roman" panose="02020603050405020304" pitchFamily="18" charset="0"/>
                <a:cs typeface="Times New Roman" panose="02020603050405020304" pitchFamily="18" charset="0"/>
              </a:rPr>
              <a:t>những</a:t>
            </a:r>
            <a:r>
              <a:rPr lang="en-US" sz="2400"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người </a:t>
            </a:r>
            <a:r>
              <a:rPr sz="2400" dirty="0">
                <a:latin typeface="Times New Roman" panose="02020603050405020304" pitchFamily="18" charset="0"/>
                <a:cs typeface="Times New Roman" panose="02020603050405020304" pitchFamily="18" charset="0"/>
              </a:rPr>
              <a:t>không sử dụng hệ thống </a:t>
            </a:r>
            <a:r>
              <a:rPr sz="2400" spc="-5" dirty="0">
                <a:latin typeface="Times New Roman" panose="02020603050405020304" pitchFamily="18" charset="0"/>
                <a:cs typeface="Times New Roman" panose="02020603050405020304" pitchFamily="18" charset="0"/>
              </a:rPr>
              <a:t>nhưng </a:t>
            </a:r>
            <a:r>
              <a:rPr sz="2400" dirty="0">
                <a:latin typeface="Times New Roman" panose="02020603050405020304" pitchFamily="18" charset="0"/>
                <a:cs typeface="Times New Roman" panose="02020603050405020304" pitchFamily="18" charset="0"/>
              </a:rPr>
              <a:t>thông tin </a:t>
            </a:r>
            <a:r>
              <a:rPr sz="2400" spc="-5" dirty="0">
                <a:latin typeface="Times New Roman" panose="02020603050405020304" pitchFamily="18" charset="0"/>
                <a:cs typeface="Times New Roman" panose="02020603050405020304" pitchFamily="18" charset="0"/>
              </a:rPr>
              <a:t>về </a:t>
            </a:r>
            <a:r>
              <a:rPr sz="2400" dirty="0">
                <a:latin typeface="Times New Roman" panose="02020603050405020304" pitchFamily="18" charset="0"/>
                <a:cs typeface="Times New Roman" panose="02020603050405020304" pitchFamily="18" charset="0"/>
              </a:rPr>
              <a:t>họ </a:t>
            </a:r>
            <a:r>
              <a:rPr sz="2400">
                <a:latin typeface="Times New Roman" panose="02020603050405020304" pitchFamily="18" charset="0"/>
                <a:cs typeface="Times New Roman" panose="02020603050405020304" pitchFamily="18" charset="0"/>
              </a:rPr>
              <a:t>được </a:t>
            </a:r>
            <a:r>
              <a:rPr sz="2400" spc="-5">
                <a:latin typeface="Times New Roman" panose="02020603050405020304" pitchFamily="18" charset="0"/>
                <a:cs typeface="Times New Roman" panose="02020603050405020304" pitchFamily="18" charset="0"/>
              </a:rPr>
              <a:t>lưu</a:t>
            </a:r>
            <a:r>
              <a:rPr lang="en-US" sz="2400"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trữ </a:t>
            </a:r>
            <a:r>
              <a:rPr sz="2400" dirty="0">
                <a:latin typeface="Times New Roman" panose="02020603050405020304" pitchFamily="18" charset="0"/>
                <a:cs typeface="Times New Roman" panose="02020603050405020304" pitchFamily="18" charset="0"/>
              </a:rPr>
              <a:t>bởi hệ</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thống</a:t>
            </a:r>
          </a:p>
          <a:p>
            <a:pPr marL="1155700" lvl="3" algn="just">
              <a:lnSpc>
                <a:spcPct val="150000"/>
              </a:lnSpc>
              <a:spcBef>
                <a:spcPts val="495"/>
              </a:spcBef>
              <a:buClr>
                <a:srgbClr val="DD8046"/>
              </a:buClr>
              <a:buSzPct val="75000"/>
              <a:tabLst>
                <a:tab pos="927735" algn="l"/>
              </a:tabLst>
            </a:pPr>
            <a:r>
              <a:rPr sz="2400" b="1" spc="-5" dirty="0">
                <a:solidFill>
                  <a:schemeClr val="tx2"/>
                </a:solidFill>
                <a:latin typeface="Times New Roman" panose="02020603050405020304" pitchFamily="18" charset="0"/>
                <a:cs typeface="Times New Roman" panose="02020603050405020304" pitchFamily="18" charset="0"/>
              </a:rPr>
              <a:t>Ví </a:t>
            </a:r>
            <a:r>
              <a:rPr sz="2400" b="1" dirty="0">
                <a:solidFill>
                  <a:schemeClr val="tx2"/>
                </a:solidFill>
                <a:latin typeface="Times New Roman" panose="02020603050405020304" pitchFamily="18" charset="0"/>
                <a:cs typeface="Times New Roman" panose="02020603050405020304" pitchFamily="18" charset="0"/>
              </a:rPr>
              <a:t>dụ: </a:t>
            </a:r>
            <a:r>
              <a:rPr sz="2400" dirty="0">
                <a:latin typeface="Times New Roman" panose="02020603050405020304" pitchFamily="18" charset="0"/>
                <a:cs typeface="Times New Roman" panose="02020603050405020304" pitchFamily="18" charset="0"/>
              </a:rPr>
              <a:t>Sinh viên, khách hàng, giáo viên, nhân</a:t>
            </a:r>
            <a:r>
              <a:rPr sz="2400" spc="-13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viên,…</a:t>
            </a:r>
            <a:endParaRPr sz="2400" dirty="0">
              <a:latin typeface="Times New Roman" panose="02020603050405020304" pitchFamily="18" charset="0"/>
              <a:cs typeface="Times New Roman" panose="02020603050405020304" pitchFamily="18" charset="0"/>
            </a:endParaRPr>
          </a:p>
        </p:txBody>
      </p:sp>
      <p:sp>
        <p:nvSpPr>
          <p:cNvPr id="5"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9654888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04200"/>
            <a:ext cx="12192000" cy="4357602"/>
          </a:xfrm>
          <a:prstGeom prst="rect">
            <a:avLst/>
          </a:prstGeom>
        </p:spPr>
        <p:txBody>
          <a:bodyPr vert="horz" wrap="square" lIns="0" tIns="104139" rIns="0" bIns="0" rtlCol="0">
            <a:spAutoFit/>
          </a:bodyPr>
          <a:lstStyle/>
          <a:p>
            <a:pPr marL="469900" indent="-457200" algn="just">
              <a:lnSpc>
                <a:spcPct val="150000"/>
              </a:lnSpc>
              <a:spcBef>
                <a:spcPts val="819"/>
              </a:spcBef>
              <a:buSzPct val="100000"/>
              <a:buFont typeface="Wingdings" panose="05000000000000000000" pitchFamily="2" charset="2"/>
              <a:buChar char="§"/>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a:t>
            </a:r>
            <a:r>
              <a:rPr sz="2800" b="1" spc="-5" dirty="0">
                <a:solidFill>
                  <a:srgbClr val="FF0000"/>
                </a:solidFill>
                <a:latin typeface="Times New Roman" panose="02020603050405020304" pitchFamily="18" charset="0"/>
                <a:cs typeface="Times New Roman" panose="02020603050405020304" pitchFamily="18" charset="0"/>
              </a:rPr>
              <a:t>phân</a:t>
            </a:r>
            <a:r>
              <a:rPr sz="2800" b="1" spc="3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loại:</a:t>
            </a:r>
            <a:endParaRPr sz="2800" b="1">
              <a:solidFill>
                <a:srgbClr val="FF0000"/>
              </a:solidFill>
              <a:latin typeface="Times New Roman" panose="02020603050405020304" pitchFamily="18" charset="0"/>
              <a:cs typeface="Times New Roman" panose="02020603050405020304" pitchFamily="18" charset="0"/>
            </a:endParaRPr>
          </a:p>
          <a:p>
            <a:pPr marL="1090612" marR="220979" lvl="2" indent="-342900" algn="just">
              <a:lnSpc>
                <a:spcPct val="150000"/>
              </a:lnSpc>
              <a:spcBef>
                <a:spcPts val="610"/>
              </a:spcBef>
              <a:buSzPct val="100000"/>
              <a:buFont typeface="Arial" panose="020B0604020202020204" pitchFamily="34" charset="0"/>
              <a:buChar char="•"/>
            </a:pPr>
            <a:r>
              <a:rPr sz="2400" b="1" dirty="0">
                <a:solidFill>
                  <a:srgbClr val="006FC0"/>
                </a:solidFill>
                <a:latin typeface="Times New Roman" panose="02020603050405020304" pitchFamily="18" charset="0"/>
                <a:cs typeface="Times New Roman" panose="02020603050405020304" pitchFamily="18" charset="0"/>
              </a:rPr>
              <a:t>Lớp vị </a:t>
            </a:r>
            <a:r>
              <a:rPr sz="2400" b="1" spc="-5" dirty="0">
                <a:solidFill>
                  <a:srgbClr val="006FC0"/>
                </a:solidFill>
                <a:latin typeface="Times New Roman" panose="02020603050405020304" pitchFamily="18" charset="0"/>
                <a:cs typeface="Times New Roman" panose="02020603050405020304" pitchFamily="18" charset="0"/>
              </a:rPr>
              <a:t>trí (place): </a:t>
            </a:r>
            <a:r>
              <a:rPr sz="2400" dirty="0">
                <a:latin typeface="Times New Roman" panose="02020603050405020304" pitchFamily="18" charset="0"/>
                <a:cs typeface="Times New Roman" panose="02020603050405020304" pitchFamily="18" charset="0"/>
              </a:rPr>
              <a:t>Các vị </a:t>
            </a:r>
            <a:r>
              <a:rPr sz="2400" spc="-5" dirty="0">
                <a:latin typeface="Times New Roman" panose="02020603050405020304" pitchFamily="18" charset="0"/>
                <a:cs typeface="Times New Roman" panose="02020603050405020304" pitchFamily="18" charset="0"/>
              </a:rPr>
              <a:t>trí </a:t>
            </a:r>
            <a:r>
              <a:rPr sz="2400" dirty="0">
                <a:latin typeface="Times New Roman" panose="02020603050405020304" pitchFamily="18" charset="0"/>
                <a:cs typeface="Times New Roman" panose="02020603050405020304" pitchFamily="18" charset="0"/>
              </a:rPr>
              <a:t>vật </a:t>
            </a:r>
            <a:r>
              <a:rPr sz="2400" spc="-5" dirty="0">
                <a:latin typeface="Times New Roman" panose="02020603050405020304" pitchFamily="18" charset="0"/>
                <a:cs typeface="Times New Roman" panose="02020603050405020304" pitchFamily="18" charset="0"/>
              </a:rPr>
              <a:t>lý mà hệ </a:t>
            </a:r>
            <a:r>
              <a:rPr sz="2400" dirty="0">
                <a:latin typeface="Times New Roman" panose="02020603050405020304" pitchFamily="18" charset="0"/>
                <a:cs typeface="Times New Roman" panose="02020603050405020304" pitchFamily="18" charset="0"/>
              </a:rPr>
              <a:t>thống cần mô </a:t>
            </a:r>
            <a:r>
              <a:rPr sz="2400">
                <a:latin typeface="Times New Roman" panose="02020603050405020304" pitchFamily="18" charset="0"/>
                <a:cs typeface="Times New Roman" panose="02020603050405020304" pitchFamily="18" charset="0"/>
              </a:rPr>
              <a:t>tả thông</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tin về</a:t>
            </a:r>
            <a:r>
              <a:rPr sz="2400" spc="-2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nó</a:t>
            </a:r>
            <a:endParaRPr sz="2400">
              <a:latin typeface="Times New Roman" panose="02020603050405020304" pitchFamily="18" charset="0"/>
              <a:cs typeface="Times New Roman" panose="02020603050405020304" pitchFamily="18" charset="0"/>
            </a:endParaRPr>
          </a:p>
          <a:p>
            <a:pPr marL="1155700" lvl="3" algn="just">
              <a:lnSpc>
                <a:spcPct val="150000"/>
              </a:lnSpc>
              <a:spcBef>
                <a:spcPts val="500"/>
              </a:spcBef>
              <a:buClr>
                <a:srgbClr val="DD8046"/>
              </a:buClr>
              <a:buSzPct val="75000"/>
              <a:tabLst>
                <a:tab pos="927735" algn="l"/>
              </a:tabLst>
            </a:pPr>
            <a:r>
              <a:rPr sz="2400" b="1" dirty="0">
                <a:solidFill>
                  <a:schemeClr val="tx2"/>
                </a:solidFill>
                <a:latin typeface="Times New Roman" panose="02020603050405020304" pitchFamily="18" charset="0"/>
                <a:cs typeface="Times New Roman" panose="02020603050405020304" pitchFamily="18" charset="0"/>
              </a:rPr>
              <a:t>Ví </a:t>
            </a:r>
            <a:r>
              <a:rPr sz="2400" b="1" spc="-5" dirty="0">
                <a:solidFill>
                  <a:schemeClr val="tx2"/>
                </a:solidFill>
                <a:latin typeface="Times New Roman" panose="02020603050405020304" pitchFamily="18" charset="0"/>
                <a:cs typeface="Times New Roman" panose="02020603050405020304" pitchFamily="18" charset="0"/>
              </a:rPr>
              <a:t>dụ: </a:t>
            </a:r>
            <a:r>
              <a:rPr sz="2400" dirty="0">
                <a:latin typeface="Times New Roman" panose="02020603050405020304" pitchFamily="18" charset="0"/>
                <a:cs typeface="Times New Roman" panose="02020603050405020304" pitchFamily="18" charset="0"/>
              </a:rPr>
              <a:t>toà </a:t>
            </a:r>
            <a:r>
              <a:rPr sz="2400" spc="-5" dirty="0">
                <a:latin typeface="Times New Roman" panose="02020603050405020304" pitchFamily="18" charset="0"/>
                <a:cs typeface="Times New Roman" panose="02020603050405020304" pitchFamily="18" charset="0"/>
              </a:rPr>
              <a:t>nhà, </a:t>
            </a:r>
            <a:r>
              <a:rPr sz="2400" dirty="0">
                <a:latin typeface="Times New Roman" panose="02020603050405020304" pitchFamily="18" charset="0"/>
                <a:cs typeface="Times New Roman" panose="02020603050405020304" pitchFamily="18" charset="0"/>
              </a:rPr>
              <a:t>kho, văn </a:t>
            </a:r>
            <a:r>
              <a:rPr sz="2400" spc="-5" dirty="0">
                <a:latin typeface="Times New Roman" panose="02020603050405020304" pitchFamily="18" charset="0"/>
                <a:cs typeface="Times New Roman" panose="02020603050405020304" pitchFamily="18" charset="0"/>
              </a:rPr>
              <a:t>phòng, </a:t>
            </a:r>
            <a:r>
              <a:rPr sz="2400" dirty="0">
                <a:latin typeface="Times New Roman" panose="02020603050405020304" pitchFamily="18" charset="0"/>
                <a:cs typeface="Times New Roman" panose="02020603050405020304" pitchFamily="18" charset="0"/>
              </a:rPr>
              <a:t>chi </a:t>
            </a:r>
            <a:r>
              <a:rPr sz="2400" spc="-5" dirty="0">
                <a:latin typeface="Times New Roman" panose="02020603050405020304" pitchFamily="18" charset="0"/>
                <a:cs typeface="Times New Roman" panose="02020603050405020304" pitchFamily="18" charset="0"/>
              </a:rPr>
              <a:t>nhánh, đại</a:t>
            </a:r>
            <a:r>
              <a:rPr sz="2400" spc="-16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lý,…</a:t>
            </a:r>
            <a:endParaRPr sz="2400">
              <a:latin typeface="Times New Roman" panose="02020603050405020304" pitchFamily="18" charset="0"/>
              <a:cs typeface="Times New Roman" panose="02020603050405020304" pitchFamily="18" charset="0"/>
            </a:endParaRPr>
          </a:p>
          <a:p>
            <a:pPr marL="1090612" marR="5080" lvl="2" indent="-342900" algn="just">
              <a:lnSpc>
                <a:spcPct val="150000"/>
              </a:lnSpc>
              <a:spcBef>
                <a:spcPts val="600"/>
              </a:spcBef>
              <a:buSzPct val="100000"/>
              <a:buFont typeface="Arial" panose="020B0604020202020204" pitchFamily="34" charset="0"/>
              <a:buChar char="•"/>
            </a:pPr>
            <a:r>
              <a:rPr sz="2400" b="1">
                <a:solidFill>
                  <a:srgbClr val="006FC0"/>
                </a:solidFill>
                <a:latin typeface="Times New Roman" panose="02020603050405020304" pitchFamily="18" charset="0"/>
                <a:cs typeface="Times New Roman" panose="02020603050405020304" pitchFamily="18" charset="0"/>
              </a:rPr>
              <a:t>Lớp </a:t>
            </a:r>
            <a:r>
              <a:rPr sz="2400" b="1" dirty="0">
                <a:solidFill>
                  <a:srgbClr val="006FC0"/>
                </a:solidFill>
                <a:latin typeface="Times New Roman" panose="02020603050405020304" pitchFamily="18" charset="0"/>
                <a:cs typeface="Times New Roman" panose="02020603050405020304" pitchFamily="18" charset="0"/>
              </a:rPr>
              <a:t>sự vật </a:t>
            </a:r>
            <a:r>
              <a:rPr sz="2400" b="1" spc="-5" dirty="0">
                <a:solidFill>
                  <a:srgbClr val="006FC0"/>
                </a:solidFill>
                <a:latin typeface="Times New Roman" panose="02020603050405020304" pitchFamily="18" charset="0"/>
                <a:cs typeface="Times New Roman" panose="02020603050405020304" pitchFamily="18" charset="0"/>
              </a:rPr>
              <a:t>hữu hình </a:t>
            </a:r>
            <a:r>
              <a:rPr sz="2400" b="1" dirty="0">
                <a:solidFill>
                  <a:srgbClr val="006FC0"/>
                </a:solidFill>
                <a:latin typeface="Times New Roman" panose="02020603050405020304" pitchFamily="18" charset="0"/>
                <a:cs typeface="Times New Roman" panose="02020603050405020304" pitchFamily="18" charset="0"/>
              </a:rPr>
              <a:t>và thiết bị</a:t>
            </a:r>
            <a:r>
              <a:rPr sz="2400" b="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các </a:t>
            </a:r>
            <a:r>
              <a:rPr sz="2400" spc="-5" dirty="0">
                <a:latin typeface="Times New Roman" panose="02020603050405020304" pitchFamily="18" charset="0"/>
                <a:cs typeface="Times New Roman" panose="02020603050405020304" pitchFamily="18" charset="0"/>
              </a:rPr>
              <a:t>đối tượng </a:t>
            </a:r>
            <a:r>
              <a:rPr sz="2400" dirty="0">
                <a:latin typeface="Times New Roman" panose="02020603050405020304" pitchFamily="18" charset="0"/>
                <a:cs typeface="Times New Roman" panose="02020603050405020304" pitchFamily="18" charset="0"/>
              </a:rPr>
              <a:t>vật </a:t>
            </a:r>
            <a:r>
              <a:rPr sz="2400" spc="-5" dirty="0">
                <a:latin typeface="Times New Roman" panose="02020603050405020304" pitchFamily="18" charset="0"/>
                <a:cs typeface="Times New Roman" panose="02020603050405020304" pitchFamily="18" charset="0"/>
              </a:rPr>
              <a:t>lý </a:t>
            </a:r>
            <a:r>
              <a:rPr sz="2400" spc="-5">
                <a:latin typeface="Times New Roman" panose="02020603050405020304" pitchFamily="18" charset="0"/>
                <a:cs typeface="Times New Roman" panose="02020603050405020304" pitchFamily="18" charset="0"/>
              </a:rPr>
              <a:t>hoặc </a:t>
            </a:r>
            <a:r>
              <a:rPr sz="2400">
                <a:latin typeface="Times New Roman" panose="02020603050405020304" pitchFamily="18" charset="0"/>
                <a:cs typeface="Times New Roman" panose="02020603050405020304" pitchFamily="18" charset="0"/>
              </a:rPr>
              <a:t>các</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nhóm </a:t>
            </a:r>
            <a:r>
              <a:rPr sz="2400" dirty="0">
                <a:latin typeface="Times New Roman" panose="02020603050405020304" pitchFamily="18" charset="0"/>
                <a:cs typeface="Times New Roman" panose="02020603050405020304" pitchFamily="18" charset="0"/>
              </a:rPr>
              <a:t>của </a:t>
            </a:r>
            <a:r>
              <a:rPr sz="2400" spc="-5" dirty="0">
                <a:latin typeface="Times New Roman" panose="02020603050405020304" pitchFamily="18" charset="0"/>
                <a:cs typeface="Times New Roman" panose="02020603050405020304" pitchFamily="18" charset="0"/>
              </a:rPr>
              <a:t>đối </a:t>
            </a:r>
            <a:r>
              <a:rPr sz="2400" dirty="0">
                <a:latin typeface="Times New Roman" panose="02020603050405020304" pitchFamily="18" charset="0"/>
                <a:cs typeface="Times New Roman" panose="02020603050405020304" pitchFamily="18" charset="0"/>
              </a:rPr>
              <a:t>tượng hữu </a:t>
            </a:r>
            <a:r>
              <a:rPr sz="2400" spc="-5" dirty="0">
                <a:latin typeface="Times New Roman" panose="02020603050405020304" pitchFamily="18" charset="0"/>
                <a:cs typeface="Times New Roman" panose="02020603050405020304" pitchFamily="18" charset="0"/>
              </a:rPr>
              <a:t>hình </a:t>
            </a:r>
            <a:r>
              <a:rPr sz="2400" dirty="0">
                <a:latin typeface="Times New Roman" panose="02020603050405020304" pitchFamily="18" charset="0"/>
                <a:cs typeface="Times New Roman" panose="02020603050405020304" pitchFamily="18" charset="0"/>
              </a:rPr>
              <a:t>mà có thể cảm </a:t>
            </a:r>
            <a:r>
              <a:rPr sz="2400" spc="-5" dirty="0">
                <a:latin typeface="Times New Roman" panose="02020603050405020304" pitchFamily="18" charset="0"/>
                <a:cs typeface="Times New Roman" panose="02020603050405020304" pitchFamily="18" charset="0"/>
              </a:rPr>
              <a:t>nhận </a:t>
            </a:r>
            <a:r>
              <a:rPr sz="2400" dirty="0">
                <a:latin typeface="Times New Roman" panose="02020603050405020304" pitchFamily="18" charset="0"/>
                <a:cs typeface="Times New Roman" panose="02020603050405020304" pitchFamily="18" charset="0"/>
              </a:rPr>
              <a:t>trực </a:t>
            </a:r>
            <a:r>
              <a:rPr sz="2400" spc="-5">
                <a:latin typeface="Times New Roman" panose="02020603050405020304" pitchFamily="18" charset="0"/>
                <a:cs typeface="Times New Roman" panose="02020603050405020304" pitchFamily="18" charset="0"/>
              </a:rPr>
              <a:t>quan</a:t>
            </a:r>
            <a:r>
              <a:rPr sz="2400" spc="-204">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và</a:t>
            </a:r>
            <a:r>
              <a:rPr lang="en-US" sz="2400"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các </a:t>
            </a:r>
            <a:r>
              <a:rPr sz="2400" dirty="0">
                <a:latin typeface="Times New Roman" panose="02020603050405020304" pitchFamily="18" charset="0"/>
                <a:cs typeface="Times New Roman" panose="02020603050405020304" pitchFamily="18" charset="0"/>
              </a:rPr>
              <a:t>thiết </a:t>
            </a:r>
            <a:r>
              <a:rPr sz="2400" spc="-5" dirty="0">
                <a:latin typeface="Times New Roman" panose="02020603050405020304" pitchFamily="18" charset="0"/>
                <a:cs typeface="Times New Roman" panose="02020603050405020304" pitchFamily="18" charset="0"/>
              </a:rPr>
              <a:t>bị </a:t>
            </a:r>
            <a:r>
              <a:rPr sz="2400" dirty="0">
                <a:latin typeface="Times New Roman" panose="02020603050405020304" pitchFamily="18" charset="0"/>
                <a:cs typeface="Times New Roman" panose="02020603050405020304" pitchFamily="18" charset="0"/>
              </a:rPr>
              <a:t>mà </a:t>
            </a:r>
            <a:r>
              <a:rPr sz="2400" spc="-5" dirty="0">
                <a:latin typeface="Times New Roman" panose="02020603050405020304" pitchFamily="18" charset="0"/>
                <a:cs typeface="Times New Roman" panose="02020603050405020304" pitchFamily="18" charset="0"/>
              </a:rPr>
              <a:t>hệ </a:t>
            </a:r>
            <a:r>
              <a:rPr sz="2400" dirty="0">
                <a:latin typeface="Times New Roman" panose="02020603050405020304" pitchFamily="18" charset="0"/>
                <a:cs typeface="Times New Roman" panose="02020603050405020304" pitchFamily="18" charset="0"/>
              </a:rPr>
              <a:t>thống </a:t>
            </a:r>
            <a:r>
              <a:rPr sz="2400">
                <a:latin typeface="Times New Roman" panose="02020603050405020304" pitchFamily="18" charset="0"/>
                <a:cs typeface="Times New Roman" panose="02020603050405020304" pitchFamily="18" charset="0"/>
              </a:rPr>
              <a:t>tương</a:t>
            </a:r>
            <a:r>
              <a:rPr sz="2400" spc="-12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tác</a:t>
            </a:r>
          </a:p>
          <a:p>
            <a:pPr marL="1155700" marR="20320" lvl="3" algn="just">
              <a:lnSpc>
                <a:spcPct val="150000"/>
              </a:lnSpc>
              <a:spcBef>
                <a:spcPts val="495"/>
              </a:spcBef>
              <a:buClr>
                <a:srgbClr val="DD8046"/>
              </a:buClr>
              <a:buSzPct val="75000"/>
              <a:tabLst>
                <a:tab pos="927735" algn="l"/>
              </a:tabLst>
            </a:pPr>
            <a:r>
              <a:rPr sz="2400" b="1" dirty="0">
                <a:solidFill>
                  <a:schemeClr val="tx2"/>
                </a:solidFill>
                <a:latin typeface="Times New Roman" panose="02020603050405020304" pitchFamily="18" charset="0"/>
                <a:cs typeface="Times New Roman" panose="02020603050405020304" pitchFamily="18" charset="0"/>
              </a:rPr>
              <a:t>Ví </a:t>
            </a:r>
            <a:r>
              <a:rPr sz="2400" b="1" spc="-5" dirty="0">
                <a:solidFill>
                  <a:schemeClr val="tx2"/>
                </a:solidFill>
                <a:latin typeface="Times New Roman" panose="02020603050405020304" pitchFamily="18" charset="0"/>
                <a:cs typeface="Times New Roman" panose="02020603050405020304" pitchFamily="18" charset="0"/>
              </a:rPr>
              <a:t>dụ: </a:t>
            </a:r>
            <a:r>
              <a:rPr sz="2400" dirty="0">
                <a:latin typeface="Times New Roman" panose="02020603050405020304" pitchFamily="18" charset="0"/>
                <a:cs typeface="Times New Roman" panose="02020603050405020304" pitchFamily="18" charset="0"/>
              </a:rPr>
              <a:t>xe hơi, máy </a:t>
            </a:r>
            <a:r>
              <a:rPr sz="2400" spc="-40" dirty="0">
                <a:latin typeface="Times New Roman" panose="02020603050405020304" pitchFamily="18" charset="0"/>
                <a:cs typeface="Times New Roman" panose="02020603050405020304" pitchFamily="18" charset="0"/>
              </a:rPr>
              <a:t>bay, </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là </a:t>
            </a:r>
            <a:r>
              <a:rPr sz="2400" dirty="0">
                <a:latin typeface="Times New Roman" panose="02020603050405020304" pitchFamily="18" charset="0"/>
                <a:cs typeface="Times New Roman" panose="02020603050405020304" pitchFamily="18" charset="0"/>
              </a:rPr>
              <a:t>các sự vật </a:t>
            </a:r>
            <a:r>
              <a:rPr sz="2400" spc="-5" dirty="0">
                <a:latin typeface="Times New Roman" panose="02020603050405020304" pitchFamily="18" charset="0"/>
                <a:cs typeface="Times New Roman" panose="02020603050405020304" pitchFamily="18" charset="0"/>
              </a:rPr>
              <a:t>hữu hình; </a:t>
            </a:r>
            <a:r>
              <a:rPr sz="2400" dirty="0">
                <a:latin typeface="Times New Roman" panose="02020603050405020304" pitchFamily="18" charset="0"/>
                <a:cs typeface="Times New Roman" panose="02020603050405020304" pitchFamily="18" charset="0"/>
              </a:rPr>
              <a:t>thiết </a:t>
            </a:r>
            <a:r>
              <a:rPr sz="2400" spc="-5">
                <a:latin typeface="Times New Roman" panose="02020603050405020304" pitchFamily="18" charset="0"/>
                <a:cs typeface="Times New Roman" panose="02020603050405020304" pitchFamily="18" charset="0"/>
              </a:rPr>
              <a:t>bị</a:t>
            </a:r>
            <a:r>
              <a:rPr sz="2400" spc="-16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cảm</a:t>
            </a:r>
            <a:r>
              <a:rPr lang="en-US" sz="240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ứng </a:t>
            </a:r>
            <a:r>
              <a:rPr sz="2400" spc="-5" dirty="0">
                <a:latin typeface="Times New Roman" panose="02020603050405020304" pitchFamily="18" charset="0"/>
                <a:cs typeface="Times New Roman" panose="02020603050405020304" pitchFamily="18" charset="0"/>
              </a:rPr>
              <a:t>nhiệt là </a:t>
            </a:r>
            <a:r>
              <a:rPr sz="2400" dirty="0">
                <a:latin typeface="Times New Roman" panose="02020603050405020304" pitchFamily="18" charset="0"/>
                <a:cs typeface="Times New Roman" panose="02020603050405020304" pitchFamily="18" charset="0"/>
              </a:rPr>
              <a:t>một </a:t>
            </a:r>
            <a:r>
              <a:rPr sz="2400" spc="-5" dirty="0">
                <a:latin typeface="Times New Roman" panose="02020603050405020304" pitchFamily="18" charset="0"/>
                <a:cs typeface="Times New Roman" panose="02020603050405020304" pitchFamily="18" charset="0"/>
              </a:rPr>
              <a:t>lớp </a:t>
            </a:r>
            <a:r>
              <a:rPr sz="2400">
                <a:latin typeface="Times New Roman" panose="02020603050405020304" pitchFamily="18" charset="0"/>
                <a:cs typeface="Times New Roman" panose="02020603050405020304" pitchFamily="18" charset="0"/>
              </a:rPr>
              <a:t>thiết</a:t>
            </a:r>
            <a:r>
              <a:rPr sz="2400" spc="-7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bị</a:t>
            </a:r>
            <a:endParaRPr sz="2200">
              <a:latin typeface="Times New Roman" panose="02020603050405020304" pitchFamily="18" charset="0"/>
              <a:cs typeface="Times New Roman" panose="02020603050405020304" pitchFamily="18" charset="0"/>
            </a:endParaRPr>
          </a:p>
        </p:txBody>
      </p:sp>
      <p:sp>
        <p:nvSpPr>
          <p:cNvPr id="5"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9074946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 y="974686"/>
            <a:ext cx="5239690" cy="536043"/>
          </a:xfrm>
          <a:prstGeom prst="rect">
            <a:avLst/>
          </a:prstGeom>
        </p:spPr>
        <p:txBody>
          <a:bodyPr vert="horz" wrap="square" lIns="0" tIns="104139" rIns="0" bIns="0" rtlCol="0">
            <a:spAutoFit/>
          </a:bodyPr>
          <a:lstStyle/>
          <a:p>
            <a:pPr marL="355600" indent="-342900">
              <a:spcBef>
                <a:spcPts val="819"/>
              </a:spcBef>
              <a:buSzPct val="100000"/>
              <a:buFont typeface="Wingdings" panose="05000000000000000000" pitchFamily="2" charset="2"/>
              <a:buChar char="§"/>
              <a:tabLst>
                <a:tab pos="332105" algn="l"/>
                <a:tab pos="332740" algn="l"/>
              </a:tabLst>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a:t>
            </a:r>
            <a:r>
              <a:rPr sz="2800" b="1" spc="-5">
                <a:solidFill>
                  <a:srgbClr val="FF0000"/>
                </a:solidFill>
                <a:latin typeface="Times New Roman" panose="02020603050405020304" pitchFamily="18" charset="0"/>
                <a:cs typeface="Times New Roman" panose="02020603050405020304" pitchFamily="18" charset="0"/>
              </a:rPr>
              <a:t>phân</a:t>
            </a:r>
            <a:r>
              <a:rPr sz="2800" b="1" spc="-20">
                <a:solidFill>
                  <a:srgbClr val="FF0000"/>
                </a:solidFill>
                <a:latin typeface="Times New Roman" panose="02020603050405020304" pitchFamily="18" charset="0"/>
                <a:cs typeface="Times New Roman" panose="02020603050405020304" pitchFamily="18" charset="0"/>
              </a:rPr>
              <a:t> </a:t>
            </a:r>
            <a:r>
              <a:rPr sz="2800" b="1" spc="-15">
                <a:solidFill>
                  <a:srgbClr val="FF0000"/>
                </a:solidFill>
                <a:latin typeface="Times New Roman" panose="02020603050405020304" pitchFamily="18" charset="0"/>
                <a:cs typeface="Times New Roman" panose="02020603050405020304" pitchFamily="18" charset="0"/>
              </a:rPr>
              <a:t>loại</a:t>
            </a:r>
            <a:r>
              <a:rPr lang="en-US" sz="2800" b="1" spc="-15">
                <a:solidFill>
                  <a:srgbClr val="FF0000"/>
                </a:solidFill>
                <a:latin typeface="Times New Roman" panose="02020603050405020304" pitchFamily="18" charset="0"/>
                <a:cs typeface="Times New Roman" panose="02020603050405020304" pitchFamily="18" charset="0"/>
              </a:rPr>
              <a:t>:</a:t>
            </a:r>
            <a:endParaRPr sz="2800" b="1">
              <a:solidFill>
                <a:srgbClr val="FF000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2565493" y="3656444"/>
            <a:ext cx="2997108" cy="443711"/>
          </a:xfrm>
          <a:prstGeom prst="rect">
            <a:avLst/>
          </a:prstGeom>
        </p:spPr>
        <p:txBody>
          <a:bodyPr vert="horz" wrap="square" lIns="0" tIns="12700" rIns="0" bIns="0" rtlCol="0">
            <a:spAutoFit/>
          </a:bodyPr>
          <a:lstStyle/>
          <a:p>
            <a:pPr marL="355600" indent="-342900">
              <a:spcBef>
                <a:spcPts val="100"/>
              </a:spcBef>
              <a:buSzPct val="100000"/>
              <a:buFont typeface="Arial" panose="020B0604020202020204" pitchFamily="34" charset="0"/>
              <a:buChar char="•"/>
              <a:tabLst>
                <a:tab pos="241300" algn="l"/>
              </a:tabLst>
            </a:pPr>
            <a:r>
              <a:rPr sz="2800" dirty="0">
                <a:latin typeface="Times New Roman" panose="02020603050405020304" pitchFamily="18" charset="0"/>
                <a:cs typeface="Times New Roman" panose="02020603050405020304" pitchFamily="18" charset="0"/>
              </a:rPr>
              <a:t>Các </a:t>
            </a:r>
            <a:r>
              <a:rPr sz="2800" spc="-5" dirty="0">
                <a:latin typeface="Times New Roman" panose="02020603050405020304" pitchFamily="18" charset="0"/>
                <a:cs typeface="Times New Roman" panose="02020603050405020304" pitchFamily="18" charset="0"/>
              </a:rPr>
              <a:t>lớp </a:t>
            </a:r>
            <a:r>
              <a:rPr sz="2800" dirty="0">
                <a:latin typeface="Times New Roman" panose="02020603050405020304" pitchFamily="18" charset="0"/>
                <a:cs typeface="Times New Roman" panose="02020603050405020304" pitchFamily="18" charset="0"/>
              </a:rPr>
              <a:t>sự</a:t>
            </a:r>
            <a:r>
              <a:rPr sz="2800" spc="-9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kiện:</a:t>
            </a:r>
            <a:endParaRPr sz="2800">
              <a:latin typeface="Times New Roman" panose="02020603050405020304" pitchFamily="18" charset="0"/>
              <a:cs typeface="Times New Roman" panose="02020603050405020304" pitchFamily="18" charset="0"/>
            </a:endParaRPr>
          </a:p>
        </p:txBody>
      </p:sp>
      <p:sp>
        <p:nvSpPr>
          <p:cNvPr id="5" name="object 5"/>
          <p:cNvSpPr txBox="1"/>
          <p:nvPr/>
        </p:nvSpPr>
        <p:spPr>
          <a:xfrm>
            <a:off x="2565492" y="5028044"/>
            <a:ext cx="2997108" cy="443711"/>
          </a:xfrm>
          <a:prstGeom prst="rect">
            <a:avLst/>
          </a:prstGeom>
        </p:spPr>
        <p:txBody>
          <a:bodyPr vert="horz" wrap="square" lIns="0" tIns="12700" rIns="0" bIns="0" rtlCol="0">
            <a:spAutoFit/>
          </a:bodyPr>
          <a:lstStyle/>
          <a:p>
            <a:pPr marL="355600" indent="-342900">
              <a:spcBef>
                <a:spcPts val="100"/>
              </a:spcBef>
              <a:buSzPct val="100000"/>
              <a:buFont typeface="Arial" panose="020B0604020202020204" pitchFamily="34" charset="0"/>
              <a:buChar char="•"/>
              <a:tabLst>
                <a:tab pos="241300" algn="l"/>
              </a:tabLst>
            </a:pPr>
            <a:r>
              <a:rPr sz="2800" dirty="0">
                <a:latin typeface="Times New Roman" panose="02020603050405020304" pitchFamily="18" charset="0"/>
                <a:cs typeface="Times New Roman" panose="02020603050405020304" pitchFamily="18" charset="0"/>
              </a:rPr>
              <a:t>Các </a:t>
            </a:r>
            <a:r>
              <a:rPr sz="2800" spc="-5" dirty="0">
                <a:latin typeface="Times New Roman" panose="02020603050405020304" pitchFamily="18" charset="0"/>
                <a:cs typeface="Times New Roman" panose="02020603050405020304" pitchFamily="18" charset="0"/>
              </a:rPr>
              <a:t>lớp </a:t>
            </a:r>
            <a:r>
              <a:rPr sz="2800" dirty="0">
                <a:latin typeface="Times New Roman" panose="02020603050405020304" pitchFamily="18" charset="0"/>
                <a:cs typeface="Times New Roman" panose="02020603050405020304" pitchFamily="18" charset="0"/>
              </a:rPr>
              <a:t>tổ</a:t>
            </a:r>
            <a:r>
              <a:rPr sz="2800" spc="-1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chức:</a:t>
            </a:r>
            <a:endParaRPr sz="2800">
              <a:latin typeface="Times New Roman" panose="02020603050405020304" pitchFamily="18" charset="0"/>
              <a:cs typeface="Times New Roman" panose="02020603050405020304" pitchFamily="18" charset="0"/>
            </a:endParaRPr>
          </a:p>
        </p:txBody>
      </p:sp>
      <p:sp>
        <p:nvSpPr>
          <p:cNvPr id="6" name="object 6"/>
          <p:cNvSpPr txBox="1"/>
          <p:nvPr/>
        </p:nvSpPr>
        <p:spPr>
          <a:xfrm>
            <a:off x="5710290" y="2372107"/>
            <a:ext cx="1833509" cy="471924"/>
          </a:xfrm>
          <a:prstGeom prst="rect">
            <a:avLst/>
          </a:prstGeom>
          <a:solidFill>
            <a:srgbClr val="EBDDC3"/>
          </a:solidFill>
          <a:ln w="3175">
            <a:solidFill>
              <a:srgbClr val="000000"/>
            </a:solidFill>
          </a:ln>
        </p:spPr>
        <p:txBody>
          <a:bodyPr vert="horz" wrap="square" lIns="0" tIns="40640" rIns="0" bIns="0" rtlCol="0">
            <a:spAutoFit/>
          </a:bodyPr>
          <a:lstStyle/>
          <a:p>
            <a:pPr marL="196850" indent="39688">
              <a:spcBef>
                <a:spcPts val="320"/>
              </a:spcBef>
            </a:pPr>
            <a:r>
              <a:rPr sz="2800" spc="-5" dirty="0">
                <a:latin typeface="Times New Roman" panose="02020603050405020304" pitchFamily="18" charset="0"/>
                <a:cs typeface="Times New Roman" panose="02020603050405020304" pitchFamily="18" charset="0"/>
              </a:rPr>
              <a:t>TàiKhoản</a:t>
            </a:r>
            <a:endParaRPr sz="2800">
              <a:latin typeface="Times New Roman" panose="02020603050405020304" pitchFamily="18" charset="0"/>
              <a:cs typeface="Times New Roman" panose="02020603050405020304" pitchFamily="18" charset="0"/>
            </a:endParaRPr>
          </a:p>
        </p:txBody>
      </p:sp>
      <p:sp>
        <p:nvSpPr>
          <p:cNvPr id="7" name="object 7"/>
          <p:cNvSpPr txBox="1"/>
          <p:nvPr/>
        </p:nvSpPr>
        <p:spPr>
          <a:xfrm>
            <a:off x="5793544" y="3594502"/>
            <a:ext cx="1750255" cy="511037"/>
          </a:xfrm>
          <a:prstGeom prst="rect">
            <a:avLst/>
          </a:prstGeom>
          <a:solidFill>
            <a:srgbClr val="EBDDC3"/>
          </a:solidFill>
          <a:ln w="3175">
            <a:solidFill>
              <a:srgbClr val="000000"/>
            </a:solidFill>
          </a:ln>
        </p:spPr>
        <p:txBody>
          <a:bodyPr vert="horz" wrap="square" lIns="0" tIns="79375" rIns="0" bIns="0" rtlCol="0">
            <a:spAutoFit/>
          </a:bodyPr>
          <a:lstStyle/>
          <a:p>
            <a:pPr marL="90488" indent="85725">
              <a:spcBef>
                <a:spcPts val="625"/>
              </a:spcBef>
            </a:pPr>
            <a:r>
              <a:rPr sz="2800" spc="-5" dirty="0">
                <a:latin typeface="Times New Roman" panose="02020603050405020304" pitchFamily="18" charset="0"/>
                <a:cs typeface="Times New Roman" panose="02020603050405020304" pitchFamily="18" charset="0"/>
              </a:rPr>
              <a:t>GiaoDịch</a:t>
            </a:r>
            <a:endParaRPr sz="2800">
              <a:latin typeface="Times New Roman" panose="02020603050405020304" pitchFamily="18" charset="0"/>
              <a:cs typeface="Times New Roman" panose="02020603050405020304" pitchFamily="18" charset="0"/>
            </a:endParaRPr>
          </a:p>
        </p:txBody>
      </p:sp>
      <p:sp>
        <p:nvSpPr>
          <p:cNvPr id="8" name="object 8"/>
          <p:cNvSpPr txBox="1"/>
          <p:nvPr/>
        </p:nvSpPr>
        <p:spPr>
          <a:xfrm>
            <a:off x="5751917" y="4950471"/>
            <a:ext cx="1791882" cy="511037"/>
          </a:xfrm>
          <a:prstGeom prst="rect">
            <a:avLst/>
          </a:prstGeom>
          <a:solidFill>
            <a:srgbClr val="EBDDC3"/>
          </a:solidFill>
          <a:ln w="3175">
            <a:solidFill>
              <a:srgbClr val="000000"/>
            </a:solidFill>
          </a:ln>
        </p:spPr>
        <p:txBody>
          <a:bodyPr vert="horz" wrap="square" lIns="0" tIns="79375" rIns="0" bIns="0" rtlCol="0">
            <a:spAutoFit/>
          </a:bodyPr>
          <a:lstStyle/>
          <a:p>
            <a:pPr marL="139700" indent="36513">
              <a:spcBef>
                <a:spcPts val="625"/>
              </a:spcBef>
            </a:pPr>
            <a:r>
              <a:rPr sz="2800" spc="-5" dirty="0">
                <a:latin typeface="Times New Roman" panose="02020603050405020304" pitchFamily="18" charset="0"/>
                <a:cs typeface="Times New Roman" panose="02020603050405020304" pitchFamily="18" charset="0"/>
              </a:rPr>
              <a:t>NgânHàng</a:t>
            </a:r>
            <a:endParaRPr sz="2800">
              <a:latin typeface="Times New Roman" panose="02020603050405020304" pitchFamily="18" charset="0"/>
              <a:cs typeface="Times New Roman" panose="02020603050405020304" pitchFamily="18" charset="0"/>
            </a:endParaRPr>
          </a:p>
        </p:txBody>
      </p:sp>
      <p:sp>
        <p:nvSpPr>
          <p:cNvPr id="9"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10" name="object 4"/>
          <p:cNvSpPr txBox="1"/>
          <p:nvPr/>
        </p:nvSpPr>
        <p:spPr>
          <a:xfrm>
            <a:off x="2514600" y="2372107"/>
            <a:ext cx="3200400" cy="443711"/>
          </a:xfrm>
          <a:prstGeom prst="rect">
            <a:avLst/>
          </a:prstGeom>
        </p:spPr>
        <p:txBody>
          <a:bodyPr vert="horz" wrap="square" lIns="0" tIns="12700" rIns="0" bIns="0" rtlCol="0">
            <a:spAutoFit/>
          </a:bodyPr>
          <a:lstStyle/>
          <a:p>
            <a:pPr marL="355600" indent="-342900">
              <a:spcBef>
                <a:spcPts val="100"/>
              </a:spcBef>
              <a:buSzPct val="100000"/>
              <a:buFont typeface="Arial" panose="020B0604020202020204" pitchFamily="34" charset="0"/>
              <a:buChar char="•"/>
              <a:tabLst>
                <a:tab pos="241300" algn="l"/>
              </a:tabLst>
            </a:pPr>
            <a:r>
              <a:rPr lang="en-US" sz="2800">
                <a:latin typeface="Times New Roman" panose="02020603050405020304" pitchFamily="18" charset="0"/>
                <a:cs typeface="Times New Roman" panose="02020603050405020304" pitchFamily="18" charset="0"/>
              </a:rPr>
              <a:t>Các lớp khái niệm:</a:t>
            </a:r>
            <a:endParaRPr sz="2800">
              <a:latin typeface="Times New Roman" panose="02020603050405020304" pitchFamily="18" charset="0"/>
              <a:cs typeface="Times New Roman" panose="02020603050405020304" pitchFamily="18" charset="0"/>
            </a:endParaRPr>
          </a:p>
        </p:txBody>
      </p:sp>
      <p:sp>
        <p:nvSpPr>
          <p:cNvPr id="11"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9640269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 y="1092818"/>
            <a:ext cx="5126025" cy="535403"/>
          </a:xfrm>
          <a:prstGeom prst="rect">
            <a:avLst/>
          </a:prstGeom>
        </p:spPr>
        <p:txBody>
          <a:bodyPr vert="horz" wrap="square" lIns="0" tIns="103505" rIns="0" bIns="0" rtlCol="0">
            <a:spAutoFit/>
          </a:bodyPr>
          <a:lstStyle/>
          <a:p>
            <a:pPr marL="355600" indent="-342900">
              <a:spcBef>
                <a:spcPts val="815"/>
              </a:spcBef>
              <a:buSzPct val="100000"/>
              <a:buFont typeface="Wingdings" panose="05000000000000000000" pitchFamily="2" charset="2"/>
              <a:buChar char="§"/>
              <a:tabLst>
                <a:tab pos="332105" algn="l"/>
                <a:tab pos="332740" algn="l"/>
              </a:tabLst>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a:t>
            </a:r>
            <a:r>
              <a:rPr sz="2800" b="1" spc="-5" dirty="0">
                <a:solidFill>
                  <a:srgbClr val="FF0000"/>
                </a:solidFill>
                <a:latin typeface="Times New Roman" panose="02020603050405020304" pitchFamily="18" charset="0"/>
                <a:cs typeface="Times New Roman" panose="02020603050405020304" pitchFamily="18" charset="0"/>
              </a:rPr>
              <a:t>phân</a:t>
            </a:r>
            <a:r>
              <a:rPr sz="2800" b="1" spc="-35" dirty="0">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loại:</a:t>
            </a:r>
            <a:endParaRPr sz="2800" b="1">
              <a:solidFill>
                <a:srgbClr val="FF000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295400" y="3703102"/>
            <a:ext cx="5453853" cy="443711"/>
          </a:xfrm>
          <a:prstGeom prst="rect">
            <a:avLst/>
          </a:prstGeom>
        </p:spPr>
        <p:txBody>
          <a:bodyPr vert="horz" wrap="square" lIns="0" tIns="12700" rIns="0" bIns="0" rtlCol="0">
            <a:spAutoFit/>
          </a:bodyPr>
          <a:lstStyle/>
          <a:p>
            <a:pPr marL="355600" indent="-342900">
              <a:spcBef>
                <a:spcPts val="100"/>
              </a:spcBef>
              <a:buSzPct val="100000"/>
              <a:buFont typeface="Arial" panose="020B0604020202020204" pitchFamily="34" charset="0"/>
              <a:buChar char="•"/>
              <a:tabLst>
                <a:tab pos="241300" algn="l"/>
              </a:tabLst>
            </a:pPr>
            <a:r>
              <a:rPr sz="2800" dirty="0">
                <a:latin typeface="Times New Roman" panose="02020603050405020304" pitchFamily="18" charset="0"/>
                <a:cs typeface="Times New Roman" panose="02020603050405020304" pitchFamily="18" charset="0"/>
              </a:rPr>
              <a:t>Các </a:t>
            </a:r>
            <a:r>
              <a:rPr sz="2800" spc="-5" dirty="0">
                <a:latin typeface="Times New Roman" panose="02020603050405020304" pitchFamily="18" charset="0"/>
                <a:cs typeface="Times New Roman" panose="02020603050405020304" pitchFamily="18" charset="0"/>
              </a:rPr>
              <a:t>lớp </a:t>
            </a:r>
            <a:r>
              <a:rPr sz="2800" dirty="0">
                <a:latin typeface="Times New Roman" panose="02020603050405020304" pitchFamily="18" charset="0"/>
                <a:cs typeface="Times New Roman" panose="02020603050405020304" pitchFamily="18" charset="0"/>
              </a:rPr>
              <a:t>sự vật </a:t>
            </a:r>
            <a:r>
              <a:rPr sz="2800" spc="-5" dirty="0">
                <a:latin typeface="Times New Roman" panose="02020603050405020304" pitchFamily="18" charset="0"/>
                <a:cs typeface="Times New Roman" panose="02020603050405020304" pitchFamily="18" charset="0"/>
              </a:rPr>
              <a:t>hữu hình </a:t>
            </a:r>
            <a:r>
              <a:rPr sz="2800" dirty="0">
                <a:latin typeface="Times New Roman" panose="02020603050405020304" pitchFamily="18" charset="0"/>
                <a:cs typeface="Times New Roman" panose="02020603050405020304" pitchFamily="18" charset="0"/>
              </a:rPr>
              <a:t>và </a:t>
            </a:r>
            <a:r>
              <a:rPr sz="2800">
                <a:latin typeface="Times New Roman" panose="02020603050405020304" pitchFamily="18" charset="0"/>
                <a:cs typeface="Times New Roman" panose="02020603050405020304" pitchFamily="18" charset="0"/>
              </a:rPr>
              <a:t>thiết</a:t>
            </a:r>
            <a:r>
              <a:rPr sz="2800" spc="-165">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bị</a:t>
            </a:r>
            <a:r>
              <a:rPr lang="en-US" sz="2800" spc="-5">
                <a:latin typeface="Times New Roman" panose="02020603050405020304" pitchFamily="18" charset="0"/>
                <a:cs typeface="Times New Roman" panose="02020603050405020304" pitchFamily="18" charset="0"/>
              </a:rPr>
              <a:t>:</a:t>
            </a:r>
            <a:endParaRPr sz="2800">
              <a:latin typeface="Times New Roman" panose="02020603050405020304" pitchFamily="18" charset="0"/>
              <a:cs typeface="Times New Roman" panose="02020603050405020304" pitchFamily="18" charset="0"/>
            </a:endParaRPr>
          </a:p>
        </p:txBody>
      </p:sp>
      <p:sp>
        <p:nvSpPr>
          <p:cNvPr id="5" name="object 5"/>
          <p:cNvSpPr txBox="1"/>
          <p:nvPr/>
        </p:nvSpPr>
        <p:spPr>
          <a:xfrm>
            <a:off x="5095904" y="2818728"/>
            <a:ext cx="2000191" cy="464230"/>
          </a:xfrm>
          <a:prstGeom prst="rect">
            <a:avLst/>
          </a:prstGeom>
          <a:solidFill>
            <a:srgbClr val="EBDDC3"/>
          </a:solidFill>
          <a:ln w="3175">
            <a:solidFill>
              <a:srgbClr val="000000"/>
            </a:solidFill>
          </a:ln>
        </p:spPr>
        <p:txBody>
          <a:bodyPr vert="horz" wrap="square" lIns="0" tIns="33020" rIns="0" bIns="0" rtlCol="0">
            <a:spAutoFit/>
          </a:bodyPr>
          <a:lstStyle/>
          <a:p>
            <a:pPr marL="165735">
              <a:spcBef>
                <a:spcPts val="260"/>
              </a:spcBef>
            </a:pPr>
            <a:r>
              <a:rPr sz="2800" spc="-5" dirty="0">
                <a:latin typeface="Times New Roman" panose="02020603050405020304" pitchFamily="18" charset="0"/>
                <a:cs typeface="Times New Roman" panose="02020603050405020304" pitchFamily="18" charset="0"/>
              </a:rPr>
              <a:t>KháchHàng</a:t>
            </a:r>
            <a:endParaRPr sz="2800">
              <a:latin typeface="Times New Roman" panose="02020603050405020304" pitchFamily="18" charset="0"/>
              <a:cs typeface="Times New Roman" panose="02020603050405020304" pitchFamily="18" charset="0"/>
            </a:endParaRPr>
          </a:p>
        </p:txBody>
      </p:sp>
      <p:sp>
        <p:nvSpPr>
          <p:cNvPr id="6" name="object 6"/>
          <p:cNvSpPr txBox="1"/>
          <p:nvPr/>
        </p:nvSpPr>
        <p:spPr>
          <a:xfrm>
            <a:off x="7263995" y="3669771"/>
            <a:ext cx="1900181" cy="464871"/>
          </a:xfrm>
          <a:prstGeom prst="rect">
            <a:avLst/>
          </a:prstGeom>
          <a:solidFill>
            <a:srgbClr val="EBDDC3"/>
          </a:solidFill>
          <a:ln w="3175">
            <a:solidFill>
              <a:srgbClr val="000000"/>
            </a:solidFill>
          </a:ln>
        </p:spPr>
        <p:txBody>
          <a:bodyPr vert="horz" wrap="square" lIns="0" tIns="33655" rIns="0" bIns="0" rtlCol="0">
            <a:spAutoFit/>
          </a:bodyPr>
          <a:lstStyle/>
          <a:p>
            <a:pPr marL="274320">
              <a:spcBef>
                <a:spcPts val="265"/>
              </a:spcBef>
            </a:pPr>
            <a:r>
              <a:rPr sz="2800" spc="-30" dirty="0">
                <a:latin typeface="Times New Roman" panose="02020603050405020304" pitchFamily="18" charset="0"/>
                <a:cs typeface="Times New Roman" panose="02020603050405020304" pitchFamily="18" charset="0"/>
              </a:rPr>
              <a:t>MáyATM</a:t>
            </a:r>
            <a:endParaRPr sz="2800">
              <a:latin typeface="Times New Roman" panose="02020603050405020304" pitchFamily="18" charset="0"/>
              <a:cs typeface="Times New Roman" panose="02020603050405020304" pitchFamily="18" charset="0"/>
            </a:endParaRPr>
          </a:p>
        </p:txBody>
      </p:sp>
      <p:sp>
        <p:nvSpPr>
          <p:cNvPr id="7" name="object 7"/>
          <p:cNvSpPr txBox="1"/>
          <p:nvPr/>
        </p:nvSpPr>
        <p:spPr>
          <a:xfrm>
            <a:off x="9365813" y="3687815"/>
            <a:ext cx="2000191" cy="464871"/>
          </a:xfrm>
          <a:prstGeom prst="rect">
            <a:avLst/>
          </a:prstGeom>
          <a:solidFill>
            <a:srgbClr val="EBDDC3"/>
          </a:solidFill>
          <a:ln w="3175">
            <a:solidFill>
              <a:srgbClr val="000000"/>
            </a:solidFill>
          </a:ln>
        </p:spPr>
        <p:txBody>
          <a:bodyPr vert="horz" wrap="square" lIns="0" tIns="33655" rIns="0" bIns="0" rtlCol="0">
            <a:spAutoFit/>
          </a:bodyPr>
          <a:lstStyle/>
          <a:p>
            <a:pPr marL="329565">
              <a:spcBef>
                <a:spcPts val="265"/>
              </a:spcBef>
            </a:pPr>
            <a:r>
              <a:rPr sz="2800" spc="-25" dirty="0">
                <a:latin typeface="Times New Roman" panose="02020603050405020304" pitchFamily="18" charset="0"/>
                <a:cs typeface="Times New Roman" panose="02020603050405020304" pitchFamily="18" charset="0"/>
              </a:rPr>
              <a:t>ThẻATM</a:t>
            </a:r>
            <a:endParaRPr sz="2800" dirty="0">
              <a:latin typeface="Times New Roman" panose="02020603050405020304" pitchFamily="18" charset="0"/>
              <a:cs typeface="Times New Roman" panose="02020603050405020304" pitchFamily="18" charset="0"/>
            </a:endParaRPr>
          </a:p>
        </p:txBody>
      </p:sp>
      <p:sp>
        <p:nvSpPr>
          <p:cNvPr id="8"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1297172" y="2803358"/>
            <a:ext cx="3200704" cy="443711"/>
          </a:xfrm>
          <a:prstGeom prst="rect">
            <a:avLst/>
          </a:prstGeom>
        </p:spPr>
        <p:txBody>
          <a:bodyPr vert="horz" wrap="square" lIns="0" tIns="12700" rIns="0" bIns="0" rtlCol="0">
            <a:spAutoFit/>
          </a:bodyPr>
          <a:lstStyle/>
          <a:p>
            <a:pPr marL="355600" indent="-342900">
              <a:spcBef>
                <a:spcPts val="100"/>
              </a:spcBef>
              <a:buSzPct val="100000"/>
              <a:buFont typeface="Arial" panose="020B0604020202020204" pitchFamily="34" charset="0"/>
              <a:buChar char="•"/>
              <a:tabLst>
                <a:tab pos="241300" algn="l"/>
              </a:tabLst>
            </a:pPr>
            <a:r>
              <a:rPr lang="en-US" sz="2800">
                <a:latin typeface="Times New Roman" panose="02020603050405020304" pitchFamily="18" charset="0"/>
                <a:cs typeface="Times New Roman" panose="02020603050405020304" pitchFamily="18" charset="0"/>
              </a:rPr>
              <a:t>Các lớp con người:</a:t>
            </a:r>
            <a:endParaRPr sz="2800">
              <a:latin typeface="Times New Roman" panose="02020603050405020304" pitchFamily="18" charset="0"/>
              <a:cs typeface="Times New Roman" panose="02020603050405020304" pitchFamily="18" charset="0"/>
            </a:endParaRPr>
          </a:p>
        </p:txBody>
      </p:sp>
      <p:sp>
        <p:nvSpPr>
          <p:cNvPr id="10"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4891400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132970" y="2936613"/>
            <a:ext cx="5241036" cy="3200400"/>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 name="object 4"/>
          <p:cNvSpPr/>
          <p:nvPr/>
        </p:nvSpPr>
        <p:spPr>
          <a:xfrm>
            <a:off x="457200" y="1752601"/>
            <a:ext cx="3651189" cy="3657600"/>
          </a:xfrm>
          <a:custGeom>
            <a:avLst/>
            <a:gdLst/>
            <a:ahLst/>
            <a:cxnLst/>
            <a:rect l="l" t="t" r="r" b="b"/>
            <a:pathLst>
              <a:path w="3196590" h="2355850">
                <a:moveTo>
                  <a:pt x="0" y="0"/>
                </a:moveTo>
                <a:lnTo>
                  <a:pt x="1644650" y="0"/>
                </a:lnTo>
                <a:lnTo>
                  <a:pt x="2349500" y="0"/>
                </a:lnTo>
                <a:lnTo>
                  <a:pt x="2819400" y="0"/>
                </a:lnTo>
                <a:lnTo>
                  <a:pt x="2819400" y="840993"/>
                </a:lnTo>
                <a:lnTo>
                  <a:pt x="2819400" y="1201420"/>
                </a:lnTo>
                <a:lnTo>
                  <a:pt x="2819400" y="1441704"/>
                </a:lnTo>
                <a:lnTo>
                  <a:pt x="2349500" y="1441704"/>
                </a:lnTo>
                <a:lnTo>
                  <a:pt x="3196209" y="2355469"/>
                </a:lnTo>
                <a:lnTo>
                  <a:pt x="1644650" y="1441704"/>
                </a:lnTo>
                <a:lnTo>
                  <a:pt x="0" y="1441704"/>
                </a:lnTo>
                <a:lnTo>
                  <a:pt x="0" y="1201420"/>
                </a:lnTo>
                <a:lnTo>
                  <a:pt x="0" y="840993"/>
                </a:lnTo>
                <a:lnTo>
                  <a:pt x="0" y="0"/>
                </a:lnTo>
                <a:close/>
              </a:path>
            </a:pathLst>
          </a:custGeom>
          <a:ln w="19812">
            <a:solidFill>
              <a:srgbClr val="93B6D2"/>
            </a:solidFill>
          </a:ln>
        </p:spPr>
        <p:txBody>
          <a:bodyPr wrap="square" lIns="0" tIns="0" rIns="0" bIns="0" rtlCol="0"/>
          <a:lstStyle/>
          <a:p>
            <a:endParaRPr sz="2400">
              <a:latin typeface="Times New Roman" panose="02020603050405020304" pitchFamily="18" charset="0"/>
              <a:cs typeface="Times New Roman" panose="02020603050405020304" pitchFamily="18" charset="0"/>
            </a:endParaRPr>
          </a:p>
        </p:txBody>
      </p:sp>
      <p:sp>
        <p:nvSpPr>
          <p:cNvPr id="7" name="object 7"/>
          <p:cNvSpPr txBox="1"/>
          <p:nvPr/>
        </p:nvSpPr>
        <p:spPr>
          <a:xfrm>
            <a:off x="19665" y="1204480"/>
            <a:ext cx="7160260" cy="443711"/>
          </a:xfrm>
          <a:prstGeom prst="rect">
            <a:avLst/>
          </a:prstGeom>
        </p:spPr>
        <p:txBody>
          <a:bodyPr vert="horz" wrap="square" lIns="0" tIns="12700" rIns="0" bIns="0" rtlCol="0">
            <a:spAutoFit/>
          </a:bodyPr>
          <a:lstStyle/>
          <a:p>
            <a:pPr marL="355600" indent="-342900">
              <a:spcBef>
                <a:spcPts val="100"/>
              </a:spcBef>
              <a:buSzPct val="100000"/>
              <a:buFont typeface="Wingdings" panose="05000000000000000000" pitchFamily="2" charset="2"/>
              <a:buChar char="§"/>
              <a:tabLst>
                <a:tab pos="332105" algn="l"/>
                <a:tab pos="332740" algn="l"/>
              </a:tabLst>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a:t>
            </a:r>
            <a:r>
              <a:rPr sz="2800" b="1" spc="-5" dirty="0">
                <a:solidFill>
                  <a:srgbClr val="FF0000"/>
                </a:solidFill>
                <a:latin typeface="Times New Roman" panose="02020603050405020304" pitchFamily="18" charset="0"/>
                <a:cs typeface="Times New Roman" panose="02020603050405020304" pitchFamily="18" charset="0"/>
              </a:rPr>
              <a:t>phân </a:t>
            </a:r>
            <a:r>
              <a:rPr sz="2800" b="1" dirty="0">
                <a:solidFill>
                  <a:srgbClr val="FF0000"/>
                </a:solidFill>
                <a:latin typeface="Times New Roman" panose="02020603050405020304" pitchFamily="18" charset="0"/>
                <a:cs typeface="Times New Roman" panose="02020603050405020304" pitchFamily="18" charset="0"/>
              </a:rPr>
              <a:t>tích </a:t>
            </a:r>
            <a:r>
              <a:rPr sz="2800" b="1" spc="-5" dirty="0">
                <a:solidFill>
                  <a:srgbClr val="FF0000"/>
                </a:solidFill>
                <a:latin typeface="Times New Roman" panose="02020603050405020304" pitchFamily="18" charset="0"/>
                <a:cs typeface="Times New Roman" panose="02020603050405020304" pitchFamily="18" charset="0"/>
              </a:rPr>
              <a:t>hoạt </a:t>
            </a:r>
            <a:r>
              <a:rPr sz="2800" b="1" spc="-5">
                <a:solidFill>
                  <a:srgbClr val="FF0000"/>
                </a:solidFill>
                <a:latin typeface="Times New Roman" panose="02020603050405020304" pitchFamily="18" charset="0"/>
                <a:cs typeface="Times New Roman" panose="02020603050405020304" pitchFamily="18" charset="0"/>
              </a:rPr>
              <a:t>động </a:t>
            </a:r>
            <a:r>
              <a:rPr lang="en-US" sz="2800" b="1" spc="-5">
                <a:solidFill>
                  <a:srgbClr val="FF0000"/>
                </a:solidFill>
                <a:latin typeface="Times New Roman" panose="02020603050405020304" pitchFamily="18" charset="0"/>
                <a:cs typeface="Times New Roman" panose="02020603050405020304" pitchFamily="18" charset="0"/>
              </a:rPr>
              <a:t>Use Case</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9"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9677400" y="5813847"/>
            <a:ext cx="2133600" cy="461665"/>
          </a:xfrm>
          <a:prstGeom prst="rect">
            <a:avLst/>
          </a:prstGeom>
          <a:noFill/>
        </p:spPr>
        <p:txBody>
          <a:bodyPr wrap="square" rtlCol="0">
            <a:spAutoFit/>
          </a:bodyPr>
          <a:lstStyle/>
          <a:p>
            <a:r>
              <a:rPr lang="vi-VN" sz="2400" b="1">
                <a:solidFill>
                  <a:srgbClr val="FF0000"/>
                </a:solidFill>
                <a:latin typeface="Times New Roman" panose="02020603050405020304" pitchFamily="18" charset="0"/>
                <a:cs typeface="Times New Roman" panose="02020603050405020304" pitchFamily="18" charset="0"/>
              </a:rPr>
              <a:t>Sơ đồ tuần</a:t>
            </a:r>
            <a:r>
              <a:rPr lang="vi-VN" sz="2400" b="1" spc="-20">
                <a:solidFill>
                  <a:srgbClr val="FF0000"/>
                </a:solidFill>
                <a:latin typeface="Times New Roman" panose="02020603050405020304" pitchFamily="18" charset="0"/>
                <a:cs typeface="Times New Roman" panose="02020603050405020304" pitchFamily="18" charset="0"/>
              </a:rPr>
              <a:t> </a:t>
            </a:r>
            <a:r>
              <a:rPr lang="vi-VN" sz="2400" b="1">
                <a:solidFill>
                  <a:srgbClr val="FF0000"/>
                </a:solidFill>
                <a:latin typeface="Times New Roman" panose="02020603050405020304" pitchFamily="18" charset="0"/>
                <a:cs typeface="Times New Roman" panose="02020603050405020304" pitchFamily="18" charset="0"/>
              </a:rPr>
              <a:t>tự</a:t>
            </a:r>
            <a:endParaRPr lang="vi-VN" sz="2400">
              <a:solidFill>
                <a:srgbClr val="FF0000"/>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620695" y="1752601"/>
            <a:ext cx="2979100" cy="2229456"/>
          </a:xfrm>
          <a:prstGeom prst="rect">
            <a:avLst/>
          </a:prstGeom>
        </p:spPr>
        <p:txBody>
          <a:bodyPr vert="horz" wrap="square" lIns="0" tIns="13335" rIns="0" bIns="0" rtlCol="0">
            <a:spAutoFit/>
          </a:bodyPr>
          <a:lstStyle/>
          <a:p>
            <a:pPr marL="12700" marR="5080" algn="just">
              <a:spcBef>
                <a:spcPts val="105"/>
              </a:spcBef>
            </a:pPr>
            <a:r>
              <a:rPr sz="2400" b="1" dirty="0">
                <a:solidFill>
                  <a:srgbClr val="001F5F"/>
                </a:solidFill>
                <a:latin typeface="Times New Roman" panose="02020603050405020304" pitchFamily="18" charset="0"/>
                <a:cs typeface="Times New Roman" panose="02020603050405020304" pitchFamily="18" charset="0"/>
              </a:rPr>
              <a:t>Đối tượng nào tiếp </a:t>
            </a:r>
            <a:r>
              <a:rPr sz="2400" b="1">
                <a:solidFill>
                  <a:srgbClr val="001F5F"/>
                </a:solidFill>
                <a:latin typeface="Times New Roman" panose="02020603050405020304" pitchFamily="18" charset="0"/>
                <a:cs typeface="Times New Roman" panose="02020603050405020304" pitchFamily="18" charset="0"/>
              </a:rPr>
              <a:t>theo được</a:t>
            </a:r>
            <a:r>
              <a:rPr lang="en-US" sz="2400" b="1">
                <a:solidFill>
                  <a:srgbClr val="001F5F"/>
                </a:solidFill>
                <a:latin typeface="Times New Roman" panose="02020603050405020304" pitchFamily="18" charset="0"/>
                <a:cs typeface="Times New Roman" panose="02020603050405020304" pitchFamily="18" charset="0"/>
              </a:rPr>
              <a:t> </a:t>
            </a:r>
            <a:r>
              <a:rPr sz="2400" b="1">
                <a:solidFill>
                  <a:srgbClr val="001F5F"/>
                </a:solidFill>
                <a:latin typeface="Times New Roman" panose="02020603050405020304" pitchFamily="18" charset="0"/>
                <a:cs typeface="Times New Roman" panose="02020603050405020304" pitchFamily="18" charset="0"/>
              </a:rPr>
              <a:t>chuyển </a:t>
            </a:r>
            <a:r>
              <a:rPr sz="2400" b="1" dirty="0">
                <a:solidFill>
                  <a:srgbClr val="001F5F"/>
                </a:solidFill>
                <a:latin typeface="Times New Roman" panose="02020603050405020304" pitchFamily="18" charset="0"/>
                <a:cs typeface="Times New Roman" panose="02020603050405020304" pitchFamily="18" charset="0"/>
              </a:rPr>
              <a:t>giao </a:t>
            </a:r>
            <a:r>
              <a:rPr sz="2400" b="1">
                <a:solidFill>
                  <a:srgbClr val="001F5F"/>
                </a:solidFill>
                <a:latin typeface="Times New Roman" panose="02020603050405020304" pitchFamily="18" charset="0"/>
                <a:cs typeface="Times New Roman" panose="02020603050405020304" pitchFamily="18" charset="0"/>
              </a:rPr>
              <a:t>trách nhiệm?</a:t>
            </a:r>
            <a:endParaRPr sz="2400" dirty="0">
              <a:latin typeface="Times New Roman" panose="02020603050405020304" pitchFamily="18" charset="0"/>
              <a:cs typeface="Times New Roman" panose="02020603050405020304" pitchFamily="18" charset="0"/>
            </a:endParaRPr>
          </a:p>
          <a:p>
            <a:pPr marL="12700" marR="137795" algn="just"/>
            <a:r>
              <a:rPr sz="2400" b="1" dirty="0">
                <a:solidFill>
                  <a:srgbClr val="001F5F"/>
                </a:solidFill>
                <a:latin typeface="Times New Roman" panose="02020603050405020304" pitchFamily="18" charset="0"/>
                <a:cs typeface="Times New Roman" panose="02020603050405020304" pitchFamily="18" charset="0"/>
              </a:rPr>
              <a:t>Đối tượng nào của </a:t>
            </a:r>
            <a:r>
              <a:rPr sz="2400" b="1">
                <a:solidFill>
                  <a:srgbClr val="001F5F"/>
                </a:solidFill>
                <a:latin typeface="Times New Roman" panose="02020603050405020304" pitchFamily="18" charset="0"/>
                <a:cs typeface="Times New Roman" panose="02020603050405020304" pitchFamily="18" charset="0"/>
              </a:rPr>
              <a:t>hệ thống</a:t>
            </a:r>
            <a:r>
              <a:rPr lang="en-US" sz="2400" b="1">
                <a:solidFill>
                  <a:srgbClr val="001F5F"/>
                </a:solidFill>
                <a:latin typeface="Times New Roman" panose="02020603050405020304" pitchFamily="18" charset="0"/>
                <a:cs typeface="Times New Roman" panose="02020603050405020304" pitchFamily="18" charset="0"/>
              </a:rPr>
              <a:t> </a:t>
            </a:r>
            <a:r>
              <a:rPr sz="2400" b="1">
                <a:solidFill>
                  <a:srgbClr val="001F5F"/>
                </a:solidFill>
                <a:latin typeface="Times New Roman" panose="02020603050405020304" pitchFamily="18" charset="0"/>
                <a:cs typeface="Times New Roman" panose="02020603050405020304" pitchFamily="18" charset="0"/>
              </a:rPr>
              <a:t>sẽ </a:t>
            </a:r>
            <a:r>
              <a:rPr sz="2400" b="1" dirty="0">
                <a:solidFill>
                  <a:srgbClr val="001F5F"/>
                </a:solidFill>
                <a:latin typeface="Times New Roman" panose="02020603050405020304" pitchFamily="18" charset="0"/>
                <a:cs typeface="Times New Roman" panose="02020603050405020304" pitchFamily="18" charset="0"/>
              </a:rPr>
              <a:t>tương tác với tác nhân?</a:t>
            </a:r>
            <a:endParaRPr sz="2400" dirty="0">
              <a:latin typeface="Times New Roman" panose="02020603050405020304" pitchFamily="18" charset="0"/>
              <a:cs typeface="Times New Roman" panose="02020603050405020304" pitchFamily="18" charset="0"/>
            </a:endParaRPr>
          </a:p>
        </p:txBody>
      </p:sp>
      <p:sp>
        <p:nvSpPr>
          <p:cNvPr id="11"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04923431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751713" y="1752600"/>
            <a:ext cx="3196590" cy="3900920"/>
          </a:xfrm>
          <a:custGeom>
            <a:avLst/>
            <a:gdLst/>
            <a:ahLst/>
            <a:cxnLst/>
            <a:rect l="l" t="t" r="r" b="b"/>
            <a:pathLst>
              <a:path w="3196590" h="2355850">
                <a:moveTo>
                  <a:pt x="0" y="0"/>
                </a:moveTo>
                <a:lnTo>
                  <a:pt x="1644650" y="0"/>
                </a:lnTo>
                <a:lnTo>
                  <a:pt x="2349500" y="0"/>
                </a:lnTo>
                <a:lnTo>
                  <a:pt x="2819400" y="0"/>
                </a:lnTo>
                <a:lnTo>
                  <a:pt x="2819400" y="840993"/>
                </a:lnTo>
                <a:lnTo>
                  <a:pt x="2819400" y="1201420"/>
                </a:lnTo>
                <a:lnTo>
                  <a:pt x="2819400" y="1441704"/>
                </a:lnTo>
                <a:lnTo>
                  <a:pt x="2349500" y="1441704"/>
                </a:lnTo>
                <a:lnTo>
                  <a:pt x="3196209" y="2355469"/>
                </a:lnTo>
                <a:lnTo>
                  <a:pt x="1644650" y="1441704"/>
                </a:lnTo>
                <a:lnTo>
                  <a:pt x="0" y="1441704"/>
                </a:lnTo>
                <a:lnTo>
                  <a:pt x="0" y="1201420"/>
                </a:lnTo>
                <a:lnTo>
                  <a:pt x="0" y="840993"/>
                </a:lnTo>
                <a:lnTo>
                  <a:pt x="0" y="0"/>
                </a:lnTo>
                <a:close/>
              </a:path>
            </a:pathLst>
          </a:custGeom>
          <a:ln w="19812">
            <a:solidFill>
              <a:srgbClr val="93B6D2"/>
            </a:solidFill>
          </a:ln>
        </p:spPr>
        <p:txBody>
          <a:bodyPr wrap="square" lIns="0" tIns="0" rIns="0" bIns="0" rtlCol="0"/>
          <a:lstStyle/>
          <a:p>
            <a:endParaRPr dirty="0"/>
          </a:p>
        </p:txBody>
      </p:sp>
      <p:sp>
        <p:nvSpPr>
          <p:cNvPr id="5" name="object 5"/>
          <p:cNvSpPr txBox="1"/>
          <p:nvPr/>
        </p:nvSpPr>
        <p:spPr>
          <a:xfrm>
            <a:off x="877186" y="1752600"/>
            <a:ext cx="2651125" cy="2229456"/>
          </a:xfrm>
          <a:prstGeom prst="rect">
            <a:avLst/>
          </a:prstGeom>
        </p:spPr>
        <p:txBody>
          <a:bodyPr vert="horz" wrap="square" lIns="0" tIns="13335" rIns="0" bIns="0" rtlCol="0">
            <a:spAutoFit/>
          </a:bodyPr>
          <a:lstStyle/>
          <a:p>
            <a:pPr marL="12700" marR="5080" algn="just">
              <a:spcBef>
                <a:spcPts val="105"/>
              </a:spcBef>
            </a:pPr>
            <a:r>
              <a:rPr sz="2400" b="1" dirty="0">
                <a:solidFill>
                  <a:srgbClr val="001F5F"/>
                </a:solidFill>
                <a:latin typeface="Times New Roman" panose="02020603050405020304" pitchFamily="18" charset="0"/>
                <a:cs typeface="Times New Roman" panose="02020603050405020304" pitchFamily="18" charset="0"/>
              </a:rPr>
              <a:t>Đối tượng nào tiếp </a:t>
            </a:r>
            <a:r>
              <a:rPr sz="2400" b="1">
                <a:solidFill>
                  <a:srgbClr val="001F5F"/>
                </a:solidFill>
                <a:latin typeface="Times New Roman" panose="02020603050405020304" pitchFamily="18" charset="0"/>
                <a:cs typeface="Times New Roman" panose="02020603050405020304" pitchFamily="18" charset="0"/>
              </a:rPr>
              <a:t>theo được</a:t>
            </a:r>
            <a:r>
              <a:rPr lang="en-US" sz="2400" b="1">
                <a:solidFill>
                  <a:srgbClr val="001F5F"/>
                </a:solidFill>
                <a:latin typeface="Times New Roman" panose="02020603050405020304" pitchFamily="18" charset="0"/>
                <a:cs typeface="Times New Roman" panose="02020603050405020304" pitchFamily="18" charset="0"/>
              </a:rPr>
              <a:t> </a:t>
            </a:r>
            <a:r>
              <a:rPr sz="2400" b="1">
                <a:solidFill>
                  <a:srgbClr val="001F5F"/>
                </a:solidFill>
                <a:latin typeface="Times New Roman" panose="02020603050405020304" pitchFamily="18" charset="0"/>
                <a:cs typeface="Times New Roman" panose="02020603050405020304" pitchFamily="18" charset="0"/>
              </a:rPr>
              <a:t>chuyển </a:t>
            </a:r>
            <a:r>
              <a:rPr sz="2400" b="1" dirty="0">
                <a:solidFill>
                  <a:srgbClr val="001F5F"/>
                </a:solidFill>
                <a:latin typeface="Times New Roman" panose="02020603050405020304" pitchFamily="18" charset="0"/>
                <a:cs typeface="Times New Roman" panose="02020603050405020304" pitchFamily="18" charset="0"/>
              </a:rPr>
              <a:t>giao </a:t>
            </a:r>
            <a:r>
              <a:rPr sz="2400" b="1">
                <a:solidFill>
                  <a:srgbClr val="001F5F"/>
                </a:solidFill>
                <a:latin typeface="Times New Roman" panose="02020603050405020304" pitchFamily="18" charset="0"/>
                <a:cs typeface="Times New Roman" panose="02020603050405020304" pitchFamily="18" charset="0"/>
              </a:rPr>
              <a:t>trách nhiệm?</a:t>
            </a:r>
            <a:endParaRPr sz="2400" dirty="0">
              <a:latin typeface="Times New Roman" panose="02020603050405020304" pitchFamily="18" charset="0"/>
              <a:cs typeface="Times New Roman" panose="02020603050405020304" pitchFamily="18" charset="0"/>
            </a:endParaRPr>
          </a:p>
          <a:p>
            <a:pPr marL="12700" marR="137795" algn="just"/>
            <a:r>
              <a:rPr sz="2400" b="1" dirty="0">
                <a:solidFill>
                  <a:srgbClr val="001F5F"/>
                </a:solidFill>
                <a:latin typeface="Times New Roman" panose="02020603050405020304" pitchFamily="18" charset="0"/>
                <a:cs typeface="Times New Roman" panose="02020603050405020304" pitchFamily="18" charset="0"/>
              </a:rPr>
              <a:t>Đối tượng nào của </a:t>
            </a:r>
            <a:r>
              <a:rPr sz="2400" b="1">
                <a:solidFill>
                  <a:srgbClr val="001F5F"/>
                </a:solidFill>
                <a:latin typeface="Times New Roman" panose="02020603050405020304" pitchFamily="18" charset="0"/>
                <a:cs typeface="Times New Roman" panose="02020603050405020304" pitchFamily="18" charset="0"/>
              </a:rPr>
              <a:t>hệ thống</a:t>
            </a:r>
            <a:r>
              <a:rPr lang="en-US" sz="2400" b="1">
                <a:solidFill>
                  <a:srgbClr val="001F5F"/>
                </a:solidFill>
                <a:latin typeface="Times New Roman" panose="02020603050405020304" pitchFamily="18" charset="0"/>
                <a:cs typeface="Times New Roman" panose="02020603050405020304" pitchFamily="18" charset="0"/>
              </a:rPr>
              <a:t> </a:t>
            </a:r>
            <a:r>
              <a:rPr sz="2400" b="1">
                <a:solidFill>
                  <a:srgbClr val="001F5F"/>
                </a:solidFill>
                <a:latin typeface="Times New Roman" panose="02020603050405020304" pitchFamily="18" charset="0"/>
                <a:cs typeface="Times New Roman" panose="02020603050405020304" pitchFamily="18" charset="0"/>
              </a:rPr>
              <a:t>sẽ </a:t>
            </a:r>
            <a:r>
              <a:rPr sz="2400" b="1" dirty="0">
                <a:solidFill>
                  <a:srgbClr val="001F5F"/>
                </a:solidFill>
                <a:latin typeface="Times New Roman" panose="02020603050405020304" pitchFamily="18" charset="0"/>
                <a:cs typeface="Times New Roman" panose="02020603050405020304" pitchFamily="18" charset="0"/>
              </a:rPr>
              <a:t>tương tác với tác nhân?</a:t>
            </a:r>
            <a:endParaRPr sz="2400" dirty="0">
              <a:latin typeface="Times New Roman" panose="02020603050405020304" pitchFamily="18" charset="0"/>
              <a:cs typeface="Times New Roman" panose="02020603050405020304" pitchFamily="18" charset="0"/>
            </a:endParaRPr>
          </a:p>
        </p:txBody>
      </p:sp>
      <p:sp>
        <p:nvSpPr>
          <p:cNvPr id="7" name="object 7"/>
          <p:cNvSpPr/>
          <p:nvPr/>
        </p:nvSpPr>
        <p:spPr>
          <a:xfrm>
            <a:off x="3948303" y="3124200"/>
            <a:ext cx="5358384" cy="3023616"/>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9689465" y="5796438"/>
            <a:ext cx="2057400" cy="351378"/>
          </a:xfrm>
          <a:prstGeom prst="rect">
            <a:avLst/>
          </a:prstGeom>
        </p:spPr>
        <p:txBody>
          <a:bodyPr vert="horz" wrap="square" lIns="0" tIns="12700" rIns="0" bIns="0" rtlCol="0">
            <a:spAutoFit/>
          </a:bodyPr>
          <a:lstStyle/>
          <a:p>
            <a:pPr marL="12700">
              <a:spcBef>
                <a:spcPts val="100"/>
              </a:spcBef>
            </a:pPr>
            <a:r>
              <a:rPr sz="2200" b="1" dirty="0">
                <a:solidFill>
                  <a:srgbClr val="FF0000"/>
                </a:solidFill>
                <a:latin typeface="Times New Roman" panose="02020603050405020304" pitchFamily="18" charset="0"/>
                <a:cs typeface="Times New Roman" panose="02020603050405020304" pitchFamily="18" charset="0"/>
              </a:rPr>
              <a:t>Sơ đồ </a:t>
            </a:r>
            <a:r>
              <a:rPr sz="2200" b="1" spc="-5" dirty="0">
                <a:solidFill>
                  <a:srgbClr val="FF0000"/>
                </a:solidFill>
                <a:latin typeface="Times New Roman" panose="02020603050405020304" pitchFamily="18" charset="0"/>
                <a:cs typeface="Times New Roman" panose="02020603050405020304" pitchFamily="18" charset="0"/>
              </a:rPr>
              <a:t>cộng</a:t>
            </a:r>
            <a:r>
              <a:rPr sz="2200" b="1" spc="-75" dirty="0">
                <a:solidFill>
                  <a:srgbClr val="FF0000"/>
                </a:solidFill>
                <a:latin typeface="Times New Roman" panose="02020603050405020304" pitchFamily="18" charset="0"/>
                <a:cs typeface="Times New Roman" panose="02020603050405020304" pitchFamily="18" charset="0"/>
              </a:rPr>
              <a:t> </a:t>
            </a:r>
            <a:r>
              <a:rPr sz="2200" b="1" dirty="0">
                <a:solidFill>
                  <a:srgbClr val="FF0000"/>
                </a:solidFill>
                <a:latin typeface="Times New Roman" panose="02020603050405020304" pitchFamily="18" charset="0"/>
                <a:cs typeface="Times New Roman" panose="02020603050405020304" pitchFamily="18" charset="0"/>
              </a:rPr>
              <a:t>tác</a:t>
            </a:r>
            <a:endParaRPr sz="2200">
              <a:solidFill>
                <a:srgbClr val="FF0000"/>
              </a:solidFill>
              <a:latin typeface="Times New Roman" panose="02020603050405020304" pitchFamily="18" charset="0"/>
              <a:cs typeface="Times New Roman" panose="02020603050405020304" pitchFamily="18" charset="0"/>
            </a:endParaRPr>
          </a:p>
        </p:txBody>
      </p:sp>
      <p:sp>
        <p:nvSpPr>
          <p:cNvPr id="9" name="object 7"/>
          <p:cNvSpPr txBox="1"/>
          <p:nvPr/>
        </p:nvSpPr>
        <p:spPr>
          <a:xfrm>
            <a:off x="36871" y="1204480"/>
            <a:ext cx="7160260" cy="443711"/>
          </a:xfrm>
          <a:prstGeom prst="rect">
            <a:avLst/>
          </a:prstGeom>
        </p:spPr>
        <p:txBody>
          <a:bodyPr vert="horz" wrap="square" lIns="0" tIns="12700" rIns="0" bIns="0" rtlCol="0">
            <a:spAutoFit/>
          </a:bodyPr>
          <a:lstStyle/>
          <a:p>
            <a:pPr marL="355600" indent="-342900">
              <a:spcBef>
                <a:spcPts val="100"/>
              </a:spcBef>
              <a:buSzPct val="100000"/>
              <a:buFont typeface="Wingdings" panose="05000000000000000000" pitchFamily="2" charset="2"/>
              <a:buChar char="§"/>
              <a:tabLst>
                <a:tab pos="332105" algn="l"/>
                <a:tab pos="332740" algn="l"/>
              </a:tabLst>
            </a:pPr>
            <a:r>
              <a:rPr sz="2800" b="1" spc="-25" dirty="0">
                <a:solidFill>
                  <a:srgbClr val="FF0000"/>
                </a:solidFill>
                <a:latin typeface="Times New Roman" panose="02020603050405020304" pitchFamily="18" charset="0"/>
                <a:cs typeface="Times New Roman" panose="02020603050405020304" pitchFamily="18" charset="0"/>
              </a:rPr>
              <a:t>Tiếp </a:t>
            </a:r>
            <a:r>
              <a:rPr sz="2800" b="1" spc="-5" dirty="0">
                <a:solidFill>
                  <a:srgbClr val="FF0000"/>
                </a:solidFill>
                <a:latin typeface="Times New Roman" panose="02020603050405020304" pitchFamily="18" charset="0"/>
                <a:cs typeface="Times New Roman" panose="02020603050405020304" pitchFamily="18" charset="0"/>
              </a:rPr>
              <a:t>cận </a:t>
            </a:r>
            <a:r>
              <a:rPr sz="2800" b="1" dirty="0">
                <a:solidFill>
                  <a:srgbClr val="FF0000"/>
                </a:solidFill>
                <a:latin typeface="Times New Roman" panose="02020603050405020304" pitchFamily="18" charset="0"/>
                <a:cs typeface="Times New Roman" panose="02020603050405020304" pitchFamily="18" charset="0"/>
              </a:rPr>
              <a:t>theo </a:t>
            </a:r>
            <a:r>
              <a:rPr sz="2800" b="1" spc="-5" dirty="0">
                <a:solidFill>
                  <a:srgbClr val="FF0000"/>
                </a:solidFill>
                <a:latin typeface="Times New Roman" panose="02020603050405020304" pitchFamily="18" charset="0"/>
                <a:cs typeface="Times New Roman" panose="02020603050405020304" pitchFamily="18" charset="0"/>
              </a:rPr>
              <a:t>phân </a:t>
            </a:r>
            <a:r>
              <a:rPr sz="2800" b="1" dirty="0">
                <a:solidFill>
                  <a:srgbClr val="FF0000"/>
                </a:solidFill>
                <a:latin typeface="Times New Roman" panose="02020603050405020304" pitchFamily="18" charset="0"/>
                <a:cs typeface="Times New Roman" panose="02020603050405020304" pitchFamily="18" charset="0"/>
              </a:rPr>
              <a:t>tích </a:t>
            </a:r>
            <a:r>
              <a:rPr sz="2800" b="1" spc="-5" dirty="0">
                <a:solidFill>
                  <a:srgbClr val="FF0000"/>
                </a:solidFill>
                <a:latin typeface="Times New Roman" panose="02020603050405020304" pitchFamily="18" charset="0"/>
                <a:cs typeface="Times New Roman" panose="02020603050405020304" pitchFamily="18" charset="0"/>
              </a:rPr>
              <a:t>hoạt </a:t>
            </a:r>
            <a:r>
              <a:rPr sz="2800" b="1" spc="-5">
                <a:solidFill>
                  <a:srgbClr val="FF0000"/>
                </a:solidFill>
                <a:latin typeface="Times New Roman" panose="02020603050405020304" pitchFamily="18" charset="0"/>
                <a:cs typeface="Times New Roman" panose="02020603050405020304" pitchFamily="18" charset="0"/>
              </a:rPr>
              <a:t>động </a:t>
            </a:r>
            <a:r>
              <a:rPr lang="en-US" sz="2800" b="1" spc="-5">
                <a:solidFill>
                  <a:srgbClr val="FF0000"/>
                </a:solidFill>
                <a:latin typeface="Times New Roman" panose="02020603050405020304" pitchFamily="18" charset="0"/>
                <a:cs typeface="Times New Roman" panose="02020603050405020304" pitchFamily="18" charset="0"/>
              </a:rPr>
              <a:t>Use Case</a:t>
            </a:r>
            <a:endParaRPr sz="2800" b="1" dirty="0">
              <a:solidFill>
                <a:srgbClr val="FF0000"/>
              </a:solidFill>
              <a:latin typeface="Times New Roman" panose="02020603050405020304" pitchFamily="18" charset="0"/>
              <a:cs typeface="Times New Roman" panose="02020603050405020304" pitchFamily="18" charset="0"/>
            </a:endParaRPr>
          </a:p>
        </p:txBody>
      </p:sp>
      <p:sp>
        <p:nvSpPr>
          <p:cNvPr id="11"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10"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44367375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4316" y="1102258"/>
            <a:ext cx="6409944" cy="4946904"/>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019800" y="1447800"/>
            <a:ext cx="1295400" cy="914400"/>
          </a:xfrm>
          <a:custGeom>
            <a:avLst/>
            <a:gdLst/>
            <a:ahLst/>
            <a:cxnLst/>
            <a:rect l="l" t="t" r="r" b="b"/>
            <a:pathLst>
              <a:path w="1295400" h="914400">
                <a:moveTo>
                  <a:pt x="0" y="457200"/>
                </a:moveTo>
                <a:lnTo>
                  <a:pt x="2377" y="417755"/>
                </a:lnTo>
                <a:lnTo>
                  <a:pt x="9378" y="379241"/>
                </a:lnTo>
                <a:lnTo>
                  <a:pt x="20810" y="341795"/>
                </a:lnTo>
                <a:lnTo>
                  <a:pt x="36479" y="305555"/>
                </a:lnTo>
                <a:lnTo>
                  <a:pt x="56189" y="270658"/>
                </a:lnTo>
                <a:lnTo>
                  <a:pt x="79746" y="237241"/>
                </a:lnTo>
                <a:lnTo>
                  <a:pt x="106956" y="205442"/>
                </a:lnTo>
                <a:lnTo>
                  <a:pt x="137626" y="175397"/>
                </a:lnTo>
                <a:lnTo>
                  <a:pt x="171559" y="147245"/>
                </a:lnTo>
                <a:lnTo>
                  <a:pt x="208564" y="121122"/>
                </a:lnTo>
                <a:lnTo>
                  <a:pt x="248443" y="97166"/>
                </a:lnTo>
                <a:lnTo>
                  <a:pt x="291005" y="75514"/>
                </a:lnTo>
                <a:lnTo>
                  <a:pt x="336054" y="56303"/>
                </a:lnTo>
                <a:lnTo>
                  <a:pt x="383396" y="39671"/>
                </a:lnTo>
                <a:lnTo>
                  <a:pt x="432836" y="25756"/>
                </a:lnTo>
                <a:lnTo>
                  <a:pt x="484181" y="14693"/>
                </a:lnTo>
                <a:lnTo>
                  <a:pt x="537236" y="6622"/>
                </a:lnTo>
                <a:lnTo>
                  <a:pt x="591807" y="1678"/>
                </a:lnTo>
                <a:lnTo>
                  <a:pt x="647700" y="0"/>
                </a:lnTo>
                <a:lnTo>
                  <a:pt x="703592" y="1678"/>
                </a:lnTo>
                <a:lnTo>
                  <a:pt x="758163" y="6622"/>
                </a:lnTo>
                <a:lnTo>
                  <a:pt x="811218" y="14693"/>
                </a:lnTo>
                <a:lnTo>
                  <a:pt x="862563" y="25756"/>
                </a:lnTo>
                <a:lnTo>
                  <a:pt x="912003" y="39671"/>
                </a:lnTo>
                <a:lnTo>
                  <a:pt x="959345" y="56303"/>
                </a:lnTo>
                <a:lnTo>
                  <a:pt x="1004394" y="75514"/>
                </a:lnTo>
                <a:lnTo>
                  <a:pt x="1046956" y="97166"/>
                </a:lnTo>
                <a:lnTo>
                  <a:pt x="1086835" y="121122"/>
                </a:lnTo>
                <a:lnTo>
                  <a:pt x="1123840" y="147245"/>
                </a:lnTo>
                <a:lnTo>
                  <a:pt x="1157773" y="175397"/>
                </a:lnTo>
                <a:lnTo>
                  <a:pt x="1188443" y="205442"/>
                </a:lnTo>
                <a:lnTo>
                  <a:pt x="1215653" y="237241"/>
                </a:lnTo>
                <a:lnTo>
                  <a:pt x="1239210" y="270658"/>
                </a:lnTo>
                <a:lnTo>
                  <a:pt x="1258920" y="305555"/>
                </a:lnTo>
                <a:lnTo>
                  <a:pt x="1274589" y="341795"/>
                </a:lnTo>
                <a:lnTo>
                  <a:pt x="1286021" y="379241"/>
                </a:lnTo>
                <a:lnTo>
                  <a:pt x="1293022" y="417755"/>
                </a:lnTo>
                <a:lnTo>
                  <a:pt x="1295400" y="457200"/>
                </a:lnTo>
                <a:lnTo>
                  <a:pt x="1293022" y="496644"/>
                </a:lnTo>
                <a:lnTo>
                  <a:pt x="1286021" y="535158"/>
                </a:lnTo>
                <a:lnTo>
                  <a:pt x="1274589" y="572604"/>
                </a:lnTo>
                <a:lnTo>
                  <a:pt x="1258920" y="608844"/>
                </a:lnTo>
                <a:lnTo>
                  <a:pt x="1239210" y="643741"/>
                </a:lnTo>
                <a:lnTo>
                  <a:pt x="1215653" y="677158"/>
                </a:lnTo>
                <a:lnTo>
                  <a:pt x="1188443" y="708957"/>
                </a:lnTo>
                <a:lnTo>
                  <a:pt x="1157773" y="739002"/>
                </a:lnTo>
                <a:lnTo>
                  <a:pt x="1123840" y="767154"/>
                </a:lnTo>
                <a:lnTo>
                  <a:pt x="1086835" y="793277"/>
                </a:lnTo>
                <a:lnTo>
                  <a:pt x="1046956" y="817233"/>
                </a:lnTo>
                <a:lnTo>
                  <a:pt x="1004394" y="838885"/>
                </a:lnTo>
                <a:lnTo>
                  <a:pt x="959345" y="858096"/>
                </a:lnTo>
                <a:lnTo>
                  <a:pt x="912003" y="874728"/>
                </a:lnTo>
                <a:lnTo>
                  <a:pt x="862563" y="888643"/>
                </a:lnTo>
                <a:lnTo>
                  <a:pt x="811218" y="899706"/>
                </a:lnTo>
                <a:lnTo>
                  <a:pt x="758163" y="907777"/>
                </a:lnTo>
                <a:lnTo>
                  <a:pt x="703592" y="912721"/>
                </a:lnTo>
                <a:lnTo>
                  <a:pt x="647700" y="914400"/>
                </a:lnTo>
                <a:lnTo>
                  <a:pt x="591807" y="912721"/>
                </a:lnTo>
                <a:lnTo>
                  <a:pt x="537236" y="907777"/>
                </a:lnTo>
                <a:lnTo>
                  <a:pt x="484181" y="899706"/>
                </a:lnTo>
                <a:lnTo>
                  <a:pt x="432836" y="888643"/>
                </a:lnTo>
                <a:lnTo>
                  <a:pt x="383396" y="874728"/>
                </a:lnTo>
                <a:lnTo>
                  <a:pt x="336054" y="858096"/>
                </a:lnTo>
                <a:lnTo>
                  <a:pt x="291005" y="838885"/>
                </a:lnTo>
                <a:lnTo>
                  <a:pt x="248443" y="817233"/>
                </a:lnTo>
                <a:lnTo>
                  <a:pt x="208564" y="793277"/>
                </a:lnTo>
                <a:lnTo>
                  <a:pt x="171559" y="767154"/>
                </a:lnTo>
                <a:lnTo>
                  <a:pt x="137626" y="739002"/>
                </a:lnTo>
                <a:lnTo>
                  <a:pt x="106956" y="708957"/>
                </a:lnTo>
                <a:lnTo>
                  <a:pt x="79746" y="677158"/>
                </a:lnTo>
                <a:lnTo>
                  <a:pt x="56189" y="643741"/>
                </a:lnTo>
                <a:lnTo>
                  <a:pt x="36479" y="608844"/>
                </a:lnTo>
                <a:lnTo>
                  <a:pt x="20810" y="572604"/>
                </a:lnTo>
                <a:lnTo>
                  <a:pt x="9378" y="535158"/>
                </a:lnTo>
                <a:lnTo>
                  <a:pt x="2377" y="496644"/>
                </a:lnTo>
                <a:lnTo>
                  <a:pt x="0" y="457200"/>
                </a:lnTo>
                <a:close/>
              </a:path>
            </a:pathLst>
          </a:custGeom>
          <a:ln w="9144">
            <a:solidFill>
              <a:srgbClr val="FF0066"/>
            </a:solidFill>
          </a:ln>
        </p:spPr>
        <p:txBody>
          <a:bodyPr wrap="square" lIns="0" tIns="0" rIns="0" bIns="0" rtlCol="0"/>
          <a:lstStyle/>
          <a:p>
            <a:endParaRPr/>
          </a:p>
        </p:txBody>
      </p:sp>
      <p:sp>
        <p:nvSpPr>
          <p:cNvPr id="5" name="object 5"/>
          <p:cNvSpPr/>
          <p:nvPr/>
        </p:nvSpPr>
        <p:spPr>
          <a:xfrm>
            <a:off x="8382001" y="1600200"/>
            <a:ext cx="1228725" cy="609600"/>
          </a:xfrm>
          <a:custGeom>
            <a:avLst/>
            <a:gdLst/>
            <a:ahLst/>
            <a:cxnLst/>
            <a:rect l="l" t="t" r="r" b="b"/>
            <a:pathLst>
              <a:path w="1228725" h="609600">
                <a:moveTo>
                  <a:pt x="0" y="304800"/>
                </a:moveTo>
                <a:lnTo>
                  <a:pt x="12477" y="243389"/>
                </a:lnTo>
                <a:lnTo>
                  <a:pt x="48261" y="186183"/>
                </a:lnTo>
                <a:lnTo>
                  <a:pt x="104885" y="134410"/>
                </a:lnTo>
                <a:lnTo>
                  <a:pt x="140240" y="110944"/>
                </a:lnTo>
                <a:lnTo>
                  <a:pt x="179879" y="89296"/>
                </a:lnTo>
                <a:lnTo>
                  <a:pt x="223493" y="69621"/>
                </a:lnTo>
                <a:lnTo>
                  <a:pt x="270774" y="52071"/>
                </a:lnTo>
                <a:lnTo>
                  <a:pt x="321412" y="36800"/>
                </a:lnTo>
                <a:lnTo>
                  <a:pt x="375100" y="23961"/>
                </a:lnTo>
                <a:lnTo>
                  <a:pt x="431528" y="13708"/>
                </a:lnTo>
                <a:lnTo>
                  <a:pt x="490389" y="6194"/>
                </a:lnTo>
                <a:lnTo>
                  <a:pt x="551373" y="1574"/>
                </a:lnTo>
                <a:lnTo>
                  <a:pt x="614172" y="0"/>
                </a:lnTo>
                <a:lnTo>
                  <a:pt x="676970" y="1574"/>
                </a:lnTo>
                <a:lnTo>
                  <a:pt x="737954" y="6194"/>
                </a:lnTo>
                <a:lnTo>
                  <a:pt x="796815" y="13708"/>
                </a:lnTo>
                <a:lnTo>
                  <a:pt x="853243" y="23961"/>
                </a:lnTo>
                <a:lnTo>
                  <a:pt x="906931" y="36800"/>
                </a:lnTo>
                <a:lnTo>
                  <a:pt x="957569" y="52071"/>
                </a:lnTo>
                <a:lnTo>
                  <a:pt x="1004850" y="69621"/>
                </a:lnTo>
                <a:lnTo>
                  <a:pt x="1048464" y="89296"/>
                </a:lnTo>
                <a:lnTo>
                  <a:pt x="1088103" y="110944"/>
                </a:lnTo>
                <a:lnTo>
                  <a:pt x="1123458" y="134410"/>
                </a:lnTo>
                <a:lnTo>
                  <a:pt x="1154220" y="159541"/>
                </a:lnTo>
                <a:lnTo>
                  <a:pt x="1200733" y="214184"/>
                </a:lnTo>
                <a:lnTo>
                  <a:pt x="1225173" y="273646"/>
                </a:lnTo>
                <a:lnTo>
                  <a:pt x="1228344" y="304800"/>
                </a:lnTo>
                <a:lnTo>
                  <a:pt x="1225173" y="335953"/>
                </a:lnTo>
                <a:lnTo>
                  <a:pt x="1200733" y="395415"/>
                </a:lnTo>
                <a:lnTo>
                  <a:pt x="1154220" y="450058"/>
                </a:lnTo>
                <a:lnTo>
                  <a:pt x="1123458" y="475189"/>
                </a:lnTo>
                <a:lnTo>
                  <a:pt x="1088103" y="498655"/>
                </a:lnTo>
                <a:lnTo>
                  <a:pt x="1048464" y="520303"/>
                </a:lnTo>
                <a:lnTo>
                  <a:pt x="1004850" y="539978"/>
                </a:lnTo>
                <a:lnTo>
                  <a:pt x="957569" y="557528"/>
                </a:lnTo>
                <a:lnTo>
                  <a:pt x="906931" y="572799"/>
                </a:lnTo>
                <a:lnTo>
                  <a:pt x="853243" y="585638"/>
                </a:lnTo>
                <a:lnTo>
                  <a:pt x="796815" y="595891"/>
                </a:lnTo>
                <a:lnTo>
                  <a:pt x="737954" y="603405"/>
                </a:lnTo>
                <a:lnTo>
                  <a:pt x="676970" y="608025"/>
                </a:lnTo>
                <a:lnTo>
                  <a:pt x="614172" y="609600"/>
                </a:lnTo>
                <a:lnTo>
                  <a:pt x="551373" y="608025"/>
                </a:lnTo>
                <a:lnTo>
                  <a:pt x="490389" y="603405"/>
                </a:lnTo>
                <a:lnTo>
                  <a:pt x="431528" y="595891"/>
                </a:lnTo>
                <a:lnTo>
                  <a:pt x="375100" y="585638"/>
                </a:lnTo>
                <a:lnTo>
                  <a:pt x="321412" y="572799"/>
                </a:lnTo>
                <a:lnTo>
                  <a:pt x="270774" y="557528"/>
                </a:lnTo>
                <a:lnTo>
                  <a:pt x="223493" y="539978"/>
                </a:lnTo>
                <a:lnTo>
                  <a:pt x="179879" y="520303"/>
                </a:lnTo>
                <a:lnTo>
                  <a:pt x="140240" y="498655"/>
                </a:lnTo>
                <a:lnTo>
                  <a:pt x="104885" y="475189"/>
                </a:lnTo>
                <a:lnTo>
                  <a:pt x="74123" y="450058"/>
                </a:lnTo>
                <a:lnTo>
                  <a:pt x="27610" y="395415"/>
                </a:lnTo>
                <a:lnTo>
                  <a:pt x="3170" y="335953"/>
                </a:lnTo>
                <a:lnTo>
                  <a:pt x="0" y="304800"/>
                </a:lnTo>
                <a:close/>
              </a:path>
            </a:pathLst>
          </a:custGeom>
          <a:ln w="9144">
            <a:solidFill>
              <a:srgbClr val="FF0066"/>
            </a:solidFill>
          </a:ln>
        </p:spPr>
        <p:txBody>
          <a:bodyPr wrap="square" lIns="0" tIns="0" rIns="0" bIns="0" rtlCol="0"/>
          <a:lstStyle/>
          <a:p>
            <a:endParaRPr/>
          </a:p>
        </p:txBody>
      </p:sp>
      <p:sp>
        <p:nvSpPr>
          <p:cNvPr id="6" name="object 6"/>
          <p:cNvSpPr txBox="1"/>
          <p:nvPr/>
        </p:nvSpPr>
        <p:spPr>
          <a:xfrm>
            <a:off x="3772853" y="6178645"/>
            <a:ext cx="4646295" cy="299720"/>
          </a:xfrm>
          <a:prstGeom prst="rect">
            <a:avLst/>
          </a:prstGeom>
        </p:spPr>
        <p:txBody>
          <a:bodyPr vert="horz" wrap="square" lIns="0" tIns="12700" rIns="0" bIns="0" rtlCol="0">
            <a:spAutoFit/>
          </a:bodyPr>
          <a:lstStyle/>
          <a:p>
            <a:pPr marL="12700" algn="ctr">
              <a:spcBef>
                <a:spcPts val="100"/>
              </a:spcBef>
            </a:pPr>
            <a:r>
              <a:rPr b="1" dirty="0">
                <a:solidFill>
                  <a:srgbClr val="FF0000"/>
                </a:solidFill>
                <a:latin typeface="Times New Roman" panose="02020603050405020304" pitchFamily="18" charset="0"/>
                <a:cs typeface="Times New Roman" panose="02020603050405020304" pitchFamily="18" charset="0"/>
              </a:rPr>
              <a:t>Sơ đồ tuần tự đặc tả </a:t>
            </a:r>
            <a:r>
              <a:rPr b="1" spc="-10" dirty="0">
                <a:solidFill>
                  <a:srgbClr val="FF0000"/>
                </a:solidFill>
                <a:latin typeface="Times New Roman" panose="02020603050405020304" pitchFamily="18" charset="0"/>
                <a:cs typeface="Times New Roman" panose="02020603050405020304" pitchFamily="18" charset="0"/>
              </a:rPr>
              <a:t>Use-case: </a:t>
            </a:r>
            <a:r>
              <a:rPr b="1" spc="-5" dirty="0">
                <a:solidFill>
                  <a:srgbClr val="FF0000"/>
                </a:solidFill>
                <a:latin typeface="Times New Roman" panose="02020603050405020304" pitchFamily="18" charset="0"/>
                <a:cs typeface="Times New Roman" panose="02020603050405020304" pitchFamily="18" charset="0"/>
              </a:rPr>
              <a:t>Đăng</a:t>
            </a:r>
            <a:r>
              <a:rPr b="1" spc="-35" dirty="0">
                <a:solidFill>
                  <a:srgbClr val="FF0000"/>
                </a:solidFill>
                <a:latin typeface="Times New Roman" panose="02020603050405020304" pitchFamily="18" charset="0"/>
                <a:cs typeface="Times New Roman" panose="02020603050405020304" pitchFamily="18" charset="0"/>
              </a:rPr>
              <a:t> </a:t>
            </a:r>
            <a:r>
              <a:rPr b="1" dirty="0">
                <a:solidFill>
                  <a:srgbClr val="FF0000"/>
                </a:solidFill>
                <a:latin typeface="Times New Roman" panose="02020603050405020304" pitchFamily="18" charset="0"/>
                <a:cs typeface="Times New Roman" panose="02020603050405020304" pitchFamily="18" charset="0"/>
              </a:rPr>
              <a:t>nhập</a:t>
            </a:r>
            <a:endParaRPr>
              <a:solidFill>
                <a:srgbClr val="FF0000"/>
              </a:solidFill>
              <a:latin typeface="Times New Roman" panose="02020603050405020304" pitchFamily="18" charset="0"/>
              <a:cs typeface="Times New Roman" panose="02020603050405020304" pitchFamily="18" charset="0"/>
            </a:endParaRPr>
          </a:p>
        </p:txBody>
      </p:sp>
      <p:sp>
        <p:nvSpPr>
          <p:cNvPr id="7" name="object 7"/>
          <p:cNvSpPr/>
          <p:nvPr/>
        </p:nvSpPr>
        <p:spPr>
          <a:xfrm>
            <a:off x="2819401" y="1600200"/>
            <a:ext cx="1228725" cy="609600"/>
          </a:xfrm>
          <a:custGeom>
            <a:avLst/>
            <a:gdLst/>
            <a:ahLst/>
            <a:cxnLst/>
            <a:rect l="l" t="t" r="r" b="b"/>
            <a:pathLst>
              <a:path w="1228725" h="609600">
                <a:moveTo>
                  <a:pt x="0" y="304800"/>
                </a:moveTo>
                <a:lnTo>
                  <a:pt x="12477" y="243389"/>
                </a:lnTo>
                <a:lnTo>
                  <a:pt x="48261" y="186183"/>
                </a:lnTo>
                <a:lnTo>
                  <a:pt x="104885" y="134410"/>
                </a:lnTo>
                <a:lnTo>
                  <a:pt x="140240" y="110944"/>
                </a:lnTo>
                <a:lnTo>
                  <a:pt x="179879" y="89296"/>
                </a:lnTo>
                <a:lnTo>
                  <a:pt x="223493" y="69621"/>
                </a:lnTo>
                <a:lnTo>
                  <a:pt x="270774" y="52071"/>
                </a:lnTo>
                <a:lnTo>
                  <a:pt x="321412" y="36800"/>
                </a:lnTo>
                <a:lnTo>
                  <a:pt x="375100" y="23961"/>
                </a:lnTo>
                <a:lnTo>
                  <a:pt x="431528" y="13708"/>
                </a:lnTo>
                <a:lnTo>
                  <a:pt x="490389" y="6194"/>
                </a:lnTo>
                <a:lnTo>
                  <a:pt x="551373" y="1574"/>
                </a:lnTo>
                <a:lnTo>
                  <a:pt x="614172" y="0"/>
                </a:lnTo>
                <a:lnTo>
                  <a:pt x="676970" y="1574"/>
                </a:lnTo>
                <a:lnTo>
                  <a:pt x="737954" y="6194"/>
                </a:lnTo>
                <a:lnTo>
                  <a:pt x="796815" y="13708"/>
                </a:lnTo>
                <a:lnTo>
                  <a:pt x="853243" y="23961"/>
                </a:lnTo>
                <a:lnTo>
                  <a:pt x="906931" y="36800"/>
                </a:lnTo>
                <a:lnTo>
                  <a:pt x="957569" y="52071"/>
                </a:lnTo>
                <a:lnTo>
                  <a:pt x="1004850" y="69621"/>
                </a:lnTo>
                <a:lnTo>
                  <a:pt x="1048464" y="89296"/>
                </a:lnTo>
                <a:lnTo>
                  <a:pt x="1088103" y="110944"/>
                </a:lnTo>
                <a:lnTo>
                  <a:pt x="1123458" y="134410"/>
                </a:lnTo>
                <a:lnTo>
                  <a:pt x="1154220" y="159541"/>
                </a:lnTo>
                <a:lnTo>
                  <a:pt x="1200733" y="214184"/>
                </a:lnTo>
                <a:lnTo>
                  <a:pt x="1225173" y="273646"/>
                </a:lnTo>
                <a:lnTo>
                  <a:pt x="1228344" y="304800"/>
                </a:lnTo>
                <a:lnTo>
                  <a:pt x="1225173" y="335953"/>
                </a:lnTo>
                <a:lnTo>
                  <a:pt x="1200733" y="395415"/>
                </a:lnTo>
                <a:lnTo>
                  <a:pt x="1154220" y="450058"/>
                </a:lnTo>
                <a:lnTo>
                  <a:pt x="1123458" y="475189"/>
                </a:lnTo>
                <a:lnTo>
                  <a:pt x="1088103" y="498655"/>
                </a:lnTo>
                <a:lnTo>
                  <a:pt x="1048464" y="520303"/>
                </a:lnTo>
                <a:lnTo>
                  <a:pt x="1004850" y="539978"/>
                </a:lnTo>
                <a:lnTo>
                  <a:pt x="957569" y="557528"/>
                </a:lnTo>
                <a:lnTo>
                  <a:pt x="906931" y="572799"/>
                </a:lnTo>
                <a:lnTo>
                  <a:pt x="853243" y="585638"/>
                </a:lnTo>
                <a:lnTo>
                  <a:pt x="796815" y="595891"/>
                </a:lnTo>
                <a:lnTo>
                  <a:pt x="737954" y="603405"/>
                </a:lnTo>
                <a:lnTo>
                  <a:pt x="676970" y="608025"/>
                </a:lnTo>
                <a:lnTo>
                  <a:pt x="614172" y="609600"/>
                </a:lnTo>
                <a:lnTo>
                  <a:pt x="551373" y="608025"/>
                </a:lnTo>
                <a:lnTo>
                  <a:pt x="490389" y="603405"/>
                </a:lnTo>
                <a:lnTo>
                  <a:pt x="431528" y="595891"/>
                </a:lnTo>
                <a:lnTo>
                  <a:pt x="375100" y="585638"/>
                </a:lnTo>
                <a:lnTo>
                  <a:pt x="321412" y="572799"/>
                </a:lnTo>
                <a:lnTo>
                  <a:pt x="270774" y="557528"/>
                </a:lnTo>
                <a:lnTo>
                  <a:pt x="223493" y="539978"/>
                </a:lnTo>
                <a:lnTo>
                  <a:pt x="179879" y="520303"/>
                </a:lnTo>
                <a:lnTo>
                  <a:pt x="140240" y="498655"/>
                </a:lnTo>
                <a:lnTo>
                  <a:pt x="104885" y="475189"/>
                </a:lnTo>
                <a:lnTo>
                  <a:pt x="74123" y="450058"/>
                </a:lnTo>
                <a:lnTo>
                  <a:pt x="27610" y="395415"/>
                </a:lnTo>
                <a:lnTo>
                  <a:pt x="3170" y="335953"/>
                </a:lnTo>
                <a:lnTo>
                  <a:pt x="0" y="304800"/>
                </a:lnTo>
                <a:close/>
              </a:path>
            </a:pathLst>
          </a:custGeom>
          <a:ln w="9144">
            <a:solidFill>
              <a:srgbClr val="FF0066"/>
            </a:solidFill>
          </a:ln>
        </p:spPr>
        <p:txBody>
          <a:bodyPr wrap="square" lIns="0" tIns="0" rIns="0" bIns="0" rtlCol="0"/>
          <a:lstStyle/>
          <a:p>
            <a:endParaRPr/>
          </a:p>
        </p:txBody>
      </p:sp>
      <p:sp>
        <p:nvSpPr>
          <p:cNvPr id="8" name="object 8"/>
          <p:cNvSpPr txBox="1"/>
          <p:nvPr/>
        </p:nvSpPr>
        <p:spPr>
          <a:xfrm>
            <a:off x="746504" y="1240589"/>
            <a:ext cx="1844295" cy="506549"/>
          </a:xfrm>
          <a:prstGeom prst="rect">
            <a:avLst/>
          </a:prstGeom>
          <a:solidFill>
            <a:srgbClr val="EBDDC3"/>
          </a:solidFill>
          <a:ln w="3175">
            <a:solidFill>
              <a:srgbClr val="000000"/>
            </a:solidFill>
          </a:ln>
        </p:spPr>
        <p:txBody>
          <a:bodyPr vert="horz" wrap="square" lIns="0" tIns="74930" rIns="0" bIns="0" rtlCol="0">
            <a:spAutoFit/>
          </a:bodyPr>
          <a:lstStyle/>
          <a:p>
            <a:pPr marL="109855" algn="ctr">
              <a:spcBef>
                <a:spcPts val="590"/>
              </a:spcBef>
            </a:pPr>
            <a:r>
              <a:rPr sz="2800" dirty="0">
                <a:latin typeface="Times New Roman" panose="02020603050405020304" pitchFamily="18" charset="0"/>
                <a:cs typeface="Times New Roman" panose="02020603050405020304" pitchFamily="18" charset="0"/>
              </a:rPr>
              <a:t>Khách</a:t>
            </a:r>
            <a:r>
              <a:rPr sz="2800" spc="-5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hàng</a:t>
            </a:r>
            <a:endParaRPr sz="2800">
              <a:latin typeface="Times New Roman" panose="02020603050405020304" pitchFamily="18" charset="0"/>
              <a:cs typeface="Times New Roman" panose="02020603050405020304" pitchFamily="18" charset="0"/>
            </a:endParaRPr>
          </a:p>
        </p:txBody>
      </p:sp>
      <p:sp>
        <p:nvSpPr>
          <p:cNvPr id="9" name="object 9"/>
          <p:cNvSpPr txBox="1"/>
          <p:nvPr/>
        </p:nvSpPr>
        <p:spPr>
          <a:xfrm>
            <a:off x="734312" y="1811717"/>
            <a:ext cx="1846293" cy="545021"/>
          </a:xfrm>
          <a:prstGeom prst="rect">
            <a:avLst/>
          </a:prstGeom>
          <a:solidFill>
            <a:srgbClr val="EBDDC3"/>
          </a:solidFill>
          <a:ln w="3175">
            <a:solidFill>
              <a:srgbClr val="000000"/>
            </a:solidFill>
          </a:ln>
        </p:spPr>
        <p:txBody>
          <a:bodyPr vert="horz" wrap="square" lIns="0" tIns="113030" rIns="0" bIns="0" rtlCol="0">
            <a:spAutoFit/>
          </a:bodyPr>
          <a:lstStyle/>
          <a:p>
            <a:pPr marL="109855" algn="ctr">
              <a:spcBef>
                <a:spcPts val="590"/>
              </a:spcBef>
            </a:pPr>
            <a:r>
              <a:rPr sz="2800" dirty="0">
                <a:latin typeface="Times New Roman" panose="02020603050405020304" pitchFamily="18" charset="0"/>
                <a:cs typeface="Times New Roman" panose="02020603050405020304" pitchFamily="18" charset="0"/>
              </a:rPr>
              <a:t>Máy ATM</a:t>
            </a:r>
            <a:endParaRPr sz="2800">
              <a:latin typeface="Times New Roman" panose="02020603050405020304" pitchFamily="18" charset="0"/>
              <a:cs typeface="Times New Roman" panose="02020603050405020304" pitchFamily="18" charset="0"/>
            </a:endParaRPr>
          </a:p>
        </p:txBody>
      </p:sp>
      <p:sp>
        <p:nvSpPr>
          <p:cNvPr id="10" name="object 10"/>
          <p:cNvSpPr txBox="1"/>
          <p:nvPr/>
        </p:nvSpPr>
        <p:spPr>
          <a:xfrm>
            <a:off x="746504" y="2421317"/>
            <a:ext cx="1844295" cy="545021"/>
          </a:xfrm>
          <a:prstGeom prst="rect">
            <a:avLst/>
          </a:prstGeom>
          <a:solidFill>
            <a:srgbClr val="EBDDC3"/>
          </a:solidFill>
          <a:ln w="3175">
            <a:solidFill>
              <a:srgbClr val="000000"/>
            </a:solidFill>
          </a:ln>
        </p:spPr>
        <p:txBody>
          <a:bodyPr vert="horz" wrap="square" lIns="0" tIns="113030" rIns="0" bIns="0" rtlCol="0">
            <a:spAutoFit/>
          </a:bodyPr>
          <a:lstStyle/>
          <a:p>
            <a:pPr marL="109855" algn="ctr">
              <a:spcBef>
                <a:spcPts val="590"/>
              </a:spcBef>
            </a:pPr>
            <a:r>
              <a:rPr sz="2800" dirty="0">
                <a:latin typeface="Times New Roman" panose="02020603050405020304" pitchFamily="18" charset="0"/>
                <a:cs typeface="Times New Roman" panose="02020603050405020304" pitchFamily="18" charset="0"/>
              </a:rPr>
              <a:t>DSKH</a:t>
            </a:r>
            <a:endParaRPr sz="2800">
              <a:latin typeface="Times New Roman" panose="02020603050405020304" pitchFamily="18" charset="0"/>
              <a:cs typeface="Times New Roman" panose="02020603050405020304" pitchFamily="18" charset="0"/>
            </a:endParaRPr>
          </a:p>
        </p:txBody>
      </p:sp>
      <p:sp>
        <p:nvSpPr>
          <p:cNvPr id="13"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12"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8916670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951480" y="1113046"/>
            <a:ext cx="6854952" cy="5029200"/>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4110699" y="6176645"/>
            <a:ext cx="4799330" cy="300355"/>
          </a:xfrm>
          <a:prstGeom prst="rect">
            <a:avLst/>
          </a:prstGeom>
        </p:spPr>
        <p:txBody>
          <a:bodyPr vert="horz" wrap="square" lIns="0" tIns="12700" rIns="0" bIns="0" rtlCol="0">
            <a:spAutoFit/>
          </a:bodyPr>
          <a:lstStyle/>
          <a:p>
            <a:pPr marL="12700">
              <a:spcBef>
                <a:spcPts val="100"/>
              </a:spcBef>
            </a:pPr>
            <a:r>
              <a:rPr b="1" dirty="0">
                <a:solidFill>
                  <a:srgbClr val="006FC0"/>
                </a:solidFill>
                <a:latin typeface="Times New Roman" panose="02020603050405020304" pitchFamily="18" charset="0"/>
                <a:cs typeface="Times New Roman" panose="02020603050405020304" pitchFamily="18" charset="0"/>
              </a:rPr>
              <a:t>Sơ đồ tuần tự đặc tả </a:t>
            </a:r>
            <a:r>
              <a:rPr b="1" spc="-10" dirty="0">
                <a:solidFill>
                  <a:srgbClr val="006FC0"/>
                </a:solidFill>
                <a:latin typeface="Times New Roman" panose="02020603050405020304" pitchFamily="18" charset="0"/>
                <a:cs typeface="Times New Roman" panose="02020603050405020304" pitchFamily="18" charset="0"/>
              </a:rPr>
              <a:t>Use-case: </a:t>
            </a:r>
            <a:r>
              <a:rPr b="1" dirty="0">
                <a:solidFill>
                  <a:srgbClr val="006FC0"/>
                </a:solidFill>
                <a:latin typeface="Times New Roman" panose="02020603050405020304" pitchFamily="18" charset="0"/>
                <a:cs typeface="Times New Roman" panose="02020603050405020304" pitchFamily="18" charset="0"/>
              </a:rPr>
              <a:t>Tạo </a:t>
            </a:r>
            <a:r>
              <a:rPr b="1" spc="-5" dirty="0">
                <a:solidFill>
                  <a:srgbClr val="006FC0"/>
                </a:solidFill>
                <a:latin typeface="Times New Roman" panose="02020603050405020304" pitchFamily="18" charset="0"/>
                <a:cs typeface="Times New Roman" panose="02020603050405020304" pitchFamily="18" charset="0"/>
              </a:rPr>
              <a:t>lịch</a:t>
            </a:r>
            <a:r>
              <a:rPr b="1" spc="-40" dirty="0">
                <a:solidFill>
                  <a:srgbClr val="006FC0"/>
                </a:solidFill>
                <a:latin typeface="Times New Roman" panose="02020603050405020304" pitchFamily="18" charset="0"/>
                <a:cs typeface="Times New Roman" panose="02020603050405020304" pitchFamily="18" charset="0"/>
              </a:rPr>
              <a:t> </a:t>
            </a:r>
            <a:r>
              <a:rPr b="1" dirty="0">
                <a:solidFill>
                  <a:srgbClr val="006FC0"/>
                </a:solidFill>
                <a:latin typeface="Times New Roman" panose="02020603050405020304" pitchFamily="18" charset="0"/>
                <a:cs typeface="Times New Roman" panose="02020603050405020304" pitchFamily="18" charset="0"/>
              </a:rPr>
              <a:t>hẹn</a:t>
            </a:r>
            <a:endParaRPr>
              <a:latin typeface="Times New Roman" panose="02020603050405020304" pitchFamily="18" charset="0"/>
              <a:cs typeface="Times New Roman" panose="02020603050405020304" pitchFamily="18" charset="0"/>
            </a:endParaRPr>
          </a:p>
        </p:txBody>
      </p:sp>
      <p:sp>
        <p:nvSpPr>
          <p:cNvPr id="5" name="object 5"/>
          <p:cNvSpPr/>
          <p:nvPr/>
        </p:nvSpPr>
        <p:spPr>
          <a:xfrm>
            <a:off x="2667001" y="1295400"/>
            <a:ext cx="1228725" cy="609600"/>
          </a:xfrm>
          <a:custGeom>
            <a:avLst/>
            <a:gdLst/>
            <a:ahLst/>
            <a:cxnLst/>
            <a:rect l="l" t="t" r="r" b="b"/>
            <a:pathLst>
              <a:path w="1228725" h="609600">
                <a:moveTo>
                  <a:pt x="0" y="304800"/>
                </a:moveTo>
                <a:lnTo>
                  <a:pt x="12477" y="243389"/>
                </a:lnTo>
                <a:lnTo>
                  <a:pt x="48261" y="186183"/>
                </a:lnTo>
                <a:lnTo>
                  <a:pt x="104885" y="134410"/>
                </a:lnTo>
                <a:lnTo>
                  <a:pt x="140240" y="110944"/>
                </a:lnTo>
                <a:lnTo>
                  <a:pt x="179879" y="89296"/>
                </a:lnTo>
                <a:lnTo>
                  <a:pt x="223493" y="69621"/>
                </a:lnTo>
                <a:lnTo>
                  <a:pt x="270774" y="52071"/>
                </a:lnTo>
                <a:lnTo>
                  <a:pt x="321412" y="36800"/>
                </a:lnTo>
                <a:lnTo>
                  <a:pt x="375100" y="23961"/>
                </a:lnTo>
                <a:lnTo>
                  <a:pt x="431528" y="13708"/>
                </a:lnTo>
                <a:lnTo>
                  <a:pt x="490389" y="6194"/>
                </a:lnTo>
                <a:lnTo>
                  <a:pt x="551373" y="1574"/>
                </a:lnTo>
                <a:lnTo>
                  <a:pt x="614172" y="0"/>
                </a:lnTo>
                <a:lnTo>
                  <a:pt x="676970" y="1574"/>
                </a:lnTo>
                <a:lnTo>
                  <a:pt x="737954" y="6194"/>
                </a:lnTo>
                <a:lnTo>
                  <a:pt x="796815" y="13708"/>
                </a:lnTo>
                <a:lnTo>
                  <a:pt x="853243" y="23961"/>
                </a:lnTo>
                <a:lnTo>
                  <a:pt x="906931" y="36800"/>
                </a:lnTo>
                <a:lnTo>
                  <a:pt x="957569" y="52071"/>
                </a:lnTo>
                <a:lnTo>
                  <a:pt x="1004850" y="69621"/>
                </a:lnTo>
                <a:lnTo>
                  <a:pt x="1048464" y="89296"/>
                </a:lnTo>
                <a:lnTo>
                  <a:pt x="1088103" y="110944"/>
                </a:lnTo>
                <a:lnTo>
                  <a:pt x="1123458" y="134410"/>
                </a:lnTo>
                <a:lnTo>
                  <a:pt x="1154220" y="159541"/>
                </a:lnTo>
                <a:lnTo>
                  <a:pt x="1200733" y="214184"/>
                </a:lnTo>
                <a:lnTo>
                  <a:pt x="1225173" y="273646"/>
                </a:lnTo>
                <a:lnTo>
                  <a:pt x="1228344" y="304800"/>
                </a:lnTo>
                <a:lnTo>
                  <a:pt x="1225173" y="335953"/>
                </a:lnTo>
                <a:lnTo>
                  <a:pt x="1200733" y="395415"/>
                </a:lnTo>
                <a:lnTo>
                  <a:pt x="1154220" y="450058"/>
                </a:lnTo>
                <a:lnTo>
                  <a:pt x="1123458" y="475189"/>
                </a:lnTo>
                <a:lnTo>
                  <a:pt x="1088103" y="498655"/>
                </a:lnTo>
                <a:lnTo>
                  <a:pt x="1048464" y="520303"/>
                </a:lnTo>
                <a:lnTo>
                  <a:pt x="1004850" y="539978"/>
                </a:lnTo>
                <a:lnTo>
                  <a:pt x="957569" y="557528"/>
                </a:lnTo>
                <a:lnTo>
                  <a:pt x="906931" y="572799"/>
                </a:lnTo>
                <a:lnTo>
                  <a:pt x="853243" y="585638"/>
                </a:lnTo>
                <a:lnTo>
                  <a:pt x="796815" y="595891"/>
                </a:lnTo>
                <a:lnTo>
                  <a:pt x="737954" y="603405"/>
                </a:lnTo>
                <a:lnTo>
                  <a:pt x="676970" y="608025"/>
                </a:lnTo>
                <a:lnTo>
                  <a:pt x="614172" y="609600"/>
                </a:lnTo>
                <a:lnTo>
                  <a:pt x="551373" y="608025"/>
                </a:lnTo>
                <a:lnTo>
                  <a:pt x="490389" y="603405"/>
                </a:lnTo>
                <a:lnTo>
                  <a:pt x="431528" y="595891"/>
                </a:lnTo>
                <a:lnTo>
                  <a:pt x="375100" y="585638"/>
                </a:lnTo>
                <a:lnTo>
                  <a:pt x="321412" y="572799"/>
                </a:lnTo>
                <a:lnTo>
                  <a:pt x="270774" y="557528"/>
                </a:lnTo>
                <a:lnTo>
                  <a:pt x="223493" y="539978"/>
                </a:lnTo>
                <a:lnTo>
                  <a:pt x="179879" y="520303"/>
                </a:lnTo>
                <a:lnTo>
                  <a:pt x="140240" y="498655"/>
                </a:lnTo>
                <a:lnTo>
                  <a:pt x="104885" y="475189"/>
                </a:lnTo>
                <a:lnTo>
                  <a:pt x="74123" y="450058"/>
                </a:lnTo>
                <a:lnTo>
                  <a:pt x="27610" y="395415"/>
                </a:lnTo>
                <a:lnTo>
                  <a:pt x="3170" y="335953"/>
                </a:lnTo>
                <a:lnTo>
                  <a:pt x="0" y="304800"/>
                </a:lnTo>
                <a:close/>
              </a:path>
            </a:pathLst>
          </a:custGeom>
          <a:ln w="9144">
            <a:solidFill>
              <a:srgbClr val="FF0066"/>
            </a:solidFill>
          </a:ln>
        </p:spPr>
        <p:txBody>
          <a:bodyPr wrap="square" lIns="0" tIns="0" rIns="0" bIns="0" rtlCol="0"/>
          <a:lstStyle/>
          <a:p>
            <a:endParaRPr/>
          </a:p>
        </p:txBody>
      </p:sp>
      <p:sp>
        <p:nvSpPr>
          <p:cNvPr id="6" name="object 6"/>
          <p:cNvSpPr/>
          <p:nvPr/>
        </p:nvSpPr>
        <p:spPr>
          <a:xfrm>
            <a:off x="4876801" y="1295400"/>
            <a:ext cx="1228725" cy="609600"/>
          </a:xfrm>
          <a:custGeom>
            <a:avLst/>
            <a:gdLst/>
            <a:ahLst/>
            <a:cxnLst/>
            <a:rect l="l" t="t" r="r" b="b"/>
            <a:pathLst>
              <a:path w="1228725" h="609600">
                <a:moveTo>
                  <a:pt x="0" y="304800"/>
                </a:moveTo>
                <a:lnTo>
                  <a:pt x="12477" y="243389"/>
                </a:lnTo>
                <a:lnTo>
                  <a:pt x="48261" y="186183"/>
                </a:lnTo>
                <a:lnTo>
                  <a:pt x="104885" y="134410"/>
                </a:lnTo>
                <a:lnTo>
                  <a:pt x="140240" y="110944"/>
                </a:lnTo>
                <a:lnTo>
                  <a:pt x="179879" y="89296"/>
                </a:lnTo>
                <a:lnTo>
                  <a:pt x="223493" y="69621"/>
                </a:lnTo>
                <a:lnTo>
                  <a:pt x="270774" y="52071"/>
                </a:lnTo>
                <a:lnTo>
                  <a:pt x="321412" y="36800"/>
                </a:lnTo>
                <a:lnTo>
                  <a:pt x="375100" y="23961"/>
                </a:lnTo>
                <a:lnTo>
                  <a:pt x="431528" y="13708"/>
                </a:lnTo>
                <a:lnTo>
                  <a:pt x="490389" y="6194"/>
                </a:lnTo>
                <a:lnTo>
                  <a:pt x="551373" y="1574"/>
                </a:lnTo>
                <a:lnTo>
                  <a:pt x="614172" y="0"/>
                </a:lnTo>
                <a:lnTo>
                  <a:pt x="676970" y="1574"/>
                </a:lnTo>
                <a:lnTo>
                  <a:pt x="737954" y="6194"/>
                </a:lnTo>
                <a:lnTo>
                  <a:pt x="796815" y="13708"/>
                </a:lnTo>
                <a:lnTo>
                  <a:pt x="853243" y="23961"/>
                </a:lnTo>
                <a:lnTo>
                  <a:pt x="906931" y="36800"/>
                </a:lnTo>
                <a:lnTo>
                  <a:pt x="957569" y="52071"/>
                </a:lnTo>
                <a:lnTo>
                  <a:pt x="1004850" y="69621"/>
                </a:lnTo>
                <a:lnTo>
                  <a:pt x="1048464" y="89296"/>
                </a:lnTo>
                <a:lnTo>
                  <a:pt x="1088103" y="110944"/>
                </a:lnTo>
                <a:lnTo>
                  <a:pt x="1123458" y="134410"/>
                </a:lnTo>
                <a:lnTo>
                  <a:pt x="1154220" y="159541"/>
                </a:lnTo>
                <a:lnTo>
                  <a:pt x="1200733" y="214184"/>
                </a:lnTo>
                <a:lnTo>
                  <a:pt x="1225173" y="273646"/>
                </a:lnTo>
                <a:lnTo>
                  <a:pt x="1228344" y="304800"/>
                </a:lnTo>
                <a:lnTo>
                  <a:pt x="1225173" y="335953"/>
                </a:lnTo>
                <a:lnTo>
                  <a:pt x="1200733" y="395415"/>
                </a:lnTo>
                <a:lnTo>
                  <a:pt x="1154220" y="450058"/>
                </a:lnTo>
                <a:lnTo>
                  <a:pt x="1123458" y="475189"/>
                </a:lnTo>
                <a:lnTo>
                  <a:pt x="1088103" y="498655"/>
                </a:lnTo>
                <a:lnTo>
                  <a:pt x="1048464" y="520303"/>
                </a:lnTo>
                <a:lnTo>
                  <a:pt x="1004850" y="539978"/>
                </a:lnTo>
                <a:lnTo>
                  <a:pt x="957569" y="557528"/>
                </a:lnTo>
                <a:lnTo>
                  <a:pt x="906931" y="572799"/>
                </a:lnTo>
                <a:lnTo>
                  <a:pt x="853243" y="585638"/>
                </a:lnTo>
                <a:lnTo>
                  <a:pt x="796815" y="595891"/>
                </a:lnTo>
                <a:lnTo>
                  <a:pt x="737954" y="603405"/>
                </a:lnTo>
                <a:lnTo>
                  <a:pt x="676970" y="608025"/>
                </a:lnTo>
                <a:lnTo>
                  <a:pt x="614172" y="609600"/>
                </a:lnTo>
                <a:lnTo>
                  <a:pt x="551373" y="608025"/>
                </a:lnTo>
                <a:lnTo>
                  <a:pt x="490389" y="603405"/>
                </a:lnTo>
                <a:lnTo>
                  <a:pt x="431528" y="595891"/>
                </a:lnTo>
                <a:lnTo>
                  <a:pt x="375100" y="585638"/>
                </a:lnTo>
                <a:lnTo>
                  <a:pt x="321412" y="572799"/>
                </a:lnTo>
                <a:lnTo>
                  <a:pt x="270774" y="557528"/>
                </a:lnTo>
                <a:lnTo>
                  <a:pt x="223493" y="539978"/>
                </a:lnTo>
                <a:lnTo>
                  <a:pt x="179879" y="520303"/>
                </a:lnTo>
                <a:lnTo>
                  <a:pt x="140240" y="498655"/>
                </a:lnTo>
                <a:lnTo>
                  <a:pt x="104885" y="475189"/>
                </a:lnTo>
                <a:lnTo>
                  <a:pt x="74123" y="450058"/>
                </a:lnTo>
                <a:lnTo>
                  <a:pt x="27610" y="395415"/>
                </a:lnTo>
                <a:lnTo>
                  <a:pt x="3170" y="335953"/>
                </a:lnTo>
                <a:lnTo>
                  <a:pt x="0" y="304800"/>
                </a:lnTo>
                <a:close/>
              </a:path>
            </a:pathLst>
          </a:custGeom>
          <a:ln w="9144">
            <a:solidFill>
              <a:srgbClr val="FF0066"/>
            </a:solidFill>
          </a:ln>
        </p:spPr>
        <p:txBody>
          <a:bodyPr wrap="square" lIns="0" tIns="0" rIns="0" bIns="0" rtlCol="0"/>
          <a:lstStyle/>
          <a:p>
            <a:endParaRPr/>
          </a:p>
        </p:txBody>
      </p:sp>
      <p:sp>
        <p:nvSpPr>
          <p:cNvPr id="7" name="object 7"/>
          <p:cNvSpPr/>
          <p:nvPr/>
        </p:nvSpPr>
        <p:spPr>
          <a:xfrm>
            <a:off x="6629401" y="1350263"/>
            <a:ext cx="1228725" cy="707390"/>
          </a:xfrm>
          <a:custGeom>
            <a:avLst/>
            <a:gdLst/>
            <a:ahLst/>
            <a:cxnLst/>
            <a:rect l="l" t="t" r="r" b="b"/>
            <a:pathLst>
              <a:path w="1228725" h="707389">
                <a:moveTo>
                  <a:pt x="0" y="353568"/>
                </a:moveTo>
                <a:lnTo>
                  <a:pt x="11073" y="286366"/>
                </a:lnTo>
                <a:lnTo>
                  <a:pt x="42922" y="223428"/>
                </a:lnTo>
                <a:lnTo>
                  <a:pt x="93488" y="165937"/>
                </a:lnTo>
                <a:lnTo>
                  <a:pt x="125146" y="139604"/>
                </a:lnTo>
                <a:lnTo>
                  <a:pt x="160712" y="115077"/>
                </a:lnTo>
                <a:lnTo>
                  <a:pt x="199927" y="92503"/>
                </a:lnTo>
                <a:lnTo>
                  <a:pt x="242535" y="72031"/>
                </a:lnTo>
                <a:lnTo>
                  <a:pt x="288279" y="53808"/>
                </a:lnTo>
                <a:lnTo>
                  <a:pt x="336900" y="37983"/>
                </a:lnTo>
                <a:lnTo>
                  <a:pt x="388142" y="24704"/>
                </a:lnTo>
                <a:lnTo>
                  <a:pt x="441748" y="14118"/>
                </a:lnTo>
                <a:lnTo>
                  <a:pt x="497459" y="6373"/>
                </a:lnTo>
                <a:lnTo>
                  <a:pt x="555020" y="1617"/>
                </a:lnTo>
                <a:lnTo>
                  <a:pt x="614172" y="0"/>
                </a:lnTo>
                <a:lnTo>
                  <a:pt x="673323" y="1617"/>
                </a:lnTo>
                <a:lnTo>
                  <a:pt x="730884" y="6373"/>
                </a:lnTo>
                <a:lnTo>
                  <a:pt x="786595" y="14118"/>
                </a:lnTo>
                <a:lnTo>
                  <a:pt x="840201" y="24704"/>
                </a:lnTo>
                <a:lnTo>
                  <a:pt x="891443" y="37983"/>
                </a:lnTo>
                <a:lnTo>
                  <a:pt x="940064" y="53808"/>
                </a:lnTo>
                <a:lnTo>
                  <a:pt x="985808" y="72031"/>
                </a:lnTo>
                <a:lnTo>
                  <a:pt x="1028416" y="92503"/>
                </a:lnTo>
                <a:lnTo>
                  <a:pt x="1067631" y="115077"/>
                </a:lnTo>
                <a:lnTo>
                  <a:pt x="1103197" y="139604"/>
                </a:lnTo>
                <a:lnTo>
                  <a:pt x="1134855" y="165937"/>
                </a:lnTo>
                <a:lnTo>
                  <a:pt x="1162349" y="193927"/>
                </a:lnTo>
                <a:lnTo>
                  <a:pt x="1203814" y="254290"/>
                </a:lnTo>
                <a:lnTo>
                  <a:pt x="1225532" y="319508"/>
                </a:lnTo>
                <a:lnTo>
                  <a:pt x="1228344" y="353568"/>
                </a:lnTo>
                <a:lnTo>
                  <a:pt x="1225532" y="387627"/>
                </a:lnTo>
                <a:lnTo>
                  <a:pt x="1203814" y="452845"/>
                </a:lnTo>
                <a:lnTo>
                  <a:pt x="1162349" y="513208"/>
                </a:lnTo>
                <a:lnTo>
                  <a:pt x="1134855" y="541198"/>
                </a:lnTo>
                <a:lnTo>
                  <a:pt x="1103197" y="567531"/>
                </a:lnTo>
                <a:lnTo>
                  <a:pt x="1067631" y="592058"/>
                </a:lnTo>
                <a:lnTo>
                  <a:pt x="1028416" y="614632"/>
                </a:lnTo>
                <a:lnTo>
                  <a:pt x="985808" y="635104"/>
                </a:lnTo>
                <a:lnTo>
                  <a:pt x="940064" y="653327"/>
                </a:lnTo>
                <a:lnTo>
                  <a:pt x="891443" y="669152"/>
                </a:lnTo>
                <a:lnTo>
                  <a:pt x="840201" y="682431"/>
                </a:lnTo>
                <a:lnTo>
                  <a:pt x="786595" y="693017"/>
                </a:lnTo>
                <a:lnTo>
                  <a:pt x="730884" y="700762"/>
                </a:lnTo>
                <a:lnTo>
                  <a:pt x="673323" y="705518"/>
                </a:lnTo>
                <a:lnTo>
                  <a:pt x="614172" y="707136"/>
                </a:lnTo>
                <a:lnTo>
                  <a:pt x="555020" y="705518"/>
                </a:lnTo>
                <a:lnTo>
                  <a:pt x="497459" y="700762"/>
                </a:lnTo>
                <a:lnTo>
                  <a:pt x="441748" y="693017"/>
                </a:lnTo>
                <a:lnTo>
                  <a:pt x="388142" y="682431"/>
                </a:lnTo>
                <a:lnTo>
                  <a:pt x="336900" y="669152"/>
                </a:lnTo>
                <a:lnTo>
                  <a:pt x="288279" y="653327"/>
                </a:lnTo>
                <a:lnTo>
                  <a:pt x="242535" y="635104"/>
                </a:lnTo>
                <a:lnTo>
                  <a:pt x="199927" y="614632"/>
                </a:lnTo>
                <a:lnTo>
                  <a:pt x="160712" y="592058"/>
                </a:lnTo>
                <a:lnTo>
                  <a:pt x="125146" y="567531"/>
                </a:lnTo>
                <a:lnTo>
                  <a:pt x="93488" y="541198"/>
                </a:lnTo>
                <a:lnTo>
                  <a:pt x="65994" y="513208"/>
                </a:lnTo>
                <a:lnTo>
                  <a:pt x="24529" y="452845"/>
                </a:lnTo>
                <a:lnTo>
                  <a:pt x="2811" y="387627"/>
                </a:lnTo>
                <a:lnTo>
                  <a:pt x="0" y="353568"/>
                </a:lnTo>
                <a:close/>
              </a:path>
            </a:pathLst>
          </a:custGeom>
          <a:ln w="9144">
            <a:solidFill>
              <a:srgbClr val="FF0066"/>
            </a:solidFill>
          </a:ln>
        </p:spPr>
        <p:txBody>
          <a:bodyPr wrap="square" lIns="0" tIns="0" rIns="0" bIns="0" rtlCol="0"/>
          <a:lstStyle/>
          <a:p>
            <a:endParaRPr/>
          </a:p>
        </p:txBody>
      </p:sp>
      <p:sp>
        <p:nvSpPr>
          <p:cNvPr id="8" name="object 8"/>
          <p:cNvSpPr/>
          <p:nvPr/>
        </p:nvSpPr>
        <p:spPr>
          <a:xfrm>
            <a:off x="7696201" y="1350263"/>
            <a:ext cx="1228725" cy="707390"/>
          </a:xfrm>
          <a:custGeom>
            <a:avLst/>
            <a:gdLst/>
            <a:ahLst/>
            <a:cxnLst/>
            <a:rect l="l" t="t" r="r" b="b"/>
            <a:pathLst>
              <a:path w="1228725" h="707389">
                <a:moveTo>
                  <a:pt x="0" y="353568"/>
                </a:moveTo>
                <a:lnTo>
                  <a:pt x="11073" y="286366"/>
                </a:lnTo>
                <a:lnTo>
                  <a:pt x="42922" y="223428"/>
                </a:lnTo>
                <a:lnTo>
                  <a:pt x="93488" y="165937"/>
                </a:lnTo>
                <a:lnTo>
                  <a:pt x="125146" y="139604"/>
                </a:lnTo>
                <a:lnTo>
                  <a:pt x="160712" y="115077"/>
                </a:lnTo>
                <a:lnTo>
                  <a:pt x="199927" y="92503"/>
                </a:lnTo>
                <a:lnTo>
                  <a:pt x="242535" y="72031"/>
                </a:lnTo>
                <a:lnTo>
                  <a:pt x="288279" y="53808"/>
                </a:lnTo>
                <a:lnTo>
                  <a:pt x="336900" y="37983"/>
                </a:lnTo>
                <a:lnTo>
                  <a:pt x="388142" y="24704"/>
                </a:lnTo>
                <a:lnTo>
                  <a:pt x="441748" y="14118"/>
                </a:lnTo>
                <a:lnTo>
                  <a:pt x="497459" y="6373"/>
                </a:lnTo>
                <a:lnTo>
                  <a:pt x="555020" y="1617"/>
                </a:lnTo>
                <a:lnTo>
                  <a:pt x="614172" y="0"/>
                </a:lnTo>
                <a:lnTo>
                  <a:pt x="673323" y="1617"/>
                </a:lnTo>
                <a:lnTo>
                  <a:pt x="730884" y="6373"/>
                </a:lnTo>
                <a:lnTo>
                  <a:pt x="786595" y="14118"/>
                </a:lnTo>
                <a:lnTo>
                  <a:pt x="840201" y="24704"/>
                </a:lnTo>
                <a:lnTo>
                  <a:pt x="891443" y="37983"/>
                </a:lnTo>
                <a:lnTo>
                  <a:pt x="940064" y="53808"/>
                </a:lnTo>
                <a:lnTo>
                  <a:pt x="985808" y="72031"/>
                </a:lnTo>
                <a:lnTo>
                  <a:pt x="1028416" y="92503"/>
                </a:lnTo>
                <a:lnTo>
                  <a:pt x="1067631" y="115077"/>
                </a:lnTo>
                <a:lnTo>
                  <a:pt x="1103197" y="139604"/>
                </a:lnTo>
                <a:lnTo>
                  <a:pt x="1134855" y="165937"/>
                </a:lnTo>
                <a:lnTo>
                  <a:pt x="1162349" y="193927"/>
                </a:lnTo>
                <a:lnTo>
                  <a:pt x="1203814" y="254290"/>
                </a:lnTo>
                <a:lnTo>
                  <a:pt x="1225532" y="319508"/>
                </a:lnTo>
                <a:lnTo>
                  <a:pt x="1228344" y="353568"/>
                </a:lnTo>
                <a:lnTo>
                  <a:pt x="1225532" y="387627"/>
                </a:lnTo>
                <a:lnTo>
                  <a:pt x="1203814" y="452845"/>
                </a:lnTo>
                <a:lnTo>
                  <a:pt x="1162349" y="513208"/>
                </a:lnTo>
                <a:lnTo>
                  <a:pt x="1134855" y="541198"/>
                </a:lnTo>
                <a:lnTo>
                  <a:pt x="1103197" y="567531"/>
                </a:lnTo>
                <a:lnTo>
                  <a:pt x="1067631" y="592058"/>
                </a:lnTo>
                <a:lnTo>
                  <a:pt x="1028416" y="614632"/>
                </a:lnTo>
                <a:lnTo>
                  <a:pt x="985808" y="635104"/>
                </a:lnTo>
                <a:lnTo>
                  <a:pt x="940064" y="653327"/>
                </a:lnTo>
                <a:lnTo>
                  <a:pt x="891443" y="669152"/>
                </a:lnTo>
                <a:lnTo>
                  <a:pt x="840201" y="682431"/>
                </a:lnTo>
                <a:lnTo>
                  <a:pt x="786595" y="693017"/>
                </a:lnTo>
                <a:lnTo>
                  <a:pt x="730884" y="700762"/>
                </a:lnTo>
                <a:lnTo>
                  <a:pt x="673323" y="705518"/>
                </a:lnTo>
                <a:lnTo>
                  <a:pt x="614172" y="707136"/>
                </a:lnTo>
                <a:lnTo>
                  <a:pt x="555020" y="705518"/>
                </a:lnTo>
                <a:lnTo>
                  <a:pt x="497459" y="700762"/>
                </a:lnTo>
                <a:lnTo>
                  <a:pt x="441748" y="693017"/>
                </a:lnTo>
                <a:lnTo>
                  <a:pt x="388142" y="682431"/>
                </a:lnTo>
                <a:lnTo>
                  <a:pt x="336900" y="669152"/>
                </a:lnTo>
                <a:lnTo>
                  <a:pt x="288279" y="653327"/>
                </a:lnTo>
                <a:lnTo>
                  <a:pt x="242535" y="635104"/>
                </a:lnTo>
                <a:lnTo>
                  <a:pt x="199927" y="614632"/>
                </a:lnTo>
                <a:lnTo>
                  <a:pt x="160712" y="592058"/>
                </a:lnTo>
                <a:lnTo>
                  <a:pt x="125146" y="567531"/>
                </a:lnTo>
                <a:lnTo>
                  <a:pt x="93488" y="541198"/>
                </a:lnTo>
                <a:lnTo>
                  <a:pt x="65994" y="513208"/>
                </a:lnTo>
                <a:lnTo>
                  <a:pt x="24529" y="452845"/>
                </a:lnTo>
                <a:lnTo>
                  <a:pt x="2811" y="387627"/>
                </a:lnTo>
                <a:lnTo>
                  <a:pt x="0" y="353568"/>
                </a:lnTo>
                <a:close/>
              </a:path>
            </a:pathLst>
          </a:custGeom>
          <a:ln w="9144">
            <a:solidFill>
              <a:srgbClr val="FF0066"/>
            </a:solidFill>
          </a:ln>
        </p:spPr>
        <p:txBody>
          <a:bodyPr wrap="square" lIns="0" tIns="0" rIns="0" bIns="0" rtlCol="0"/>
          <a:lstStyle/>
          <a:p>
            <a:endParaRPr/>
          </a:p>
        </p:txBody>
      </p:sp>
      <p:sp>
        <p:nvSpPr>
          <p:cNvPr id="9" name="object 9"/>
          <p:cNvSpPr/>
          <p:nvPr/>
        </p:nvSpPr>
        <p:spPr>
          <a:xfrm>
            <a:off x="8924544" y="1382267"/>
            <a:ext cx="1229995" cy="707390"/>
          </a:xfrm>
          <a:custGeom>
            <a:avLst/>
            <a:gdLst/>
            <a:ahLst/>
            <a:cxnLst/>
            <a:rect l="l" t="t" r="r" b="b"/>
            <a:pathLst>
              <a:path w="1229995" h="707389">
                <a:moveTo>
                  <a:pt x="0" y="353568"/>
                </a:moveTo>
                <a:lnTo>
                  <a:pt x="11088" y="286366"/>
                </a:lnTo>
                <a:lnTo>
                  <a:pt x="42980" y="223428"/>
                </a:lnTo>
                <a:lnTo>
                  <a:pt x="93613" y="165937"/>
                </a:lnTo>
                <a:lnTo>
                  <a:pt x="125313" y="139604"/>
                </a:lnTo>
                <a:lnTo>
                  <a:pt x="160925" y="115077"/>
                </a:lnTo>
                <a:lnTo>
                  <a:pt x="200191" y="92503"/>
                </a:lnTo>
                <a:lnTo>
                  <a:pt x="242853" y="72031"/>
                </a:lnTo>
                <a:lnTo>
                  <a:pt x="288654" y="53808"/>
                </a:lnTo>
                <a:lnTo>
                  <a:pt x="337335" y="37983"/>
                </a:lnTo>
                <a:lnTo>
                  <a:pt x="388640" y="24704"/>
                </a:lnTo>
                <a:lnTo>
                  <a:pt x="442310" y="14118"/>
                </a:lnTo>
                <a:lnTo>
                  <a:pt x="498087" y="6373"/>
                </a:lnTo>
                <a:lnTo>
                  <a:pt x="555714" y="1617"/>
                </a:lnTo>
                <a:lnTo>
                  <a:pt x="614933" y="0"/>
                </a:lnTo>
                <a:lnTo>
                  <a:pt x="674153" y="1617"/>
                </a:lnTo>
                <a:lnTo>
                  <a:pt x="731780" y="6373"/>
                </a:lnTo>
                <a:lnTo>
                  <a:pt x="787557" y="14118"/>
                </a:lnTo>
                <a:lnTo>
                  <a:pt x="841227" y="24704"/>
                </a:lnTo>
                <a:lnTo>
                  <a:pt x="892532" y="37983"/>
                </a:lnTo>
                <a:lnTo>
                  <a:pt x="941213" y="53808"/>
                </a:lnTo>
                <a:lnTo>
                  <a:pt x="987014" y="72031"/>
                </a:lnTo>
                <a:lnTo>
                  <a:pt x="1029676" y="92503"/>
                </a:lnTo>
                <a:lnTo>
                  <a:pt x="1068942" y="115077"/>
                </a:lnTo>
                <a:lnTo>
                  <a:pt x="1104554" y="139604"/>
                </a:lnTo>
                <a:lnTo>
                  <a:pt x="1136254" y="165937"/>
                </a:lnTo>
                <a:lnTo>
                  <a:pt x="1163784" y="193927"/>
                </a:lnTo>
                <a:lnTo>
                  <a:pt x="1205304" y="254290"/>
                </a:lnTo>
                <a:lnTo>
                  <a:pt x="1227052" y="319508"/>
                </a:lnTo>
                <a:lnTo>
                  <a:pt x="1229867" y="353568"/>
                </a:lnTo>
                <a:lnTo>
                  <a:pt x="1227052" y="387627"/>
                </a:lnTo>
                <a:lnTo>
                  <a:pt x="1205304" y="452845"/>
                </a:lnTo>
                <a:lnTo>
                  <a:pt x="1163784" y="513208"/>
                </a:lnTo>
                <a:lnTo>
                  <a:pt x="1136254" y="541198"/>
                </a:lnTo>
                <a:lnTo>
                  <a:pt x="1104554" y="567531"/>
                </a:lnTo>
                <a:lnTo>
                  <a:pt x="1068942" y="592058"/>
                </a:lnTo>
                <a:lnTo>
                  <a:pt x="1029676" y="614632"/>
                </a:lnTo>
                <a:lnTo>
                  <a:pt x="987014" y="635104"/>
                </a:lnTo>
                <a:lnTo>
                  <a:pt x="941213" y="653327"/>
                </a:lnTo>
                <a:lnTo>
                  <a:pt x="892532" y="669152"/>
                </a:lnTo>
                <a:lnTo>
                  <a:pt x="841227" y="682431"/>
                </a:lnTo>
                <a:lnTo>
                  <a:pt x="787557" y="693017"/>
                </a:lnTo>
                <a:lnTo>
                  <a:pt x="731780" y="700762"/>
                </a:lnTo>
                <a:lnTo>
                  <a:pt x="674153" y="705518"/>
                </a:lnTo>
                <a:lnTo>
                  <a:pt x="614933" y="707136"/>
                </a:lnTo>
                <a:lnTo>
                  <a:pt x="555714" y="705518"/>
                </a:lnTo>
                <a:lnTo>
                  <a:pt x="498087" y="700762"/>
                </a:lnTo>
                <a:lnTo>
                  <a:pt x="442310" y="693017"/>
                </a:lnTo>
                <a:lnTo>
                  <a:pt x="388640" y="682431"/>
                </a:lnTo>
                <a:lnTo>
                  <a:pt x="337335" y="669152"/>
                </a:lnTo>
                <a:lnTo>
                  <a:pt x="288654" y="653327"/>
                </a:lnTo>
                <a:lnTo>
                  <a:pt x="242853" y="635104"/>
                </a:lnTo>
                <a:lnTo>
                  <a:pt x="200191" y="614632"/>
                </a:lnTo>
                <a:lnTo>
                  <a:pt x="160925" y="592058"/>
                </a:lnTo>
                <a:lnTo>
                  <a:pt x="125313" y="567531"/>
                </a:lnTo>
                <a:lnTo>
                  <a:pt x="93613" y="541198"/>
                </a:lnTo>
                <a:lnTo>
                  <a:pt x="66083" y="513208"/>
                </a:lnTo>
                <a:lnTo>
                  <a:pt x="24563" y="452845"/>
                </a:lnTo>
                <a:lnTo>
                  <a:pt x="2815" y="387627"/>
                </a:lnTo>
                <a:lnTo>
                  <a:pt x="0" y="353568"/>
                </a:lnTo>
                <a:close/>
              </a:path>
            </a:pathLst>
          </a:custGeom>
          <a:ln w="9143">
            <a:solidFill>
              <a:srgbClr val="FF0066"/>
            </a:solidFill>
          </a:ln>
        </p:spPr>
        <p:txBody>
          <a:bodyPr wrap="square" lIns="0" tIns="0" rIns="0" bIns="0" rtlCol="0"/>
          <a:lstStyle/>
          <a:p>
            <a:endParaRPr/>
          </a:p>
        </p:txBody>
      </p:sp>
      <p:sp>
        <p:nvSpPr>
          <p:cNvPr id="10" name="object 10"/>
          <p:cNvSpPr txBox="1"/>
          <p:nvPr/>
        </p:nvSpPr>
        <p:spPr>
          <a:xfrm>
            <a:off x="641644" y="1268409"/>
            <a:ext cx="1877798" cy="444994"/>
          </a:xfrm>
          <a:prstGeom prst="rect">
            <a:avLst/>
          </a:prstGeom>
          <a:solidFill>
            <a:srgbClr val="EBDDC3"/>
          </a:solidFill>
          <a:ln w="3175">
            <a:solidFill>
              <a:srgbClr val="000000"/>
            </a:solidFill>
          </a:ln>
        </p:spPr>
        <p:txBody>
          <a:bodyPr vert="horz" wrap="square" lIns="0" tIns="74930" rIns="0" bIns="0" rtlCol="0">
            <a:spAutoFit/>
          </a:bodyPr>
          <a:lstStyle/>
          <a:p>
            <a:pPr marL="154305" algn="ctr">
              <a:spcBef>
                <a:spcPts val="590"/>
              </a:spcBef>
            </a:pPr>
            <a:r>
              <a:rPr sz="2400" dirty="0">
                <a:latin typeface="Times New Roman" panose="02020603050405020304" pitchFamily="18" charset="0"/>
                <a:cs typeface="Times New Roman" panose="02020603050405020304" pitchFamily="18" charset="0"/>
              </a:rPr>
              <a:t>Bệnh</a:t>
            </a:r>
            <a:r>
              <a:rPr sz="2400" spc="-4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nhân</a:t>
            </a:r>
            <a:endParaRPr sz="2400">
              <a:latin typeface="Times New Roman" panose="02020603050405020304" pitchFamily="18" charset="0"/>
              <a:cs typeface="Times New Roman" panose="02020603050405020304" pitchFamily="18" charset="0"/>
            </a:endParaRPr>
          </a:p>
        </p:txBody>
      </p:sp>
      <p:sp>
        <p:nvSpPr>
          <p:cNvPr id="11" name="object 11"/>
          <p:cNvSpPr txBox="1"/>
          <p:nvPr/>
        </p:nvSpPr>
        <p:spPr>
          <a:xfrm>
            <a:off x="629452" y="1801809"/>
            <a:ext cx="1879832" cy="483466"/>
          </a:xfrm>
          <a:prstGeom prst="rect">
            <a:avLst/>
          </a:prstGeom>
          <a:solidFill>
            <a:srgbClr val="EBDDC3"/>
          </a:solidFill>
          <a:ln w="3175">
            <a:solidFill>
              <a:srgbClr val="000000"/>
            </a:solidFill>
          </a:ln>
        </p:spPr>
        <p:txBody>
          <a:bodyPr vert="horz" wrap="square" lIns="0" tIns="113030" rIns="0" bIns="0" rtlCol="0">
            <a:spAutoFit/>
          </a:bodyPr>
          <a:lstStyle/>
          <a:p>
            <a:pPr marL="154305" algn="ctr">
              <a:spcBef>
                <a:spcPts val="590"/>
              </a:spcBef>
            </a:pPr>
            <a:r>
              <a:rPr sz="2400" dirty="0">
                <a:latin typeface="Times New Roman" panose="02020603050405020304" pitchFamily="18" charset="0"/>
                <a:cs typeface="Times New Roman" panose="02020603050405020304" pitchFamily="18" charset="0"/>
              </a:rPr>
              <a:t>Tiếp tân</a:t>
            </a:r>
            <a:endParaRPr sz="2400">
              <a:latin typeface="Times New Roman" panose="02020603050405020304" pitchFamily="18" charset="0"/>
              <a:cs typeface="Times New Roman" panose="02020603050405020304" pitchFamily="18" charset="0"/>
            </a:endParaRPr>
          </a:p>
        </p:txBody>
      </p:sp>
      <p:sp>
        <p:nvSpPr>
          <p:cNvPr id="12" name="object 12"/>
          <p:cNvSpPr txBox="1"/>
          <p:nvPr/>
        </p:nvSpPr>
        <p:spPr>
          <a:xfrm>
            <a:off x="641644" y="2411409"/>
            <a:ext cx="1877798" cy="483466"/>
          </a:xfrm>
          <a:prstGeom prst="rect">
            <a:avLst/>
          </a:prstGeom>
          <a:solidFill>
            <a:srgbClr val="EBDDC3"/>
          </a:solidFill>
          <a:ln w="3175">
            <a:solidFill>
              <a:srgbClr val="000000"/>
            </a:solidFill>
          </a:ln>
        </p:spPr>
        <p:txBody>
          <a:bodyPr vert="horz" wrap="square" lIns="0" tIns="113030" rIns="0" bIns="0" rtlCol="0">
            <a:spAutoFit/>
          </a:bodyPr>
          <a:lstStyle/>
          <a:p>
            <a:pPr marL="154305" algn="ctr">
              <a:spcBef>
                <a:spcPts val="590"/>
              </a:spcBef>
            </a:pPr>
            <a:r>
              <a:rPr sz="2400" dirty="0">
                <a:latin typeface="Times New Roman" panose="02020603050405020304" pitchFamily="18" charset="0"/>
                <a:cs typeface="Times New Roman" panose="02020603050405020304" pitchFamily="18" charset="0"/>
              </a:rPr>
              <a:t>DSBN</a:t>
            </a:r>
            <a:endParaRPr sz="2400">
              <a:latin typeface="Times New Roman" panose="02020603050405020304" pitchFamily="18" charset="0"/>
              <a:cs typeface="Times New Roman" panose="02020603050405020304" pitchFamily="18" charset="0"/>
            </a:endParaRPr>
          </a:p>
        </p:txBody>
      </p:sp>
      <p:sp>
        <p:nvSpPr>
          <p:cNvPr id="13" name="object 13"/>
          <p:cNvSpPr txBox="1"/>
          <p:nvPr/>
        </p:nvSpPr>
        <p:spPr>
          <a:xfrm>
            <a:off x="629452" y="2944809"/>
            <a:ext cx="1879832" cy="483466"/>
          </a:xfrm>
          <a:prstGeom prst="rect">
            <a:avLst/>
          </a:prstGeom>
          <a:solidFill>
            <a:srgbClr val="EBDDC3"/>
          </a:solidFill>
          <a:ln w="3175">
            <a:solidFill>
              <a:srgbClr val="000000"/>
            </a:solidFill>
          </a:ln>
        </p:spPr>
        <p:txBody>
          <a:bodyPr vert="horz" wrap="square" lIns="0" tIns="113030" rIns="0" bIns="0" rtlCol="0">
            <a:spAutoFit/>
          </a:bodyPr>
          <a:lstStyle/>
          <a:p>
            <a:pPr marL="154305" algn="ctr">
              <a:spcBef>
                <a:spcPts val="590"/>
              </a:spcBef>
            </a:pPr>
            <a:r>
              <a:rPr sz="2400" dirty="0">
                <a:latin typeface="Times New Roman" panose="02020603050405020304" pitchFamily="18" charset="0"/>
                <a:cs typeface="Times New Roman" panose="02020603050405020304" pitchFamily="18" charset="0"/>
              </a:rPr>
              <a:t>HĐTT</a:t>
            </a:r>
            <a:endParaRPr sz="2400">
              <a:latin typeface="Times New Roman" panose="02020603050405020304" pitchFamily="18" charset="0"/>
              <a:cs typeface="Times New Roman" panose="02020603050405020304" pitchFamily="18" charset="0"/>
            </a:endParaRPr>
          </a:p>
        </p:txBody>
      </p:sp>
      <p:sp>
        <p:nvSpPr>
          <p:cNvPr id="14" name="object 14"/>
          <p:cNvSpPr txBox="1"/>
          <p:nvPr/>
        </p:nvSpPr>
        <p:spPr>
          <a:xfrm>
            <a:off x="629452" y="3554409"/>
            <a:ext cx="1879832" cy="483466"/>
          </a:xfrm>
          <a:prstGeom prst="rect">
            <a:avLst/>
          </a:prstGeom>
          <a:solidFill>
            <a:srgbClr val="EBDDC3"/>
          </a:solidFill>
          <a:ln w="3175">
            <a:solidFill>
              <a:srgbClr val="000000"/>
            </a:solidFill>
          </a:ln>
        </p:spPr>
        <p:txBody>
          <a:bodyPr vert="horz" wrap="square" lIns="0" tIns="113030" rIns="0" bIns="0" rtlCol="0">
            <a:spAutoFit/>
          </a:bodyPr>
          <a:lstStyle/>
          <a:p>
            <a:pPr marL="154305" algn="ctr">
              <a:spcBef>
                <a:spcPts val="590"/>
              </a:spcBef>
            </a:pPr>
            <a:r>
              <a:rPr sz="2400" dirty="0">
                <a:latin typeface="Times New Roman" panose="02020603050405020304" pitchFamily="18" charset="0"/>
                <a:cs typeface="Times New Roman" panose="02020603050405020304" pitchFamily="18" charset="0"/>
              </a:rPr>
              <a:t>DSLichHen</a:t>
            </a:r>
            <a:endParaRPr sz="2400">
              <a:latin typeface="Times New Roman" panose="02020603050405020304" pitchFamily="18" charset="0"/>
              <a:cs typeface="Times New Roman" panose="02020603050405020304" pitchFamily="18" charset="0"/>
            </a:endParaRPr>
          </a:p>
        </p:txBody>
      </p:sp>
      <p:sp>
        <p:nvSpPr>
          <p:cNvPr id="16" name="object 2"/>
          <p:cNvSpPr txBox="1">
            <a:spLocks noGrp="1"/>
          </p:cNvSpPr>
          <p:nvPr>
            <p:ph type="title"/>
          </p:nvPr>
        </p:nvSpPr>
        <p:spPr>
          <a:xfrm>
            <a:off x="1981200" y="167789"/>
            <a:ext cx="8229600" cy="505267"/>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sz="3200" dirty="0" err="1">
                <a:latin typeface="Times New Roman" panose="02020603050405020304" pitchFamily="18" charset="0"/>
                <a:cs typeface="Times New Roman" panose="02020603050405020304" pitchFamily="18" charset="0"/>
              </a:rPr>
              <a:t>Các</a:t>
            </a:r>
            <a:r>
              <a:rPr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lớp</a:t>
            </a:r>
            <a:r>
              <a:rPr lang="en-US" sz="3200" dirty="0">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đối</a:t>
            </a:r>
            <a:r>
              <a:rPr lang="en-US" sz="3200">
                <a:latin typeface="Times New Roman" panose="02020603050405020304" pitchFamily="18" charset="0"/>
                <a:cs typeface="Times New Roman" panose="02020603050405020304" pitchFamily="18" charset="0"/>
              </a:rPr>
              <a:t> tượng (tt)</a:t>
            </a:r>
            <a:endParaRPr sz="3200" dirty="0">
              <a:latin typeface="Times New Roman" panose="02020603050405020304" pitchFamily="18" charset="0"/>
              <a:cs typeface="Times New Roman" panose="02020603050405020304" pitchFamily="18" charset="0"/>
            </a:endParaRPr>
          </a:p>
        </p:txBody>
      </p:sp>
      <p:sp>
        <p:nvSpPr>
          <p:cNvPr id="17"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073963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a:spLocks/>
          </p:cNvSpPr>
          <p:nvPr/>
        </p:nvSpPr>
        <p:spPr bwMode="black">
          <a:xfrm>
            <a:off x="2017903"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a:solidFill>
                  <a:srgbClr val="FFFF00"/>
                </a:solidFill>
                <a:latin typeface="Times New Roman" panose="02020603050405020304" pitchFamily="18" charset="0"/>
                <a:cs typeface="Times New Roman" panose="02020603050405020304" pitchFamily="18" charset="0"/>
              </a:rPr>
              <a:t>Lưu ý về Lớp</a:t>
            </a:r>
            <a:endParaRPr lang="en-US" kern="0" dirty="0">
              <a:solidFill>
                <a:srgbClr val="FFFF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0" y="914402"/>
            <a:ext cx="12115800" cy="3554819"/>
          </a:xfrm>
          <a:prstGeom prst="rect">
            <a:avLst/>
          </a:prstGeom>
        </p:spPr>
        <p:txBody>
          <a:bodyPr wrap="square">
            <a:spAutoFit/>
          </a:bodyPr>
          <a:lstStyle/>
          <a:p>
            <a:pPr marL="457200" indent="-457200" algn="just">
              <a:lnSpc>
                <a:spcPct val="150000"/>
              </a:lnSpc>
              <a:buFont typeface="Wingdings" panose="05000000000000000000" pitchFamily="2" charset="2"/>
              <a:buChar char="§"/>
            </a:pPr>
            <a:r>
              <a:rPr lang="en-US" sz="3000">
                <a:latin typeface="Times New Roman" panose="02020603050405020304" pitchFamily="18" charset="0"/>
                <a:cs typeface="Times New Roman" panose="02020603050405020304" pitchFamily="18" charset="0"/>
              </a:rPr>
              <a:t>Class là c</a:t>
            </a:r>
            <a:r>
              <a:rPr lang="vi-VN" sz="3000">
                <a:latin typeface="Times New Roman" panose="02020603050405020304" pitchFamily="18" charset="0"/>
                <a:cs typeface="Times New Roman" panose="02020603050405020304" pitchFamily="18" charset="0"/>
              </a:rPr>
              <a:t>ác </a:t>
            </a:r>
            <a:r>
              <a:rPr lang="vi-VN" sz="3000" b="1">
                <a:solidFill>
                  <a:srgbClr val="FF0000"/>
                </a:solidFill>
                <a:latin typeface="Times New Roman" panose="02020603050405020304" pitchFamily="18" charset="0"/>
                <a:cs typeface="Times New Roman" panose="02020603050405020304" pitchFamily="18" charset="0"/>
              </a:rPr>
              <a:t>thực thể bên trong </a:t>
            </a:r>
            <a:r>
              <a:rPr lang="vi-VN" sz="3000">
                <a:latin typeface="Times New Roman" panose="02020603050405020304" pitchFamily="18" charset="0"/>
                <a:cs typeface="Times New Roman" panose="02020603050405020304" pitchFamily="18" charset="0"/>
              </a:rPr>
              <a:t>hệ thống được xem xét, các thực th</a:t>
            </a:r>
            <a:r>
              <a:rPr lang="en-US" sz="3000">
                <a:latin typeface="Times New Roman" panose="02020603050405020304" pitchFamily="18" charset="0"/>
                <a:cs typeface="Times New Roman" panose="02020603050405020304" pitchFamily="18" charset="0"/>
              </a:rPr>
              <a:t>ể</a:t>
            </a:r>
            <a:r>
              <a:rPr lang="vi-VN" sz="3000">
                <a:latin typeface="Times New Roman" panose="02020603050405020304" pitchFamily="18" charset="0"/>
                <a:cs typeface="Times New Roman" panose="02020603050405020304" pitchFamily="18" charset="0"/>
              </a:rPr>
              <a:t> </a:t>
            </a:r>
            <a:r>
              <a:rPr lang="vi-VN" sz="3000" b="1">
                <a:solidFill>
                  <a:srgbClr val="FF0000"/>
                </a:solidFill>
                <a:latin typeface="Times New Roman" panose="02020603050405020304" pitchFamily="18" charset="0"/>
                <a:cs typeface="Times New Roman" panose="02020603050405020304" pitchFamily="18" charset="0"/>
              </a:rPr>
              <a:t>bên ngoài hệ thống không được xem xét</a:t>
            </a:r>
            <a:endParaRPr lang="en-US" sz="3000" b="1">
              <a:solidFill>
                <a:srgbClr val="FF0000"/>
              </a:solidFill>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
            </a:pPr>
            <a:r>
              <a:rPr lang="vi-VN" sz="3000">
                <a:latin typeface="Times New Roman" panose="02020603050405020304" pitchFamily="18" charset="0"/>
                <a:cs typeface="Times New Roman" panose="02020603050405020304" pitchFamily="18" charset="0"/>
              </a:rPr>
              <a:t>Ví dụ </a:t>
            </a:r>
            <a:r>
              <a:rPr lang="vi-VN" sz="3000" b="1">
                <a:latin typeface="Times New Roman" panose="02020603050405020304" pitchFamily="18" charset="0"/>
                <a:cs typeface="Times New Roman" panose="02020603050405020304" pitchFamily="18" charset="0"/>
              </a:rPr>
              <a:t>Customers</a:t>
            </a:r>
            <a:r>
              <a:rPr lang="vi-VN" sz="3000">
                <a:latin typeface="Times New Roman" panose="02020603050405020304" pitchFamily="18" charset="0"/>
                <a:cs typeface="Times New Roman" panose="02020603050405020304" pitchFamily="18" charset="0"/>
              </a:rPr>
              <a:t> là những người khách hàng được </a:t>
            </a:r>
            <a:r>
              <a:rPr lang="vi-VN" sz="3000" b="1">
                <a:latin typeface="Times New Roman" panose="02020603050405020304" pitchFamily="18" charset="0"/>
                <a:cs typeface="Times New Roman" panose="02020603050405020304" pitchFamily="18" charset="0"/>
              </a:rPr>
              <a:t>quản lý trong hệ thống </a:t>
            </a:r>
            <a:r>
              <a:rPr lang="vi-VN" sz="3000">
                <a:latin typeface="Times New Roman" panose="02020603050405020304" pitchFamily="18" charset="0"/>
                <a:cs typeface="Times New Roman" panose="02020603050405020304" pitchFamily="18" charset="0"/>
              </a:rPr>
              <a:t>chứ không phải người dùng máy</a:t>
            </a:r>
            <a:r>
              <a:rPr lang="en-US" sz="3000">
                <a:latin typeface="Times New Roman" panose="02020603050405020304" pitchFamily="18" charset="0"/>
                <a:cs typeface="Times New Roman" panose="02020603050405020304" pitchFamily="18" charset="0"/>
              </a:rPr>
              <a:t> </a:t>
            </a:r>
            <a:r>
              <a:rPr lang="vi-VN" sz="3000">
                <a:latin typeface="Times New Roman" panose="02020603050405020304" pitchFamily="18" charset="0"/>
                <a:cs typeface="Times New Roman" panose="02020603050405020304" pitchFamily="18" charset="0"/>
              </a:rPr>
              <a:t>ATM bên ngoài </a:t>
            </a:r>
            <a:endParaRPr lang="en-US" sz="3000">
              <a:latin typeface="Times New Roman" panose="02020603050405020304" pitchFamily="18" charset="0"/>
              <a:cs typeface="Times New Roman" panose="02020603050405020304" pitchFamily="18" charset="0"/>
            </a:endParaRPr>
          </a:p>
          <a:p>
            <a:pPr algn="ctr">
              <a:lnSpc>
                <a:spcPct val="150000"/>
              </a:lnSpc>
            </a:pPr>
            <a:r>
              <a:rPr lang="en-US" sz="3000">
                <a:latin typeface="Times New Roman" panose="02020603050405020304" pitchFamily="18" charset="0"/>
                <a:cs typeface="Times New Roman" panose="02020603050405020304" pitchFamily="18" charset="0"/>
                <a:sym typeface="Wingdings" panose="05000000000000000000" pitchFamily="2" charset="2"/>
              </a:rPr>
              <a:t> </a:t>
            </a:r>
            <a:r>
              <a:rPr lang="en-US" sz="3000">
                <a:latin typeface="Times New Roman" panose="02020603050405020304" pitchFamily="18" charset="0"/>
                <a:cs typeface="Times New Roman" panose="02020603050405020304" pitchFamily="18" charset="0"/>
              </a:rPr>
              <a:t>Lưu ý </a:t>
            </a:r>
            <a:r>
              <a:rPr lang="vi-VN" sz="3000">
                <a:latin typeface="Times New Roman" panose="02020603050405020304" pitchFamily="18" charset="0"/>
                <a:cs typeface="Times New Roman" panose="02020603050405020304" pitchFamily="18" charset="0"/>
              </a:rPr>
              <a:t>để phân biệt Class và Actor</a:t>
            </a:r>
            <a:endParaRPr lang="en-US" sz="300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664605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89466"/>
            <a:ext cx="12192000" cy="4172937"/>
          </a:xfrm>
          <a:prstGeom prst="rect">
            <a:avLst/>
          </a:prstGeom>
        </p:spPr>
        <p:txBody>
          <a:bodyPr vert="horz" wrap="square" lIns="0" tIns="88900" rIns="0" bIns="0" rtlCol="0">
            <a:spAutoFit/>
          </a:bodyPr>
          <a:lstStyle/>
          <a:p>
            <a:pPr marL="469900" indent="-457200">
              <a:lnSpc>
                <a:spcPct val="150000"/>
              </a:lnSpc>
              <a:spcBef>
                <a:spcPts val="700"/>
              </a:spcBef>
              <a:buSzPct val="100000"/>
              <a:buFont typeface="Wingdings" panose="05000000000000000000" pitchFamily="2" charset="2"/>
              <a:buChar char="§"/>
              <a:tabLst>
                <a:tab pos="332740" algn="l"/>
                <a:tab pos="333375" algn="l"/>
              </a:tabLst>
            </a:pPr>
            <a:r>
              <a:rPr sz="2800" b="1" spc="-5" dirty="0">
                <a:solidFill>
                  <a:srgbClr val="FF0000"/>
                </a:solidFill>
                <a:latin typeface="Times New Roman" panose="02020603050405020304" pitchFamily="18" charset="0"/>
                <a:cs typeface="Times New Roman" panose="02020603050405020304" pitchFamily="18" charset="0"/>
              </a:rPr>
              <a:t>Xác 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a:t>
            </a:r>
            <a:r>
              <a:rPr sz="2800" b="1" spc="2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(association):</a:t>
            </a:r>
            <a:endParaRPr sz="2800" b="1" dirty="0">
              <a:solidFill>
                <a:srgbClr val="FF0000"/>
              </a:solidFill>
              <a:latin typeface="Times New Roman" panose="02020603050405020304" pitchFamily="18" charset="0"/>
              <a:cs typeface="Times New Roman" panose="02020603050405020304" pitchFamily="18" charset="0"/>
            </a:endParaRPr>
          </a:p>
          <a:p>
            <a:pPr marL="835660" lvl="1" indent="-457200">
              <a:lnSpc>
                <a:spcPct val="150000"/>
              </a:lnSpc>
              <a:spcBef>
                <a:spcPts val="605"/>
              </a:spcBef>
              <a:buSzPct val="100000"/>
              <a:buFont typeface="Arial" panose="020B0604020202020204" pitchFamily="34" charset="0"/>
              <a:buChar char="•"/>
              <a:tabLst>
                <a:tab pos="653415" algn="l"/>
              </a:tabLst>
            </a:pPr>
            <a:r>
              <a:rPr sz="2800" b="1" spc="-5" dirty="0">
                <a:solidFill>
                  <a:schemeClr val="tx2"/>
                </a:solidFill>
                <a:latin typeface="Times New Roman" panose="02020603050405020304" pitchFamily="18" charset="0"/>
                <a:cs typeface="Times New Roman" panose="02020603050405020304" pitchFamily="18" charset="0"/>
              </a:rPr>
              <a:t>Hướng dẫn </a:t>
            </a:r>
            <a:r>
              <a:rPr sz="2800" b="1" spc="-10" dirty="0">
                <a:solidFill>
                  <a:schemeClr val="tx2"/>
                </a:solidFill>
                <a:latin typeface="Times New Roman" panose="02020603050405020304" pitchFamily="18" charset="0"/>
                <a:cs typeface="Times New Roman" panose="02020603050405020304" pitchFamily="18" charset="0"/>
              </a:rPr>
              <a:t>xác </a:t>
            </a:r>
            <a:r>
              <a:rPr sz="2800" b="1" spc="-5" dirty="0">
                <a:solidFill>
                  <a:schemeClr val="tx2"/>
                </a:solidFill>
                <a:latin typeface="Times New Roman" panose="02020603050405020304" pitchFamily="18" charset="0"/>
                <a:cs typeface="Times New Roman" panose="02020603050405020304" pitchFamily="18" charset="0"/>
              </a:rPr>
              <a:t>định </a:t>
            </a:r>
            <a:r>
              <a:rPr sz="2800" b="1" dirty="0">
                <a:solidFill>
                  <a:schemeClr val="tx2"/>
                </a:solidFill>
                <a:latin typeface="Times New Roman" panose="02020603050405020304" pitchFamily="18" charset="0"/>
                <a:cs typeface="Times New Roman" panose="02020603050405020304" pitchFamily="18" charset="0"/>
              </a:rPr>
              <a:t>mối kết</a:t>
            </a:r>
            <a:r>
              <a:rPr sz="2800" b="1" spc="45" dirty="0">
                <a:solidFill>
                  <a:schemeClr val="tx2"/>
                </a:solidFill>
                <a:latin typeface="Times New Roman" panose="02020603050405020304" pitchFamily="18" charset="0"/>
                <a:cs typeface="Times New Roman" panose="02020603050405020304" pitchFamily="18" charset="0"/>
              </a:rPr>
              <a:t> </a:t>
            </a:r>
            <a:r>
              <a:rPr sz="2800" b="1" spc="-5" dirty="0">
                <a:solidFill>
                  <a:schemeClr val="tx2"/>
                </a:solidFill>
                <a:latin typeface="Times New Roman" panose="02020603050405020304" pitchFamily="18" charset="0"/>
                <a:cs typeface="Times New Roman" panose="02020603050405020304" pitchFamily="18" charset="0"/>
              </a:rPr>
              <a:t>hợp:</a:t>
            </a:r>
            <a:endParaRPr sz="2800" b="1" dirty="0">
              <a:solidFill>
                <a:schemeClr val="tx2"/>
              </a:solidFill>
              <a:latin typeface="Times New Roman" panose="02020603050405020304" pitchFamily="18" charset="0"/>
              <a:cs typeface="Times New Roman" panose="02020603050405020304" pitchFamily="18" charset="0"/>
            </a:endParaRPr>
          </a:p>
          <a:p>
            <a:pPr marL="1155700" marR="5080" lvl="2" indent="-457200" algn="just">
              <a:lnSpc>
                <a:spcPct val="150000"/>
              </a:lnSpc>
              <a:spcBef>
                <a:spcPts val="509"/>
              </a:spcBef>
              <a:buSzPct val="100000"/>
              <a:buFont typeface="Wingdings" panose="05000000000000000000" pitchFamily="2" charset="2"/>
              <a:buChar char="ü"/>
              <a:tabLst>
                <a:tab pos="927735" algn="l"/>
              </a:tabLst>
            </a:pPr>
            <a:r>
              <a:rPr sz="2800" dirty="0">
                <a:latin typeface="Times New Roman" panose="02020603050405020304" pitchFamily="18" charset="0"/>
                <a:cs typeface="Times New Roman" panose="02020603050405020304" pitchFamily="18" charset="0"/>
              </a:rPr>
              <a:t>Một sự phụ </a:t>
            </a:r>
            <a:r>
              <a:rPr sz="2800" spc="-10" dirty="0">
                <a:latin typeface="Times New Roman" panose="02020603050405020304" pitchFamily="18" charset="0"/>
                <a:cs typeface="Times New Roman" panose="02020603050405020304" pitchFamily="18" charset="0"/>
              </a:rPr>
              <a:t>thuộc </a:t>
            </a:r>
            <a:r>
              <a:rPr sz="2800" spc="-5" dirty="0">
                <a:latin typeface="Times New Roman" panose="02020603050405020304" pitchFamily="18" charset="0"/>
                <a:cs typeface="Times New Roman" panose="02020603050405020304" pitchFamily="18" charset="0"/>
              </a:rPr>
              <a:t>giữa </a:t>
            </a:r>
            <a:r>
              <a:rPr sz="2800" dirty="0">
                <a:latin typeface="Times New Roman" panose="02020603050405020304" pitchFamily="18" charset="0"/>
                <a:cs typeface="Times New Roman" panose="02020603050405020304" pitchFamily="18" charset="0"/>
              </a:rPr>
              <a:t>hai hay </a:t>
            </a:r>
            <a:r>
              <a:rPr sz="2800" spc="-5" dirty="0">
                <a:latin typeface="Times New Roman" panose="02020603050405020304" pitchFamily="18" charset="0"/>
                <a:cs typeface="Times New Roman" panose="02020603050405020304" pitchFamily="18" charset="0"/>
              </a:rPr>
              <a:t>nhiều lớp </a:t>
            </a:r>
            <a:r>
              <a:rPr sz="2800" dirty="0">
                <a:latin typeface="Times New Roman" panose="02020603050405020304" pitchFamily="18" charset="0"/>
                <a:cs typeface="Times New Roman" panose="02020603050405020304" pitchFamily="18" charset="0"/>
              </a:rPr>
              <a:t>có thể </a:t>
            </a:r>
            <a:r>
              <a:rPr sz="2800" spc="-10" dirty="0">
                <a:latin typeface="Times New Roman" panose="02020603050405020304" pitchFamily="18" charset="0"/>
                <a:cs typeface="Times New Roman" panose="02020603050405020304" pitchFamily="18" charset="0"/>
              </a:rPr>
              <a:t>thiết </a:t>
            </a:r>
            <a:r>
              <a:rPr sz="2800" spc="-5">
                <a:latin typeface="Times New Roman" panose="02020603050405020304" pitchFamily="18" charset="0"/>
                <a:cs typeface="Times New Roman" panose="02020603050405020304" pitchFamily="18" charset="0"/>
              </a:rPr>
              <a:t>lập thành</a:t>
            </a:r>
            <a:r>
              <a:rPr lang="en-US" sz="2800" spc="-5">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mối kết </a:t>
            </a:r>
            <a:r>
              <a:rPr sz="2800" spc="-5">
                <a:latin typeface="Times New Roman" panose="02020603050405020304" pitchFamily="18" charset="0"/>
                <a:cs typeface="Times New Roman" panose="02020603050405020304" pitchFamily="18" charset="0"/>
              </a:rPr>
              <a:t>hợp </a:t>
            </a:r>
            <a:r>
              <a:rPr sz="2800" dirty="0">
                <a:latin typeface="Times New Roman" panose="02020603050405020304" pitchFamily="18" charset="0"/>
                <a:cs typeface="Times New Roman" panose="02020603050405020304" pitchFamily="18" charset="0"/>
              </a:rPr>
              <a:t>Mối kết </a:t>
            </a:r>
            <a:r>
              <a:rPr sz="2800" spc="-5" dirty="0">
                <a:latin typeface="Times New Roman" panose="02020603050405020304" pitchFamily="18" charset="0"/>
                <a:cs typeface="Times New Roman" panose="02020603050405020304" pitchFamily="18" charset="0"/>
              </a:rPr>
              <a:t>hợp thường tương ứng với </a:t>
            </a:r>
            <a:r>
              <a:rPr sz="2800" dirty="0">
                <a:latin typeface="Times New Roman" panose="02020603050405020304" pitchFamily="18" charset="0"/>
                <a:cs typeface="Times New Roman" panose="02020603050405020304" pitchFamily="18" charset="0"/>
              </a:rPr>
              <a:t>một </a:t>
            </a:r>
            <a:r>
              <a:rPr sz="2800">
                <a:latin typeface="Times New Roman" panose="02020603050405020304" pitchFamily="18" charset="0"/>
                <a:cs typeface="Times New Roman" panose="02020603050405020304" pitchFamily="18" charset="0"/>
              </a:rPr>
              <a:t>động </a:t>
            </a:r>
            <a:r>
              <a:rPr sz="2800" spc="-20">
                <a:latin typeface="Times New Roman" panose="02020603050405020304" pitchFamily="18" charset="0"/>
                <a:cs typeface="Times New Roman" panose="02020603050405020304" pitchFamily="18" charset="0"/>
              </a:rPr>
              <a:t>từ</a:t>
            </a:r>
            <a:r>
              <a:rPr lang="en-US" sz="2800" spc="-20">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hoặc </a:t>
            </a:r>
            <a:r>
              <a:rPr sz="2800" dirty="0">
                <a:latin typeface="Times New Roman" panose="02020603050405020304" pitchFamily="18" charset="0"/>
                <a:cs typeface="Times New Roman" panose="02020603050405020304" pitchFamily="18" charset="0"/>
              </a:rPr>
              <a:t>cụm </a:t>
            </a:r>
            <a:r>
              <a:rPr sz="2800" spc="-5" dirty="0">
                <a:latin typeface="Times New Roman" panose="02020603050405020304" pitchFamily="18" charset="0"/>
                <a:cs typeface="Times New Roman" panose="02020603050405020304" pitchFamily="18" charset="0"/>
              </a:rPr>
              <a:t>giới từ </a:t>
            </a:r>
            <a:r>
              <a:rPr sz="2800" dirty="0">
                <a:latin typeface="Times New Roman" panose="02020603050405020304" pitchFamily="18" charset="0"/>
                <a:cs typeface="Times New Roman" panose="02020603050405020304" pitchFamily="18" charset="0"/>
              </a:rPr>
              <a:t>như </a:t>
            </a:r>
            <a:r>
              <a:rPr sz="2800" spc="-5" dirty="0">
                <a:latin typeface="Times New Roman" panose="02020603050405020304" pitchFamily="18" charset="0"/>
                <a:cs typeface="Times New Roman" panose="02020603050405020304" pitchFamily="18" charset="0"/>
              </a:rPr>
              <a:t>là </a:t>
            </a:r>
            <a:r>
              <a:rPr sz="2800" i="1" spc="-5" dirty="0">
                <a:latin typeface="Times New Roman" panose="02020603050405020304" pitchFamily="18" charset="0"/>
                <a:cs typeface="Times New Roman" panose="02020603050405020304" pitchFamily="18" charset="0"/>
              </a:rPr>
              <a:t>thành phần </a:t>
            </a:r>
            <a:r>
              <a:rPr sz="2800" i="1" dirty="0">
                <a:latin typeface="Times New Roman" panose="02020603050405020304" pitchFamily="18" charset="0"/>
                <a:cs typeface="Times New Roman" panose="02020603050405020304" pitchFamily="18" charset="0"/>
              </a:rPr>
              <a:t>của</a:t>
            </a:r>
            <a:r>
              <a:rPr sz="2800" dirty="0">
                <a:latin typeface="Times New Roman" panose="02020603050405020304" pitchFamily="18" charset="0"/>
                <a:cs typeface="Times New Roman" panose="02020603050405020304" pitchFamily="18" charset="0"/>
              </a:rPr>
              <a:t>, </a:t>
            </a:r>
            <a:r>
              <a:rPr sz="2800" i="1" dirty="0">
                <a:latin typeface="Times New Roman" panose="02020603050405020304" pitchFamily="18" charset="0"/>
                <a:cs typeface="Times New Roman" panose="02020603050405020304" pitchFamily="18" charset="0"/>
              </a:rPr>
              <a:t>làm việc cho</a:t>
            </a:r>
            <a:r>
              <a:rPr sz="2800">
                <a:latin typeface="Times New Roman" panose="02020603050405020304" pitchFamily="18" charset="0"/>
                <a:cs typeface="Times New Roman" panose="02020603050405020304" pitchFamily="18" charset="0"/>
              </a:rPr>
              <a:t>, </a:t>
            </a:r>
            <a:r>
              <a:rPr sz="2800" i="1" spc="-5">
                <a:latin typeface="Times New Roman" panose="02020603050405020304" pitchFamily="18" charset="0"/>
                <a:cs typeface="Times New Roman" panose="02020603050405020304" pitchFamily="18" charset="0"/>
              </a:rPr>
              <a:t>chứa</a:t>
            </a:r>
            <a:r>
              <a:rPr lang="en-US" sz="2800" i="1" spc="-5">
                <a:latin typeface="Times New Roman" panose="02020603050405020304" pitchFamily="18" charset="0"/>
                <a:cs typeface="Times New Roman" panose="02020603050405020304" pitchFamily="18" charset="0"/>
              </a:rPr>
              <a:t> </a:t>
            </a:r>
            <a:r>
              <a:rPr sz="2800" i="1">
                <a:latin typeface="Times New Roman" panose="02020603050405020304" pitchFamily="18" charset="0"/>
                <a:cs typeface="Times New Roman" panose="02020603050405020304" pitchFamily="18" charset="0"/>
              </a:rPr>
              <a:t>trong</a:t>
            </a:r>
            <a:r>
              <a:rPr sz="2800" dirty="0">
                <a:latin typeface="Times New Roman" panose="02020603050405020304" pitchFamily="18" charset="0"/>
                <a:cs typeface="Times New Roman" panose="02020603050405020304" pitchFamily="18" charset="0"/>
              </a:rPr>
              <a:t>,</a:t>
            </a:r>
            <a:r>
              <a:rPr sz="2800" spc="-4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marL="1155700" marR="5080" lvl="2" indent="-457200" algn="just">
              <a:lnSpc>
                <a:spcPct val="150000"/>
              </a:lnSpc>
              <a:spcBef>
                <a:spcPts val="490"/>
              </a:spcBef>
              <a:buSzPct val="100000"/>
              <a:buFont typeface="Wingdings" panose="05000000000000000000" pitchFamily="2" charset="2"/>
              <a:buChar char="ü"/>
              <a:tabLst>
                <a:tab pos="927735" algn="l"/>
              </a:tabLst>
            </a:pPr>
            <a:r>
              <a:rPr sz="2800" dirty="0">
                <a:latin typeface="Times New Roman" panose="02020603050405020304" pitchFamily="18" charset="0"/>
                <a:cs typeface="Times New Roman" panose="02020603050405020304" pitchFamily="18" charset="0"/>
              </a:rPr>
              <a:t>Một </a:t>
            </a:r>
            <a:r>
              <a:rPr sz="2800" spc="-5" dirty="0">
                <a:latin typeface="Times New Roman" panose="02020603050405020304" pitchFamily="18" charset="0"/>
                <a:cs typeface="Times New Roman" panose="02020603050405020304" pitchFamily="18" charset="0"/>
              </a:rPr>
              <a:t>tham chiếu </a:t>
            </a:r>
            <a:r>
              <a:rPr sz="2800" spc="-10" dirty="0">
                <a:latin typeface="Times New Roman" panose="02020603050405020304" pitchFamily="18" charset="0"/>
                <a:cs typeface="Times New Roman" panose="02020603050405020304" pitchFamily="18" charset="0"/>
              </a:rPr>
              <a:t>từ </a:t>
            </a:r>
            <a:r>
              <a:rPr sz="2800" dirty="0">
                <a:latin typeface="Times New Roman" panose="02020603050405020304" pitchFamily="18" charset="0"/>
                <a:cs typeface="Times New Roman" panose="02020603050405020304" pitchFamily="18" charset="0"/>
              </a:rPr>
              <a:t>một </a:t>
            </a:r>
            <a:r>
              <a:rPr sz="2800" spc="-5" dirty="0">
                <a:latin typeface="Times New Roman" panose="02020603050405020304" pitchFamily="18" charset="0"/>
                <a:cs typeface="Times New Roman" panose="02020603050405020304" pitchFamily="18" charset="0"/>
              </a:rPr>
              <a:t>lớp đến </a:t>
            </a:r>
            <a:r>
              <a:rPr sz="2800" dirty="0">
                <a:latin typeface="Times New Roman" panose="02020603050405020304" pitchFamily="18" charset="0"/>
                <a:cs typeface="Times New Roman" panose="02020603050405020304" pitchFamily="18" charset="0"/>
              </a:rPr>
              <a:t>một </a:t>
            </a:r>
            <a:r>
              <a:rPr sz="2800" spc="-5" dirty="0">
                <a:latin typeface="Times New Roman" panose="02020603050405020304" pitchFamily="18" charset="0"/>
                <a:cs typeface="Times New Roman" panose="02020603050405020304" pitchFamily="18" charset="0"/>
              </a:rPr>
              <a:t>lớp khác là một </a:t>
            </a:r>
            <a:r>
              <a:rPr sz="2800">
                <a:latin typeface="Times New Roman" panose="02020603050405020304" pitchFamily="18" charset="0"/>
                <a:cs typeface="Times New Roman" panose="02020603050405020304" pitchFamily="18" charset="0"/>
              </a:rPr>
              <a:t>mối kết</a:t>
            </a: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hợp</a:t>
            </a:r>
            <a:endParaRPr sz="2800" dirty="0">
              <a:latin typeface="Times New Roman" panose="02020603050405020304" pitchFamily="18" charset="0"/>
              <a:cs typeface="Times New Roman" panose="02020603050405020304" pitchFamily="18" charset="0"/>
            </a:endParaRPr>
          </a:p>
        </p:txBody>
      </p:sp>
      <p:sp>
        <p:nvSpPr>
          <p:cNvPr id="6" name="object 2"/>
          <p:cNvSpPr txBox="1">
            <a:spLocks/>
          </p:cNvSpPr>
          <p:nvPr/>
        </p:nvSpPr>
        <p:spPr bwMode="black">
          <a:xfrm>
            <a:off x="2017903"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a:t>
            </a:r>
            <a:endParaRPr lang="en-US" kern="0"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17522458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14401"/>
            <a:ext cx="12192000" cy="1985159"/>
          </a:xfrm>
          <a:prstGeom prst="rect">
            <a:avLst/>
          </a:prstGeom>
        </p:spPr>
        <p:txBody>
          <a:bodyPr vert="horz" wrap="square" lIns="0" tIns="88900" rIns="0" bIns="0" rtlCol="0">
            <a:spAutoFit/>
          </a:bodyPr>
          <a:lstStyle/>
          <a:p>
            <a:pPr marL="355600" indent="-342900">
              <a:lnSpc>
                <a:spcPct val="150000"/>
              </a:lnSpc>
              <a:spcBef>
                <a:spcPts val="700"/>
              </a:spcBef>
              <a:buSzPct val="100000"/>
              <a:buFont typeface="Wingdings" panose="05000000000000000000" pitchFamily="2" charset="2"/>
              <a:buChar char="§"/>
              <a:tabLst>
                <a:tab pos="332105" algn="l"/>
                <a:tab pos="332740" algn="l"/>
              </a:tabLst>
            </a:pPr>
            <a:r>
              <a:rPr sz="2800" b="1" dirty="0">
                <a:solidFill>
                  <a:srgbClr val="FF0000"/>
                </a:solidFill>
                <a:latin typeface="Times New Roman" panose="02020603050405020304" pitchFamily="18" charset="0"/>
                <a:cs typeface="Times New Roman" panose="02020603050405020304" pitchFamily="18" charset="0"/>
              </a:rPr>
              <a:t>Xác </a:t>
            </a:r>
            <a:r>
              <a:rPr sz="2800" b="1" spc="-5" dirty="0">
                <a:solidFill>
                  <a:srgbClr val="FF0000"/>
                </a:solidFill>
                <a:latin typeface="Times New Roman" panose="02020603050405020304" pitchFamily="18" charset="0"/>
                <a:cs typeface="Times New Roman" panose="02020603050405020304" pitchFamily="18" charset="0"/>
              </a:rPr>
              <a:t>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a:t>
            </a:r>
            <a:r>
              <a:rPr sz="2800" b="1" spc="1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(association):</a:t>
            </a:r>
            <a:endParaRPr sz="2800" b="1" dirty="0">
              <a:solidFill>
                <a:srgbClr val="FF0000"/>
              </a:solidFill>
              <a:latin typeface="Times New Roman" panose="02020603050405020304" pitchFamily="18" charset="0"/>
              <a:cs typeface="Times New Roman" panose="02020603050405020304" pitchFamily="18" charset="0"/>
            </a:endParaRPr>
          </a:p>
          <a:p>
            <a:pPr marL="721360" lvl="1" indent="-342900">
              <a:lnSpc>
                <a:spcPct val="150000"/>
              </a:lnSpc>
              <a:spcBef>
                <a:spcPts val="605"/>
              </a:spcBef>
              <a:buSzPct val="100000"/>
              <a:buFont typeface="Arial" panose="020B0604020202020204" pitchFamily="34" charset="0"/>
              <a:buChar char="•"/>
              <a:tabLst>
                <a:tab pos="653415" algn="l"/>
              </a:tabLst>
            </a:pPr>
            <a:r>
              <a:rPr sz="2400" spc="-5" dirty="0">
                <a:latin typeface="Times New Roman" panose="02020603050405020304" pitchFamily="18" charset="0"/>
                <a:cs typeface="Times New Roman" panose="02020603050405020304" pitchFamily="18" charset="0"/>
              </a:rPr>
              <a:t>Các </a:t>
            </a:r>
            <a:r>
              <a:rPr sz="2400" dirty="0">
                <a:latin typeface="Times New Roman" panose="02020603050405020304" pitchFamily="18" charset="0"/>
                <a:cs typeface="Times New Roman" panose="02020603050405020304" pitchFamily="18" charset="0"/>
              </a:rPr>
              <a:t>mẫu </a:t>
            </a:r>
            <a:r>
              <a:rPr sz="2400" spc="-10" dirty="0">
                <a:latin typeface="Times New Roman" panose="02020603050405020304" pitchFamily="18" charset="0"/>
                <a:cs typeface="Times New Roman" panose="02020603050405020304" pitchFamily="18" charset="0"/>
              </a:rPr>
              <a:t>xác </a:t>
            </a:r>
            <a:r>
              <a:rPr sz="2400" spc="-5" dirty="0">
                <a:latin typeface="Times New Roman" panose="02020603050405020304" pitchFamily="18" charset="0"/>
                <a:cs typeface="Times New Roman" panose="02020603050405020304" pitchFamily="18" charset="0"/>
              </a:rPr>
              <a:t>định </a:t>
            </a:r>
            <a:r>
              <a:rPr sz="2400" dirty="0">
                <a:latin typeface="Times New Roman" panose="02020603050405020304" pitchFamily="18" charset="0"/>
                <a:cs typeface="Times New Roman" panose="02020603050405020304" pitchFamily="18" charset="0"/>
              </a:rPr>
              <a:t>mối kết</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hợp:</a:t>
            </a:r>
            <a:endParaRPr sz="2400" dirty="0">
              <a:latin typeface="Times New Roman" panose="02020603050405020304" pitchFamily="18" charset="0"/>
              <a:cs typeface="Times New Roman" panose="02020603050405020304" pitchFamily="18" charset="0"/>
            </a:endParaRPr>
          </a:p>
          <a:p>
            <a:pPr marL="1041400" marR="5080" lvl="2" indent="-342900">
              <a:lnSpc>
                <a:spcPct val="150000"/>
              </a:lnSpc>
              <a:spcBef>
                <a:spcPts val="509"/>
              </a:spcBef>
              <a:buSzPct val="100000"/>
              <a:buFont typeface="Wingdings" panose="05000000000000000000" pitchFamily="2" charset="2"/>
              <a:buChar char="ü"/>
              <a:tabLst>
                <a:tab pos="855663" algn="l"/>
              </a:tabLst>
            </a:pPr>
            <a:r>
              <a:rPr sz="2400" b="1" dirty="0">
                <a:solidFill>
                  <a:srgbClr val="006FC0"/>
                </a:solidFill>
                <a:latin typeface="Times New Roman" panose="02020603050405020304" pitchFamily="18" charset="0"/>
                <a:cs typeface="Times New Roman" panose="02020603050405020304" pitchFamily="18" charset="0"/>
              </a:rPr>
              <a:t>Mối kết hợp </a:t>
            </a:r>
            <a:r>
              <a:rPr sz="2400" b="1" spc="-5" dirty="0">
                <a:solidFill>
                  <a:srgbClr val="006FC0"/>
                </a:solidFill>
                <a:latin typeface="Times New Roman" panose="02020603050405020304" pitchFamily="18" charset="0"/>
                <a:cs typeface="Times New Roman" panose="02020603050405020304" pitchFamily="18" charset="0"/>
              </a:rPr>
              <a:t>vị </a:t>
            </a:r>
            <a:r>
              <a:rPr sz="2400" b="1" dirty="0">
                <a:solidFill>
                  <a:srgbClr val="006FC0"/>
                </a:solidFill>
                <a:latin typeface="Times New Roman" panose="02020603050405020304" pitchFamily="18" charset="0"/>
                <a:cs typeface="Times New Roman" panose="02020603050405020304" pitchFamily="18" charset="0"/>
              </a:rPr>
              <a:t>trí (location): </a:t>
            </a:r>
            <a:r>
              <a:rPr sz="2400" i="1" dirty="0">
                <a:latin typeface="Times New Roman" panose="02020603050405020304" pitchFamily="18" charset="0"/>
                <a:cs typeface="Times New Roman" panose="02020603050405020304" pitchFamily="18" charset="0"/>
              </a:rPr>
              <a:t>liên kết </a:t>
            </a:r>
            <a:r>
              <a:rPr sz="2400" i="1" spc="-5" dirty="0">
                <a:latin typeface="Times New Roman" panose="02020603050405020304" pitchFamily="18" charset="0"/>
                <a:cs typeface="Times New Roman" panose="02020603050405020304" pitchFamily="18" charset="0"/>
              </a:rPr>
              <a:t>tới, </a:t>
            </a:r>
            <a:r>
              <a:rPr sz="2400" i="1" dirty="0">
                <a:latin typeface="Times New Roman" panose="02020603050405020304" pitchFamily="18" charset="0"/>
                <a:cs typeface="Times New Roman" panose="02020603050405020304" pitchFamily="18" charset="0"/>
              </a:rPr>
              <a:t>thành phần của</a:t>
            </a:r>
            <a:r>
              <a:rPr sz="2400" i="1">
                <a:latin typeface="Times New Roman" panose="02020603050405020304" pitchFamily="18" charset="0"/>
                <a:cs typeface="Times New Roman" panose="02020603050405020304" pitchFamily="18" charset="0"/>
              </a:rPr>
              <a:t>,</a:t>
            </a:r>
            <a:r>
              <a:rPr sz="2400" i="1" spc="-190">
                <a:latin typeface="Times New Roman" panose="02020603050405020304" pitchFamily="18" charset="0"/>
                <a:cs typeface="Times New Roman" panose="02020603050405020304" pitchFamily="18" charset="0"/>
              </a:rPr>
              <a:t> </a:t>
            </a:r>
            <a:r>
              <a:rPr sz="2400" i="1">
                <a:latin typeface="Times New Roman" panose="02020603050405020304" pitchFamily="18" charset="0"/>
                <a:cs typeface="Times New Roman" panose="02020603050405020304" pitchFamily="18" charset="0"/>
              </a:rPr>
              <a:t>làm</a:t>
            </a:r>
            <a:r>
              <a:rPr lang="en-US" sz="2400" i="1">
                <a:latin typeface="Times New Roman" panose="02020603050405020304" pitchFamily="18" charset="0"/>
                <a:cs typeface="Times New Roman" panose="02020603050405020304" pitchFamily="18" charset="0"/>
              </a:rPr>
              <a:t> </a:t>
            </a:r>
            <a:r>
              <a:rPr sz="2400" i="1">
                <a:latin typeface="Times New Roman" panose="02020603050405020304" pitchFamily="18" charset="0"/>
                <a:cs typeface="Times New Roman" panose="02020603050405020304" pitchFamily="18" charset="0"/>
              </a:rPr>
              <a:t>việc </a:t>
            </a:r>
            <a:r>
              <a:rPr sz="2400" i="1" spc="-5" dirty="0">
                <a:latin typeface="Times New Roman" panose="02020603050405020304" pitchFamily="18" charset="0"/>
                <a:cs typeface="Times New Roman" panose="02020603050405020304" pitchFamily="18" charset="0"/>
              </a:rPr>
              <a:t>tại,</a:t>
            </a:r>
            <a:r>
              <a:rPr sz="2400" i="1" spc="-35" dirty="0">
                <a:latin typeface="Times New Roman" panose="02020603050405020304" pitchFamily="18" charset="0"/>
                <a:cs typeface="Times New Roman" panose="02020603050405020304" pitchFamily="18" charset="0"/>
              </a:rPr>
              <a:t> </a:t>
            </a:r>
            <a:r>
              <a:rPr lang="en-US" sz="2400" i="1" spc="-35" dirty="0" err="1">
                <a:latin typeface="Times New Roman" panose="02020603050405020304" pitchFamily="18" charset="0"/>
                <a:cs typeface="Times New Roman" panose="02020603050405020304" pitchFamily="18" charset="0"/>
              </a:rPr>
              <a:t>chứa</a:t>
            </a:r>
            <a:r>
              <a:rPr lang="en-US" sz="2400" i="1" spc="-35" dirty="0">
                <a:latin typeface="Times New Roman" panose="02020603050405020304" pitchFamily="18" charset="0"/>
                <a:cs typeface="Times New Roman" panose="02020603050405020304" pitchFamily="18" charset="0"/>
              </a:rPr>
              <a:t> </a:t>
            </a:r>
            <a:r>
              <a:rPr lang="en-US" sz="2400" i="1" spc="-35" err="1">
                <a:latin typeface="Times New Roman" panose="02020603050405020304" pitchFamily="18" charset="0"/>
                <a:cs typeface="Times New Roman" panose="02020603050405020304" pitchFamily="18" charset="0"/>
              </a:rPr>
              <a:t>trong</a:t>
            </a:r>
            <a:r>
              <a:rPr sz="2400" i="1">
                <a:latin typeface="Times New Roman" panose="02020603050405020304" pitchFamily="18" charset="0"/>
                <a:cs typeface="Times New Roman" panose="02020603050405020304" pitchFamily="18" charset="0"/>
              </a:rPr>
              <a:t>…</a:t>
            </a:r>
            <a:r>
              <a:rPr sz="240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4" name="object 4"/>
          <p:cNvSpPr/>
          <p:nvPr/>
        </p:nvSpPr>
        <p:spPr>
          <a:xfrm>
            <a:off x="3299461" y="3776472"/>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5" name="object 5"/>
          <p:cNvSpPr/>
          <p:nvPr/>
        </p:nvSpPr>
        <p:spPr>
          <a:xfrm>
            <a:off x="3299461" y="3776471"/>
            <a:ext cx="1412875" cy="562610"/>
          </a:xfrm>
          <a:custGeom>
            <a:avLst/>
            <a:gdLst/>
            <a:ahLst/>
            <a:cxnLst/>
            <a:rect l="l" t="t" r="r" b="b"/>
            <a:pathLst>
              <a:path w="1412875" h="562610">
                <a:moveTo>
                  <a:pt x="0" y="562355"/>
                </a:moveTo>
                <a:lnTo>
                  <a:pt x="1412748" y="562355"/>
                </a:lnTo>
                <a:lnTo>
                  <a:pt x="1412748" y="0"/>
                </a:lnTo>
                <a:lnTo>
                  <a:pt x="0" y="0"/>
                </a:lnTo>
                <a:lnTo>
                  <a:pt x="0" y="562355"/>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6" name="object 6"/>
          <p:cNvSpPr/>
          <p:nvPr/>
        </p:nvSpPr>
        <p:spPr>
          <a:xfrm>
            <a:off x="3483864" y="3829812"/>
            <a:ext cx="925194" cy="247015"/>
          </a:xfrm>
          <a:custGeom>
            <a:avLst/>
            <a:gdLst/>
            <a:ahLst/>
            <a:cxnLst/>
            <a:rect l="l" t="t" r="r" b="b"/>
            <a:pathLst>
              <a:path w="925194" h="247014">
                <a:moveTo>
                  <a:pt x="0" y="246887"/>
                </a:moveTo>
                <a:lnTo>
                  <a:pt x="925068" y="246887"/>
                </a:lnTo>
                <a:lnTo>
                  <a:pt x="925068" y="0"/>
                </a:lnTo>
                <a:lnTo>
                  <a:pt x="0" y="0"/>
                </a:lnTo>
                <a:lnTo>
                  <a:pt x="0" y="24688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7" name="object 7"/>
          <p:cNvSpPr txBox="1"/>
          <p:nvPr/>
        </p:nvSpPr>
        <p:spPr>
          <a:xfrm>
            <a:off x="3299461" y="3818636"/>
            <a:ext cx="1412875" cy="273793"/>
          </a:xfrm>
          <a:prstGeom prst="rect">
            <a:avLst/>
          </a:prstGeom>
        </p:spPr>
        <p:txBody>
          <a:bodyPr vert="horz" wrap="square" lIns="0" tIns="12065" rIns="0" bIns="0" rtlCol="0">
            <a:spAutoFit/>
          </a:bodyPr>
          <a:lstStyle/>
          <a:p>
            <a:pPr marL="184150">
              <a:spcBef>
                <a:spcPts val="95"/>
              </a:spcBef>
            </a:pPr>
            <a:r>
              <a:rPr sz="1700" dirty="0">
                <a:latin typeface="Times New Roman" panose="02020603050405020304" pitchFamily="18" charset="0"/>
                <a:cs typeface="Times New Roman" panose="02020603050405020304" pitchFamily="18" charset="0"/>
              </a:rPr>
              <a:t>Nhân Viên</a:t>
            </a:r>
            <a:endParaRPr sz="1700">
              <a:latin typeface="Times New Roman" panose="02020603050405020304" pitchFamily="18" charset="0"/>
              <a:cs typeface="Times New Roman" panose="02020603050405020304" pitchFamily="18" charset="0"/>
            </a:endParaRPr>
          </a:p>
        </p:txBody>
      </p:sp>
      <p:sp>
        <p:nvSpPr>
          <p:cNvPr id="8" name="object 8"/>
          <p:cNvSpPr/>
          <p:nvPr/>
        </p:nvSpPr>
        <p:spPr>
          <a:xfrm>
            <a:off x="3299461" y="4084320"/>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9" name="object 9"/>
          <p:cNvSpPr/>
          <p:nvPr/>
        </p:nvSpPr>
        <p:spPr>
          <a:xfrm>
            <a:off x="3299461" y="4084321"/>
            <a:ext cx="1412875" cy="254635"/>
          </a:xfrm>
          <a:custGeom>
            <a:avLst/>
            <a:gdLst/>
            <a:ahLst/>
            <a:cxnLst/>
            <a:rect l="l" t="t" r="r" b="b"/>
            <a:pathLst>
              <a:path w="1412875" h="254635">
                <a:moveTo>
                  <a:pt x="0" y="254507"/>
                </a:moveTo>
                <a:lnTo>
                  <a:pt x="1412748" y="254507"/>
                </a:lnTo>
                <a:lnTo>
                  <a:pt x="1412748" y="0"/>
                </a:lnTo>
                <a:lnTo>
                  <a:pt x="0" y="0"/>
                </a:lnTo>
                <a:lnTo>
                  <a:pt x="0" y="254507"/>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0" name="object 10"/>
          <p:cNvSpPr/>
          <p:nvPr/>
        </p:nvSpPr>
        <p:spPr>
          <a:xfrm>
            <a:off x="3299461" y="4197096"/>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1" name="object 11"/>
          <p:cNvSpPr/>
          <p:nvPr/>
        </p:nvSpPr>
        <p:spPr>
          <a:xfrm>
            <a:off x="3299461" y="4197096"/>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2" name="object 12"/>
          <p:cNvSpPr/>
          <p:nvPr/>
        </p:nvSpPr>
        <p:spPr>
          <a:xfrm>
            <a:off x="7642860" y="3700272"/>
            <a:ext cx="1412875" cy="307975"/>
          </a:xfrm>
          <a:custGeom>
            <a:avLst/>
            <a:gdLst/>
            <a:ahLst/>
            <a:cxnLst/>
            <a:rect l="l" t="t" r="r" b="b"/>
            <a:pathLst>
              <a:path w="1412875" h="307975">
                <a:moveTo>
                  <a:pt x="0" y="307847"/>
                </a:moveTo>
                <a:lnTo>
                  <a:pt x="1412747" y="307847"/>
                </a:lnTo>
                <a:lnTo>
                  <a:pt x="1412747" y="0"/>
                </a:lnTo>
                <a:lnTo>
                  <a:pt x="0" y="0"/>
                </a:lnTo>
                <a:lnTo>
                  <a:pt x="0" y="30784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3" name="object 13"/>
          <p:cNvSpPr/>
          <p:nvPr/>
        </p:nvSpPr>
        <p:spPr>
          <a:xfrm>
            <a:off x="7642860" y="3700271"/>
            <a:ext cx="1412875" cy="562610"/>
          </a:xfrm>
          <a:custGeom>
            <a:avLst/>
            <a:gdLst/>
            <a:ahLst/>
            <a:cxnLst/>
            <a:rect l="l" t="t" r="r" b="b"/>
            <a:pathLst>
              <a:path w="1412875" h="562610">
                <a:moveTo>
                  <a:pt x="0" y="562355"/>
                </a:moveTo>
                <a:lnTo>
                  <a:pt x="1412747" y="562355"/>
                </a:lnTo>
                <a:lnTo>
                  <a:pt x="1412747" y="0"/>
                </a:lnTo>
                <a:lnTo>
                  <a:pt x="0" y="0"/>
                </a:lnTo>
                <a:lnTo>
                  <a:pt x="0" y="562355"/>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4" name="object 14"/>
          <p:cNvSpPr/>
          <p:nvPr/>
        </p:nvSpPr>
        <p:spPr>
          <a:xfrm>
            <a:off x="7827265" y="3753612"/>
            <a:ext cx="932815" cy="247015"/>
          </a:xfrm>
          <a:custGeom>
            <a:avLst/>
            <a:gdLst/>
            <a:ahLst/>
            <a:cxnLst/>
            <a:rect l="l" t="t" r="r" b="b"/>
            <a:pathLst>
              <a:path w="932815" h="247014">
                <a:moveTo>
                  <a:pt x="0" y="246887"/>
                </a:moveTo>
                <a:lnTo>
                  <a:pt x="932688" y="246887"/>
                </a:lnTo>
                <a:lnTo>
                  <a:pt x="932688" y="0"/>
                </a:lnTo>
                <a:lnTo>
                  <a:pt x="0" y="0"/>
                </a:lnTo>
                <a:lnTo>
                  <a:pt x="0" y="24688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5" name="object 15"/>
          <p:cNvSpPr txBox="1"/>
          <p:nvPr/>
        </p:nvSpPr>
        <p:spPr>
          <a:xfrm>
            <a:off x="7642860" y="3742436"/>
            <a:ext cx="1412875" cy="273793"/>
          </a:xfrm>
          <a:prstGeom prst="rect">
            <a:avLst/>
          </a:prstGeom>
        </p:spPr>
        <p:txBody>
          <a:bodyPr vert="horz" wrap="square" lIns="0" tIns="12065" rIns="0" bIns="0" rtlCol="0">
            <a:spAutoFit/>
          </a:bodyPr>
          <a:lstStyle/>
          <a:p>
            <a:pPr marL="184785">
              <a:spcBef>
                <a:spcPts val="95"/>
              </a:spcBef>
            </a:pPr>
            <a:r>
              <a:rPr sz="1700" dirty="0">
                <a:latin typeface="Times New Roman" panose="02020603050405020304" pitchFamily="18" charset="0"/>
                <a:cs typeface="Times New Roman" panose="02020603050405020304" pitchFamily="18" charset="0"/>
              </a:rPr>
              <a:t>Chi Nhánh</a:t>
            </a:r>
            <a:endParaRPr sz="1700">
              <a:latin typeface="Times New Roman" panose="02020603050405020304" pitchFamily="18" charset="0"/>
              <a:cs typeface="Times New Roman" panose="02020603050405020304" pitchFamily="18" charset="0"/>
            </a:endParaRPr>
          </a:p>
        </p:txBody>
      </p:sp>
      <p:sp>
        <p:nvSpPr>
          <p:cNvPr id="16" name="object 16"/>
          <p:cNvSpPr/>
          <p:nvPr/>
        </p:nvSpPr>
        <p:spPr>
          <a:xfrm>
            <a:off x="7642860" y="4008120"/>
            <a:ext cx="1412875" cy="113030"/>
          </a:xfrm>
          <a:custGeom>
            <a:avLst/>
            <a:gdLst/>
            <a:ahLst/>
            <a:cxnLst/>
            <a:rect l="l" t="t" r="r" b="b"/>
            <a:pathLst>
              <a:path w="1412875" h="113029">
                <a:moveTo>
                  <a:pt x="0" y="112775"/>
                </a:moveTo>
                <a:lnTo>
                  <a:pt x="1412747" y="112775"/>
                </a:lnTo>
                <a:lnTo>
                  <a:pt x="1412747" y="0"/>
                </a:lnTo>
                <a:lnTo>
                  <a:pt x="0" y="0"/>
                </a:lnTo>
                <a:lnTo>
                  <a:pt x="0" y="112775"/>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7" name="object 17"/>
          <p:cNvSpPr/>
          <p:nvPr/>
        </p:nvSpPr>
        <p:spPr>
          <a:xfrm>
            <a:off x="7642860" y="4008121"/>
            <a:ext cx="1412875" cy="254635"/>
          </a:xfrm>
          <a:custGeom>
            <a:avLst/>
            <a:gdLst/>
            <a:ahLst/>
            <a:cxnLst/>
            <a:rect l="l" t="t" r="r" b="b"/>
            <a:pathLst>
              <a:path w="1412875" h="254635">
                <a:moveTo>
                  <a:pt x="0" y="254507"/>
                </a:moveTo>
                <a:lnTo>
                  <a:pt x="1412747" y="254507"/>
                </a:lnTo>
                <a:lnTo>
                  <a:pt x="1412747" y="0"/>
                </a:lnTo>
                <a:lnTo>
                  <a:pt x="0" y="0"/>
                </a:lnTo>
                <a:lnTo>
                  <a:pt x="0" y="254507"/>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8" name="object 18"/>
          <p:cNvSpPr/>
          <p:nvPr/>
        </p:nvSpPr>
        <p:spPr>
          <a:xfrm>
            <a:off x="7642860" y="4120896"/>
            <a:ext cx="1412875" cy="142240"/>
          </a:xfrm>
          <a:custGeom>
            <a:avLst/>
            <a:gdLst/>
            <a:ahLst/>
            <a:cxnLst/>
            <a:rect l="l" t="t" r="r" b="b"/>
            <a:pathLst>
              <a:path w="1412875" h="142239">
                <a:moveTo>
                  <a:pt x="0" y="141731"/>
                </a:moveTo>
                <a:lnTo>
                  <a:pt x="1412747" y="141731"/>
                </a:lnTo>
                <a:lnTo>
                  <a:pt x="1412747" y="0"/>
                </a:lnTo>
                <a:lnTo>
                  <a:pt x="0" y="0"/>
                </a:lnTo>
                <a:lnTo>
                  <a:pt x="0" y="141731"/>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19" name="object 19"/>
          <p:cNvSpPr/>
          <p:nvPr/>
        </p:nvSpPr>
        <p:spPr>
          <a:xfrm>
            <a:off x="7642860" y="4120896"/>
            <a:ext cx="1412875" cy="142240"/>
          </a:xfrm>
          <a:custGeom>
            <a:avLst/>
            <a:gdLst/>
            <a:ahLst/>
            <a:cxnLst/>
            <a:rect l="l" t="t" r="r" b="b"/>
            <a:pathLst>
              <a:path w="1412875" h="142239">
                <a:moveTo>
                  <a:pt x="0" y="141731"/>
                </a:moveTo>
                <a:lnTo>
                  <a:pt x="1412747" y="141731"/>
                </a:lnTo>
                <a:lnTo>
                  <a:pt x="1412747" y="0"/>
                </a:lnTo>
                <a:lnTo>
                  <a:pt x="0" y="0"/>
                </a:lnTo>
                <a:lnTo>
                  <a:pt x="0" y="141731"/>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0" name="object 20"/>
          <p:cNvSpPr/>
          <p:nvPr/>
        </p:nvSpPr>
        <p:spPr>
          <a:xfrm>
            <a:off x="4747260" y="4081271"/>
            <a:ext cx="2895600" cy="0"/>
          </a:xfrm>
          <a:custGeom>
            <a:avLst/>
            <a:gdLst/>
            <a:ahLst/>
            <a:cxnLst/>
            <a:rect l="l" t="t" r="r" b="b"/>
            <a:pathLst>
              <a:path w="2895600">
                <a:moveTo>
                  <a:pt x="0" y="0"/>
                </a:moveTo>
                <a:lnTo>
                  <a:pt x="2895600" y="0"/>
                </a:lnTo>
              </a:path>
            </a:pathLst>
          </a:custGeom>
          <a:ln w="9144">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1" name="object 21"/>
          <p:cNvSpPr txBox="1"/>
          <p:nvPr/>
        </p:nvSpPr>
        <p:spPr>
          <a:xfrm>
            <a:off x="5525262" y="3765042"/>
            <a:ext cx="1099185" cy="273793"/>
          </a:xfrm>
          <a:prstGeom prst="rect">
            <a:avLst/>
          </a:prstGeom>
        </p:spPr>
        <p:txBody>
          <a:bodyPr vert="horz" wrap="square" lIns="0" tIns="12065" rIns="0" bIns="0" rtlCol="0">
            <a:spAutoFit/>
          </a:bodyPr>
          <a:lstStyle/>
          <a:p>
            <a:pPr marL="12700">
              <a:spcBef>
                <a:spcPts val="95"/>
              </a:spcBef>
            </a:pPr>
            <a:r>
              <a:rPr sz="1700" dirty="0">
                <a:latin typeface="Times New Roman" panose="02020603050405020304" pitchFamily="18" charset="0"/>
                <a:cs typeface="Times New Roman" panose="02020603050405020304" pitchFamily="18" charset="0"/>
              </a:rPr>
              <a:t>Làm việc tại</a:t>
            </a:r>
          </a:p>
        </p:txBody>
      </p:sp>
      <p:sp>
        <p:nvSpPr>
          <p:cNvPr id="22" name="object 22"/>
          <p:cNvSpPr/>
          <p:nvPr/>
        </p:nvSpPr>
        <p:spPr>
          <a:xfrm>
            <a:off x="3299461" y="4919472"/>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3" name="object 23"/>
          <p:cNvSpPr/>
          <p:nvPr/>
        </p:nvSpPr>
        <p:spPr>
          <a:xfrm>
            <a:off x="3299461" y="4919471"/>
            <a:ext cx="1412875" cy="562610"/>
          </a:xfrm>
          <a:custGeom>
            <a:avLst/>
            <a:gdLst/>
            <a:ahLst/>
            <a:cxnLst/>
            <a:rect l="l" t="t" r="r" b="b"/>
            <a:pathLst>
              <a:path w="1412875" h="562610">
                <a:moveTo>
                  <a:pt x="0" y="562355"/>
                </a:moveTo>
                <a:lnTo>
                  <a:pt x="1412748" y="562355"/>
                </a:lnTo>
                <a:lnTo>
                  <a:pt x="1412748" y="0"/>
                </a:lnTo>
                <a:lnTo>
                  <a:pt x="0" y="0"/>
                </a:lnTo>
                <a:lnTo>
                  <a:pt x="0" y="562355"/>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4" name="object 24"/>
          <p:cNvSpPr/>
          <p:nvPr/>
        </p:nvSpPr>
        <p:spPr>
          <a:xfrm>
            <a:off x="3483865" y="4972812"/>
            <a:ext cx="802005" cy="247015"/>
          </a:xfrm>
          <a:custGeom>
            <a:avLst/>
            <a:gdLst/>
            <a:ahLst/>
            <a:cxnLst/>
            <a:rect l="l" t="t" r="r" b="b"/>
            <a:pathLst>
              <a:path w="802005" h="247014">
                <a:moveTo>
                  <a:pt x="0" y="246887"/>
                </a:moveTo>
                <a:lnTo>
                  <a:pt x="801624" y="246887"/>
                </a:lnTo>
                <a:lnTo>
                  <a:pt x="801624" y="0"/>
                </a:lnTo>
                <a:lnTo>
                  <a:pt x="0" y="0"/>
                </a:lnTo>
                <a:lnTo>
                  <a:pt x="0" y="24688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5" name="object 25"/>
          <p:cNvSpPr txBox="1"/>
          <p:nvPr/>
        </p:nvSpPr>
        <p:spPr>
          <a:xfrm>
            <a:off x="3300983" y="4961891"/>
            <a:ext cx="1409700" cy="273793"/>
          </a:xfrm>
          <a:prstGeom prst="rect">
            <a:avLst/>
          </a:prstGeom>
        </p:spPr>
        <p:txBody>
          <a:bodyPr vert="horz" wrap="square" lIns="0" tIns="12065" rIns="0" bIns="0" rtlCol="0">
            <a:spAutoFit/>
          </a:bodyPr>
          <a:lstStyle/>
          <a:p>
            <a:pPr marL="182880">
              <a:spcBef>
                <a:spcPts val="95"/>
              </a:spcBef>
            </a:pPr>
            <a:r>
              <a:rPr sz="1700" dirty="0">
                <a:latin typeface="Times New Roman" panose="02020603050405020304" pitchFamily="18" charset="0"/>
                <a:cs typeface="Times New Roman" panose="02020603050405020304" pitchFamily="18" charset="0"/>
              </a:rPr>
              <a:t>Buổi Học</a:t>
            </a:r>
            <a:endParaRPr sz="1700">
              <a:latin typeface="Times New Roman" panose="02020603050405020304" pitchFamily="18" charset="0"/>
              <a:cs typeface="Times New Roman" panose="02020603050405020304" pitchFamily="18" charset="0"/>
            </a:endParaRPr>
          </a:p>
        </p:txBody>
      </p:sp>
      <p:sp>
        <p:nvSpPr>
          <p:cNvPr id="26" name="object 26"/>
          <p:cNvSpPr/>
          <p:nvPr/>
        </p:nvSpPr>
        <p:spPr>
          <a:xfrm>
            <a:off x="3299461" y="5227320"/>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7" name="object 27"/>
          <p:cNvSpPr/>
          <p:nvPr/>
        </p:nvSpPr>
        <p:spPr>
          <a:xfrm>
            <a:off x="3299461" y="5227321"/>
            <a:ext cx="1412875" cy="254635"/>
          </a:xfrm>
          <a:custGeom>
            <a:avLst/>
            <a:gdLst/>
            <a:ahLst/>
            <a:cxnLst/>
            <a:rect l="l" t="t" r="r" b="b"/>
            <a:pathLst>
              <a:path w="1412875" h="254635">
                <a:moveTo>
                  <a:pt x="0" y="254507"/>
                </a:moveTo>
                <a:lnTo>
                  <a:pt x="1412748" y="254507"/>
                </a:lnTo>
                <a:lnTo>
                  <a:pt x="1412748" y="0"/>
                </a:lnTo>
                <a:lnTo>
                  <a:pt x="0" y="0"/>
                </a:lnTo>
                <a:lnTo>
                  <a:pt x="0" y="254507"/>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8" name="object 28"/>
          <p:cNvSpPr/>
          <p:nvPr/>
        </p:nvSpPr>
        <p:spPr>
          <a:xfrm>
            <a:off x="3299461" y="5340096"/>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29" name="object 29"/>
          <p:cNvSpPr/>
          <p:nvPr/>
        </p:nvSpPr>
        <p:spPr>
          <a:xfrm>
            <a:off x="3299461" y="5340096"/>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0" name="object 30"/>
          <p:cNvSpPr/>
          <p:nvPr/>
        </p:nvSpPr>
        <p:spPr>
          <a:xfrm>
            <a:off x="7642860" y="4843272"/>
            <a:ext cx="1412875" cy="307975"/>
          </a:xfrm>
          <a:custGeom>
            <a:avLst/>
            <a:gdLst/>
            <a:ahLst/>
            <a:cxnLst/>
            <a:rect l="l" t="t" r="r" b="b"/>
            <a:pathLst>
              <a:path w="1412875" h="307975">
                <a:moveTo>
                  <a:pt x="0" y="307847"/>
                </a:moveTo>
                <a:lnTo>
                  <a:pt x="1412747" y="307847"/>
                </a:lnTo>
                <a:lnTo>
                  <a:pt x="1412747" y="0"/>
                </a:lnTo>
                <a:lnTo>
                  <a:pt x="0" y="0"/>
                </a:lnTo>
                <a:lnTo>
                  <a:pt x="0" y="30784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1" name="object 31"/>
          <p:cNvSpPr/>
          <p:nvPr/>
        </p:nvSpPr>
        <p:spPr>
          <a:xfrm>
            <a:off x="7642860" y="4843271"/>
            <a:ext cx="1412875" cy="562610"/>
          </a:xfrm>
          <a:custGeom>
            <a:avLst/>
            <a:gdLst/>
            <a:ahLst/>
            <a:cxnLst/>
            <a:rect l="l" t="t" r="r" b="b"/>
            <a:pathLst>
              <a:path w="1412875" h="562610">
                <a:moveTo>
                  <a:pt x="0" y="562355"/>
                </a:moveTo>
                <a:lnTo>
                  <a:pt x="1412747" y="562355"/>
                </a:lnTo>
                <a:lnTo>
                  <a:pt x="1412747" y="0"/>
                </a:lnTo>
                <a:lnTo>
                  <a:pt x="0" y="0"/>
                </a:lnTo>
                <a:lnTo>
                  <a:pt x="0" y="562355"/>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2" name="object 32"/>
          <p:cNvSpPr/>
          <p:nvPr/>
        </p:nvSpPr>
        <p:spPr>
          <a:xfrm>
            <a:off x="7827264" y="4896612"/>
            <a:ext cx="975360" cy="247015"/>
          </a:xfrm>
          <a:custGeom>
            <a:avLst/>
            <a:gdLst/>
            <a:ahLst/>
            <a:cxnLst/>
            <a:rect l="l" t="t" r="r" b="b"/>
            <a:pathLst>
              <a:path w="975359" h="247014">
                <a:moveTo>
                  <a:pt x="0" y="246887"/>
                </a:moveTo>
                <a:lnTo>
                  <a:pt x="975360" y="246887"/>
                </a:lnTo>
                <a:lnTo>
                  <a:pt x="975360" y="0"/>
                </a:lnTo>
                <a:lnTo>
                  <a:pt x="0" y="0"/>
                </a:lnTo>
                <a:lnTo>
                  <a:pt x="0" y="246887"/>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3" name="object 33"/>
          <p:cNvSpPr txBox="1"/>
          <p:nvPr/>
        </p:nvSpPr>
        <p:spPr>
          <a:xfrm>
            <a:off x="7642860" y="4885691"/>
            <a:ext cx="1412875" cy="273793"/>
          </a:xfrm>
          <a:prstGeom prst="rect">
            <a:avLst/>
          </a:prstGeom>
        </p:spPr>
        <p:txBody>
          <a:bodyPr vert="horz" wrap="square" lIns="0" tIns="12065" rIns="0" bIns="0" rtlCol="0">
            <a:spAutoFit/>
          </a:bodyPr>
          <a:lstStyle/>
          <a:p>
            <a:pPr marL="184785">
              <a:spcBef>
                <a:spcPts val="95"/>
              </a:spcBef>
            </a:pPr>
            <a:r>
              <a:rPr sz="1700" dirty="0">
                <a:latin typeface="Times New Roman" panose="02020603050405020304" pitchFamily="18" charset="0"/>
                <a:cs typeface="Times New Roman" panose="02020603050405020304" pitchFamily="18" charset="0"/>
              </a:rPr>
              <a:t>Phòng Học</a:t>
            </a:r>
            <a:endParaRPr sz="1700">
              <a:latin typeface="Times New Roman" panose="02020603050405020304" pitchFamily="18" charset="0"/>
              <a:cs typeface="Times New Roman" panose="02020603050405020304" pitchFamily="18" charset="0"/>
            </a:endParaRPr>
          </a:p>
        </p:txBody>
      </p:sp>
      <p:sp>
        <p:nvSpPr>
          <p:cNvPr id="34" name="object 34"/>
          <p:cNvSpPr/>
          <p:nvPr/>
        </p:nvSpPr>
        <p:spPr>
          <a:xfrm>
            <a:off x="7642860" y="5151120"/>
            <a:ext cx="1412875" cy="113030"/>
          </a:xfrm>
          <a:custGeom>
            <a:avLst/>
            <a:gdLst/>
            <a:ahLst/>
            <a:cxnLst/>
            <a:rect l="l" t="t" r="r" b="b"/>
            <a:pathLst>
              <a:path w="1412875" h="113029">
                <a:moveTo>
                  <a:pt x="0" y="112775"/>
                </a:moveTo>
                <a:lnTo>
                  <a:pt x="1412747" y="112775"/>
                </a:lnTo>
                <a:lnTo>
                  <a:pt x="1412747" y="0"/>
                </a:lnTo>
                <a:lnTo>
                  <a:pt x="0" y="0"/>
                </a:lnTo>
                <a:lnTo>
                  <a:pt x="0" y="112775"/>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5" name="object 35"/>
          <p:cNvSpPr/>
          <p:nvPr/>
        </p:nvSpPr>
        <p:spPr>
          <a:xfrm>
            <a:off x="7642860" y="5151121"/>
            <a:ext cx="1412875" cy="254635"/>
          </a:xfrm>
          <a:custGeom>
            <a:avLst/>
            <a:gdLst/>
            <a:ahLst/>
            <a:cxnLst/>
            <a:rect l="l" t="t" r="r" b="b"/>
            <a:pathLst>
              <a:path w="1412875" h="254635">
                <a:moveTo>
                  <a:pt x="0" y="254507"/>
                </a:moveTo>
                <a:lnTo>
                  <a:pt x="1412747" y="254507"/>
                </a:lnTo>
                <a:lnTo>
                  <a:pt x="1412747" y="0"/>
                </a:lnTo>
                <a:lnTo>
                  <a:pt x="0" y="0"/>
                </a:lnTo>
                <a:lnTo>
                  <a:pt x="0" y="254507"/>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6" name="object 36"/>
          <p:cNvSpPr/>
          <p:nvPr/>
        </p:nvSpPr>
        <p:spPr>
          <a:xfrm>
            <a:off x="7642860" y="5263896"/>
            <a:ext cx="1412875" cy="142240"/>
          </a:xfrm>
          <a:custGeom>
            <a:avLst/>
            <a:gdLst/>
            <a:ahLst/>
            <a:cxnLst/>
            <a:rect l="l" t="t" r="r" b="b"/>
            <a:pathLst>
              <a:path w="1412875" h="142239">
                <a:moveTo>
                  <a:pt x="0" y="141731"/>
                </a:moveTo>
                <a:lnTo>
                  <a:pt x="1412747" y="141731"/>
                </a:lnTo>
                <a:lnTo>
                  <a:pt x="1412747" y="0"/>
                </a:lnTo>
                <a:lnTo>
                  <a:pt x="0" y="0"/>
                </a:lnTo>
                <a:lnTo>
                  <a:pt x="0" y="141731"/>
                </a:lnTo>
                <a:close/>
              </a:path>
            </a:pathLst>
          </a:custGeom>
          <a:solidFill>
            <a:srgbClr val="EBDDC3"/>
          </a:solidFill>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7" name="object 37"/>
          <p:cNvSpPr/>
          <p:nvPr/>
        </p:nvSpPr>
        <p:spPr>
          <a:xfrm>
            <a:off x="7642860" y="5263896"/>
            <a:ext cx="1412875" cy="142240"/>
          </a:xfrm>
          <a:custGeom>
            <a:avLst/>
            <a:gdLst/>
            <a:ahLst/>
            <a:cxnLst/>
            <a:rect l="l" t="t" r="r" b="b"/>
            <a:pathLst>
              <a:path w="1412875" h="142239">
                <a:moveTo>
                  <a:pt x="0" y="141731"/>
                </a:moveTo>
                <a:lnTo>
                  <a:pt x="1412747" y="141731"/>
                </a:lnTo>
                <a:lnTo>
                  <a:pt x="1412747" y="0"/>
                </a:lnTo>
                <a:lnTo>
                  <a:pt x="0" y="0"/>
                </a:lnTo>
                <a:lnTo>
                  <a:pt x="0" y="141731"/>
                </a:lnTo>
                <a:close/>
              </a:path>
            </a:pathLst>
          </a:custGeom>
          <a:ln w="3175">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8" name="object 38"/>
          <p:cNvSpPr/>
          <p:nvPr/>
        </p:nvSpPr>
        <p:spPr>
          <a:xfrm>
            <a:off x="4671060" y="5224271"/>
            <a:ext cx="2971800" cy="0"/>
          </a:xfrm>
          <a:custGeom>
            <a:avLst/>
            <a:gdLst/>
            <a:ahLst/>
            <a:cxnLst/>
            <a:rect l="l" t="t" r="r" b="b"/>
            <a:pathLst>
              <a:path w="2971800">
                <a:moveTo>
                  <a:pt x="0" y="0"/>
                </a:moveTo>
                <a:lnTo>
                  <a:pt x="2971800" y="0"/>
                </a:lnTo>
              </a:path>
            </a:pathLst>
          </a:custGeom>
          <a:ln w="9144">
            <a:solidFill>
              <a:srgbClr val="000000"/>
            </a:solidFill>
          </a:ln>
        </p:spPr>
        <p:txBody>
          <a:bodyPr wrap="square" lIns="0" tIns="0" rIns="0" bIns="0" rtlCol="0"/>
          <a:lstStyle/>
          <a:p>
            <a:endParaRPr sz="1700">
              <a:latin typeface="Times New Roman" panose="02020603050405020304" pitchFamily="18" charset="0"/>
              <a:cs typeface="Times New Roman" panose="02020603050405020304" pitchFamily="18" charset="0"/>
            </a:endParaRPr>
          </a:p>
        </p:txBody>
      </p:sp>
      <p:sp>
        <p:nvSpPr>
          <p:cNvPr id="39" name="object 39"/>
          <p:cNvSpPr txBox="1"/>
          <p:nvPr/>
        </p:nvSpPr>
        <p:spPr>
          <a:xfrm>
            <a:off x="5866004" y="4877181"/>
            <a:ext cx="650875" cy="273793"/>
          </a:xfrm>
          <a:prstGeom prst="rect">
            <a:avLst/>
          </a:prstGeom>
        </p:spPr>
        <p:txBody>
          <a:bodyPr vert="horz" wrap="square" lIns="0" tIns="12065" rIns="0" bIns="0" rtlCol="0">
            <a:spAutoFit/>
          </a:bodyPr>
          <a:lstStyle/>
          <a:p>
            <a:pPr marL="12700">
              <a:spcBef>
                <a:spcPts val="95"/>
              </a:spcBef>
            </a:pPr>
            <a:r>
              <a:rPr sz="1700" dirty="0">
                <a:latin typeface="Times New Roman" panose="02020603050405020304" pitchFamily="18" charset="0"/>
                <a:cs typeface="Times New Roman" panose="02020603050405020304" pitchFamily="18" charset="0"/>
              </a:rPr>
              <a:t>Học tại</a:t>
            </a:r>
          </a:p>
        </p:txBody>
      </p:sp>
      <p:sp>
        <p:nvSpPr>
          <p:cNvPr id="41"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42"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40790004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73542"/>
            <a:ext cx="12192000" cy="1985159"/>
          </a:xfrm>
          <a:prstGeom prst="rect">
            <a:avLst/>
          </a:prstGeom>
        </p:spPr>
        <p:txBody>
          <a:bodyPr vert="horz" wrap="square" lIns="0" tIns="88900" rIns="0" bIns="0" rtlCol="0">
            <a:spAutoFit/>
          </a:bodyPr>
          <a:lstStyle/>
          <a:p>
            <a:pPr marL="355600" indent="-342900">
              <a:lnSpc>
                <a:spcPct val="150000"/>
              </a:lnSpc>
              <a:spcBef>
                <a:spcPts val="700"/>
              </a:spcBef>
              <a:buSzPct val="100000"/>
              <a:buFont typeface="Wingdings" panose="05000000000000000000" pitchFamily="2" charset="2"/>
              <a:buChar char="§"/>
              <a:tabLst>
                <a:tab pos="332740" algn="l"/>
                <a:tab pos="333375" algn="l"/>
              </a:tabLst>
            </a:pPr>
            <a:r>
              <a:rPr sz="2800" b="1" spc="-5" dirty="0">
                <a:solidFill>
                  <a:srgbClr val="FF0000"/>
                </a:solidFill>
                <a:latin typeface="Times New Roman" panose="02020603050405020304" pitchFamily="18" charset="0"/>
                <a:cs typeface="Times New Roman" panose="02020603050405020304" pitchFamily="18" charset="0"/>
              </a:rPr>
              <a:t>Xác 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 association:</a:t>
            </a:r>
            <a:endParaRPr sz="2800" b="1" dirty="0">
              <a:solidFill>
                <a:srgbClr val="FF0000"/>
              </a:solidFill>
              <a:latin typeface="Times New Roman" panose="02020603050405020304" pitchFamily="18" charset="0"/>
              <a:cs typeface="Times New Roman" panose="02020603050405020304" pitchFamily="18" charset="0"/>
            </a:endParaRPr>
          </a:p>
          <a:p>
            <a:pPr marL="720725" lvl="1" indent="-342900">
              <a:lnSpc>
                <a:spcPct val="150000"/>
              </a:lnSpc>
              <a:spcBef>
                <a:spcPts val="605"/>
              </a:spcBef>
              <a:buSzPct val="100000"/>
              <a:buFont typeface="Arial" panose="020B0604020202020204" pitchFamily="34" charset="0"/>
              <a:buChar char="•"/>
            </a:pPr>
            <a:r>
              <a:rPr sz="2400" spc="-5" dirty="0">
                <a:latin typeface="Times New Roman" panose="02020603050405020304" pitchFamily="18" charset="0"/>
                <a:cs typeface="Times New Roman" panose="02020603050405020304" pitchFamily="18" charset="0"/>
              </a:rPr>
              <a:t>Các </a:t>
            </a:r>
            <a:r>
              <a:rPr sz="2400" dirty="0">
                <a:latin typeface="Times New Roman" panose="02020603050405020304" pitchFamily="18" charset="0"/>
                <a:cs typeface="Times New Roman" panose="02020603050405020304" pitchFamily="18" charset="0"/>
              </a:rPr>
              <a:t>mẫu </a:t>
            </a:r>
            <a:r>
              <a:rPr sz="2400" spc="-5" dirty="0">
                <a:latin typeface="Times New Roman" panose="02020603050405020304" pitchFamily="18" charset="0"/>
                <a:cs typeface="Times New Roman" panose="02020603050405020304" pitchFamily="18" charset="0"/>
              </a:rPr>
              <a:t>xác định </a:t>
            </a:r>
            <a:r>
              <a:rPr sz="2400" dirty="0">
                <a:latin typeface="Times New Roman" panose="02020603050405020304" pitchFamily="18" charset="0"/>
                <a:cs typeface="Times New Roman" panose="02020603050405020304" pitchFamily="18" charset="0"/>
              </a:rPr>
              <a:t>mối kết</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hợp:</a:t>
            </a:r>
            <a:endParaRPr sz="2400" dirty="0">
              <a:latin typeface="Times New Roman" panose="02020603050405020304" pitchFamily="18" charset="0"/>
              <a:cs typeface="Times New Roman" panose="02020603050405020304" pitchFamily="18" charset="0"/>
            </a:endParaRPr>
          </a:p>
          <a:p>
            <a:pPr marL="1041400" lvl="2" indent="-342900">
              <a:lnSpc>
                <a:spcPct val="150000"/>
              </a:lnSpc>
              <a:spcBef>
                <a:spcPts val="509"/>
              </a:spcBef>
              <a:buSzPct val="100000"/>
              <a:buFont typeface="Wingdings" panose="05000000000000000000" pitchFamily="2" charset="2"/>
              <a:buChar char="ü"/>
              <a:tabLst>
                <a:tab pos="914400" algn="l"/>
              </a:tabLst>
            </a:pPr>
            <a:r>
              <a:rPr lang="en-US" sz="2400" b="1" dirty="0" err="1">
                <a:solidFill>
                  <a:srgbClr val="006FC0"/>
                </a:solidFill>
                <a:latin typeface="Times New Roman" panose="02020603050405020304" pitchFamily="18" charset="0"/>
                <a:cs typeface="Times New Roman" panose="02020603050405020304" pitchFamily="18" charset="0"/>
              </a:rPr>
              <a:t>Mối</a:t>
            </a:r>
            <a:r>
              <a:rPr lang="en-US" sz="2400" b="1" dirty="0">
                <a:solidFill>
                  <a:srgbClr val="006FC0"/>
                </a:solidFill>
                <a:latin typeface="Times New Roman" panose="02020603050405020304" pitchFamily="18" charset="0"/>
                <a:cs typeface="Times New Roman" panose="02020603050405020304" pitchFamily="18" charset="0"/>
              </a:rPr>
              <a:t> </a:t>
            </a:r>
            <a:r>
              <a:rPr lang="en-US" sz="2400" b="1" dirty="0" err="1">
                <a:solidFill>
                  <a:srgbClr val="006FC0"/>
                </a:solidFill>
                <a:latin typeface="Times New Roman" panose="02020603050405020304" pitchFamily="18" charset="0"/>
                <a:cs typeface="Times New Roman" panose="02020603050405020304" pitchFamily="18" charset="0"/>
              </a:rPr>
              <a:t>kết</a:t>
            </a:r>
            <a:r>
              <a:rPr lang="en-US" sz="2400" b="1" dirty="0">
                <a:solidFill>
                  <a:srgbClr val="006FC0"/>
                </a:solidFill>
                <a:latin typeface="Times New Roman" panose="02020603050405020304" pitchFamily="18" charset="0"/>
                <a:cs typeface="Times New Roman" panose="02020603050405020304" pitchFamily="18" charset="0"/>
              </a:rPr>
              <a:t> </a:t>
            </a:r>
            <a:r>
              <a:rPr lang="en-US" sz="2400" b="1" dirty="0" err="1">
                <a:solidFill>
                  <a:srgbClr val="006FC0"/>
                </a:solidFill>
                <a:latin typeface="Times New Roman" panose="02020603050405020304" pitchFamily="18" charset="0"/>
                <a:cs typeface="Times New Roman" panose="02020603050405020304" pitchFamily="18" charset="0"/>
              </a:rPr>
              <a:t>hợp</a:t>
            </a:r>
            <a:r>
              <a:rPr lang="en-US" sz="2400" b="1" dirty="0">
                <a:solidFill>
                  <a:srgbClr val="006FC0"/>
                </a:solidFill>
                <a:latin typeface="Times New Roman" panose="02020603050405020304" pitchFamily="18" charset="0"/>
                <a:cs typeface="Times New Roman" panose="02020603050405020304" pitchFamily="18" charset="0"/>
              </a:rPr>
              <a:t> </a:t>
            </a:r>
            <a:r>
              <a:rPr lang="en-US" sz="2400" b="1" spc="-5" dirty="0" err="1">
                <a:solidFill>
                  <a:srgbClr val="006FC0"/>
                </a:solidFill>
                <a:latin typeface="Times New Roman" panose="02020603050405020304" pitchFamily="18" charset="0"/>
                <a:cs typeface="Times New Roman" panose="02020603050405020304" pitchFamily="18" charset="0"/>
              </a:rPr>
              <a:t>vị</a:t>
            </a:r>
            <a:r>
              <a:rPr lang="en-US" sz="2400" b="1" spc="-5" dirty="0">
                <a:solidFill>
                  <a:srgbClr val="006FC0"/>
                </a:solidFill>
                <a:latin typeface="Times New Roman" panose="02020603050405020304" pitchFamily="18" charset="0"/>
                <a:cs typeface="Times New Roman" panose="02020603050405020304" pitchFamily="18" charset="0"/>
              </a:rPr>
              <a:t> </a:t>
            </a:r>
            <a:r>
              <a:rPr lang="en-US" sz="2400" b="1" dirty="0" err="1">
                <a:solidFill>
                  <a:srgbClr val="006FC0"/>
                </a:solidFill>
                <a:latin typeface="Times New Roman" panose="02020603050405020304" pitchFamily="18" charset="0"/>
                <a:cs typeface="Times New Roman" panose="02020603050405020304" pitchFamily="18" charset="0"/>
              </a:rPr>
              <a:t>trí</a:t>
            </a:r>
            <a:r>
              <a:rPr lang="en-US" sz="2400" b="1" dirty="0">
                <a:solidFill>
                  <a:srgbClr val="006FC0"/>
                </a:solidFill>
                <a:latin typeface="Times New Roman" panose="02020603050405020304" pitchFamily="18" charset="0"/>
                <a:cs typeface="Times New Roman" panose="02020603050405020304" pitchFamily="18" charset="0"/>
              </a:rPr>
              <a:t> (location): </a:t>
            </a:r>
            <a:r>
              <a:rPr lang="en-US" sz="2400" i="1" dirty="0" err="1">
                <a:latin typeface="Times New Roman" panose="02020603050405020304" pitchFamily="18" charset="0"/>
                <a:cs typeface="Times New Roman" panose="02020603050405020304" pitchFamily="18" charset="0"/>
              </a:rPr>
              <a:t>liên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kết</a:t>
            </a:r>
            <a:r>
              <a:rPr lang="en-US" sz="2400" i="1" dirty="0">
                <a:latin typeface="Times New Roman" panose="02020603050405020304" pitchFamily="18" charset="0"/>
                <a:cs typeface="Times New Roman" panose="02020603050405020304" pitchFamily="18" charset="0"/>
              </a:rPr>
              <a:t> </a:t>
            </a:r>
            <a:r>
              <a:rPr lang="en-US" sz="2400" i="1" spc="-5" dirty="0" err="1">
                <a:latin typeface="Times New Roman" panose="02020603050405020304" pitchFamily="18" charset="0"/>
                <a:cs typeface="Times New Roman" panose="02020603050405020304" pitchFamily="18" charset="0"/>
              </a:rPr>
              <a:t>tới</a:t>
            </a:r>
            <a:r>
              <a:rPr lang="en-US" sz="2400" i="1" spc="-5"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thành</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phần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của</a:t>
            </a:r>
            <a:r>
              <a:rPr lang="en-US" sz="2400" i="1">
                <a:latin typeface="Times New Roman" panose="02020603050405020304" pitchFamily="18" charset="0"/>
                <a:cs typeface="Times New Roman" panose="02020603050405020304" pitchFamily="18" charset="0"/>
              </a:rPr>
              <a:t>,</a:t>
            </a:r>
            <a:r>
              <a:rPr lang="en-US" sz="2400" i="1" spc="-190">
                <a:latin typeface="Times New Roman" panose="02020603050405020304" pitchFamily="18" charset="0"/>
                <a:cs typeface="Times New Roman" panose="02020603050405020304" pitchFamily="18" charset="0"/>
              </a:rPr>
              <a:t> </a:t>
            </a:r>
            <a:r>
              <a:rPr lang="en-US" sz="2400" i="1">
                <a:latin typeface="Times New Roman" panose="02020603050405020304" pitchFamily="18" charset="0"/>
                <a:cs typeface="Times New Roman" panose="02020603050405020304" pitchFamily="18" charset="0"/>
              </a:rPr>
              <a:t>làm việc </a:t>
            </a:r>
            <a:r>
              <a:rPr lang="en-US" sz="2400" i="1" spc="-5" dirty="0" err="1">
                <a:latin typeface="Times New Roman" panose="02020603050405020304" pitchFamily="18" charset="0"/>
                <a:cs typeface="Times New Roman" panose="02020603050405020304" pitchFamily="18" charset="0"/>
              </a:rPr>
              <a:t>tại</a:t>
            </a:r>
            <a:r>
              <a:rPr lang="en-US" sz="2400" i="1" spc="-5" dirty="0">
                <a:latin typeface="Times New Roman" panose="02020603050405020304" pitchFamily="18" charset="0"/>
                <a:cs typeface="Times New Roman" panose="02020603050405020304" pitchFamily="18" charset="0"/>
              </a:rPr>
              <a:t>,</a:t>
            </a:r>
            <a:r>
              <a:rPr lang="en-US" sz="2400" i="1" spc="-35" dirty="0">
                <a:latin typeface="Times New Roman" panose="02020603050405020304" pitchFamily="18" charset="0"/>
                <a:cs typeface="Times New Roman" panose="02020603050405020304" pitchFamily="18" charset="0"/>
              </a:rPr>
              <a:t> </a:t>
            </a:r>
            <a:r>
              <a:rPr lang="en-US" sz="2400" i="1" spc="-35" dirty="0" err="1">
                <a:latin typeface="Times New Roman" panose="02020603050405020304" pitchFamily="18" charset="0"/>
                <a:cs typeface="Times New Roman" panose="02020603050405020304" pitchFamily="18" charset="0"/>
              </a:rPr>
              <a:t>chứa</a:t>
            </a:r>
            <a:r>
              <a:rPr lang="en-US" sz="2400" i="1" spc="-35" dirty="0">
                <a:latin typeface="Times New Roman" panose="02020603050405020304" pitchFamily="18" charset="0"/>
                <a:cs typeface="Times New Roman" panose="02020603050405020304" pitchFamily="18" charset="0"/>
              </a:rPr>
              <a:t> </a:t>
            </a:r>
            <a:r>
              <a:rPr lang="en-US" sz="2400" i="1" spc="-35" err="1">
                <a:latin typeface="Times New Roman" panose="02020603050405020304" pitchFamily="18" charset="0"/>
                <a:cs typeface="Times New Roman" panose="02020603050405020304" pitchFamily="18" charset="0"/>
              </a:rPr>
              <a:t>trong</a:t>
            </a:r>
            <a:r>
              <a:rPr lang="en-US" sz="2400" i="1">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3195804213"/>
              </p:ext>
            </p:extLst>
          </p:nvPr>
        </p:nvGraphicFramePr>
        <p:xfrm>
          <a:off x="3233801" y="4236213"/>
          <a:ext cx="1412875" cy="561340"/>
        </p:xfrm>
        <a:graphic>
          <a:graphicData uri="http://schemas.openxmlformats.org/drawingml/2006/table">
            <a:tbl>
              <a:tblPr firstRow="1" bandRow="1">
                <a:tableStyleId>{2D5ABB26-0587-4C30-8999-92F81FD0307C}</a:tableStyleId>
              </a:tblPr>
              <a:tblGrid>
                <a:gridCol w="1412875">
                  <a:extLst>
                    <a:ext uri="{9D8B030D-6E8A-4147-A177-3AD203B41FA5}">
                      <a16:colId xmlns:a16="http://schemas.microsoft.com/office/drawing/2014/main" val="20000"/>
                    </a:ext>
                  </a:extLst>
                </a:gridCol>
              </a:tblGrid>
              <a:tr h="307340">
                <a:tc>
                  <a:txBody>
                    <a:bodyPr/>
                    <a:lstStyle/>
                    <a:p>
                      <a:pPr marL="186055" algn="l" defTabSz="914400" rtl="0" eaLnBrk="1" latinLnBrk="0" hangingPunct="1">
                        <a:lnSpc>
                          <a:spcPts val="1864"/>
                        </a:lnSpc>
                        <a:spcBef>
                          <a:spcPts val="430"/>
                        </a:spcBef>
                      </a:pPr>
                      <a:r>
                        <a:rPr sz="2000" kern="1200" spc="-10" dirty="0">
                          <a:solidFill>
                            <a:schemeClr val="tx1"/>
                          </a:solidFill>
                          <a:latin typeface="Times New Roman" panose="02020603050405020304" pitchFamily="18" charset="0"/>
                          <a:ea typeface="+mn-ea"/>
                          <a:cs typeface="Times New Roman" panose="02020603050405020304" pitchFamily="18" charset="0"/>
                        </a:rPr>
                        <a:t>Cầu Thủ</a:t>
                      </a:r>
                      <a:endParaRPr sz="2000" kern="1200" spc="-10">
                        <a:solidFill>
                          <a:schemeClr val="tx1"/>
                        </a:solidFill>
                        <a:latin typeface="Times New Roman" panose="02020603050405020304" pitchFamily="18" charset="0"/>
                        <a:ea typeface="+mn-ea"/>
                        <a:cs typeface="Times New Roman" panose="02020603050405020304" pitchFamily="18" charset="0"/>
                      </a:endParaRP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5" name="object 5"/>
          <p:cNvSpPr/>
          <p:nvPr/>
        </p:nvSpPr>
        <p:spPr>
          <a:xfrm>
            <a:off x="7654926" y="4237738"/>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7654926" y="4237737"/>
            <a:ext cx="1412875" cy="562610"/>
          </a:xfrm>
          <a:custGeom>
            <a:avLst/>
            <a:gdLst/>
            <a:ahLst/>
            <a:cxnLst/>
            <a:rect l="l" t="t" r="r" b="b"/>
            <a:pathLst>
              <a:path w="1412875" h="562610">
                <a:moveTo>
                  <a:pt x="0" y="562355"/>
                </a:moveTo>
                <a:lnTo>
                  <a:pt x="1412748" y="562355"/>
                </a:lnTo>
                <a:lnTo>
                  <a:pt x="1412748" y="0"/>
                </a:lnTo>
                <a:lnTo>
                  <a:pt x="0" y="0"/>
                </a:lnTo>
                <a:lnTo>
                  <a:pt x="0" y="5623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7839329" y="4292602"/>
            <a:ext cx="826135" cy="245745"/>
          </a:xfrm>
          <a:custGeom>
            <a:avLst/>
            <a:gdLst/>
            <a:ahLst/>
            <a:cxnLst/>
            <a:rect l="l" t="t" r="r" b="b"/>
            <a:pathLst>
              <a:path w="826134" h="245745">
                <a:moveTo>
                  <a:pt x="0" y="245363"/>
                </a:moveTo>
                <a:lnTo>
                  <a:pt x="826007" y="245363"/>
                </a:lnTo>
                <a:lnTo>
                  <a:pt x="826007" y="0"/>
                </a:lnTo>
                <a:lnTo>
                  <a:pt x="0" y="0"/>
                </a:lnTo>
                <a:lnTo>
                  <a:pt x="0" y="245363"/>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txBox="1"/>
          <p:nvPr/>
        </p:nvSpPr>
        <p:spPr>
          <a:xfrm>
            <a:off x="7654926" y="4191001"/>
            <a:ext cx="1412875" cy="319959"/>
          </a:xfrm>
          <a:prstGeom prst="rect">
            <a:avLst/>
          </a:prstGeom>
        </p:spPr>
        <p:txBody>
          <a:bodyPr vert="horz" wrap="square" lIns="0" tIns="12065" rIns="0" bIns="0" rtlCol="0">
            <a:spAutoFit/>
          </a:bodyPr>
          <a:lstStyle/>
          <a:p>
            <a:pPr marL="184150" indent="96838">
              <a:spcBef>
                <a:spcPts val="95"/>
              </a:spcBef>
            </a:pPr>
            <a:r>
              <a:rPr sz="2000" dirty="0">
                <a:latin typeface="Times New Roman" panose="02020603050405020304" pitchFamily="18" charset="0"/>
                <a:cs typeface="Times New Roman" panose="02020603050405020304" pitchFamily="18" charset="0"/>
              </a:rPr>
              <a:t>Đội Bóng</a:t>
            </a:r>
            <a:endParaRPr sz="2000">
              <a:latin typeface="Times New Roman" panose="02020603050405020304" pitchFamily="18" charset="0"/>
              <a:cs typeface="Times New Roman" panose="02020603050405020304" pitchFamily="18" charset="0"/>
            </a:endParaRPr>
          </a:p>
        </p:txBody>
      </p:sp>
      <p:sp>
        <p:nvSpPr>
          <p:cNvPr id="9" name="object 9"/>
          <p:cNvSpPr/>
          <p:nvPr/>
        </p:nvSpPr>
        <p:spPr>
          <a:xfrm>
            <a:off x="7654926" y="4545584"/>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p:nvPr/>
        </p:nvSpPr>
        <p:spPr>
          <a:xfrm>
            <a:off x="7654926" y="4545585"/>
            <a:ext cx="1412875" cy="254635"/>
          </a:xfrm>
          <a:custGeom>
            <a:avLst/>
            <a:gdLst/>
            <a:ahLst/>
            <a:cxnLst/>
            <a:rect l="l" t="t" r="r" b="b"/>
            <a:pathLst>
              <a:path w="1412875" h="254635">
                <a:moveTo>
                  <a:pt x="0" y="254507"/>
                </a:moveTo>
                <a:lnTo>
                  <a:pt x="1412748" y="254507"/>
                </a:lnTo>
                <a:lnTo>
                  <a:pt x="1412748"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7654926" y="4658360"/>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7654926" y="4658360"/>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txBox="1"/>
          <p:nvPr/>
        </p:nvSpPr>
        <p:spPr>
          <a:xfrm>
            <a:off x="5219700" y="4195827"/>
            <a:ext cx="1790700" cy="289182"/>
          </a:xfrm>
          <a:prstGeom prst="rect">
            <a:avLst/>
          </a:prstGeom>
        </p:spPr>
        <p:txBody>
          <a:bodyPr vert="horz" wrap="square" lIns="0" tIns="12065" rIns="0" bIns="0" rtlCol="0">
            <a:spAutoFit/>
          </a:bodyPr>
          <a:lstStyle/>
          <a:p>
            <a:pPr marL="12700">
              <a:spcBef>
                <a:spcPts val="95"/>
              </a:spcBef>
            </a:pPr>
            <a:r>
              <a:rPr dirty="0">
                <a:latin typeface="Times New Roman" panose="02020603050405020304" pitchFamily="18" charset="0"/>
                <a:cs typeface="Times New Roman" panose="02020603050405020304" pitchFamily="18" charset="0"/>
              </a:rPr>
              <a:t>Là thành phần của</a:t>
            </a:r>
            <a:endParaRPr>
              <a:latin typeface="Times New Roman" panose="02020603050405020304" pitchFamily="18" charset="0"/>
              <a:cs typeface="Times New Roman" panose="02020603050405020304" pitchFamily="18" charset="0"/>
            </a:endParaRPr>
          </a:p>
        </p:txBody>
      </p:sp>
      <p:sp>
        <p:nvSpPr>
          <p:cNvPr id="14" name="object 14"/>
          <p:cNvSpPr/>
          <p:nvPr/>
        </p:nvSpPr>
        <p:spPr>
          <a:xfrm>
            <a:off x="4683125" y="4618737"/>
            <a:ext cx="2971800" cy="0"/>
          </a:xfrm>
          <a:custGeom>
            <a:avLst/>
            <a:gdLst/>
            <a:ahLst/>
            <a:cxnLst/>
            <a:rect l="l" t="t" r="r" b="b"/>
            <a:pathLst>
              <a:path w="2971800">
                <a:moveTo>
                  <a:pt x="0" y="0"/>
                </a:moveTo>
                <a:lnTo>
                  <a:pt x="29718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3235326" y="5075938"/>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3419729" y="5130802"/>
            <a:ext cx="568960" cy="245745"/>
          </a:xfrm>
          <a:custGeom>
            <a:avLst/>
            <a:gdLst/>
            <a:ahLst/>
            <a:cxnLst/>
            <a:rect l="l" t="t" r="r" b="b"/>
            <a:pathLst>
              <a:path w="568960" h="245745">
                <a:moveTo>
                  <a:pt x="0" y="245363"/>
                </a:moveTo>
                <a:lnTo>
                  <a:pt x="568451" y="245363"/>
                </a:lnTo>
                <a:lnTo>
                  <a:pt x="568451" y="0"/>
                </a:lnTo>
                <a:lnTo>
                  <a:pt x="0" y="0"/>
                </a:lnTo>
                <a:lnTo>
                  <a:pt x="0" y="245363"/>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3235326" y="5383784"/>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3235326" y="5496560"/>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7654926" y="5075938"/>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7839329" y="5130802"/>
            <a:ext cx="741045" cy="245745"/>
          </a:xfrm>
          <a:custGeom>
            <a:avLst/>
            <a:gdLst/>
            <a:ahLst/>
            <a:cxnLst/>
            <a:rect l="l" t="t" r="r" b="b"/>
            <a:pathLst>
              <a:path w="741045" h="245745">
                <a:moveTo>
                  <a:pt x="0" y="245363"/>
                </a:moveTo>
                <a:lnTo>
                  <a:pt x="740664" y="245363"/>
                </a:lnTo>
                <a:lnTo>
                  <a:pt x="740664" y="0"/>
                </a:lnTo>
                <a:lnTo>
                  <a:pt x="0" y="0"/>
                </a:lnTo>
                <a:lnTo>
                  <a:pt x="0" y="245363"/>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7654926" y="5383784"/>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p:nvPr/>
        </p:nvSpPr>
        <p:spPr>
          <a:xfrm>
            <a:off x="7654926" y="5496560"/>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23" name="object 23"/>
          <p:cNvGraphicFramePr>
            <a:graphicFrameLocks noGrp="1"/>
          </p:cNvGraphicFramePr>
          <p:nvPr>
            <p:extLst>
              <p:ext uri="{D42A27DB-BD31-4B8C-83A1-F6EECF244321}">
                <p14:modId xmlns:p14="http://schemas.microsoft.com/office/powerpoint/2010/main" val="1962140448"/>
              </p:ext>
            </p:extLst>
          </p:nvPr>
        </p:nvGraphicFramePr>
        <p:xfrm>
          <a:off x="3233801" y="5074414"/>
          <a:ext cx="5832475" cy="561975"/>
        </p:xfrm>
        <a:graphic>
          <a:graphicData uri="http://schemas.openxmlformats.org/drawingml/2006/table">
            <a:tbl>
              <a:tblPr firstRow="1" bandRow="1">
                <a:tableStyleId>{2D5ABB26-0587-4C30-8999-92F81FD0307C}</a:tableStyleId>
              </a:tblPr>
              <a:tblGrid>
                <a:gridCol w="1412875">
                  <a:extLst>
                    <a:ext uri="{9D8B030D-6E8A-4147-A177-3AD203B41FA5}">
                      <a16:colId xmlns:a16="http://schemas.microsoft.com/office/drawing/2014/main" val="20000"/>
                    </a:ext>
                  </a:extLst>
                </a:gridCol>
                <a:gridCol w="3006725">
                  <a:extLst>
                    <a:ext uri="{9D8B030D-6E8A-4147-A177-3AD203B41FA5}">
                      <a16:colId xmlns:a16="http://schemas.microsoft.com/office/drawing/2014/main" val="20001"/>
                    </a:ext>
                  </a:extLst>
                </a:gridCol>
                <a:gridCol w="1412875">
                  <a:extLst>
                    <a:ext uri="{9D8B030D-6E8A-4147-A177-3AD203B41FA5}">
                      <a16:colId xmlns:a16="http://schemas.microsoft.com/office/drawing/2014/main" val="20002"/>
                    </a:ext>
                  </a:extLst>
                </a:gridCol>
              </a:tblGrid>
              <a:tr h="304800">
                <a:tc>
                  <a:txBody>
                    <a:bodyPr/>
                    <a:lstStyle/>
                    <a:p>
                      <a:pPr marL="186055">
                        <a:lnSpc>
                          <a:spcPts val="1864"/>
                        </a:lnSpc>
                        <a:spcBef>
                          <a:spcPts val="430"/>
                        </a:spcBef>
                      </a:pPr>
                      <a:r>
                        <a:rPr lang="en-US" sz="2000" spc="-10">
                          <a:latin typeface="Times New Roman" panose="02020603050405020304" pitchFamily="18" charset="0"/>
                          <a:cs typeface="Times New Roman" panose="02020603050405020304" pitchFamily="18" charset="0"/>
                        </a:rPr>
                        <a:t>  </a:t>
                      </a:r>
                      <a:r>
                        <a:rPr sz="2000" spc="-10">
                          <a:latin typeface="Times New Roman" panose="02020603050405020304" pitchFamily="18" charset="0"/>
                          <a:cs typeface="Times New Roman" panose="02020603050405020304" pitchFamily="18" charset="0"/>
                        </a:rPr>
                        <a:t>Phòng</a:t>
                      </a:r>
                      <a:endParaRPr sz="2000">
                        <a:latin typeface="Times New Roman" panose="02020603050405020304" pitchFamily="18" charset="0"/>
                        <a:cs typeface="Times New Roman" panose="02020603050405020304" pitchFamily="18" charset="0"/>
                      </a:endParaRP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a:txBody>
                    <a:bodyPr/>
                    <a:lstStyle/>
                    <a:p>
                      <a:pPr marL="721995">
                        <a:lnSpc>
                          <a:spcPct val="100000"/>
                        </a:lnSpc>
                        <a:spcBef>
                          <a:spcPts val="150"/>
                        </a:spcBef>
                      </a:pPr>
                      <a:r>
                        <a:rPr>
                          <a:latin typeface="Times New Roman" panose="02020603050405020304" pitchFamily="18" charset="0"/>
                          <a:cs typeface="Times New Roman" panose="02020603050405020304" pitchFamily="18" charset="0"/>
                        </a:rPr>
                        <a:t>C</a:t>
                      </a:r>
                      <a:r>
                        <a:rPr lang="en-US">
                          <a:latin typeface="Times New Roman" panose="02020603050405020304" pitchFamily="18" charset="0"/>
                          <a:cs typeface="Times New Roman" panose="02020603050405020304" pitchFamily="18" charset="0"/>
                        </a:rPr>
                        <a:t>hứa </a:t>
                      </a:r>
                      <a:r>
                        <a:rPr>
                          <a:latin typeface="Times New Roman" panose="02020603050405020304" pitchFamily="18" charset="0"/>
                          <a:cs typeface="Times New Roman" panose="02020603050405020304" pitchFamily="18" charset="0"/>
                        </a:rPr>
                        <a:t>trong</a:t>
                      </a:r>
                    </a:p>
                  </a:txBody>
                  <a:tcPr marL="0" marR="0" marT="19050"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6690">
                        <a:lnSpc>
                          <a:spcPts val="1864"/>
                        </a:lnSpc>
                        <a:spcBef>
                          <a:spcPts val="430"/>
                        </a:spcBef>
                      </a:pPr>
                      <a:r>
                        <a:rPr lang="en-US" sz="2000" spc="-60">
                          <a:latin typeface="Times New Roman" panose="02020603050405020304" pitchFamily="18" charset="0"/>
                          <a:cs typeface="Times New Roman" panose="02020603050405020304" pitchFamily="18" charset="0"/>
                        </a:rPr>
                        <a:t>  </a:t>
                      </a:r>
                      <a:r>
                        <a:rPr sz="2000" spc="-60">
                          <a:latin typeface="Times New Roman" panose="02020603050405020304" pitchFamily="18" charset="0"/>
                          <a:cs typeface="Times New Roman" panose="02020603050405020304" pitchFamily="18" charset="0"/>
                        </a:rPr>
                        <a:t>Toà</a:t>
                      </a:r>
                      <a:r>
                        <a:rPr sz="200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Nhà</a:t>
                      </a:r>
                      <a:endParaRPr sz="2000">
                        <a:latin typeface="Times New Roman" panose="02020603050405020304" pitchFamily="18" charset="0"/>
                        <a:cs typeface="Times New Roman" panose="02020603050405020304" pitchFamily="18" charset="0"/>
                      </a:endParaRP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0"/>
                  </a:ext>
                </a:extLst>
              </a:tr>
              <a:tr h="11557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rowSpan="2">
                  <a:txBody>
                    <a:bodyPr/>
                    <a:lstStyle/>
                    <a:p>
                      <a:pPr>
                        <a:lnSpc>
                          <a:spcPct val="100000"/>
                        </a:lnSpc>
                      </a:pPr>
                      <a:endParaRPr sz="1500">
                        <a:latin typeface="Times New Roman"/>
                        <a:cs typeface="Times New Roman"/>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vMerge="1">
                  <a:txBody>
                    <a:bodyPr/>
                    <a:lstStyle/>
                    <a:p>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26"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2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19911971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68950"/>
            <a:ext cx="12192000" cy="1918795"/>
          </a:xfrm>
          <a:prstGeom prst="rect">
            <a:avLst/>
          </a:prstGeom>
        </p:spPr>
        <p:txBody>
          <a:bodyPr vert="horz" wrap="square" lIns="0" tIns="88900" rIns="0" bIns="0" rtlCol="0">
            <a:spAutoFit/>
          </a:bodyPr>
          <a:lstStyle/>
          <a:p>
            <a:pPr marL="355600" indent="-342900">
              <a:lnSpc>
                <a:spcPct val="150000"/>
              </a:lnSpc>
              <a:spcBef>
                <a:spcPts val="700"/>
              </a:spcBef>
              <a:buSzPct val="100000"/>
              <a:buFont typeface="Wingdings" panose="05000000000000000000" pitchFamily="2" charset="2"/>
              <a:buChar char="§"/>
              <a:tabLst>
                <a:tab pos="332740" algn="l"/>
                <a:tab pos="333375" algn="l"/>
              </a:tabLst>
            </a:pPr>
            <a:r>
              <a:rPr sz="2800" b="1" spc="-5" dirty="0">
                <a:solidFill>
                  <a:srgbClr val="FF0000"/>
                </a:solidFill>
                <a:latin typeface="Times New Roman" panose="02020603050405020304" pitchFamily="18" charset="0"/>
                <a:cs typeface="Times New Roman" panose="02020603050405020304" pitchFamily="18" charset="0"/>
              </a:rPr>
              <a:t>Xác 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 association:</a:t>
            </a:r>
            <a:endParaRPr sz="2800" b="1">
              <a:solidFill>
                <a:srgbClr val="FF0000"/>
              </a:solidFill>
              <a:latin typeface="Times New Roman" panose="02020603050405020304" pitchFamily="18" charset="0"/>
              <a:cs typeface="Times New Roman" panose="02020603050405020304" pitchFamily="18" charset="0"/>
            </a:endParaRPr>
          </a:p>
          <a:p>
            <a:pPr marL="720725" lvl="1" indent="-342900">
              <a:lnSpc>
                <a:spcPct val="150000"/>
              </a:lnSpc>
              <a:spcBef>
                <a:spcPts val="605"/>
              </a:spcBef>
              <a:buSzPct val="100000"/>
              <a:buFont typeface="Arial" panose="020B0604020202020204" pitchFamily="34" charset="0"/>
              <a:buChar char="•"/>
            </a:pPr>
            <a:r>
              <a:rPr sz="2400" b="1" spc="-5" dirty="0">
                <a:latin typeface="Times New Roman" panose="02020603050405020304" pitchFamily="18" charset="0"/>
                <a:cs typeface="Times New Roman" panose="02020603050405020304" pitchFamily="18" charset="0"/>
              </a:rPr>
              <a:t>Các </a:t>
            </a:r>
            <a:r>
              <a:rPr sz="2400" b="1" dirty="0">
                <a:latin typeface="Times New Roman" panose="02020603050405020304" pitchFamily="18" charset="0"/>
                <a:cs typeface="Times New Roman" panose="02020603050405020304" pitchFamily="18" charset="0"/>
              </a:rPr>
              <a:t>mẫu </a:t>
            </a:r>
            <a:r>
              <a:rPr sz="2400" b="1" spc="-5" dirty="0">
                <a:latin typeface="Times New Roman" panose="02020603050405020304" pitchFamily="18" charset="0"/>
                <a:cs typeface="Times New Roman" panose="02020603050405020304" pitchFamily="18" charset="0"/>
              </a:rPr>
              <a:t>xác định </a:t>
            </a:r>
            <a:r>
              <a:rPr sz="2400" b="1" dirty="0">
                <a:latin typeface="Times New Roman" panose="02020603050405020304" pitchFamily="18" charset="0"/>
                <a:cs typeface="Times New Roman" panose="02020603050405020304" pitchFamily="18" charset="0"/>
              </a:rPr>
              <a:t>mối kết</a:t>
            </a:r>
            <a:r>
              <a:rPr sz="2400" b="1" spc="-1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hợp:</a:t>
            </a:r>
            <a:endParaRPr sz="2400" b="1">
              <a:latin typeface="Times New Roman" panose="02020603050405020304" pitchFamily="18" charset="0"/>
              <a:cs typeface="Times New Roman" panose="02020603050405020304" pitchFamily="18" charset="0"/>
            </a:endParaRPr>
          </a:p>
          <a:p>
            <a:pPr marL="1041400" lvl="2" indent="-342900">
              <a:lnSpc>
                <a:spcPct val="150000"/>
              </a:lnSpc>
              <a:spcBef>
                <a:spcPts val="509"/>
              </a:spcBef>
              <a:buSzPct val="100000"/>
              <a:buFont typeface="Wingdings" panose="05000000000000000000" pitchFamily="2" charset="2"/>
              <a:buChar char="ü"/>
              <a:tabLst>
                <a:tab pos="927735" algn="l"/>
              </a:tabLst>
            </a:pPr>
            <a:r>
              <a:rPr sz="2400" b="1">
                <a:solidFill>
                  <a:srgbClr val="006FC0"/>
                </a:solidFill>
                <a:latin typeface="Times New Roman" panose="02020603050405020304" pitchFamily="18" charset="0"/>
                <a:cs typeface="Times New Roman" panose="02020603050405020304" pitchFamily="18" charset="0"/>
              </a:rPr>
              <a:t>Mối </a:t>
            </a:r>
            <a:r>
              <a:rPr sz="2400" b="1" dirty="0">
                <a:solidFill>
                  <a:srgbClr val="006FC0"/>
                </a:solidFill>
                <a:latin typeface="Times New Roman" panose="02020603050405020304" pitchFamily="18" charset="0"/>
                <a:cs typeface="Times New Roman" panose="02020603050405020304" pitchFamily="18" charset="0"/>
              </a:rPr>
              <a:t>kết hợp sở hữu: </a:t>
            </a:r>
            <a:r>
              <a:rPr sz="2400" i="1" dirty="0">
                <a:latin typeface="Times New Roman" panose="02020603050405020304" pitchFamily="18" charset="0"/>
                <a:cs typeface="Times New Roman" panose="02020603050405020304" pitchFamily="18" charset="0"/>
              </a:rPr>
              <a:t>của, có,</a:t>
            </a:r>
            <a:r>
              <a:rPr sz="2400" i="1" spc="-195" dirty="0">
                <a:latin typeface="Times New Roman" panose="02020603050405020304" pitchFamily="18" charset="0"/>
                <a:cs typeface="Times New Roman" panose="02020603050405020304" pitchFamily="18" charset="0"/>
              </a:rPr>
              <a:t> </a:t>
            </a:r>
            <a:r>
              <a:rPr sz="2400" i="1">
                <a:latin typeface="Times New Roman" panose="02020603050405020304" pitchFamily="18" charset="0"/>
                <a:cs typeface="Times New Roman" panose="02020603050405020304" pitchFamily="18" charset="0"/>
              </a:rPr>
              <a:t>thuộc,…</a:t>
            </a:r>
            <a:endParaRPr sz="240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4238249496"/>
              </p:ext>
            </p:extLst>
          </p:nvPr>
        </p:nvGraphicFramePr>
        <p:xfrm>
          <a:off x="3046476" y="3474720"/>
          <a:ext cx="1412875" cy="561340"/>
        </p:xfrm>
        <a:graphic>
          <a:graphicData uri="http://schemas.openxmlformats.org/drawingml/2006/table">
            <a:tbl>
              <a:tblPr firstRow="1" bandRow="1">
                <a:tableStyleId>{2D5ABB26-0587-4C30-8999-92F81FD0307C}</a:tableStyleId>
              </a:tblPr>
              <a:tblGrid>
                <a:gridCol w="1412875">
                  <a:extLst>
                    <a:ext uri="{9D8B030D-6E8A-4147-A177-3AD203B41FA5}">
                      <a16:colId xmlns:a16="http://schemas.microsoft.com/office/drawing/2014/main" val="20000"/>
                    </a:ext>
                  </a:extLst>
                </a:gridCol>
              </a:tblGrid>
              <a:tr h="307340">
                <a:tc>
                  <a:txBody>
                    <a:bodyPr/>
                    <a:lstStyle/>
                    <a:p>
                      <a:pPr marL="186055">
                        <a:lnSpc>
                          <a:spcPts val="1895"/>
                        </a:lnSpc>
                        <a:spcBef>
                          <a:spcPts val="430"/>
                        </a:spcBef>
                      </a:pPr>
                      <a:r>
                        <a:rPr lang="en-US" sz="1800" dirty="0" err="1">
                          <a:latin typeface="Times New Roman" panose="02020603050405020304" pitchFamily="18" charset="0"/>
                          <a:cs typeface="Times New Roman" panose="02020603050405020304" pitchFamily="18" charset="0"/>
                        </a:rPr>
                        <a:t>Tài</a:t>
                      </a:r>
                      <a:r>
                        <a:rPr lang="en-US" sz="1800" baseline="0" dirty="0">
                          <a:latin typeface="Times New Roman" panose="02020603050405020304" pitchFamily="18" charset="0"/>
                          <a:cs typeface="Times New Roman" panose="02020603050405020304" pitchFamily="18" charset="0"/>
                        </a:rPr>
                        <a:t> </a:t>
                      </a:r>
                      <a:r>
                        <a:rPr lang="en-US" sz="1800" baseline="0" dirty="0" err="1">
                          <a:latin typeface="Times New Roman" panose="02020603050405020304" pitchFamily="18" charset="0"/>
                          <a:cs typeface="Times New Roman" panose="02020603050405020304" pitchFamily="18" charset="0"/>
                        </a:rPr>
                        <a:t>khoản</a:t>
                      </a:r>
                      <a:endParaRPr sz="1800" dirty="0">
                        <a:latin typeface="Times New Roman" panose="02020603050405020304" pitchFamily="18" charset="0"/>
                        <a:cs typeface="Times New Roman" panose="02020603050405020304" pitchFamily="18" charset="0"/>
                      </a:endParaRP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5" name="object 5"/>
          <p:cNvSpPr/>
          <p:nvPr/>
        </p:nvSpPr>
        <p:spPr>
          <a:xfrm>
            <a:off x="7467601" y="3476245"/>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7467601" y="3476244"/>
            <a:ext cx="1412875" cy="562610"/>
          </a:xfrm>
          <a:custGeom>
            <a:avLst/>
            <a:gdLst/>
            <a:ahLst/>
            <a:cxnLst/>
            <a:rect l="l" t="t" r="r" b="b"/>
            <a:pathLst>
              <a:path w="1412875" h="562610">
                <a:moveTo>
                  <a:pt x="0" y="562355"/>
                </a:moveTo>
                <a:lnTo>
                  <a:pt x="1412748" y="562355"/>
                </a:lnTo>
                <a:lnTo>
                  <a:pt x="1412748" y="0"/>
                </a:lnTo>
                <a:lnTo>
                  <a:pt x="0" y="0"/>
                </a:lnTo>
                <a:lnTo>
                  <a:pt x="0" y="5623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7652004" y="3531109"/>
            <a:ext cx="826135" cy="245745"/>
          </a:xfrm>
          <a:custGeom>
            <a:avLst/>
            <a:gdLst/>
            <a:ahLst/>
            <a:cxnLst/>
            <a:rect l="l" t="t" r="r" b="b"/>
            <a:pathLst>
              <a:path w="826134" h="245745">
                <a:moveTo>
                  <a:pt x="0" y="245363"/>
                </a:moveTo>
                <a:lnTo>
                  <a:pt x="826007" y="245363"/>
                </a:lnTo>
                <a:lnTo>
                  <a:pt x="826007" y="0"/>
                </a:lnTo>
                <a:lnTo>
                  <a:pt x="0" y="0"/>
                </a:lnTo>
                <a:lnTo>
                  <a:pt x="0" y="245363"/>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txBox="1"/>
          <p:nvPr/>
        </p:nvSpPr>
        <p:spPr>
          <a:xfrm>
            <a:off x="7467601" y="3518661"/>
            <a:ext cx="1412875" cy="289182"/>
          </a:xfrm>
          <a:prstGeom prst="rect">
            <a:avLst/>
          </a:prstGeom>
        </p:spPr>
        <p:txBody>
          <a:bodyPr vert="horz" wrap="square" lIns="0" tIns="12065" rIns="0" bIns="0" rtlCol="0">
            <a:spAutoFit/>
          </a:bodyPr>
          <a:lstStyle/>
          <a:p>
            <a:pPr marL="185420">
              <a:spcBef>
                <a:spcPts val="95"/>
              </a:spcBef>
            </a:pPr>
            <a:r>
              <a:rPr lang="en-US" dirty="0" err="1">
                <a:latin typeface="Times New Roman" panose="02020603050405020304" pitchFamily="18" charset="0"/>
                <a:cs typeface="Times New Roman" panose="02020603050405020304" pitchFamily="18" charset="0"/>
              </a:rPr>
              <a:t>Khách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endParaRPr dirty="0">
              <a:latin typeface="Times New Roman" panose="02020603050405020304" pitchFamily="18" charset="0"/>
              <a:cs typeface="Times New Roman" panose="02020603050405020304" pitchFamily="18" charset="0"/>
            </a:endParaRPr>
          </a:p>
        </p:txBody>
      </p:sp>
      <p:sp>
        <p:nvSpPr>
          <p:cNvPr id="9" name="object 9"/>
          <p:cNvSpPr/>
          <p:nvPr/>
        </p:nvSpPr>
        <p:spPr>
          <a:xfrm>
            <a:off x="7467601" y="3784091"/>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p:nvPr/>
        </p:nvSpPr>
        <p:spPr>
          <a:xfrm>
            <a:off x="7467601" y="3784092"/>
            <a:ext cx="1412875" cy="254635"/>
          </a:xfrm>
          <a:custGeom>
            <a:avLst/>
            <a:gdLst/>
            <a:ahLst/>
            <a:cxnLst/>
            <a:rect l="l" t="t" r="r" b="b"/>
            <a:pathLst>
              <a:path w="1412875" h="254635">
                <a:moveTo>
                  <a:pt x="0" y="254507"/>
                </a:moveTo>
                <a:lnTo>
                  <a:pt x="1412748" y="254507"/>
                </a:lnTo>
                <a:lnTo>
                  <a:pt x="1412748"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7467601" y="3896867"/>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7467601" y="3896867"/>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txBox="1"/>
          <p:nvPr/>
        </p:nvSpPr>
        <p:spPr>
          <a:xfrm>
            <a:off x="5032376" y="3434334"/>
            <a:ext cx="1693545" cy="258404"/>
          </a:xfrm>
          <a:prstGeom prst="rect">
            <a:avLst/>
          </a:prstGeom>
        </p:spPr>
        <p:txBody>
          <a:bodyPr vert="horz" wrap="square" lIns="0" tIns="12065" rIns="0" bIns="0" rtlCol="0">
            <a:spAutoFit/>
          </a:bodyPr>
          <a:lstStyle/>
          <a:p>
            <a:pPr marL="12700" algn="ctr">
              <a:spcBef>
                <a:spcPts val="95"/>
              </a:spcBef>
            </a:pPr>
            <a:r>
              <a:rPr lang="en-US" sz="1600" dirty="0" err="1">
                <a:latin typeface="Times New Roman" panose="02020603050405020304" pitchFamily="18" charset="0"/>
                <a:cs typeface="Times New Roman" panose="02020603050405020304" pitchFamily="18" charset="0"/>
              </a:rPr>
              <a:t>C</a:t>
            </a:r>
            <a:r>
              <a:rPr sz="1600" dirty="0" err="1">
                <a:latin typeface="Times New Roman" panose="02020603050405020304" pitchFamily="18" charset="0"/>
                <a:cs typeface="Times New Roman" panose="02020603050405020304" pitchFamily="18" charset="0"/>
              </a:rPr>
              <a:t>ủa</a:t>
            </a:r>
            <a:endParaRPr sz="1600" dirty="0">
              <a:latin typeface="Times New Roman" panose="02020603050405020304" pitchFamily="18" charset="0"/>
              <a:cs typeface="Times New Roman" panose="02020603050405020304" pitchFamily="18" charset="0"/>
            </a:endParaRPr>
          </a:p>
        </p:txBody>
      </p:sp>
      <p:sp>
        <p:nvSpPr>
          <p:cNvPr id="14" name="object 14"/>
          <p:cNvSpPr/>
          <p:nvPr/>
        </p:nvSpPr>
        <p:spPr>
          <a:xfrm>
            <a:off x="4495800" y="3857244"/>
            <a:ext cx="2971800" cy="0"/>
          </a:xfrm>
          <a:custGeom>
            <a:avLst/>
            <a:gdLst/>
            <a:ahLst/>
            <a:cxnLst/>
            <a:rect l="l" t="t" r="r" b="b"/>
            <a:pathLst>
              <a:path w="2971800">
                <a:moveTo>
                  <a:pt x="0" y="0"/>
                </a:moveTo>
                <a:lnTo>
                  <a:pt x="29718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3048001" y="4314445"/>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3232404" y="4369309"/>
            <a:ext cx="568960" cy="245745"/>
          </a:xfrm>
          <a:custGeom>
            <a:avLst/>
            <a:gdLst/>
            <a:ahLst/>
            <a:cxnLst/>
            <a:rect l="l" t="t" r="r" b="b"/>
            <a:pathLst>
              <a:path w="568960" h="245745">
                <a:moveTo>
                  <a:pt x="0" y="245363"/>
                </a:moveTo>
                <a:lnTo>
                  <a:pt x="568451" y="245363"/>
                </a:lnTo>
                <a:lnTo>
                  <a:pt x="568451" y="0"/>
                </a:lnTo>
                <a:lnTo>
                  <a:pt x="0" y="0"/>
                </a:lnTo>
                <a:lnTo>
                  <a:pt x="0" y="245363"/>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3048001" y="4622291"/>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3048001" y="4735067"/>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7467601" y="4314445"/>
            <a:ext cx="1412875" cy="307975"/>
          </a:xfrm>
          <a:custGeom>
            <a:avLst/>
            <a:gdLst/>
            <a:ahLst/>
            <a:cxnLst/>
            <a:rect l="l" t="t" r="r" b="b"/>
            <a:pathLst>
              <a:path w="1412875" h="307975">
                <a:moveTo>
                  <a:pt x="0" y="307847"/>
                </a:moveTo>
                <a:lnTo>
                  <a:pt x="1412748" y="307847"/>
                </a:lnTo>
                <a:lnTo>
                  <a:pt x="1412748" y="0"/>
                </a:lnTo>
                <a:lnTo>
                  <a:pt x="0" y="0"/>
                </a:lnTo>
                <a:lnTo>
                  <a:pt x="0" y="307847"/>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7652004" y="4369309"/>
            <a:ext cx="741045" cy="245745"/>
          </a:xfrm>
          <a:custGeom>
            <a:avLst/>
            <a:gdLst/>
            <a:ahLst/>
            <a:cxnLst/>
            <a:rect l="l" t="t" r="r" b="b"/>
            <a:pathLst>
              <a:path w="741045" h="245745">
                <a:moveTo>
                  <a:pt x="0" y="245363"/>
                </a:moveTo>
                <a:lnTo>
                  <a:pt x="740664" y="245363"/>
                </a:lnTo>
                <a:lnTo>
                  <a:pt x="740664" y="0"/>
                </a:lnTo>
                <a:lnTo>
                  <a:pt x="0" y="0"/>
                </a:lnTo>
                <a:lnTo>
                  <a:pt x="0" y="245363"/>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7467601" y="4622291"/>
            <a:ext cx="1412875" cy="113030"/>
          </a:xfrm>
          <a:custGeom>
            <a:avLst/>
            <a:gdLst/>
            <a:ahLst/>
            <a:cxnLst/>
            <a:rect l="l" t="t" r="r" b="b"/>
            <a:pathLst>
              <a:path w="1412875" h="113029">
                <a:moveTo>
                  <a:pt x="0" y="112775"/>
                </a:moveTo>
                <a:lnTo>
                  <a:pt x="1412748" y="112775"/>
                </a:lnTo>
                <a:lnTo>
                  <a:pt x="1412748" y="0"/>
                </a:lnTo>
                <a:lnTo>
                  <a:pt x="0" y="0"/>
                </a:lnTo>
                <a:lnTo>
                  <a:pt x="0" y="112775"/>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p:nvPr/>
        </p:nvSpPr>
        <p:spPr>
          <a:xfrm>
            <a:off x="7467601" y="4735067"/>
            <a:ext cx="1412875" cy="142240"/>
          </a:xfrm>
          <a:custGeom>
            <a:avLst/>
            <a:gdLst/>
            <a:ahLst/>
            <a:cxnLst/>
            <a:rect l="l" t="t" r="r" b="b"/>
            <a:pathLst>
              <a:path w="1412875" h="142239">
                <a:moveTo>
                  <a:pt x="0" y="141731"/>
                </a:moveTo>
                <a:lnTo>
                  <a:pt x="1412748" y="141731"/>
                </a:lnTo>
                <a:lnTo>
                  <a:pt x="1412748" y="0"/>
                </a:lnTo>
                <a:lnTo>
                  <a:pt x="0" y="0"/>
                </a:lnTo>
                <a:lnTo>
                  <a:pt x="0" y="141731"/>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23" name="object 23"/>
          <p:cNvGraphicFramePr>
            <a:graphicFrameLocks noGrp="1"/>
          </p:cNvGraphicFramePr>
          <p:nvPr>
            <p:extLst>
              <p:ext uri="{D42A27DB-BD31-4B8C-83A1-F6EECF244321}">
                <p14:modId xmlns:p14="http://schemas.microsoft.com/office/powerpoint/2010/main" val="1450385771"/>
              </p:ext>
            </p:extLst>
          </p:nvPr>
        </p:nvGraphicFramePr>
        <p:xfrm>
          <a:off x="3046476" y="4312921"/>
          <a:ext cx="5832475" cy="561975"/>
        </p:xfrm>
        <a:graphic>
          <a:graphicData uri="http://schemas.openxmlformats.org/drawingml/2006/table">
            <a:tbl>
              <a:tblPr firstRow="1" bandRow="1">
                <a:tableStyleId>{2D5ABB26-0587-4C30-8999-92F81FD0307C}</a:tableStyleId>
              </a:tblPr>
              <a:tblGrid>
                <a:gridCol w="1412875">
                  <a:extLst>
                    <a:ext uri="{9D8B030D-6E8A-4147-A177-3AD203B41FA5}">
                      <a16:colId xmlns:a16="http://schemas.microsoft.com/office/drawing/2014/main" val="20000"/>
                    </a:ext>
                  </a:extLst>
                </a:gridCol>
                <a:gridCol w="3006725">
                  <a:extLst>
                    <a:ext uri="{9D8B030D-6E8A-4147-A177-3AD203B41FA5}">
                      <a16:colId xmlns:a16="http://schemas.microsoft.com/office/drawing/2014/main" val="20001"/>
                    </a:ext>
                  </a:extLst>
                </a:gridCol>
                <a:gridCol w="1412875">
                  <a:extLst>
                    <a:ext uri="{9D8B030D-6E8A-4147-A177-3AD203B41FA5}">
                      <a16:colId xmlns:a16="http://schemas.microsoft.com/office/drawing/2014/main" val="20002"/>
                    </a:ext>
                  </a:extLst>
                </a:gridCol>
              </a:tblGrid>
              <a:tr h="304800">
                <a:tc>
                  <a:txBody>
                    <a:bodyPr/>
                    <a:lstStyle/>
                    <a:p>
                      <a:pPr marL="186055">
                        <a:lnSpc>
                          <a:spcPts val="1864"/>
                        </a:lnSpc>
                        <a:spcBef>
                          <a:spcPts val="430"/>
                        </a:spcBef>
                      </a:pPr>
                      <a:r>
                        <a:rPr lang="en-US" sz="1800" spc="-10" dirty="0" err="1">
                          <a:latin typeface="Times New Roman" panose="02020603050405020304" pitchFamily="18" charset="0"/>
                          <a:cs typeface="Times New Roman" panose="02020603050405020304" pitchFamily="18" charset="0"/>
                        </a:rPr>
                        <a:t>Tài</a:t>
                      </a:r>
                      <a:r>
                        <a:rPr lang="en-US" sz="1800" spc="-10" baseline="0" dirty="0">
                          <a:latin typeface="Times New Roman" panose="02020603050405020304" pitchFamily="18" charset="0"/>
                          <a:cs typeface="Times New Roman" panose="02020603050405020304" pitchFamily="18" charset="0"/>
                        </a:rPr>
                        <a:t> </a:t>
                      </a:r>
                      <a:r>
                        <a:rPr lang="en-US" sz="1800" spc="-10" baseline="0" dirty="0" err="1">
                          <a:latin typeface="Times New Roman" panose="02020603050405020304" pitchFamily="18" charset="0"/>
                          <a:cs typeface="Times New Roman" panose="02020603050405020304" pitchFamily="18" charset="0"/>
                        </a:rPr>
                        <a:t>khoản</a:t>
                      </a:r>
                      <a:endParaRPr sz="1800" dirty="0">
                        <a:latin typeface="Times New Roman" panose="02020603050405020304" pitchFamily="18" charset="0"/>
                        <a:cs typeface="Times New Roman" panose="02020603050405020304" pitchFamily="18" charset="0"/>
                      </a:endParaRP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a:txBody>
                    <a:bodyPr/>
                    <a:lstStyle/>
                    <a:p>
                      <a:pPr marL="721995">
                        <a:lnSpc>
                          <a:spcPct val="100000"/>
                        </a:lnSpc>
                        <a:spcBef>
                          <a:spcPts val="150"/>
                        </a:spcBef>
                      </a:pPr>
                      <a:r>
                        <a:rPr lang="en-US" sz="1600" spc="-165">
                          <a:latin typeface="Times New Roman" panose="02020603050405020304" pitchFamily="18" charset="0"/>
                          <a:cs typeface="Times New Roman" panose="02020603050405020304" pitchFamily="18" charset="0"/>
                        </a:rPr>
                        <a:t>                     </a:t>
                      </a:r>
                      <a:r>
                        <a:rPr sz="1600" spc="-165">
                          <a:latin typeface="Times New Roman" panose="02020603050405020304" pitchFamily="18" charset="0"/>
                          <a:cs typeface="Times New Roman" panose="02020603050405020304" pitchFamily="18" charset="0"/>
                        </a:rPr>
                        <a:t>C</a:t>
                      </a:r>
                      <a:r>
                        <a:rPr lang="en-US" sz="1600" spc="-165" dirty="0" err="1">
                          <a:latin typeface="Times New Roman" panose="02020603050405020304" pitchFamily="18" charset="0"/>
                          <a:cs typeface="Times New Roman" panose="02020603050405020304" pitchFamily="18" charset="0"/>
                        </a:rPr>
                        <a:t>ó</a:t>
                      </a:r>
                      <a:endParaRPr sz="1600" dirty="0">
                        <a:latin typeface="Times New Roman" panose="02020603050405020304" pitchFamily="18" charset="0"/>
                        <a:cs typeface="Times New Roman" panose="02020603050405020304" pitchFamily="18" charset="0"/>
                      </a:endParaRPr>
                    </a:p>
                  </a:txBody>
                  <a:tcPr marL="0" marR="0" marT="19050"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6690">
                        <a:lnSpc>
                          <a:spcPts val="1864"/>
                        </a:lnSpc>
                        <a:spcBef>
                          <a:spcPts val="430"/>
                        </a:spcBef>
                      </a:pPr>
                      <a:r>
                        <a:rPr lang="en-US" sz="1800" dirty="0" err="1">
                          <a:latin typeface="Times New Roman" panose="02020603050405020304" pitchFamily="18" charset="0"/>
                          <a:cs typeface="Times New Roman" panose="02020603050405020304" pitchFamily="18" charset="0"/>
                        </a:rPr>
                        <a:t>Giao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dịch</a:t>
                      </a:r>
                      <a:endParaRPr sz="1800" dirty="0">
                        <a:latin typeface="Times New Roman" panose="02020603050405020304" pitchFamily="18" charset="0"/>
                        <a:cs typeface="Times New Roman" panose="02020603050405020304" pitchFamily="18" charset="0"/>
                      </a:endParaRP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0"/>
                  </a:ext>
                </a:extLst>
              </a:tr>
              <a:tr h="11557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rowSpan="2">
                  <a:txBody>
                    <a:bodyPr/>
                    <a:lstStyle/>
                    <a:p>
                      <a:pPr>
                        <a:lnSpc>
                          <a:spcPct val="100000"/>
                        </a:lnSpc>
                      </a:pPr>
                      <a:endParaRPr sz="1500">
                        <a:latin typeface="Times New Roman"/>
                        <a:cs typeface="Times New Roman"/>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vMerge="1">
                  <a:txBody>
                    <a:bodyPr/>
                    <a:lstStyle/>
                    <a:p>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7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26"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2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190166669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48003"/>
            <a:ext cx="12115800" cy="1769715"/>
          </a:xfrm>
          <a:prstGeom prst="rect">
            <a:avLst/>
          </a:prstGeom>
        </p:spPr>
        <p:txBody>
          <a:bodyPr vert="horz" wrap="square" lIns="0" tIns="88900" rIns="0" bIns="0" rtlCol="0">
            <a:spAutoFit/>
          </a:bodyPr>
          <a:lstStyle/>
          <a:p>
            <a:pPr marL="342900" indent="-342900" algn="just">
              <a:spcBef>
                <a:spcPts val="700"/>
              </a:spcBef>
              <a:buSzPct val="100000"/>
              <a:buFont typeface="Wingdings" panose="05000000000000000000" pitchFamily="2" charset="2"/>
              <a:buChar char="§"/>
            </a:pPr>
            <a:r>
              <a:rPr sz="2800" b="1" spc="-5">
                <a:solidFill>
                  <a:srgbClr val="FF0000"/>
                </a:solidFill>
                <a:latin typeface="Times New Roman" panose="02020603050405020304" pitchFamily="18" charset="0"/>
                <a:cs typeface="Times New Roman" panose="02020603050405020304" pitchFamily="18" charset="0"/>
              </a:rPr>
              <a:t>Xác </a:t>
            </a:r>
            <a:r>
              <a:rPr sz="2800" b="1" spc="-5" dirty="0">
                <a:solidFill>
                  <a:srgbClr val="FF0000"/>
                </a:solidFill>
                <a:latin typeface="Times New Roman" panose="02020603050405020304" pitchFamily="18" charset="0"/>
                <a:cs typeface="Times New Roman" panose="02020603050405020304" pitchFamily="18" charset="0"/>
              </a:rPr>
              <a:t>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a:t>
            </a:r>
            <a:r>
              <a:rPr sz="2800" b="1" spc="2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association:</a:t>
            </a:r>
            <a:endParaRPr sz="2800" b="1">
              <a:solidFill>
                <a:srgbClr val="FF0000"/>
              </a:solidFill>
              <a:latin typeface="Times New Roman" panose="02020603050405020304" pitchFamily="18" charset="0"/>
              <a:cs typeface="Times New Roman" panose="02020603050405020304" pitchFamily="18" charset="0"/>
            </a:endParaRPr>
          </a:p>
          <a:p>
            <a:pPr marL="720725" lvl="1" indent="-342900">
              <a:spcBef>
                <a:spcPts val="605"/>
              </a:spcBef>
              <a:buSzPct val="100000"/>
              <a:buFont typeface="Arial" panose="020B0604020202020204" pitchFamily="34" charset="0"/>
              <a:buChar char="•"/>
            </a:pPr>
            <a:r>
              <a:rPr sz="2400" b="1" spc="-5" dirty="0">
                <a:latin typeface="Times New Roman" panose="02020603050405020304" pitchFamily="18" charset="0"/>
                <a:cs typeface="Times New Roman" panose="02020603050405020304" pitchFamily="18" charset="0"/>
              </a:rPr>
              <a:t>Các </a:t>
            </a:r>
            <a:r>
              <a:rPr sz="2400" b="1" dirty="0">
                <a:latin typeface="Times New Roman" panose="02020603050405020304" pitchFamily="18" charset="0"/>
                <a:cs typeface="Times New Roman" panose="02020603050405020304" pitchFamily="18" charset="0"/>
              </a:rPr>
              <a:t>mẫu </a:t>
            </a:r>
            <a:r>
              <a:rPr sz="2400" b="1" spc="-5" dirty="0">
                <a:latin typeface="Times New Roman" panose="02020603050405020304" pitchFamily="18" charset="0"/>
                <a:cs typeface="Times New Roman" panose="02020603050405020304" pitchFamily="18" charset="0"/>
              </a:rPr>
              <a:t>xác định </a:t>
            </a:r>
            <a:r>
              <a:rPr sz="2400" b="1" dirty="0">
                <a:latin typeface="Times New Roman" panose="02020603050405020304" pitchFamily="18" charset="0"/>
                <a:cs typeface="Times New Roman" panose="02020603050405020304" pitchFamily="18" charset="0"/>
              </a:rPr>
              <a:t>mối kết</a:t>
            </a:r>
            <a:r>
              <a:rPr sz="2400" b="1" spc="2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hợp:</a:t>
            </a:r>
            <a:endParaRPr sz="2400" b="1">
              <a:latin typeface="Times New Roman" panose="02020603050405020304" pitchFamily="18" charset="0"/>
              <a:cs typeface="Times New Roman" panose="02020603050405020304" pitchFamily="18" charset="0"/>
            </a:endParaRPr>
          </a:p>
          <a:p>
            <a:pPr marL="1041400" marR="5080" lvl="2" indent="-342900">
              <a:spcBef>
                <a:spcPts val="509"/>
              </a:spcBef>
              <a:buSzPct val="100000"/>
              <a:buFont typeface="Wingdings" panose="05000000000000000000" pitchFamily="2" charset="2"/>
              <a:buChar char="ü"/>
              <a:tabLst>
                <a:tab pos="927735" algn="l"/>
              </a:tabLst>
            </a:pPr>
            <a:r>
              <a:rPr sz="2400" b="1" dirty="0">
                <a:solidFill>
                  <a:srgbClr val="006FC0"/>
                </a:solidFill>
                <a:latin typeface="Times New Roman" panose="02020603050405020304" pitchFamily="18" charset="0"/>
                <a:cs typeface="Times New Roman" panose="02020603050405020304" pitchFamily="18" charset="0"/>
              </a:rPr>
              <a:t>Mối kết hợp truyền thông, liên </a:t>
            </a:r>
            <a:r>
              <a:rPr sz="2400" b="1" spc="-5" dirty="0">
                <a:solidFill>
                  <a:srgbClr val="006FC0"/>
                </a:solidFill>
                <a:latin typeface="Times New Roman" panose="02020603050405020304" pitchFamily="18" charset="0"/>
                <a:cs typeface="Times New Roman" panose="02020603050405020304" pitchFamily="18" charset="0"/>
              </a:rPr>
              <a:t>lạc </a:t>
            </a:r>
            <a:r>
              <a:rPr sz="2400" b="1" dirty="0">
                <a:solidFill>
                  <a:srgbClr val="006FC0"/>
                </a:solidFill>
                <a:latin typeface="Times New Roman" panose="02020603050405020304" pitchFamily="18" charset="0"/>
                <a:cs typeface="Times New Roman" panose="02020603050405020304" pitchFamily="18" charset="0"/>
              </a:rPr>
              <a:t>(communication): </a:t>
            </a:r>
            <a:r>
              <a:rPr sz="2400" i="1" dirty="0">
                <a:latin typeface="Times New Roman" panose="02020603050405020304" pitchFamily="18" charset="0"/>
                <a:cs typeface="Times New Roman" panose="02020603050405020304" pitchFamily="18" charset="0"/>
              </a:rPr>
              <a:t>đặt</a:t>
            </a:r>
            <a:r>
              <a:rPr sz="2400" i="1" spc="-185" dirty="0">
                <a:latin typeface="Times New Roman" panose="02020603050405020304" pitchFamily="18" charset="0"/>
                <a:cs typeface="Times New Roman" panose="02020603050405020304" pitchFamily="18" charset="0"/>
              </a:rPr>
              <a:t> </a:t>
            </a:r>
            <a:r>
              <a:rPr sz="2400" i="1" spc="-5">
                <a:latin typeface="Times New Roman" panose="02020603050405020304" pitchFamily="18" charset="0"/>
                <a:cs typeface="Times New Roman" panose="02020603050405020304" pitchFamily="18" charset="0"/>
              </a:rPr>
              <a:t>tới,</a:t>
            </a:r>
            <a:r>
              <a:rPr lang="en-US" sz="2400" i="1" spc="-5">
                <a:latin typeface="Times New Roman" panose="02020603050405020304" pitchFamily="18" charset="0"/>
                <a:cs typeface="Times New Roman" panose="02020603050405020304" pitchFamily="18" charset="0"/>
              </a:rPr>
              <a:t> </a:t>
            </a:r>
            <a:r>
              <a:rPr sz="2400" i="1">
                <a:latin typeface="Times New Roman" panose="02020603050405020304" pitchFamily="18" charset="0"/>
                <a:cs typeface="Times New Roman" panose="02020603050405020304" pitchFamily="18" charset="0"/>
              </a:rPr>
              <a:t>trao </a:t>
            </a:r>
            <a:r>
              <a:rPr sz="2400" i="1" dirty="0">
                <a:latin typeface="Times New Roman" panose="02020603050405020304" pitchFamily="18" charset="0"/>
                <a:cs typeface="Times New Roman" panose="02020603050405020304" pitchFamily="18" charset="0"/>
              </a:rPr>
              <a:t>đổi với, gởi cho, tiếp nhận</a:t>
            </a:r>
            <a:r>
              <a:rPr sz="2400" i="1" spc="-125" dirty="0">
                <a:latin typeface="Times New Roman" panose="02020603050405020304" pitchFamily="18" charset="0"/>
                <a:cs typeface="Times New Roman" panose="02020603050405020304" pitchFamily="18" charset="0"/>
              </a:rPr>
              <a:t> </a:t>
            </a:r>
            <a:r>
              <a:rPr sz="2400" i="1" spc="-5" dirty="0">
                <a:latin typeface="Times New Roman" panose="02020603050405020304" pitchFamily="18" charset="0"/>
                <a:cs typeface="Times New Roman" panose="02020603050405020304" pitchFamily="18" charset="0"/>
              </a:rPr>
              <a:t>từ,…</a:t>
            </a:r>
            <a:endParaRPr sz="240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3953869410"/>
              </p:ext>
            </p:extLst>
          </p:nvPr>
        </p:nvGraphicFramePr>
        <p:xfrm>
          <a:off x="2910840" y="3480815"/>
          <a:ext cx="6005829" cy="560070"/>
        </p:xfrm>
        <a:graphic>
          <a:graphicData uri="http://schemas.openxmlformats.org/drawingml/2006/table">
            <a:tbl>
              <a:tblPr firstRow="1" bandRow="1">
                <a:tableStyleId>{2D5ABB26-0587-4C30-8999-92F81FD0307C}</a:tableStyleId>
              </a:tblPr>
              <a:tblGrid>
                <a:gridCol w="1586230">
                  <a:extLst>
                    <a:ext uri="{9D8B030D-6E8A-4147-A177-3AD203B41FA5}">
                      <a16:colId xmlns:a16="http://schemas.microsoft.com/office/drawing/2014/main" val="20000"/>
                    </a:ext>
                  </a:extLst>
                </a:gridCol>
                <a:gridCol w="3006724">
                  <a:extLst>
                    <a:ext uri="{9D8B030D-6E8A-4147-A177-3AD203B41FA5}">
                      <a16:colId xmlns:a16="http://schemas.microsoft.com/office/drawing/2014/main" val="20001"/>
                    </a:ext>
                  </a:extLst>
                </a:gridCol>
                <a:gridCol w="1412875">
                  <a:extLst>
                    <a:ext uri="{9D8B030D-6E8A-4147-A177-3AD203B41FA5}">
                      <a16:colId xmlns:a16="http://schemas.microsoft.com/office/drawing/2014/main" val="20002"/>
                    </a:ext>
                  </a:extLst>
                </a:gridCol>
              </a:tblGrid>
              <a:tr h="307340">
                <a:tc>
                  <a:txBody>
                    <a:bodyPr/>
                    <a:lstStyle/>
                    <a:p>
                      <a:pPr marL="208279">
                        <a:lnSpc>
                          <a:spcPts val="1900"/>
                        </a:lnSpc>
                        <a:spcBef>
                          <a:spcPts val="420"/>
                        </a:spcBef>
                      </a:pPr>
                      <a:r>
                        <a:rPr sz="1800" spc="0" baseline="0" dirty="0">
                          <a:latin typeface="Times New Roman" panose="02020603050405020304" pitchFamily="18" charset="0"/>
                          <a:cs typeface="Times New Roman" panose="02020603050405020304" pitchFamily="18" charset="0"/>
                        </a:rPr>
                        <a:t>Đơn Hàng</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rowSpan="2">
                  <a:txBody>
                    <a:bodyPr/>
                    <a:lstStyle/>
                    <a:p>
                      <a:pPr marL="985519">
                        <a:lnSpc>
                          <a:spcPct val="100000"/>
                        </a:lnSpc>
                        <a:spcBef>
                          <a:spcPts val="114"/>
                        </a:spcBef>
                      </a:pPr>
                      <a:r>
                        <a:rPr sz="1800" spc="0" baseline="0" dirty="0">
                          <a:latin typeface="Times New Roman" panose="02020603050405020304" pitchFamily="18" charset="0"/>
                          <a:cs typeface="Times New Roman" panose="02020603050405020304" pitchFamily="18" charset="0"/>
                        </a:rPr>
                        <a:t>Đặt tới</a:t>
                      </a:r>
                    </a:p>
                  </a:txBody>
                  <a:tcPr marL="0" marR="0" marT="14604"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7960">
                        <a:lnSpc>
                          <a:spcPts val="1900"/>
                        </a:lnSpc>
                        <a:spcBef>
                          <a:spcPts val="420"/>
                        </a:spcBef>
                      </a:pPr>
                      <a:r>
                        <a:rPr sz="1800" spc="0" baseline="0" dirty="0">
                          <a:latin typeface="Times New Roman" panose="02020603050405020304" pitchFamily="18" charset="0"/>
                          <a:cs typeface="Times New Roman" panose="02020603050405020304" pitchFamily="18" charset="0"/>
                        </a:rPr>
                        <a:t>Nhà CCấp</a:t>
                      </a:r>
                    </a:p>
                  </a:txBody>
                  <a:tcPr marL="0" marR="0" marT="533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0"/>
                  </a:ext>
                </a:extLst>
              </a:tr>
              <a:tr h="73025">
                <a:tc>
                  <a:txBody>
                    <a:bodyPr/>
                    <a:lstStyle/>
                    <a:p>
                      <a:pPr>
                        <a:lnSpc>
                          <a:spcPct val="100000"/>
                        </a:lnSpc>
                      </a:pPr>
                      <a:endParaRPr sz="3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vMerge="1">
                  <a:txBody>
                    <a:bodyPr/>
                    <a:lstStyle/>
                    <a:p>
                      <a:endParaRPr/>
                    </a:p>
                  </a:txBody>
                  <a:tcPr marL="0" marR="0" marT="14604"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a:lnSpc>
                          <a:spcPct val="100000"/>
                        </a:lnSpc>
                      </a:pPr>
                      <a:endParaRPr sz="3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1"/>
                  </a:ext>
                </a:extLst>
              </a:tr>
              <a:tr h="179705">
                <a:tc>
                  <a:txBody>
                    <a:bodyPr/>
                    <a:lstStyle/>
                    <a:p>
                      <a:pPr>
                        <a:lnSpc>
                          <a:spcPct val="100000"/>
                        </a:lnSpc>
                      </a:pPr>
                      <a:endParaRPr sz="10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10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5" name="object 5"/>
          <p:cNvSpPr/>
          <p:nvPr/>
        </p:nvSpPr>
        <p:spPr>
          <a:xfrm>
            <a:off x="2912363" y="4646677"/>
            <a:ext cx="1621790" cy="307975"/>
          </a:xfrm>
          <a:custGeom>
            <a:avLst/>
            <a:gdLst/>
            <a:ahLst/>
            <a:cxnLst/>
            <a:rect l="l" t="t" r="r" b="b"/>
            <a:pathLst>
              <a:path w="1621789" h="307975">
                <a:moveTo>
                  <a:pt x="0" y="307848"/>
                </a:moveTo>
                <a:lnTo>
                  <a:pt x="1621536" y="307848"/>
                </a:lnTo>
                <a:lnTo>
                  <a:pt x="1621536" y="0"/>
                </a:lnTo>
                <a:lnTo>
                  <a:pt x="0" y="0"/>
                </a:lnTo>
                <a:lnTo>
                  <a:pt x="0" y="307848"/>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3125725" y="4700016"/>
            <a:ext cx="1153795" cy="247015"/>
          </a:xfrm>
          <a:custGeom>
            <a:avLst/>
            <a:gdLst/>
            <a:ahLst/>
            <a:cxnLst/>
            <a:rect l="l" t="t" r="r" b="b"/>
            <a:pathLst>
              <a:path w="1153795" h="247014">
                <a:moveTo>
                  <a:pt x="0" y="246887"/>
                </a:moveTo>
                <a:lnTo>
                  <a:pt x="1153668" y="246887"/>
                </a:lnTo>
                <a:lnTo>
                  <a:pt x="1153668" y="0"/>
                </a:lnTo>
                <a:lnTo>
                  <a:pt x="0" y="0"/>
                </a:lnTo>
                <a:lnTo>
                  <a:pt x="0" y="246887"/>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2912363" y="4954523"/>
            <a:ext cx="1621790" cy="113030"/>
          </a:xfrm>
          <a:custGeom>
            <a:avLst/>
            <a:gdLst/>
            <a:ahLst/>
            <a:cxnLst/>
            <a:rect l="l" t="t" r="r" b="b"/>
            <a:pathLst>
              <a:path w="1621789" h="113029">
                <a:moveTo>
                  <a:pt x="0" y="112775"/>
                </a:moveTo>
                <a:lnTo>
                  <a:pt x="1621536" y="112775"/>
                </a:lnTo>
                <a:lnTo>
                  <a:pt x="1621536" y="0"/>
                </a:lnTo>
                <a:lnTo>
                  <a:pt x="0" y="0"/>
                </a:lnTo>
                <a:lnTo>
                  <a:pt x="0" y="112775"/>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2912363" y="5067300"/>
            <a:ext cx="1621790" cy="142240"/>
          </a:xfrm>
          <a:custGeom>
            <a:avLst/>
            <a:gdLst/>
            <a:ahLst/>
            <a:cxnLst/>
            <a:rect l="l" t="t" r="r" b="b"/>
            <a:pathLst>
              <a:path w="1621789" h="142239">
                <a:moveTo>
                  <a:pt x="0" y="141731"/>
                </a:moveTo>
                <a:lnTo>
                  <a:pt x="1621536" y="141731"/>
                </a:lnTo>
                <a:lnTo>
                  <a:pt x="1621536" y="0"/>
                </a:lnTo>
                <a:lnTo>
                  <a:pt x="0" y="0"/>
                </a:lnTo>
                <a:lnTo>
                  <a:pt x="0" y="141731"/>
                </a:lnTo>
                <a:close/>
              </a:path>
            </a:pathLst>
          </a:custGeom>
          <a:solidFill>
            <a:srgbClr val="EBDDC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9" name="object 9"/>
          <p:cNvGraphicFramePr>
            <a:graphicFrameLocks noGrp="1"/>
          </p:cNvGraphicFramePr>
          <p:nvPr>
            <p:extLst>
              <p:ext uri="{D42A27DB-BD31-4B8C-83A1-F6EECF244321}">
                <p14:modId xmlns:p14="http://schemas.microsoft.com/office/powerpoint/2010/main" val="2355075974"/>
              </p:ext>
            </p:extLst>
          </p:nvPr>
        </p:nvGraphicFramePr>
        <p:xfrm>
          <a:off x="2910840" y="4645153"/>
          <a:ext cx="6006465" cy="561975"/>
        </p:xfrm>
        <a:graphic>
          <a:graphicData uri="http://schemas.openxmlformats.org/drawingml/2006/table">
            <a:tbl>
              <a:tblPr firstRow="1" bandRow="1">
                <a:tableStyleId>{2D5ABB26-0587-4C30-8999-92F81FD0307C}</a:tableStyleId>
              </a:tblPr>
              <a:tblGrid>
                <a:gridCol w="162179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1412875">
                  <a:extLst>
                    <a:ext uri="{9D8B030D-6E8A-4147-A177-3AD203B41FA5}">
                      <a16:colId xmlns:a16="http://schemas.microsoft.com/office/drawing/2014/main" val="20002"/>
                    </a:ext>
                  </a:extLst>
                </a:gridCol>
              </a:tblGrid>
              <a:tr h="304800">
                <a:tc>
                  <a:txBody>
                    <a:bodyPr/>
                    <a:lstStyle/>
                    <a:p>
                      <a:pPr marL="214629">
                        <a:lnSpc>
                          <a:spcPts val="1870"/>
                        </a:lnSpc>
                        <a:spcBef>
                          <a:spcPts val="425"/>
                        </a:spcBef>
                      </a:pPr>
                      <a:r>
                        <a:rPr sz="1800" spc="0" baseline="0" dirty="0">
                          <a:latin typeface="Times New Roman" panose="02020603050405020304" pitchFamily="18" charset="0"/>
                          <a:cs typeface="Times New Roman" panose="02020603050405020304" pitchFamily="18" charset="0"/>
                        </a:rPr>
                        <a:t>Bản Yêu Cầu</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a:txBody>
                    <a:bodyPr/>
                    <a:lstStyle/>
                    <a:p>
                      <a:pPr marL="949960">
                        <a:lnSpc>
                          <a:spcPts val="1789"/>
                        </a:lnSpc>
                      </a:pPr>
                      <a:r>
                        <a:rPr sz="1800" spc="0" baseline="0" dirty="0">
                          <a:latin typeface="Times New Roman" panose="02020603050405020304" pitchFamily="18" charset="0"/>
                          <a:cs typeface="Times New Roman" panose="02020603050405020304" pitchFamily="18" charset="0"/>
                        </a:rPr>
                        <a:t>Gởi tới</a:t>
                      </a:r>
                    </a:p>
                  </a:txBody>
                  <a:tcPr marL="0" marR="0" marT="0"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7325">
                        <a:lnSpc>
                          <a:spcPts val="1870"/>
                        </a:lnSpc>
                        <a:spcBef>
                          <a:spcPts val="425"/>
                        </a:spcBef>
                      </a:pPr>
                      <a:r>
                        <a:rPr sz="1800" spc="0" baseline="0" dirty="0">
                          <a:latin typeface="Times New Roman" panose="02020603050405020304" pitchFamily="18" charset="0"/>
                          <a:cs typeface="Times New Roman" panose="02020603050405020304" pitchFamily="18" charset="0"/>
                        </a:rPr>
                        <a:t>Phòng Ban</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0"/>
                  </a:ext>
                </a:extLst>
              </a:tr>
              <a:tr h="11557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rowSpan="2">
                  <a:txBody>
                    <a:bodyPr/>
                    <a:lstStyle/>
                    <a:p>
                      <a:pPr>
                        <a:lnSpc>
                          <a:spcPct val="100000"/>
                        </a:lnSpc>
                      </a:pPr>
                      <a:endParaRPr sz="1500">
                        <a:latin typeface="Times New Roman"/>
                        <a:cs typeface="Times New Roman"/>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tc vMerge="1">
                  <a:txBody>
                    <a:bodyPr/>
                    <a:lstStyle/>
                    <a:p>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EBDDC3"/>
                    </a:solidFill>
                  </a:tcPr>
                </a:tc>
                <a:extLst>
                  <a:ext uri="{0D108BD9-81ED-4DB2-BD59-A6C34878D82A}">
                    <a16:rowId xmlns:a16="http://schemas.microsoft.com/office/drawing/2014/main" val="10002"/>
                  </a:ext>
                </a:extLst>
              </a:tr>
            </a:tbl>
          </a:graphicData>
        </a:graphic>
      </p:graphicFrame>
      <p:sp>
        <p:nvSpPr>
          <p:cNvPr id="11"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12"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06648658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601"/>
            <a:ext cx="12192000" cy="4172937"/>
          </a:xfrm>
          <a:prstGeom prst="rect">
            <a:avLst/>
          </a:prstGeom>
        </p:spPr>
        <p:txBody>
          <a:bodyPr vert="horz" wrap="square" lIns="0" tIns="88900" rIns="0" bIns="0" rtlCol="0">
            <a:spAutoFit/>
          </a:bodyPr>
          <a:lstStyle/>
          <a:p>
            <a:pPr marL="355600" indent="-342900" algn="just">
              <a:lnSpc>
                <a:spcPct val="150000"/>
              </a:lnSpc>
              <a:spcBef>
                <a:spcPts val="700"/>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Xác 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a:t>
            </a:r>
            <a:r>
              <a:rPr sz="2800" b="1" spc="2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(association):</a:t>
            </a:r>
            <a:endParaRPr sz="2800" b="1" dirty="0">
              <a:solidFill>
                <a:srgbClr val="FF0000"/>
              </a:solidFill>
              <a:latin typeface="Times New Roman" panose="02020603050405020304" pitchFamily="18" charset="0"/>
              <a:cs typeface="Times New Roman" panose="02020603050405020304" pitchFamily="18" charset="0"/>
            </a:endParaRPr>
          </a:p>
          <a:p>
            <a:pPr marL="720725" lvl="1" indent="-342900" algn="just">
              <a:lnSpc>
                <a:spcPct val="150000"/>
              </a:lnSpc>
              <a:spcBef>
                <a:spcPts val="605"/>
              </a:spcBef>
              <a:buSzPct val="100000"/>
              <a:buFont typeface="Arial" panose="020B0604020202020204" pitchFamily="34" charset="0"/>
              <a:buChar char="•"/>
            </a:pPr>
            <a:r>
              <a:rPr sz="2400" b="1" spc="-5">
                <a:latin typeface="Times New Roman" panose="02020603050405020304" pitchFamily="18" charset="0"/>
                <a:cs typeface="Times New Roman" panose="02020603050405020304" pitchFamily="18" charset="0"/>
              </a:rPr>
              <a:t>Loại </a:t>
            </a:r>
            <a:r>
              <a:rPr sz="2400" b="1" spc="-5" dirty="0">
                <a:latin typeface="Times New Roman" panose="02020603050405020304" pitchFamily="18" charset="0"/>
                <a:cs typeface="Times New Roman" panose="02020603050405020304" pitchFamily="18" charset="0"/>
              </a:rPr>
              <a:t>bỏ </a:t>
            </a:r>
            <a:r>
              <a:rPr sz="2400" b="1" dirty="0">
                <a:latin typeface="Times New Roman" panose="02020603050405020304" pitchFamily="18" charset="0"/>
                <a:cs typeface="Times New Roman" panose="02020603050405020304" pitchFamily="18" charset="0"/>
              </a:rPr>
              <a:t>các mối kết </a:t>
            </a:r>
            <a:r>
              <a:rPr sz="2400" b="1" spc="-5" dirty="0">
                <a:latin typeface="Times New Roman" panose="02020603050405020304" pitchFamily="18" charset="0"/>
                <a:cs typeface="Times New Roman" panose="02020603050405020304" pitchFamily="18" charset="0"/>
              </a:rPr>
              <a:t>hợp không </a:t>
            </a:r>
            <a:r>
              <a:rPr sz="2400" b="1" dirty="0">
                <a:latin typeface="Times New Roman" panose="02020603050405020304" pitchFamily="18" charset="0"/>
                <a:cs typeface="Times New Roman" panose="02020603050405020304" pitchFamily="18" charset="0"/>
              </a:rPr>
              <a:t>cần</a:t>
            </a:r>
            <a:r>
              <a:rPr sz="2400" b="1" spc="2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thiết:</a:t>
            </a:r>
          </a:p>
          <a:p>
            <a:pPr marL="1041400" marR="5080" lvl="2" indent="-342900" algn="just">
              <a:lnSpc>
                <a:spcPct val="150000"/>
              </a:lnSpc>
              <a:spcBef>
                <a:spcPts val="509"/>
              </a:spcBef>
              <a:buSzPct val="100000"/>
              <a:buFont typeface="Wingdings" panose="05000000000000000000" pitchFamily="2" charset="2"/>
              <a:buChar char="ü"/>
              <a:tabLst>
                <a:tab pos="927735" algn="l"/>
              </a:tabLst>
            </a:pPr>
            <a:r>
              <a:rPr sz="2400" b="1" dirty="0">
                <a:solidFill>
                  <a:srgbClr val="006FC0"/>
                </a:solidFill>
                <a:latin typeface="Times New Roman" panose="02020603050405020304" pitchFamily="18" charset="0"/>
                <a:cs typeface="Times New Roman" panose="02020603050405020304" pitchFamily="18" charset="0"/>
              </a:rPr>
              <a:t>Mối kết hợp cài đặt: </a:t>
            </a:r>
            <a:r>
              <a:rPr sz="2400" spc="-5" dirty="0">
                <a:latin typeface="Times New Roman" panose="02020603050405020304" pitchFamily="18" charset="0"/>
                <a:cs typeface="Times New Roman" panose="02020603050405020304" pitchFamily="18" charset="0"/>
              </a:rPr>
              <a:t>là </a:t>
            </a:r>
            <a:r>
              <a:rPr sz="2400" dirty="0">
                <a:latin typeface="Times New Roman" panose="02020603050405020304" pitchFamily="18" charset="0"/>
                <a:cs typeface="Times New Roman" panose="02020603050405020304" pitchFamily="18" charset="0"/>
              </a:rPr>
              <a:t>mối kết hợp mô </a:t>
            </a:r>
            <a:r>
              <a:rPr sz="2400" spc="-5" dirty="0">
                <a:latin typeface="Times New Roman" panose="02020603050405020304" pitchFamily="18" charset="0"/>
                <a:cs typeface="Times New Roman" panose="02020603050405020304" pitchFamily="18" charset="0"/>
              </a:rPr>
              <a:t>tả </a:t>
            </a:r>
            <a:r>
              <a:rPr sz="2400" dirty="0">
                <a:latin typeface="Times New Roman" panose="02020603050405020304" pitchFamily="18" charset="0"/>
                <a:cs typeface="Times New Roman" panose="02020603050405020304" pitchFamily="18" charset="0"/>
              </a:rPr>
              <a:t>sự liên </a:t>
            </a:r>
            <a:r>
              <a:rPr sz="2400">
                <a:latin typeface="Times New Roman" panose="02020603050405020304" pitchFamily="18" charset="0"/>
                <a:cs typeface="Times New Roman" panose="02020603050405020304" pitchFamily="18" charset="0"/>
              </a:rPr>
              <a:t>quan </a:t>
            </a:r>
            <a:r>
              <a:rPr sz="2400" spc="-5">
                <a:latin typeface="Times New Roman" panose="02020603050405020304" pitchFamily="18" charset="0"/>
                <a:cs typeface="Times New Roman" panose="02020603050405020304" pitchFamily="18" charset="0"/>
              </a:rPr>
              <a:t>giữa</a:t>
            </a:r>
            <a:r>
              <a:rPr lang="en-US" sz="2400"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các </a:t>
            </a:r>
            <a:r>
              <a:rPr sz="2400" spc="-5" dirty="0">
                <a:latin typeface="Times New Roman" panose="02020603050405020304" pitchFamily="18" charset="0"/>
                <a:cs typeface="Times New Roman" panose="02020603050405020304" pitchFamily="18" charset="0"/>
              </a:rPr>
              <a:t>lớp </a:t>
            </a:r>
            <a:r>
              <a:rPr sz="2400" dirty="0">
                <a:latin typeface="Times New Roman" panose="02020603050405020304" pitchFamily="18" charset="0"/>
                <a:cs typeface="Times New Roman" panose="02020603050405020304" pitchFamily="18" charset="0"/>
              </a:rPr>
              <a:t>trong giai đoạn thiết kế cài đặt hệ thống bên </a:t>
            </a:r>
            <a:r>
              <a:rPr sz="2400">
                <a:latin typeface="Times New Roman" panose="02020603050405020304" pitchFamily="18" charset="0"/>
                <a:cs typeface="Times New Roman" panose="02020603050405020304" pitchFamily="18" charset="0"/>
              </a:rPr>
              <a:t>trong</a:t>
            </a:r>
            <a:r>
              <a:rPr sz="2400" spc="-19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môi</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trường </a:t>
            </a:r>
            <a:r>
              <a:rPr sz="2400" dirty="0">
                <a:latin typeface="Times New Roman" panose="02020603050405020304" pitchFamily="18" charset="0"/>
                <a:cs typeface="Times New Roman" panose="02020603050405020304" pitchFamily="18" charset="0"/>
              </a:rPr>
              <a:t>phát triển hoặc ngôn ngữ </a:t>
            </a:r>
            <a:r>
              <a:rPr sz="2400" spc="-5" dirty="0">
                <a:latin typeface="Times New Roman" panose="02020603050405020304" pitchFamily="18" charset="0"/>
                <a:cs typeface="Times New Roman" panose="02020603050405020304" pitchFamily="18" charset="0"/>
              </a:rPr>
              <a:t>lập </a:t>
            </a:r>
            <a:r>
              <a:rPr sz="2400" dirty="0">
                <a:latin typeface="Times New Roman" panose="02020603050405020304" pitchFamily="18" charset="0"/>
                <a:cs typeface="Times New Roman" panose="02020603050405020304" pitchFamily="18" charset="0"/>
              </a:rPr>
              <a:t>trình cụ thể </a:t>
            </a:r>
            <a:r>
              <a:rPr sz="2400" spc="-5">
                <a:latin typeface="Times New Roman" panose="02020603050405020304" pitchFamily="18" charset="0"/>
                <a:cs typeface="Times New Roman" panose="02020603050405020304" pitchFamily="18" charset="0"/>
              </a:rPr>
              <a:t>và </a:t>
            </a:r>
            <a:r>
              <a:rPr sz="2400">
                <a:latin typeface="Times New Roman" panose="02020603050405020304" pitchFamily="18" charset="0"/>
                <a:cs typeface="Times New Roman" panose="02020603050405020304" pitchFamily="18" charset="0"/>
              </a:rPr>
              <a:t>không</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phải </a:t>
            </a:r>
            <a:r>
              <a:rPr sz="2400" spc="-5" dirty="0">
                <a:latin typeface="Times New Roman" panose="02020603050405020304" pitchFamily="18" charset="0"/>
                <a:cs typeface="Times New Roman" panose="02020603050405020304" pitchFamily="18" charset="0"/>
              </a:rPr>
              <a:t>là </a:t>
            </a:r>
            <a:r>
              <a:rPr sz="2400" dirty="0">
                <a:latin typeface="Times New Roman" panose="02020603050405020304" pitchFamily="18" charset="0"/>
                <a:cs typeface="Times New Roman" panose="02020603050405020304" pitchFamily="18" charset="0"/>
              </a:rPr>
              <a:t>môi liên kết </a:t>
            </a:r>
            <a:r>
              <a:rPr sz="2400" spc="-5" dirty="0">
                <a:latin typeface="Times New Roman" panose="02020603050405020304" pitchFamily="18" charset="0"/>
                <a:cs typeface="Times New Roman" panose="02020603050405020304" pitchFamily="18" charset="0"/>
              </a:rPr>
              <a:t>giữa </a:t>
            </a:r>
            <a:r>
              <a:rPr sz="2400" dirty="0">
                <a:latin typeface="Times New Roman" panose="02020603050405020304" pitchFamily="18" charset="0"/>
                <a:cs typeface="Times New Roman" panose="02020603050405020304" pitchFamily="18" charset="0"/>
              </a:rPr>
              <a:t>các đối tượng mô tả </a:t>
            </a:r>
            <a:r>
              <a:rPr sz="2400" spc="-5">
                <a:latin typeface="Times New Roman" panose="02020603050405020304" pitchFamily="18" charset="0"/>
                <a:cs typeface="Times New Roman" panose="02020603050405020304" pitchFamily="18" charset="0"/>
              </a:rPr>
              <a:t>nghiệp</a:t>
            </a:r>
            <a:r>
              <a:rPr sz="2400" spc="-170">
                <a:latin typeface="Times New Roman" panose="02020603050405020304" pitchFamily="18" charset="0"/>
                <a:cs typeface="Times New Roman" panose="02020603050405020304" pitchFamily="18" charset="0"/>
              </a:rPr>
              <a:t> </a:t>
            </a:r>
            <a:r>
              <a:rPr sz="2400" spc="-10">
                <a:latin typeface="Times New Roman" panose="02020603050405020304" pitchFamily="18" charset="0"/>
                <a:cs typeface="Times New Roman" panose="02020603050405020304" pitchFamily="18" charset="0"/>
              </a:rPr>
              <a:t>vụ</a:t>
            </a:r>
            <a:endParaRPr sz="2400" dirty="0">
              <a:latin typeface="Times New Roman" panose="02020603050405020304" pitchFamily="18" charset="0"/>
              <a:cs typeface="Times New Roman" panose="02020603050405020304" pitchFamily="18" charset="0"/>
            </a:endParaRPr>
          </a:p>
          <a:p>
            <a:pPr marL="1041400" marR="80645" lvl="2" indent="-342900" algn="just">
              <a:lnSpc>
                <a:spcPct val="150000"/>
              </a:lnSpc>
              <a:spcBef>
                <a:spcPts val="490"/>
              </a:spcBef>
              <a:buSzPct val="100000"/>
              <a:buFont typeface="Wingdings" panose="05000000000000000000" pitchFamily="2" charset="2"/>
              <a:buChar char="ü"/>
              <a:tabLst>
                <a:tab pos="927735" algn="l"/>
              </a:tabLst>
            </a:pPr>
            <a:r>
              <a:rPr sz="2400" b="1" dirty="0">
                <a:solidFill>
                  <a:srgbClr val="006FC0"/>
                </a:solidFill>
                <a:latin typeface="Times New Roman" panose="02020603050405020304" pitchFamily="18" charset="0"/>
                <a:cs typeface="Times New Roman" panose="02020603050405020304" pitchFamily="18" charset="0"/>
              </a:rPr>
              <a:t>Mối kết hợp đa phân: </a:t>
            </a:r>
            <a:r>
              <a:rPr sz="2400" spc="-5" dirty="0">
                <a:latin typeface="Times New Roman" panose="02020603050405020304" pitchFamily="18" charset="0"/>
                <a:cs typeface="Times New Roman" panose="02020603050405020304" pitchFamily="18" charset="0"/>
              </a:rPr>
              <a:t>là </a:t>
            </a:r>
            <a:r>
              <a:rPr sz="2400" dirty="0">
                <a:latin typeface="Times New Roman" panose="02020603050405020304" pitchFamily="18" charset="0"/>
                <a:cs typeface="Times New Roman" panose="02020603050405020304" pitchFamily="18" charset="0"/>
              </a:rPr>
              <a:t>mối kết hợp </a:t>
            </a:r>
            <a:r>
              <a:rPr sz="2400" spc="-5" dirty="0">
                <a:latin typeface="Times New Roman" panose="02020603050405020304" pitchFamily="18" charset="0"/>
                <a:cs typeface="Times New Roman" panose="02020603050405020304" pitchFamily="18" charset="0"/>
              </a:rPr>
              <a:t>giữa </a:t>
            </a:r>
            <a:r>
              <a:rPr sz="2400" dirty="0">
                <a:latin typeface="Times New Roman" panose="02020603050405020304" pitchFamily="18" charset="0"/>
                <a:cs typeface="Times New Roman" panose="02020603050405020304" pitchFamily="18" charset="0"/>
              </a:rPr>
              <a:t>ba </a:t>
            </a:r>
            <a:r>
              <a:rPr sz="2400" spc="-5" dirty="0">
                <a:latin typeface="Times New Roman" panose="02020603050405020304" pitchFamily="18" charset="0"/>
                <a:cs typeface="Times New Roman" panose="02020603050405020304" pitchFamily="18" charset="0"/>
              </a:rPr>
              <a:t>lớp </a:t>
            </a:r>
            <a:r>
              <a:rPr sz="2400" dirty="0">
                <a:latin typeface="Times New Roman" panose="02020603050405020304" pitchFamily="18" charset="0"/>
                <a:cs typeface="Times New Roman" panose="02020603050405020304" pitchFamily="18" charset="0"/>
              </a:rPr>
              <a:t>trở lên</a:t>
            </a:r>
            <a:r>
              <a:rPr sz="2400">
                <a:latin typeface="Times New Roman" panose="02020603050405020304" pitchFamily="18" charset="0"/>
                <a:cs typeface="Times New Roman" panose="02020603050405020304" pitchFamily="18" charset="0"/>
              </a:rPr>
              <a:t>, mối</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kết </a:t>
            </a:r>
            <a:r>
              <a:rPr sz="2400" dirty="0">
                <a:latin typeface="Times New Roman" panose="02020603050405020304" pitchFamily="18" charset="0"/>
                <a:cs typeface="Times New Roman" panose="02020603050405020304" pitchFamily="18" charset="0"/>
              </a:rPr>
              <a:t>hợp này </a:t>
            </a:r>
            <a:r>
              <a:rPr sz="2400" spc="-5" dirty="0">
                <a:latin typeface="Times New Roman" panose="02020603050405020304" pitchFamily="18" charset="0"/>
                <a:cs typeface="Times New Roman" panose="02020603050405020304" pitchFamily="18" charset="0"/>
              </a:rPr>
              <a:t>phức </a:t>
            </a:r>
            <a:r>
              <a:rPr sz="2400" dirty="0">
                <a:latin typeface="Times New Roman" panose="02020603050405020304" pitchFamily="18" charset="0"/>
                <a:cs typeface="Times New Roman" panose="02020603050405020304" pitchFamily="18" charset="0"/>
              </a:rPr>
              <a:t>tạp trong cách thể </a:t>
            </a:r>
            <a:r>
              <a:rPr sz="2400" spc="-5">
                <a:latin typeface="Times New Roman" panose="02020603050405020304" pitchFamily="18" charset="0"/>
                <a:cs typeface="Times New Roman" panose="02020603050405020304" pitchFamily="18" charset="0"/>
              </a:rPr>
              <a:t>hiện </a:t>
            </a:r>
            <a:r>
              <a:rPr lang="en-US" sz="2400">
                <a:latin typeface="Times New Roman" panose="02020603050405020304" pitchFamily="18" charset="0"/>
                <a:cs typeface="Times New Roman" panose="02020603050405020304" pitchFamily="18" charset="0"/>
                <a:sym typeface="Wingdings" panose="05000000000000000000" pitchFamily="2" charset="2"/>
              </a:rPr>
              <a:t> </a:t>
            </a:r>
            <a:r>
              <a:rPr sz="2400">
                <a:latin typeface="Times New Roman" panose="02020603050405020304" pitchFamily="18" charset="0"/>
                <a:cs typeface="Times New Roman" panose="02020603050405020304" pitchFamily="18" charset="0"/>
              </a:rPr>
              <a:t>Nếu </a:t>
            </a:r>
            <a:r>
              <a:rPr sz="2400" dirty="0">
                <a:latin typeface="Times New Roman" panose="02020603050405020304" pitchFamily="18" charset="0"/>
                <a:cs typeface="Times New Roman" panose="02020603050405020304" pitchFamily="18" charset="0"/>
              </a:rPr>
              <a:t>có thể</a:t>
            </a:r>
            <a:r>
              <a:rPr sz="2400">
                <a:latin typeface="Times New Roman" panose="02020603050405020304" pitchFamily="18" charset="0"/>
                <a:cs typeface="Times New Roman" panose="02020603050405020304" pitchFamily="18" charset="0"/>
              </a:rPr>
              <a:t>,</a:t>
            </a:r>
            <a:r>
              <a:rPr sz="2400" spc="-15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phát</a:t>
            </a:r>
            <a:r>
              <a:rPr lang="en-US" sz="240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biểu </a:t>
            </a:r>
            <a:r>
              <a:rPr sz="2400" spc="-5" dirty="0">
                <a:latin typeface="Times New Roman" panose="02020603050405020304" pitchFamily="18" charset="0"/>
                <a:cs typeface="Times New Roman" panose="02020603050405020304" pitchFamily="18" charset="0"/>
              </a:rPr>
              <a:t>lại </a:t>
            </a:r>
            <a:r>
              <a:rPr sz="2400" dirty="0">
                <a:latin typeface="Times New Roman" panose="02020603050405020304" pitchFamily="18" charset="0"/>
                <a:cs typeface="Times New Roman" panose="02020603050405020304" pitchFamily="18" charset="0"/>
              </a:rPr>
              <a:t>nó dùng mối kết hợp </a:t>
            </a:r>
            <a:r>
              <a:rPr sz="2400">
                <a:latin typeface="Times New Roman" panose="02020603050405020304" pitchFamily="18" charset="0"/>
                <a:cs typeface="Times New Roman" panose="02020603050405020304" pitchFamily="18" charset="0"/>
              </a:rPr>
              <a:t>nhị</a:t>
            </a:r>
            <a:r>
              <a:rPr sz="2400" spc="-1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phân</a:t>
            </a:r>
            <a:endParaRPr sz="2400" dirty="0">
              <a:latin typeface="Times New Roman" panose="02020603050405020304" pitchFamily="18" charset="0"/>
              <a:cs typeface="Times New Roman" panose="02020603050405020304" pitchFamily="18" charset="0"/>
            </a:endParaRPr>
          </a:p>
        </p:txBody>
      </p:sp>
      <p:sp>
        <p:nvSpPr>
          <p:cNvPr id="7"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4419866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40036"/>
            <a:ext cx="12192000" cy="2400657"/>
          </a:xfrm>
          <a:prstGeom prst="rect">
            <a:avLst/>
          </a:prstGeom>
        </p:spPr>
        <p:txBody>
          <a:bodyPr vert="horz" wrap="square" lIns="0" tIns="88900" rIns="0" bIns="0" rtlCol="0">
            <a:spAutoFit/>
          </a:bodyPr>
          <a:lstStyle/>
          <a:p>
            <a:pPr marL="231775" indent="-219075" algn="just">
              <a:lnSpc>
                <a:spcPct val="150000"/>
              </a:lnSpc>
              <a:spcBef>
                <a:spcPts val="700"/>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Xác 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a:t>
            </a:r>
            <a:r>
              <a:rPr sz="2800" b="1" spc="2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(association):</a:t>
            </a:r>
            <a:endParaRPr sz="2800" b="1">
              <a:solidFill>
                <a:srgbClr val="FF0000"/>
              </a:solidFill>
              <a:latin typeface="Times New Roman" panose="02020603050405020304" pitchFamily="18" charset="0"/>
              <a:cs typeface="Times New Roman" panose="02020603050405020304" pitchFamily="18" charset="0"/>
            </a:endParaRPr>
          </a:p>
          <a:p>
            <a:pPr marL="720725" lvl="1" indent="-342900" algn="just">
              <a:lnSpc>
                <a:spcPct val="150000"/>
              </a:lnSpc>
              <a:spcBef>
                <a:spcPts val="605"/>
              </a:spcBef>
              <a:buSzPct val="100000"/>
              <a:buFont typeface="Arial" panose="020B0604020202020204" pitchFamily="34" charset="0"/>
              <a:buChar char="•"/>
            </a:pPr>
            <a:r>
              <a:rPr sz="2200" b="1" spc="-5" dirty="0">
                <a:latin typeface="Times New Roman" panose="02020603050405020304" pitchFamily="18" charset="0"/>
                <a:cs typeface="Times New Roman" panose="02020603050405020304" pitchFamily="18" charset="0"/>
              </a:rPr>
              <a:t>Loại bỏ </a:t>
            </a:r>
            <a:r>
              <a:rPr sz="2200" b="1" dirty="0">
                <a:latin typeface="Times New Roman" panose="02020603050405020304" pitchFamily="18" charset="0"/>
                <a:cs typeface="Times New Roman" panose="02020603050405020304" pitchFamily="18" charset="0"/>
              </a:rPr>
              <a:t>các mối kết </a:t>
            </a:r>
            <a:r>
              <a:rPr sz="2200" b="1" spc="-5" dirty="0">
                <a:latin typeface="Times New Roman" panose="02020603050405020304" pitchFamily="18" charset="0"/>
                <a:cs typeface="Times New Roman" panose="02020603050405020304" pitchFamily="18" charset="0"/>
              </a:rPr>
              <a:t>hợp không </a:t>
            </a:r>
            <a:r>
              <a:rPr sz="2200" b="1" dirty="0">
                <a:latin typeface="Times New Roman" panose="02020603050405020304" pitchFamily="18" charset="0"/>
                <a:cs typeface="Times New Roman" panose="02020603050405020304" pitchFamily="18" charset="0"/>
              </a:rPr>
              <a:t>cần</a:t>
            </a:r>
            <a:r>
              <a:rPr sz="2200" b="1" spc="25" dirty="0">
                <a:latin typeface="Times New Roman" panose="02020603050405020304" pitchFamily="18" charset="0"/>
                <a:cs typeface="Times New Roman" panose="02020603050405020304" pitchFamily="18" charset="0"/>
              </a:rPr>
              <a:t> </a:t>
            </a:r>
            <a:r>
              <a:rPr sz="2200" b="1" dirty="0">
                <a:latin typeface="Times New Roman" panose="02020603050405020304" pitchFamily="18" charset="0"/>
                <a:cs typeface="Times New Roman" panose="02020603050405020304" pitchFamily="18" charset="0"/>
              </a:rPr>
              <a:t>thiết:</a:t>
            </a:r>
            <a:endParaRPr sz="2200" b="1">
              <a:latin typeface="Times New Roman" panose="02020603050405020304" pitchFamily="18" charset="0"/>
              <a:cs typeface="Times New Roman" panose="02020603050405020304" pitchFamily="18" charset="0"/>
            </a:endParaRPr>
          </a:p>
          <a:p>
            <a:pPr marL="1041400" marR="5080" lvl="2" indent="-342900" algn="just">
              <a:lnSpc>
                <a:spcPct val="150000"/>
              </a:lnSpc>
              <a:spcBef>
                <a:spcPts val="509"/>
              </a:spcBef>
              <a:buSzPct val="100000"/>
              <a:buFont typeface="Wingdings" panose="05000000000000000000" pitchFamily="2" charset="2"/>
              <a:buChar char="ü"/>
              <a:tabLst>
                <a:tab pos="927735" algn="l"/>
              </a:tabLst>
            </a:pPr>
            <a:r>
              <a:rPr sz="2200" b="1" dirty="0">
                <a:solidFill>
                  <a:srgbClr val="006FC0"/>
                </a:solidFill>
                <a:latin typeface="Times New Roman" panose="02020603050405020304" pitchFamily="18" charset="0"/>
                <a:cs typeface="Times New Roman" panose="02020603050405020304" pitchFamily="18" charset="0"/>
              </a:rPr>
              <a:t>Mối kết hợp trực tiếp dư thừa: </a:t>
            </a:r>
            <a:r>
              <a:rPr sz="2200" spc="-5" dirty="0">
                <a:latin typeface="Times New Roman" panose="02020603050405020304" pitchFamily="18" charset="0"/>
                <a:cs typeface="Times New Roman" panose="02020603050405020304" pitchFamily="18" charset="0"/>
              </a:rPr>
              <a:t>là </a:t>
            </a:r>
            <a:r>
              <a:rPr sz="2200" dirty="0">
                <a:latin typeface="Times New Roman" panose="02020603050405020304" pitchFamily="18" charset="0"/>
                <a:cs typeface="Times New Roman" panose="02020603050405020304" pitchFamily="18" charset="0"/>
              </a:rPr>
              <a:t>các mối kết hợp </a:t>
            </a:r>
            <a:r>
              <a:rPr sz="2200">
                <a:latin typeface="Times New Roman" panose="02020603050405020304" pitchFamily="18" charset="0"/>
                <a:cs typeface="Times New Roman" panose="02020603050405020304" pitchFamily="18" charset="0"/>
              </a:rPr>
              <a:t>được </a:t>
            </a:r>
            <a:r>
              <a:rPr sz="2200" spc="-5">
                <a:latin typeface="Times New Roman" panose="02020603050405020304" pitchFamily="18" charset="0"/>
                <a:cs typeface="Times New Roman" panose="02020603050405020304" pitchFamily="18" charset="0"/>
              </a:rPr>
              <a:t>định</a:t>
            </a:r>
            <a:r>
              <a:rPr lang="en-US" sz="2200" spc="-5">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nghĩa </a:t>
            </a:r>
            <a:r>
              <a:rPr sz="2200" dirty="0">
                <a:latin typeface="Times New Roman" panose="02020603050405020304" pitchFamily="18" charset="0"/>
                <a:cs typeface="Times New Roman" panose="02020603050405020304" pitchFamily="18" charset="0"/>
              </a:rPr>
              <a:t>trong ngữ </a:t>
            </a:r>
            <a:r>
              <a:rPr sz="2200" spc="-5" dirty="0">
                <a:latin typeface="Times New Roman" panose="02020603050405020304" pitchFamily="18" charset="0"/>
                <a:cs typeface="Times New Roman" panose="02020603050405020304" pitchFamily="18" charset="0"/>
              </a:rPr>
              <a:t>nghĩa </a:t>
            </a:r>
            <a:r>
              <a:rPr sz="2200" dirty="0">
                <a:latin typeface="Times New Roman" panose="02020603050405020304" pitchFamily="18" charset="0"/>
                <a:cs typeface="Times New Roman" panose="02020603050405020304" pitchFamily="18" charset="0"/>
              </a:rPr>
              <a:t>của </a:t>
            </a:r>
            <a:r>
              <a:rPr sz="2200" spc="-5" dirty="0">
                <a:latin typeface="Times New Roman" panose="02020603050405020304" pitchFamily="18" charset="0"/>
                <a:cs typeface="Times New Roman" panose="02020603050405020304" pitchFamily="18" charset="0"/>
              </a:rPr>
              <a:t>những </a:t>
            </a:r>
            <a:r>
              <a:rPr sz="2200" dirty="0">
                <a:latin typeface="Times New Roman" panose="02020603050405020304" pitchFamily="18" charset="0"/>
                <a:cs typeface="Times New Roman" panose="02020603050405020304" pitchFamily="18" charset="0"/>
              </a:rPr>
              <a:t>mối kết hợp khác (còn </a:t>
            </a:r>
            <a:r>
              <a:rPr sz="2200">
                <a:latin typeface="Times New Roman" panose="02020603050405020304" pitchFamily="18" charset="0"/>
                <a:cs typeface="Times New Roman" panose="02020603050405020304" pitchFamily="18" charset="0"/>
              </a:rPr>
              <a:t>gọi</a:t>
            </a:r>
            <a:r>
              <a:rPr sz="2200" spc="-175">
                <a:latin typeface="Times New Roman" panose="02020603050405020304" pitchFamily="18" charset="0"/>
                <a:cs typeface="Times New Roman" panose="02020603050405020304" pitchFamily="18" charset="0"/>
              </a:rPr>
              <a:t> </a:t>
            </a:r>
            <a:r>
              <a:rPr sz="2200" spc="-5">
                <a:latin typeface="Times New Roman" panose="02020603050405020304" pitchFamily="18" charset="0"/>
                <a:cs typeface="Times New Roman" panose="02020603050405020304" pitchFamily="18" charset="0"/>
              </a:rPr>
              <a:t>là</a:t>
            </a:r>
            <a:r>
              <a:rPr lang="en-US" sz="2200" spc="-5">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mối </a:t>
            </a:r>
            <a:r>
              <a:rPr sz="2200" dirty="0">
                <a:latin typeface="Times New Roman" panose="02020603050405020304" pitchFamily="18" charset="0"/>
                <a:cs typeface="Times New Roman" panose="02020603050405020304" pitchFamily="18" charset="0"/>
              </a:rPr>
              <a:t>kết hợp suy </a:t>
            </a:r>
            <a:r>
              <a:rPr sz="2200" spc="-5" dirty="0">
                <a:latin typeface="Times New Roman" panose="02020603050405020304" pitchFamily="18" charset="0"/>
                <a:cs typeface="Times New Roman" panose="02020603050405020304" pitchFamily="18" charset="0"/>
              </a:rPr>
              <a:t>diễn </a:t>
            </a:r>
            <a:r>
              <a:rPr sz="2200" dirty="0">
                <a:latin typeface="Times New Roman" panose="02020603050405020304" pitchFamily="18" charset="0"/>
                <a:cs typeface="Times New Roman" panose="02020603050405020304" pitchFamily="18" charset="0"/>
              </a:rPr>
              <a:t>hoặc bắc</a:t>
            </a:r>
            <a:r>
              <a:rPr sz="2200" spc="-114" dirty="0">
                <a:latin typeface="Times New Roman" panose="02020603050405020304" pitchFamily="18" charset="0"/>
                <a:cs typeface="Times New Roman" panose="02020603050405020304" pitchFamily="18" charset="0"/>
              </a:rPr>
              <a:t> </a:t>
            </a:r>
            <a:r>
              <a:rPr sz="2200">
                <a:latin typeface="Times New Roman" panose="02020603050405020304" pitchFamily="18" charset="0"/>
                <a:cs typeface="Times New Roman" panose="02020603050405020304" pitchFamily="18" charset="0"/>
              </a:rPr>
              <a:t>cầu)</a:t>
            </a:r>
          </a:p>
        </p:txBody>
      </p:sp>
      <p:sp>
        <p:nvSpPr>
          <p:cNvPr id="4" name="object 4"/>
          <p:cNvSpPr/>
          <p:nvPr/>
        </p:nvSpPr>
        <p:spPr>
          <a:xfrm>
            <a:off x="5562600" y="3499103"/>
            <a:ext cx="1752600" cy="563880"/>
          </a:xfrm>
          <a:custGeom>
            <a:avLst/>
            <a:gdLst/>
            <a:ahLst/>
            <a:cxnLst/>
            <a:rect l="l" t="t" r="r" b="b"/>
            <a:pathLst>
              <a:path w="1752600" h="563879">
                <a:moveTo>
                  <a:pt x="0" y="563880"/>
                </a:moveTo>
                <a:lnTo>
                  <a:pt x="1752600" y="563880"/>
                </a:lnTo>
                <a:lnTo>
                  <a:pt x="1752600" y="0"/>
                </a:lnTo>
                <a:lnTo>
                  <a:pt x="0" y="0"/>
                </a:lnTo>
                <a:lnTo>
                  <a:pt x="0" y="563880"/>
                </a:lnTo>
                <a:close/>
              </a:path>
            </a:pathLst>
          </a:custGeom>
          <a:ln w="3175">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5" name="object 5"/>
          <p:cNvSpPr txBox="1"/>
          <p:nvPr/>
        </p:nvSpPr>
        <p:spPr>
          <a:xfrm>
            <a:off x="5562600" y="3499103"/>
            <a:ext cx="1752600" cy="276358"/>
          </a:xfrm>
          <a:prstGeom prst="rect">
            <a:avLst/>
          </a:prstGeom>
          <a:ln w="3175">
            <a:solidFill>
              <a:srgbClr val="000000"/>
            </a:solidFill>
          </a:ln>
        </p:spPr>
        <p:txBody>
          <a:bodyPr vert="horz" wrap="square" lIns="0" tIns="45085" rIns="0" bIns="0" rtlCol="0">
            <a:spAutoFit/>
          </a:bodyPr>
          <a:lstStyle/>
          <a:p>
            <a:pPr marL="227329">
              <a:spcBef>
                <a:spcPts val="355"/>
              </a:spcBef>
            </a:pPr>
            <a:r>
              <a:rPr sz="1500" spc="-5" dirty="0">
                <a:latin typeface="Times New Roman" panose="02020603050405020304" pitchFamily="18" charset="0"/>
                <a:cs typeface="Times New Roman" panose="02020603050405020304" pitchFamily="18" charset="0"/>
              </a:rPr>
              <a:t>Phiếu đặt</a:t>
            </a:r>
            <a:r>
              <a:rPr sz="1500" spc="-30" dirty="0">
                <a:latin typeface="Times New Roman" panose="02020603050405020304" pitchFamily="18" charset="0"/>
                <a:cs typeface="Times New Roman" panose="02020603050405020304" pitchFamily="18" charset="0"/>
              </a:rPr>
              <a:t> </a:t>
            </a:r>
            <a:r>
              <a:rPr sz="1500" spc="-5" dirty="0">
                <a:latin typeface="Times New Roman" panose="02020603050405020304" pitchFamily="18" charset="0"/>
                <a:cs typeface="Times New Roman" panose="02020603050405020304" pitchFamily="18" charset="0"/>
              </a:rPr>
              <a:t>hàng</a:t>
            </a:r>
            <a:endParaRPr sz="1500">
              <a:latin typeface="Times New Roman" panose="02020603050405020304" pitchFamily="18" charset="0"/>
              <a:cs typeface="Times New Roman" panose="02020603050405020304" pitchFamily="18" charset="0"/>
            </a:endParaRPr>
          </a:p>
        </p:txBody>
      </p:sp>
      <p:sp>
        <p:nvSpPr>
          <p:cNvPr id="6" name="object 6"/>
          <p:cNvSpPr/>
          <p:nvPr/>
        </p:nvSpPr>
        <p:spPr>
          <a:xfrm>
            <a:off x="5562600" y="3808477"/>
            <a:ext cx="1752600" cy="254635"/>
          </a:xfrm>
          <a:custGeom>
            <a:avLst/>
            <a:gdLst/>
            <a:ahLst/>
            <a:cxnLst/>
            <a:rect l="l" t="t" r="r" b="b"/>
            <a:pathLst>
              <a:path w="1752600" h="254635">
                <a:moveTo>
                  <a:pt x="0" y="254507"/>
                </a:moveTo>
                <a:lnTo>
                  <a:pt x="1752600" y="254507"/>
                </a:lnTo>
                <a:lnTo>
                  <a:pt x="1752600" y="0"/>
                </a:lnTo>
                <a:lnTo>
                  <a:pt x="0" y="0"/>
                </a:lnTo>
                <a:lnTo>
                  <a:pt x="0" y="254507"/>
                </a:lnTo>
                <a:close/>
              </a:path>
            </a:pathLst>
          </a:custGeom>
          <a:ln w="3175">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7" name="object 7"/>
          <p:cNvSpPr/>
          <p:nvPr/>
        </p:nvSpPr>
        <p:spPr>
          <a:xfrm>
            <a:off x="5562600" y="3921252"/>
            <a:ext cx="1752600" cy="142240"/>
          </a:xfrm>
          <a:custGeom>
            <a:avLst/>
            <a:gdLst/>
            <a:ahLst/>
            <a:cxnLst/>
            <a:rect l="l" t="t" r="r" b="b"/>
            <a:pathLst>
              <a:path w="1752600" h="142239">
                <a:moveTo>
                  <a:pt x="0" y="141731"/>
                </a:moveTo>
                <a:lnTo>
                  <a:pt x="1752600" y="141731"/>
                </a:lnTo>
                <a:lnTo>
                  <a:pt x="1752600" y="0"/>
                </a:lnTo>
                <a:lnTo>
                  <a:pt x="0" y="0"/>
                </a:lnTo>
                <a:lnTo>
                  <a:pt x="0" y="141731"/>
                </a:lnTo>
                <a:close/>
              </a:path>
            </a:pathLst>
          </a:custGeom>
          <a:ln w="3175">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8" name="object 8"/>
          <p:cNvSpPr/>
          <p:nvPr/>
        </p:nvSpPr>
        <p:spPr>
          <a:xfrm>
            <a:off x="2667000" y="4870703"/>
            <a:ext cx="1905000" cy="563880"/>
          </a:xfrm>
          <a:custGeom>
            <a:avLst/>
            <a:gdLst/>
            <a:ahLst/>
            <a:cxnLst/>
            <a:rect l="l" t="t" r="r" b="b"/>
            <a:pathLst>
              <a:path w="1905000" h="563879">
                <a:moveTo>
                  <a:pt x="0" y="563880"/>
                </a:moveTo>
                <a:lnTo>
                  <a:pt x="1905000" y="563880"/>
                </a:lnTo>
                <a:lnTo>
                  <a:pt x="1905000" y="0"/>
                </a:lnTo>
                <a:lnTo>
                  <a:pt x="0" y="0"/>
                </a:lnTo>
                <a:lnTo>
                  <a:pt x="0" y="563880"/>
                </a:lnTo>
                <a:close/>
              </a:path>
            </a:pathLst>
          </a:custGeom>
          <a:ln w="3175">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9" name="object 9"/>
          <p:cNvSpPr txBox="1"/>
          <p:nvPr/>
        </p:nvSpPr>
        <p:spPr>
          <a:xfrm>
            <a:off x="2667000" y="4870704"/>
            <a:ext cx="1905000" cy="276999"/>
          </a:xfrm>
          <a:prstGeom prst="rect">
            <a:avLst/>
          </a:prstGeom>
          <a:ln w="3175">
            <a:solidFill>
              <a:srgbClr val="000000"/>
            </a:solidFill>
          </a:ln>
        </p:spPr>
        <p:txBody>
          <a:bodyPr vert="horz" wrap="square" lIns="0" tIns="45720" rIns="0" bIns="0" rtlCol="0">
            <a:spAutoFit/>
          </a:bodyPr>
          <a:lstStyle/>
          <a:p>
            <a:pPr marL="247015">
              <a:spcBef>
                <a:spcPts val="360"/>
              </a:spcBef>
            </a:pPr>
            <a:r>
              <a:rPr sz="1500" spc="-10" dirty="0">
                <a:latin typeface="Times New Roman" panose="02020603050405020304" pitchFamily="18" charset="0"/>
                <a:cs typeface="Times New Roman" panose="02020603050405020304" pitchFamily="18" charset="0"/>
              </a:rPr>
              <a:t>Nhà </a:t>
            </a:r>
            <a:r>
              <a:rPr sz="1500" spc="-5" dirty="0">
                <a:latin typeface="Times New Roman" panose="02020603050405020304" pitchFamily="18" charset="0"/>
                <a:cs typeface="Times New Roman" panose="02020603050405020304" pitchFamily="18" charset="0"/>
              </a:rPr>
              <a:t>cung </a:t>
            </a:r>
            <a:r>
              <a:rPr sz="1500" spc="-10" dirty="0">
                <a:latin typeface="Times New Roman" panose="02020603050405020304" pitchFamily="18" charset="0"/>
                <a:cs typeface="Times New Roman" panose="02020603050405020304" pitchFamily="18" charset="0"/>
              </a:rPr>
              <a:t>cấp</a:t>
            </a:r>
            <a:endParaRPr sz="1500">
              <a:latin typeface="Times New Roman" panose="02020603050405020304" pitchFamily="18" charset="0"/>
              <a:cs typeface="Times New Roman" panose="02020603050405020304" pitchFamily="18" charset="0"/>
            </a:endParaRPr>
          </a:p>
        </p:txBody>
      </p:sp>
      <p:sp>
        <p:nvSpPr>
          <p:cNvPr id="10" name="object 10"/>
          <p:cNvSpPr/>
          <p:nvPr/>
        </p:nvSpPr>
        <p:spPr>
          <a:xfrm>
            <a:off x="2667000" y="5180077"/>
            <a:ext cx="1905000" cy="254635"/>
          </a:xfrm>
          <a:custGeom>
            <a:avLst/>
            <a:gdLst/>
            <a:ahLst/>
            <a:cxnLst/>
            <a:rect l="l" t="t" r="r" b="b"/>
            <a:pathLst>
              <a:path w="1905000" h="254635">
                <a:moveTo>
                  <a:pt x="0" y="254508"/>
                </a:moveTo>
                <a:lnTo>
                  <a:pt x="1905000" y="254508"/>
                </a:lnTo>
                <a:lnTo>
                  <a:pt x="1905000" y="0"/>
                </a:lnTo>
                <a:lnTo>
                  <a:pt x="0" y="0"/>
                </a:lnTo>
                <a:lnTo>
                  <a:pt x="0" y="254508"/>
                </a:lnTo>
                <a:close/>
              </a:path>
            </a:pathLst>
          </a:custGeom>
          <a:ln w="3175">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11" name="object 11"/>
          <p:cNvSpPr/>
          <p:nvPr/>
        </p:nvSpPr>
        <p:spPr>
          <a:xfrm>
            <a:off x="2667000" y="5292852"/>
            <a:ext cx="1905000" cy="142240"/>
          </a:xfrm>
          <a:custGeom>
            <a:avLst/>
            <a:gdLst/>
            <a:ahLst/>
            <a:cxnLst/>
            <a:rect l="l" t="t" r="r" b="b"/>
            <a:pathLst>
              <a:path w="1905000" h="142239">
                <a:moveTo>
                  <a:pt x="0" y="141732"/>
                </a:moveTo>
                <a:lnTo>
                  <a:pt x="1905000" y="141732"/>
                </a:lnTo>
                <a:lnTo>
                  <a:pt x="1905000" y="0"/>
                </a:lnTo>
                <a:lnTo>
                  <a:pt x="0" y="0"/>
                </a:lnTo>
                <a:lnTo>
                  <a:pt x="0" y="141732"/>
                </a:lnTo>
                <a:close/>
              </a:path>
            </a:pathLst>
          </a:custGeom>
          <a:ln w="3175">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12" name="object 12"/>
          <p:cNvSpPr/>
          <p:nvPr/>
        </p:nvSpPr>
        <p:spPr>
          <a:xfrm>
            <a:off x="7696200" y="4946903"/>
            <a:ext cx="2110740" cy="563880"/>
          </a:xfrm>
          <a:custGeom>
            <a:avLst/>
            <a:gdLst/>
            <a:ahLst/>
            <a:cxnLst/>
            <a:rect l="l" t="t" r="r" b="b"/>
            <a:pathLst>
              <a:path w="2110740" h="563879">
                <a:moveTo>
                  <a:pt x="0" y="563880"/>
                </a:moveTo>
                <a:lnTo>
                  <a:pt x="2110740" y="563880"/>
                </a:lnTo>
                <a:lnTo>
                  <a:pt x="2110740" y="0"/>
                </a:lnTo>
                <a:lnTo>
                  <a:pt x="0" y="0"/>
                </a:lnTo>
                <a:lnTo>
                  <a:pt x="0" y="563880"/>
                </a:lnTo>
                <a:close/>
              </a:path>
            </a:pathLst>
          </a:custGeom>
          <a:ln w="3175">
            <a:solidFill>
              <a:srgbClr val="000000"/>
            </a:solidFill>
          </a:ln>
        </p:spPr>
        <p:txBody>
          <a:bodyPr wrap="square" lIns="0" tIns="0" rIns="0" bIns="0" rtlCol="0"/>
          <a:lstStyle/>
          <a:p>
            <a:endParaRPr/>
          </a:p>
        </p:txBody>
      </p:sp>
      <p:sp>
        <p:nvSpPr>
          <p:cNvPr id="13" name="object 13"/>
          <p:cNvSpPr txBox="1"/>
          <p:nvPr/>
        </p:nvSpPr>
        <p:spPr>
          <a:xfrm>
            <a:off x="7696200" y="4946903"/>
            <a:ext cx="2110740" cy="292388"/>
          </a:xfrm>
          <a:prstGeom prst="rect">
            <a:avLst/>
          </a:prstGeom>
          <a:ln w="3175">
            <a:solidFill>
              <a:srgbClr val="000000"/>
            </a:solidFill>
          </a:ln>
        </p:spPr>
        <p:txBody>
          <a:bodyPr vert="horz" wrap="square" lIns="0" tIns="45720" rIns="0" bIns="0" rtlCol="0">
            <a:spAutoFit/>
          </a:bodyPr>
          <a:lstStyle/>
          <a:p>
            <a:pPr marL="274320">
              <a:spcBef>
                <a:spcPts val="360"/>
              </a:spcBef>
            </a:pPr>
            <a:r>
              <a:rPr sz="1600" spc="-5" dirty="0">
                <a:latin typeface="Arial"/>
                <a:cs typeface="Arial"/>
              </a:rPr>
              <a:t>Phiếu giao</a:t>
            </a:r>
            <a:r>
              <a:rPr sz="1600" spc="-20" dirty="0">
                <a:latin typeface="Arial"/>
                <a:cs typeface="Arial"/>
              </a:rPr>
              <a:t> </a:t>
            </a:r>
            <a:r>
              <a:rPr sz="1600" spc="-5" dirty="0">
                <a:latin typeface="Arial"/>
                <a:cs typeface="Arial"/>
              </a:rPr>
              <a:t>hàng</a:t>
            </a:r>
            <a:endParaRPr sz="1600">
              <a:latin typeface="Arial"/>
              <a:cs typeface="Arial"/>
            </a:endParaRPr>
          </a:p>
        </p:txBody>
      </p:sp>
      <p:sp>
        <p:nvSpPr>
          <p:cNvPr id="14" name="object 14"/>
          <p:cNvSpPr/>
          <p:nvPr/>
        </p:nvSpPr>
        <p:spPr>
          <a:xfrm>
            <a:off x="7696200" y="5256277"/>
            <a:ext cx="2110740" cy="254635"/>
          </a:xfrm>
          <a:custGeom>
            <a:avLst/>
            <a:gdLst/>
            <a:ahLst/>
            <a:cxnLst/>
            <a:rect l="l" t="t" r="r" b="b"/>
            <a:pathLst>
              <a:path w="2110740" h="254635">
                <a:moveTo>
                  <a:pt x="0" y="254508"/>
                </a:moveTo>
                <a:lnTo>
                  <a:pt x="2110740" y="254508"/>
                </a:lnTo>
                <a:lnTo>
                  <a:pt x="2110740" y="0"/>
                </a:lnTo>
                <a:lnTo>
                  <a:pt x="0" y="0"/>
                </a:lnTo>
                <a:lnTo>
                  <a:pt x="0" y="254508"/>
                </a:lnTo>
                <a:close/>
              </a:path>
            </a:pathLst>
          </a:custGeom>
          <a:ln w="3175">
            <a:solidFill>
              <a:srgbClr val="000000"/>
            </a:solidFill>
          </a:ln>
        </p:spPr>
        <p:txBody>
          <a:bodyPr wrap="square" lIns="0" tIns="0" rIns="0" bIns="0" rtlCol="0"/>
          <a:lstStyle/>
          <a:p>
            <a:endParaRPr/>
          </a:p>
        </p:txBody>
      </p:sp>
      <p:sp>
        <p:nvSpPr>
          <p:cNvPr id="15" name="object 15"/>
          <p:cNvSpPr/>
          <p:nvPr/>
        </p:nvSpPr>
        <p:spPr>
          <a:xfrm>
            <a:off x="7696200" y="5369052"/>
            <a:ext cx="2110740" cy="142240"/>
          </a:xfrm>
          <a:custGeom>
            <a:avLst/>
            <a:gdLst/>
            <a:ahLst/>
            <a:cxnLst/>
            <a:rect l="l" t="t" r="r" b="b"/>
            <a:pathLst>
              <a:path w="2110740" h="142239">
                <a:moveTo>
                  <a:pt x="0" y="141732"/>
                </a:moveTo>
                <a:lnTo>
                  <a:pt x="2110740" y="141732"/>
                </a:lnTo>
                <a:lnTo>
                  <a:pt x="2110740" y="0"/>
                </a:lnTo>
                <a:lnTo>
                  <a:pt x="0" y="0"/>
                </a:lnTo>
                <a:lnTo>
                  <a:pt x="0" y="141732"/>
                </a:lnTo>
                <a:close/>
              </a:path>
            </a:pathLst>
          </a:custGeom>
          <a:ln w="3175">
            <a:solidFill>
              <a:srgbClr val="000000"/>
            </a:solidFill>
          </a:ln>
        </p:spPr>
        <p:txBody>
          <a:bodyPr wrap="square" lIns="0" tIns="0" rIns="0" bIns="0" rtlCol="0"/>
          <a:lstStyle/>
          <a:p>
            <a:endParaRPr/>
          </a:p>
        </p:txBody>
      </p:sp>
      <p:sp>
        <p:nvSpPr>
          <p:cNvPr id="16" name="object 16"/>
          <p:cNvSpPr/>
          <p:nvPr/>
        </p:nvSpPr>
        <p:spPr>
          <a:xfrm>
            <a:off x="4572000" y="5251703"/>
            <a:ext cx="3124200" cy="0"/>
          </a:xfrm>
          <a:custGeom>
            <a:avLst/>
            <a:gdLst/>
            <a:ahLst/>
            <a:cxnLst/>
            <a:rect l="l" t="t" r="r" b="b"/>
            <a:pathLst>
              <a:path w="3124200">
                <a:moveTo>
                  <a:pt x="0" y="0"/>
                </a:moveTo>
                <a:lnTo>
                  <a:pt x="3124200" y="0"/>
                </a:lnTo>
              </a:path>
            </a:pathLst>
          </a:custGeom>
          <a:ln w="9144">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17" name="object 17"/>
          <p:cNvSpPr/>
          <p:nvPr/>
        </p:nvSpPr>
        <p:spPr>
          <a:xfrm>
            <a:off x="3657600" y="3803903"/>
            <a:ext cx="0" cy="1066800"/>
          </a:xfrm>
          <a:custGeom>
            <a:avLst/>
            <a:gdLst/>
            <a:ahLst/>
            <a:cxnLst/>
            <a:rect l="l" t="t" r="r" b="b"/>
            <a:pathLst>
              <a:path h="1066800">
                <a:moveTo>
                  <a:pt x="0" y="0"/>
                </a:moveTo>
                <a:lnTo>
                  <a:pt x="0" y="1066800"/>
                </a:lnTo>
              </a:path>
            </a:pathLst>
          </a:custGeom>
          <a:ln w="9144">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18" name="object 18"/>
          <p:cNvSpPr/>
          <p:nvPr/>
        </p:nvSpPr>
        <p:spPr>
          <a:xfrm>
            <a:off x="3657600" y="3803903"/>
            <a:ext cx="1905000" cy="0"/>
          </a:xfrm>
          <a:custGeom>
            <a:avLst/>
            <a:gdLst/>
            <a:ahLst/>
            <a:cxnLst/>
            <a:rect l="l" t="t" r="r" b="b"/>
            <a:pathLst>
              <a:path w="1905000">
                <a:moveTo>
                  <a:pt x="0" y="0"/>
                </a:moveTo>
                <a:lnTo>
                  <a:pt x="1905000" y="0"/>
                </a:lnTo>
              </a:path>
            </a:pathLst>
          </a:custGeom>
          <a:ln w="9144">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19" name="object 19"/>
          <p:cNvSpPr/>
          <p:nvPr/>
        </p:nvSpPr>
        <p:spPr>
          <a:xfrm>
            <a:off x="7315200" y="3803903"/>
            <a:ext cx="1371600" cy="0"/>
          </a:xfrm>
          <a:custGeom>
            <a:avLst/>
            <a:gdLst/>
            <a:ahLst/>
            <a:cxnLst/>
            <a:rect l="l" t="t" r="r" b="b"/>
            <a:pathLst>
              <a:path w="1371600">
                <a:moveTo>
                  <a:pt x="0" y="0"/>
                </a:moveTo>
                <a:lnTo>
                  <a:pt x="1371600" y="0"/>
                </a:lnTo>
              </a:path>
            </a:pathLst>
          </a:custGeom>
          <a:ln w="9144">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20" name="object 20"/>
          <p:cNvSpPr/>
          <p:nvPr/>
        </p:nvSpPr>
        <p:spPr>
          <a:xfrm>
            <a:off x="8686800" y="3803903"/>
            <a:ext cx="0" cy="1143000"/>
          </a:xfrm>
          <a:custGeom>
            <a:avLst/>
            <a:gdLst/>
            <a:ahLst/>
            <a:cxnLst/>
            <a:rect l="l" t="t" r="r" b="b"/>
            <a:pathLst>
              <a:path h="1143000">
                <a:moveTo>
                  <a:pt x="0" y="0"/>
                </a:moveTo>
                <a:lnTo>
                  <a:pt x="0" y="1143000"/>
                </a:lnTo>
              </a:path>
            </a:pathLst>
          </a:custGeom>
          <a:ln w="9144">
            <a:solidFill>
              <a:srgbClr val="000000"/>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21" name="object 21"/>
          <p:cNvSpPr txBox="1"/>
          <p:nvPr/>
        </p:nvSpPr>
        <p:spPr>
          <a:xfrm>
            <a:off x="2983739" y="4020692"/>
            <a:ext cx="549275" cy="243656"/>
          </a:xfrm>
          <a:prstGeom prst="rect">
            <a:avLst/>
          </a:prstGeom>
        </p:spPr>
        <p:txBody>
          <a:bodyPr vert="horz" wrap="square" lIns="0" tIns="12700" rIns="0" bIns="0" rtlCol="0">
            <a:spAutoFit/>
          </a:bodyPr>
          <a:lstStyle/>
          <a:p>
            <a:pPr marL="12700">
              <a:spcBef>
                <a:spcPts val="100"/>
              </a:spcBef>
            </a:pPr>
            <a:r>
              <a:rPr sz="1500" i="1" spc="-5" dirty="0">
                <a:latin typeface="Times New Roman" panose="02020603050405020304" pitchFamily="18" charset="0"/>
                <a:cs typeface="Times New Roman" panose="02020603050405020304" pitchFamily="18" charset="0"/>
              </a:rPr>
              <a:t>Đặt</a:t>
            </a:r>
            <a:r>
              <a:rPr sz="1500" i="1" spc="-65" dirty="0">
                <a:latin typeface="Times New Roman" panose="02020603050405020304" pitchFamily="18" charset="0"/>
                <a:cs typeface="Times New Roman" panose="02020603050405020304" pitchFamily="18" charset="0"/>
              </a:rPr>
              <a:t> </a:t>
            </a:r>
            <a:r>
              <a:rPr sz="1500" i="1" spc="-5" dirty="0">
                <a:latin typeface="Times New Roman" panose="02020603050405020304" pitchFamily="18" charset="0"/>
                <a:cs typeface="Times New Roman" panose="02020603050405020304" pitchFamily="18" charset="0"/>
              </a:rPr>
              <a:t>tới</a:t>
            </a:r>
            <a:endParaRPr sz="1500">
              <a:latin typeface="Times New Roman" panose="02020603050405020304" pitchFamily="18" charset="0"/>
              <a:cs typeface="Times New Roman" panose="02020603050405020304" pitchFamily="18" charset="0"/>
            </a:endParaRPr>
          </a:p>
        </p:txBody>
      </p:sp>
      <p:sp>
        <p:nvSpPr>
          <p:cNvPr id="22" name="object 22"/>
          <p:cNvSpPr txBox="1"/>
          <p:nvPr/>
        </p:nvSpPr>
        <p:spPr>
          <a:xfrm>
            <a:off x="8875521" y="3993896"/>
            <a:ext cx="806450" cy="243656"/>
          </a:xfrm>
          <a:prstGeom prst="rect">
            <a:avLst/>
          </a:prstGeom>
        </p:spPr>
        <p:txBody>
          <a:bodyPr vert="horz" wrap="square" lIns="0" tIns="12700" rIns="0" bIns="0" rtlCol="0">
            <a:spAutoFit/>
          </a:bodyPr>
          <a:lstStyle/>
          <a:p>
            <a:pPr marL="12700">
              <a:spcBef>
                <a:spcPts val="100"/>
              </a:spcBef>
            </a:pPr>
            <a:r>
              <a:rPr sz="1500" i="1" spc="-5" dirty="0">
                <a:latin typeface="Times New Roman" panose="02020603050405020304" pitchFamily="18" charset="0"/>
                <a:cs typeface="Times New Roman" panose="02020603050405020304" pitchFamily="18" charset="0"/>
              </a:rPr>
              <a:t>Liên</a:t>
            </a:r>
            <a:r>
              <a:rPr sz="1500" i="1" spc="-75" dirty="0">
                <a:latin typeface="Times New Roman" panose="02020603050405020304" pitchFamily="18" charset="0"/>
                <a:cs typeface="Times New Roman" panose="02020603050405020304" pitchFamily="18" charset="0"/>
              </a:rPr>
              <a:t> </a:t>
            </a:r>
            <a:r>
              <a:rPr sz="1500" i="1" spc="-5" dirty="0">
                <a:latin typeface="Times New Roman" panose="02020603050405020304" pitchFamily="18" charset="0"/>
                <a:cs typeface="Times New Roman" panose="02020603050405020304" pitchFamily="18" charset="0"/>
              </a:rPr>
              <a:t>quan</a:t>
            </a:r>
            <a:endParaRPr sz="1500">
              <a:latin typeface="Times New Roman" panose="02020603050405020304" pitchFamily="18" charset="0"/>
              <a:cs typeface="Times New Roman" panose="02020603050405020304" pitchFamily="18" charset="0"/>
            </a:endParaRPr>
          </a:p>
        </p:txBody>
      </p:sp>
      <p:sp>
        <p:nvSpPr>
          <p:cNvPr id="23" name="object 23"/>
          <p:cNvSpPr txBox="1"/>
          <p:nvPr/>
        </p:nvSpPr>
        <p:spPr>
          <a:xfrm>
            <a:off x="5320666" y="4953127"/>
            <a:ext cx="246379" cy="243656"/>
          </a:xfrm>
          <a:prstGeom prst="rect">
            <a:avLst/>
          </a:prstGeom>
        </p:spPr>
        <p:txBody>
          <a:bodyPr vert="horz" wrap="square" lIns="0" tIns="12700" rIns="0" bIns="0" rtlCol="0">
            <a:spAutoFit/>
          </a:bodyPr>
          <a:lstStyle/>
          <a:p>
            <a:pPr marL="12700">
              <a:spcBef>
                <a:spcPts val="100"/>
              </a:spcBef>
            </a:pPr>
            <a:r>
              <a:rPr sz="1500" i="1" spc="-10" dirty="0">
                <a:latin typeface="Times New Roman" panose="02020603050405020304" pitchFamily="18" charset="0"/>
                <a:cs typeface="Times New Roman" panose="02020603050405020304" pitchFamily="18" charset="0"/>
              </a:rPr>
              <a:t>Từ</a:t>
            </a:r>
            <a:endParaRPr sz="1500">
              <a:latin typeface="Times New Roman" panose="02020603050405020304" pitchFamily="18" charset="0"/>
              <a:cs typeface="Times New Roman" panose="02020603050405020304" pitchFamily="18" charset="0"/>
            </a:endParaRPr>
          </a:p>
        </p:txBody>
      </p:sp>
      <p:sp>
        <p:nvSpPr>
          <p:cNvPr id="24" name="object 24"/>
          <p:cNvSpPr txBox="1"/>
          <p:nvPr/>
        </p:nvSpPr>
        <p:spPr>
          <a:xfrm>
            <a:off x="7090029" y="5349950"/>
            <a:ext cx="353695" cy="243656"/>
          </a:xfrm>
          <a:prstGeom prst="rect">
            <a:avLst/>
          </a:prstGeom>
        </p:spPr>
        <p:txBody>
          <a:bodyPr vert="horz" wrap="square" lIns="0" tIns="12700" rIns="0" bIns="0" rtlCol="0">
            <a:spAutoFit/>
          </a:bodyPr>
          <a:lstStyle/>
          <a:p>
            <a:pPr marL="12700">
              <a:spcBef>
                <a:spcPts val="100"/>
              </a:spcBef>
            </a:pPr>
            <a:r>
              <a:rPr sz="1500" i="1" spc="-35" dirty="0">
                <a:latin typeface="Times New Roman" panose="02020603050405020304" pitchFamily="18" charset="0"/>
                <a:cs typeface="Times New Roman" panose="02020603050405020304" pitchFamily="18" charset="0"/>
              </a:rPr>
              <a:t>0..*</a:t>
            </a:r>
            <a:endParaRPr sz="1500">
              <a:latin typeface="Times New Roman" panose="02020603050405020304" pitchFamily="18" charset="0"/>
              <a:cs typeface="Times New Roman" panose="02020603050405020304" pitchFamily="18" charset="0"/>
            </a:endParaRPr>
          </a:p>
        </p:txBody>
      </p:sp>
      <p:sp>
        <p:nvSpPr>
          <p:cNvPr id="25" name="object 25"/>
          <p:cNvSpPr txBox="1"/>
          <p:nvPr/>
        </p:nvSpPr>
        <p:spPr>
          <a:xfrm>
            <a:off x="4803776" y="5273802"/>
            <a:ext cx="413259" cy="243656"/>
          </a:xfrm>
          <a:prstGeom prst="rect">
            <a:avLst/>
          </a:prstGeom>
        </p:spPr>
        <p:txBody>
          <a:bodyPr vert="horz" wrap="square" lIns="0" tIns="12700" rIns="0" bIns="0" rtlCol="0">
            <a:spAutoFit/>
          </a:bodyPr>
          <a:lstStyle/>
          <a:p>
            <a:pPr marL="12700">
              <a:spcBef>
                <a:spcPts val="100"/>
              </a:spcBef>
            </a:pPr>
            <a:r>
              <a:rPr sz="1500" i="1" spc="-10" dirty="0">
                <a:latin typeface="Times New Roman" panose="02020603050405020304" pitchFamily="18" charset="0"/>
                <a:cs typeface="Times New Roman" panose="02020603050405020304" pitchFamily="18" charset="0"/>
              </a:rPr>
              <a:t>1</a:t>
            </a:r>
            <a:r>
              <a:rPr lang="en-US" sz="1500" i="1" spc="-10" dirty="0">
                <a:latin typeface="Times New Roman" panose="02020603050405020304" pitchFamily="18" charset="0"/>
                <a:cs typeface="Times New Roman" panose="02020603050405020304" pitchFamily="18" charset="0"/>
              </a:rPr>
              <a:t>..1</a:t>
            </a:r>
            <a:endParaRPr sz="1500" dirty="0">
              <a:latin typeface="Times New Roman" panose="02020603050405020304" pitchFamily="18" charset="0"/>
              <a:cs typeface="Times New Roman" panose="02020603050405020304" pitchFamily="18" charset="0"/>
            </a:endParaRPr>
          </a:p>
        </p:txBody>
      </p:sp>
      <p:sp>
        <p:nvSpPr>
          <p:cNvPr id="26" name="object 26"/>
          <p:cNvSpPr txBox="1"/>
          <p:nvPr/>
        </p:nvSpPr>
        <p:spPr>
          <a:xfrm>
            <a:off x="5032376" y="3520820"/>
            <a:ext cx="353695" cy="243656"/>
          </a:xfrm>
          <a:prstGeom prst="rect">
            <a:avLst/>
          </a:prstGeom>
        </p:spPr>
        <p:txBody>
          <a:bodyPr vert="horz" wrap="square" lIns="0" tIns="12700" rIns="0" bIns="0" rtlCol="0">
            <a:spAutoFit/>
          </a:bodyPr>
          <a:lstStyle/>
          <a:p>
            <a:pPr marL="12700">
              <a:spcBef>
                <a:spcPts val="100"/>
              </a:spcBef>
            </a:pPr>
            <a:r>
              <a:rPr sz="1500" i="1" spc="-35" dirty="0">
                <a:latin typeface="Times New Roman" panose="02020603050405020304" pitchFamily="18" charset="0"/>
                <a:cs typeface="Times New Roman" panose="02020603050405020304" pitchFamily="18" charset="0"/>
              </a:rPr>
              <a:t>0..*</a:t>
            </a:r>
            <a:endParaRPr sz="1500" dirty="0">
              <a:latin typeface="Times New Roman" panose="02020603050405020304" pitchFamily="18" charset="0"/>
              <a:cs typeface="Times New Roman" panose="02020603050405020304" pitchFamily="18" charset="0"/>
            </a:endParaRPr>
          </a:p>
        </p:txBody>
      </p:sp>
      <p:sp>
        <p:nvSpPr>
          <p:cNvPr id="27" name="object 27"/>
          <p:cNvSpPr txBox="1"/>
          <p:nvPr/>
        </p:nvSpPr>
        <p:spPr>
          <a:xfrm>
            <a:off x="3812794" y="4435602"/>
            <a:ext cx="593472" cy="243656"/>
          </a:xfrm>
          <a:prstGeom prst="rect">
            <a:avLst/>
          </a:prstGeom>
        </p:spPr>
        <p:txBody>
          <a:bodyPr vert="horz" wrap="square" lIns="0" tIns="12700" rIns="0" bIns="0" rtlCol="0">
            <a:spAutoFit/>
          </a:bodyPr>
          <a:lstStyle/>
          <a:p>
            <a:pPr marL="12700">
              <a:spcBef>
                <a:spcPts val="100"/>
              </a:spcBef>
            </a:pPr>
            <a:r>
              <a:rPr sz="1500" i="1" spc="-10" dirty="0">
                <a:latin typeface="Times New Roman" panose="02020603050405020304" pitchFamily="18" charset="0"/>
                <a:cs typeface="Times New Roman" panose="02020603050405020304" pitchFamily="18" charset="0"/>
              </a:rPr>
              <a:t>1</a:t>
            </a:r>
            <a:r>
              <a:rPr lang="en-US" sz="1500" i="1" spc="-10" dirty="0">
                <a:latin typeface="Times New Roman" panose="02020603050405020304" pitchFamily="18" charset="0"/>
                <a:cs typeface="Times New Roman" panose="02020603050405020304" pitchFamily="18" charset="0"/>
              </a:rPr>
              <a:t>..1</a:t>
            </a:r>
            <a:endParaRPr sz="1500" dirty="0">
              <a:latin typeface="Times New Roman" panose="02020603050405020304" pitchFamily="18" charset="0"/>
              <a:cs typeface="Times New Roman" panose="02020603050405020304" pitchFamily="18" charset="0"/>
            </a:endParaRPr>
          </a:p>
        </p:txBody>
      </p:sp>
      <p:sp>
        <p:nvSpPr>
          <p:cNvPr id="28" name="object 28"/>
          <p:cNvSpPr txBox="1"/>
          <p:nvPr/>
        </p:nvSpPr>
        <p:spPr>
          <a:xfrm>
            <a:off x="8843009" y="4511802"/>
            <a:ext cx="379730" cy="243656"/>
          </a:xfrm>
          <a:prstGeom prst="rect">
            <a:avLst/>
          </a:prstGeom>
        </p:spPr>
        <p:txBody>
          <a:bodyPr vert="horz" wrap="square" lIns="0" tIns="12700" rIns="0" bIns="0" rtlCol="0">
            <a:spAutoFit/>
          </a:bodyPr>
          <a:lstStyle/>
          <a:p>
            <a:pPr marL="12700">
              <a:spcBef>
                <a:spcPts val="100"/>
              </a:spcBef>
            </a:pPr>
            <a:r>
              <a:rPr sz="1500" i="1" spc="-60" dirty="0">
                <a:latin typeface="Times New Roman" panose="02020603050405020304" pitchFamily="18" charset="0"/>
                <a:cs typeface="Times New Roman" panose="02020603050405020304" pitchFamily="18" charset="0"/>
              </a:rPr>
              <a:t>0..</a:t>
            </a:r>
            <a:r>
              <a:rPr lang="en-US" sz="1500" i="1" spc="-60" dirty="0">
                <a:latin typeface="Times New Roman" panose="02020603050405020304" pitchFamily="18" charset="0"/>
                <a:cs typeface="Times New Roman" panose="02020603050405020304" pitchFamily="18" charset="0"/>
              </a:rPr>
              <a:t>*</a:t>
            </a:r>
            <a:endParaRPr sz="1500" dirty="0">
              <a:latin typeface="Times New Roman" panose="02020603050405020304" pitchFamily="18" charset="0"/>
              <a:cs typeface="Times New Roman" panose="02020603050405020304" pitchFamily="18" charset="0"/>
            </a:endParaRPr>
          </a:p>
        </p:txBody>
      </p:sp>
      <p:sp>
        <p:nvSpPr>
          <p:cNvPr id="29" name="object 29"/>
          <p:cNvSpPr txBox="1"/>
          <p:nvPr/>
        </p:nvSpPr>
        <p:spPr>
          <a:xfrm>
            <a:off x="7471028" y="3444620"/>
            <a:ext cx="448690" cy="243656"/>
          </a:xfrm>
          <a:prstGeom prst="rect">
            <a:avLst/>
          </a:prstGeom>
        </p:spPr>
        <p:txBody>
          <a:bodyPr vert="horz" wrap="square" lIns="0" tIns="12700" rIns="0" bIns="0" rtlCol="0">
            <a:spAutoFit/>
          </a:bodyPr>
          <a:lstStyle/>
          <a:p>
            <a:pPr marL="12700">
              <a:spcBef>
                <a:spcPts val="100"/>
              </a:spcBef>
            </a:pPr>
            <a:r>
              <a:rPr lang="en-US" sz="1500" i="1" spc="-10" dirty="0">
                <a:latin typeface="Times New Roman" panose="02020603050405020304" pitchFamily="18" charset="0"/>
                <a:cs typeface="Times New Roman" panose="02020603050405020304" pitchFamily="18" charset="0"/>
              </a:rPr>
              <a:t>1..</a:t>
            </a:r>
            <a:r>
              <a:rPr sz="1500" i="1" spc="-10" dirty="0">
                <a:latin typeface="Times New Roman" panose="02020603050405020304" pitchFamily="18" charset="0"/>
                <a:cs typeface="Times New Roman" panose="02020603050405020304" pitchFamily="18" charset="0"/>
              </a:rPr>
              <a:t>1</a:t>
            </a:r>
            <a:endParaRPr sz="1500" dirty="0">
              <a:latin typeface="Times New Roman" panose="02020603050405020304" pitchFamily="18" charset="0"/>
              <a:cs typeface="Times New Roman" panose="02020603050405020304" pitchFamily="18" charset="0"/>
            </a:endParaRPr>
          </a:p>
        </p:txBody>
      </p:sp>
      <p:sp>
        <p:nvSpPr>
          <p:cNvPr id="30" name="object 30"/>
          <p:cNvSpPr/>
          <p:nvPr/>
        </p:nvSpPr>
        <p:spPr>
          <a:xfrm>
            <a:off x="5419344" y="5497068"/>
            <a:ext cx="1468374" cy="241541"/>
          </a:xfrm>
          <a:prstGeom prst="rect">
            <a:avLst/>
          </a:prstGeom>
          <a:blipFill>
            <a:blip r:embed="rId2" cstate="print"/>
            <a:stretch>
              <a:fillRect/>
            </a:stretch>
          </a:blipFill>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1" name="object 31"/>
          <p:cNvSpPr/>
          <p:nvPr/>
        </p:nvSpPr>
        <p:spPr>
          <a:xfrm>
            <a:off x="5410200" y="5478779"/>
            <a:ext cx="1447800" cy="228600"/>
          </a:xfrm>
          <a:custGeom>
            <a:avLst/>
            <a:gdLst/>
            <a:ahLst/>
            <a:cxnLst/>
            <a:rect l="l" t="t" r="r" b="b"/>
            <a:pathLst>
              <a:path w="1447800" h="228600">
                <a:moveTo>
                  <a:pt x="361950" y="0"/>
                </a:moveTo>
                <a:lnTo>
                  <a:pt x="0" y="114300"/>
                </a:lnTo>
                <a:lnTo>
                  <a:pt x="361950" y="228600"/>
                </a:lnTo>
                <a:lnTo>
                  <a:pt x="361950" y="171450"/>
                </a:lnTo>
                <a:lnTo>
                  <a:pt x="1447800" y="171450"/>
                </a:lnTo>
                <a:lnTo>
                  <a:pt x="1447800" y="57150"/>
                </a:lnTo>
                <a:lnTo>
                  <a:pt x="361950" y="57150"/>
                </a:lnTo>
                <a:lnTo>
                  <a:pt x="361950" y="0"/>
                </a:lnTo>
                <a:close/>
              </a:path>
            </a:pathLst>
          </a:custGeom>
          <a:solidFill>
            <a:srgbClr val="93B6D2"/>
          </a:solidFill>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2" name="object 32"/>
          <p:cNvSpPr/>
          <p:nvPr/>
        </p:nvSpPr>
        <p:spPr>
          <a:xfrm>
            <a:off x="5410200" y="5478779"/>
            <a:ext cx="1447800" cy="228600"/>
          </a:xfrm>
          <a:custGeom>
            <a:avLst/>
            <a:gdLst/>
            <a:ahLst/>
            <a:cxnLst/>
            <a:rect l="l" t="t" r="r" b="b"/>
            <a:pathLst>
              <a:path w="1447800" h="228600">
                <a:moveTo>
                  <a:pt x="0" y="114300"/>
                </a:moveTo>
                <a:lnTo>
                  <a:pt x="361950" y="0"/>
                </a:lnTo>
                <a:lnTo>
                  <a:pt x="361950" y="57150"/>
                </a:lnTo>
                <a:lnTo>
                  <a:pt x="1447800" y="57150"/>
                </a:lnTo>
                <a:lnTo>
                  <a:pt x="1447800" y="171450"/>
                </a:lnTo>
                <a:lnTo>
                  <a:pt x="361950" y="171450"/>
                </a:lnTo>
                <a:lnTo>
                  <a:pt x="361950" y="228600"/>
                </a:lnTo>
                <a:lnTo>
                  <a:pt x="0" y="114300"/>
                </a:lnTo>
                <a:close/>
              </a:path>
            </a:pathLst>
          </a:custGeom>
          <a:ln w="9144">
            <a:solidFill>
              <a:srgbClr val="93B6D2"/>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3" name="object 33"/>
          <p:cNvSpPr/>
          <p:nvPr/>
        </p:nvSpPr>
        <p:spPr>
          <a:xfrm>
            <a:off x="6501384" y="4128515"/>
            <a:ext cx="1334262" cy="729234"/>
          </a:xfrm>
          <a:prstGeom prst="rect">
            <a:avLst/>
          </a:prstGeom>
          <a:blipFill>
            <a:blip r:embed="rId3" cstate="print"/>
            <a:stretch>
              <a:fillRect/>
            </a:stretch>
          </a:blipFill>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4" name="object 34"/>
          <p:cNvSpPr/>
          <p:nvPr/>
        </p:nvSpPr>
        <p:spPr>
          <a:xfrm>
            <a:off x="6491604" y="4112134"/>
            <a:ext cx="1313180" cy="714375"/>
          </a:xfrm>
          <a:custGeom>
            <a:avLst/>
            <a:gdLst/>
            <a:ahLst/>
            <a:cxnLst/>
            <a:rect l="l" t="t" r="r" b="b"/>
            <a:pathLst>
              <a:path w="1313179" h="714375">
                <a:moveTo>
                  <a:pt x="544983" y="216662"/>
                </a:moveTo>
                <a:lnTo>
                  <a:pt x="295529" y="216662"/>
                </a:lnTo>
                <a:lnTo>
                  <a:pt x="1260602" y="714375"/>
                </a:lnTo>
                <a:lnTo>
                  <a:pt x="1313053" y="612775"/>
                </a:lnTo>
                <a:lnTo>
                  <a:pt x="544983" y="216662"/>
                </a:lnTo>
                <a:close/>
              </a:path>
              <a:path w="1313179" h="714375">
                <a:moveTo>
                  <a:pt x="0" y="0"/>
                </a:moveTo>
                <a:lnTo>
                  <a:pt x="269367" y="267462"/>
                </a:lnTo>
                <a:lnTo>
                  <a:pt x="295529" y="216662"/>
                </a:lnTo>
                <a:lnTo>
                  <a:pt x="544983" y="216662"/>
                </a:lnTo>
                <a:lnTo>
                  <a:pt x="347980" y="115062"/>
                </a:lnTo>
                <a:lnTo>
                  <a:pt x="374142" y="64262"/>
                </a:lnTo>
                <a:lnTo>
                  <a:pt x="0" y="0"/>
                </a:lnTo>
                <a:close/>
              </a:path>
            </a:pathLst>
          </a:custGeom>
          <a:solidFill>
            <a:srgbClr val="93B6D2"/>
          </a:solidFill>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5" name="object 35"/>
          <p:cNvSpPr/>
          <p:nvPr/>
        </p:nvSpPr>
        <p:spPr>
          <a:xfrm>
            <a:off x="6491604" y="4112134"/>
            <a:ext cx="1313180" cy="714375"/>
          </a:xfrm>
          <a:custGeom>
            <a:avLst/>
            <a:gdLst/>
            <a:ahLst/>
            <a:cxnLst/>
            <a:rect l="l" t="t" r="r" b="b"/>
            <a:pathLst>
              <a:path w="1313179" h="714375">
                <a:moveTo>
                  <a:pt x="0" y="0"/>
                </a:moveTo>
                <a:lnTo>
                  <a:pt x="374142" y="64262"/>
                </a:lnTo>
                <a:lnTo>
                  <a:pt x="347980" y="115062"/>
                </a:lnTo>
                <a:lnTo>
                  <a:pt x="1313053" y="612775"/>
                </a:lnTo>
                <a:lnTo>
                  <a:pt x="1260602" y="714375"/>
                </a:lnTo>
                <a:lnTo>
                  <a:pt x="295529" y="216662"/>
                </a:lnTo>
                <a:lnTo>
                  <a:pt x="269367" y="267462"/>
                </a:lnTo>
                <a:lnTo>
                  <a:pt x="0" y="0"/>
                </a:lnTo>
                <a:close/>
              </a:path>
            </a:pathLst>
          </a:custGeom>
          <a:ln w="9525">
            <a:solidFill>
              <a:srgbClr val="93B6D2"/>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6" name="object 36"/>
          <p:cNvSpPr/>
          <p:nvPr/>
        </p:nvSpPr>
        <p:spPr>
          <a:xfrm>
            <a:off x="4722876" y="4009644"/>
            <a:ext cx="1323594" cy="753618"/>
          </a:xfrm>
          <a:prstGeom prst="rect">
            <a:avLst/>
          </a:prstGeom>
          <a:blipFill>
            <a:blip r:embed="rId4" cstate="print"/>
            <a:stretch>
              <a:fillRect/>
            </a:stretch>
          </a:blipFill>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7" name="object 37"/>
          <p:cNvSpPr/>
          <p:nvPr/>
        </p:nvSpPr>
        <p:spPr>
          <a:xfrm>
            <a:off x="4718686" y="4138296"/>
            <a:ext cx="1301115" cy="738505"/>
          </a:xfrm>
          <a:custGeom>
            <a:avLst/>
            <a:gdLst/>
            <a:ahLst/>
            <a:cxnLst/>
            <a:rect l="l" t="t" r="r" b="b"/>
            <a:pathLst>
              <a:path w="1301114" h="738504">
                <a:moveTo>
                  <a:pt x="264159" y="465836"/>
                </a:moveTo>
                <a:lnTo>
                  <a:pt x="0" y="738378"/>
                </a:lnTo>
                <a:lnTo>
                  <a:pt x="372871" y="666877"/>
                </a:lnTo>
                <a:lnTo>
                  <a:pt x="345694" y="616585"/>
                </a:lnTo>
                <a:lnTo>
                  <a:pt x="531674" y="516128"/>
                </a:lnTo>
                <a:lnTo>
                  <a:pt x="291337" y="516128"/>
                </a:lnTo>
                <a:lnTo>
                  <a:pt x="264159" y="465836"/>
                </a:lnTo>
                <a:close/>
              </a:path>
              <a:path w="1301114" h="738504">
                <a:moveTo>
                  <a:pt x="1246758" y="0"/>
                </a:moveTo>
                <a:lnTo>
                  <a:pt x="291337" y="516128"/>
                </a:lnTo>
                <a:lnTo>
                  <a:pt x="531674" y="516128"/>
                </a:lnTo>
                <a:lnTo>
                  <a:pt x="1300987" y="100584"/>
                </a:lnTo>
                <a:lnTo>
                  <a:pt x="1246758" y="0"/>
                </a:lnTo>
                <a:close/>
              </a:path>
            </a:pathLst>
          </a:custGeom>
          <a:solidFill>
            <a:srgbClr val="93B6D2"/>
          </a:solidFill>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8" name="object 38"/>
          <p:cNvSpPr/>
          <p:nvPr/>
        </p:nvSpPr>
        <p:spPr>
          <a:xfrm>
            <a:off x="4681854" y="4138150"/>
            <a:ext cx="1301115" cy="738505"/>
          </a:xfrm>
          <a:custGeom>
            <a:avLst/>
            <a:gdLst/>
            <a:ahLst/>
            <a:cxnLst/>
            <a:rect l="l" t="t" r="r" b="b"/>
            <a:pathLst>
              <a:path w="1301114" h="738504">
                <a:moveTo>
                  <a:pt x="0" y="738378"/>
                </a:moveTo>
                <a:lnTo>
                  <a:pt x="264159" y="465836"/>
                </a:lnTo>
                <a:lnTo>
                  <a:pt x="291337" y="516128"/>
                </a:lnTo>
                <a:lnTo>
                  <a:pt x="1246758" y="0"/>
                </a:lnTo>
                <a:lnTo>
                  <a:pt x="1300987" y="100584"/>
                </a:lnTo>
                <a:lnTo>
                  <a:pt x="345694" y="616585"/>
                </a:lnTo>
                <a:lnTo>
                  <a:pt x="372871" y="666877"/>
                </a:lnTo>
                <a:lnTo>
                  <a:pt x="0" y="738378"/>
                </a:lnTo>
                <a:close/>
              </a:path>
            </a:pathLst>
          </a:custGeom>
          <a:ln w="9525">
            <a:solidFill>
              <a:srgbClr val="93B6D2"/>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39" name="object 39"/>
          <p:cNvSpPr/>
          <p:nvPr/>
        </p:nvSpPr>
        <p:spPr>
          <a:xfrm>
            <a:off x="6031739" y="5064759"/>
            <a:ext cx="410845" cy="309880"/>
          </a:xfrm>
          <a:custGeom>
            <a:avLst/>
            <a:gdLst/>
            <a:ahLst/>
            <a:cxnLst/>
            <a:rect l="l" t="t" r="r" b="b"/>
            <a:pathLst>
              <a:path w="410845" h="309879">
                <a:moveTo>
                  <a:pt x="54101" y="0"/>
                </a:moveTo>
                <a:lnTo>
                  <a:pt x="0" y="85851"/>
                </a:lnTo>
                <a:lnTo>
                  <a:pt x="109982" y="154939"/>
                </a:lnTo>
                <a:lnTo>
                  <a:pt x="0" y="224027"/>
                </a:lnTo>
                <a:lnTo>
                  <a:pt x="54101" y="309879"/>
                </a:lnTo>
                <a:lnTo>
                  <a:pt x="205232" y="214883"/>
                </a:lnTo>
                <a:lnTo>
                  <a:pt x="395907" y="214883"/>
                </a:lnTo>
                <a:lnTo>
                  <a:pt x="300482" y="154939"/>
                </a:lnTo>
                <a:lnTo>
                  <a:pt x="395907" y="94995"/>
                </a:lnTo>
                <a:lnTo>
                  <a:pt x="205232" y="94995"/>
                </a:lnTo>
                <a:lnTo>
                  <a:pt x="54101" y="0"/>
                </a:lnTo>
                <a:close/>
              </a:path>
              <a:path w="410845" h="309879">
                <a:moveTo>
                  <a:pt x="395907" y="214883"/>
                </a:moveTo>
                <a:lnTo>
                  <a:pt x="205232" y="214883"/>
                </a:lnTo>
                <a:lnTo>
                  <a:pt x="356362" y="309879"/>
                </a:lnTo>
                <a:lnTo>
                  <a:pt x="410463" y="224027"/>
                </a:lnTo>
                <a:lnTo>
                  <a:pt x="395907" y="214883"/>
                </a:lnTo>
                <a:close/>
              </a:path>
              <a:path w="410845" h="309879">
                <a:moveTo>
                  <a:pt x="356362" y="0"/>
                </a:moveTo>
                <a:lnTo>
                  <a:pt x="205232" y="94995"/>
                </a:lnTo>
                <a:lnTo>
                  <a:pt x="395907" y="94995"/>
                </a:lnTo>
                <a:lnTo>
                  <a:pt x="410463" y="85851"/>
                </a:lnTo>
                <a:lnTo>
                  <a:pt x="356362" y="0"/>
                </a:lnTo>
                <a:close/>
              </a:path>
            </a:pathLst>
          </a:custGeom>
          <a:solidFill>
            <a:srgbClr val="C00000"/>
          </a:solidFill>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40" name="object 40"/>
          <p:cNvSpPr/>
          <p:nvPr/>
        </p:nvSpPr>
        <p:spPr>
          <a:xfrm>
            <a:off x="6031739" y="5064759"/>
            <a:ext cx="410845" cy="309880"/>
          </a:xfrm>
          <a:custGeom>
            <a:avLst/>
            <a:gdLst/>
            <a:ahLst/>
            <a:cxnLst/>
            <a:rect l="l" t="t" r="r" b="b"/>
            <a:pathLst>
              <a:path w="410845" h="309879">
                <a:moveTo>
                  <a:pt x="0" y="85851"/>
                </a:moveTo>
                <a:lnTo>
                  <a:pt x="54101" y="0"/>
                </a:lnTo>
                <a:lnTo>
                  <a:pt x="205232" y="94995"/>
                </a:lnTo>
                <a:lnTo>
                  <a:pt x="356362" y="0"/>
                </a:lnTo>
                <a:lnTo>
                  <a:pt x="410463" y="85851"/>
                </a:lnTo>
                <a:lnTo>
                  <a:pt x="300482" y="154939"/>
                </a:lnTo>
                <a:lnTo>
                  <a:pt x="410463" y="224027"/>
                </a:lnTo>
                <a:lnTo>
                  <a:pt x="356362" y="309879"/>
                </a:lnTo>
                <a:lnTo>
                  <a:pt x="205232" y="214883"/>
                </a:lnTo>
                <a:lnTo>
                  <a:pt x="54101" y="309879"/>
                </a:lnTo>
                <a:lnTo>
                  <a:pt x="0" y="224027"/>
                </a:lnTo>
                <a:lnTo>
                  <a:pt x="109982" y="154939"/>
                </a:lnTo>
                <a:lnTo>
                  <a:pt x="0" y="85851"/>
                </a:lnTo>
                <a:close/>
              </a:path>
            </a:pathLst>
          </a:custGeom>
          <a:ln w="19812">
            <a:solidFill>
              <a:srgbClr val="A15C31"/>
            </a:solidFill>
          </a:ln>
        </p:spPr>
        <p:txBody>
          <a:bodyPr wrap="square" lIns="0" tIns="0" rIns="0" bIns="0" rtlCol="0"/>
          <a:lstStyle/>
          <a:p>
            <a:endParaRPr sz="1500">
              <a:latin typeface="Times New Roman" panose="02020603050405020304" pitchFamily="18" charset="0"/>
              <a:cs typeface="Times New Roman" panose="02020603050405020304" pitchFamily="18" charset="0"/>
            </a:endParaRPr>
          </a:p>
        </p:txBody>
      </p:sp>
      <p:sp>
        <p:nvSpPr>
          <p:cNvPr id="41" name="object 41"/>
          <p:cNvSpPr txBox="1"/>
          <p:nvPr/>
        </p:nvSpPr>
        <p:spPr>
          <a:xfrm>
            <a:off x="6201536" y="4841494"/>
            <a:ext cx="727710" cy="243656"/>
          </a:xfrm>
          <a:prstGeom prst="rect">
            <a:avLst/>
          </a:prstGeom>
        </p:spPr>
        <p:txBody>
          <a:bodyPr vert="horz" wrap="square" lIns="0" tIns="12700" rIns="0" bIns="0" rtlCol="0">
            <a:spAutoFit/>
          </a:bodyPr>
          <a:lstStyle/>
          <a:p>
            <a:pPr marL="12700">
              <a:spcBef>
                <a:spcPts val="100"/>
              </a:spcBef>
            </a:pPr>
            <a:r>
              <a:rPr sz="1500" b="1" spc="-5" dirty="0">
                <a:solidFill>
                  <a:srgbClr val="C00000"/>
                </a:solidFill>
                <a:latin typeface="Times New Roman" panose="02020603050405020304" pitchFamily="18" charset="0"/>
                <a:cs typeface="Times New Roman" panose="02020603050405020304" pitchFamily="18" charset="0"/>
              </a:rPr>
              <a:t>Dư</a:t>
            </a:r>
            <a:r>
              <a:rPr sz="1500" b="1" spc="-70" dirty="0">
                <a:solidFill>
                  <a:srgbClr val="C00000"/>
                </a:solidFill>
                <a:latin typeface="Times New Roman" panose="02020603050405020304" pitchFamily="18" charset="0"/>
                <a:cs typeface="Times New Roman" panose="02020603050405020304" pitchFamily="18" charset="0"/>
              </a:rPr>
              <a:t> </a:t>
            </a:r>
            <a:r>
              <a:rPr sz="1500" b="1" spc="-5" dirty="0">
                <a:solidFill>
                  <a:srgbClr val="C00000"/>
                </a:solidFill>
                <a:latin typeface="Times New Roman" panose="02020603050405020304" pitchFamily="18" charset="0"/>
                <a:cs typeface="Times New Roman" panose="02020603050405020304" pitchFamily="18" charset="0"/>
              </a:rPr>
              <a:t>thừa</a:t>
            </a:r>
            <a:endParaRPr sz="1500">
              <a:latin typeface="Times New Roman" panose="02020603050405020304" pitchFamily="18" charset="0"/>
              <a:cs typeface="Times New Roman" panose="02020603050405020304" pitchFamily="18" charset="0"/>
            </a:endParaRPr>
          </a:p>
        </p:txBody>
      </p:sp>
      <p:sp>
        <p:nvSpPr>
          <p:cNvPr id="44"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43"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3774083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26828"/>
            <a:ext cx="12192000" cy="3023904"/>
          </a:xfrm>
          <a:prstGeom prst="rect">
            <a:avLst/>
          </a:prstGeom>
        </p:spPr>
        <p:txBody>
          <a:bodyPr vert="horz" wrap="square" lIns="0" tIns="104139" rIns="0" bIns="0" rtlCol="0">
            <a:spAutoFit/>
          </a:bodyPr>
          <a:lstStyle/>
          <a:p>
            <a:pPr marL="469900" indent="-457200">
              <a:spcBef>
                <a:spcPts val="819"/>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Xác 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a:t>
            </a:r>
            <a:r>
              <a:rPr sz="2800" b="1" spc="1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(association):</a:t>
            </a:r>
            <a:endParaRPr sz="2800" b="1">
              <a:solidFill>
                <a:srgbClr val="FF0000"/>
              </a:solidFill>
              <a:latin typeface="Times New Roman" panose="02020603050405020304" pitchFamily="18" charset="0"/>
              <a:cs typeface="Times New Roman" panose="02020603050405020304" pitchFamily="18" charset="0"/>
            </a:endParaRPr>
          </a:p>
          <a:p>
            <a:pPr marL="835025" lvl="1" indent="-457200">
              <a:spcBef>
                <a:spcPts val="610"/>
              </a:spcBef>
              <a:buSzPct val="100000"/>
              <a:buFont typeface="Arial" panose="020B0604020202020204" pitchFamily="34" charset="0"/>
              <a:buChar char="•"/>
            </a:pPr>
            <a:r>
              <a:rPr sz="2800" b="1">
                <a:solidFill>
                  <a:srgbClr val="006FC0"/>
                </a:solidFill>
                <a:latin typeface="Times New Roman" panose="02020603050405020304" pitchFamily="18" charset="0"/>
                <a:cs typeface="Times New Roman" panose="02020603050405020304" pitchFamily="18" charset="0"/>
              </a:rPr>
              <a:t>Xác </a:t>
            </a:r>
            <a:r>
              <a:rPr sz="2800" b="1" spc="-5" dirty="0">
                <a:solidFill>
                  <a:srgbClr val="006FC0"/>
                </a:solidFill>
                <a:latin typeface="Times New Roman" panose="02020603050405020304" pitchFamily="18" charset="0"/>
                <a:cs typeface="Times New Roman" panose="02020603050405020304" pitchFamily="18" charset="0"/>
              </a:rPr>
              <a:t>định </a:t>
            </a:r>
            <a:r>
              <a:rPr sz="2800" b="1" dirty="0">
                <a:solidFill>
                  <a:srgbClr val="006FC0"/>
                </a:solidFill>
                <a:latin typeface="Times New Roman" panose="02020603050405020304" pitchFamily="18" charset="0"/>
                <a:cs typeface="Times New Roman" panose="02020603050405020304" pitchFamily="18" charset="0"/>
              </a:rPr>
              <a:t>bản số cho mối kết hợp: </a:t>
            </a:r>
            <a:r>
              <a:rPr sz="2800" dirty="0">
                <a:latin typeface="Times New Roman" panose="02020603050405020304" pitchFamily="18" charset="0"/>
                <a:cs typeface="Times New Roman" panose="02020603050405020304" pitchFamily="18" charset="0"/>
              </a:rPr>
              <a:t>(min,</a:t>
            </a:r>
            <a:r>
              <a:rPr sz="2800" spc="-1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max)</a:t>
            </a:r>
            <a:endParaRPr sz="2800">
              <a:latin typeface="Times New Roman" panose="02020603050405020304" pitchFamily="18" charset="0"/>
              <a:cs typeface="Times New Roman" panose="02020603050405020304" pitchFamily="18" charset="0"/>
            </a:endParaRPr>
          </a:p>
          <a:p>
            <a:pPr marL="1612900" lvl="3" indent="-457200">
              <a:spcBef>
                <a:spcPts val="500"/>
              </a:spcBef>
              <a:buSzPct val="100000"/>
              <a:buFont typeface="Wingdings" panose="05000000000000000000" pitchFamily="2" charset="2"/>
              <a:buChar char="ü"/>
            </a:pPr>
            <a:r>
              <a:rPr sz="2800" dirty="0">
                <a:latin typeface="Times New Roman" panose="02020603050405020304" pitchFamily="18" charset="0"/>
                <a:cs typeface="Times New Roman" panose="02020603050405020304" pitchFamily="18" charset="0"/>
              </a:rPr>
              <a:t>1;</a:t>
            </a:r>
            <a:r>
              <a:rPr sz="2800" spc="-2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0..1;</a:t>
            </a:r>
            <a:endParaRPr sz="2800">
              <a:latin typeface="Times New Roman" panose="02020603050405020304" pitchFamily="18" charset="0"/>
              <a:cs typeface="Times New Roman" panose="02020603050405020304" pitchFamily="18" charset="0"/>
            </a:endParaRPr>
          </a:p>
          <a:p>
            <a:pPr marL="1612900" lvl="3" indent="-457200">
              <a:spcBef>
                <a:spcPts val="495"/>
              </a:spcBef>
              <a:buSzPct val="100000"/>
              <a:buFont typeface="Wingdings" panose="05000000000000000000" pitchFamily="2" charset="2"/>
              <a:buChar char="ü"/>
            </a:pPr>
            <a:r>
              <a:rPr sz="2800" spc="-5" dirty="0">
                <a:latin typeface="Times New Roman" panose="02020603050405020304" pitchFamily="18" charset="0"/>
                <a:cs typeface="Times New Roman" panose="02020603050405020304" pitchFamily="18" charset="0"/>
              </a:rPr>
              <a:t>1..*;</a:t>
            </a:r>
            <a:endParaRPr sz="2800">
              <a:latin typeface="Times New Roman" panose="02020603050405020304" pitchFamily="18" charset="0"/>
              <a:cs typeface="Times New Roman" panose="02020603050405020304" pitchFamily="18" charset="0"/>
            </a:endParaRPr>
          </a:p>
          <a:p>
            <a:pPr marL="1612900" lvl="3" indent="-457200">
              <a:spcBef>
                <a:spcPts val="505"/>
              </a:spcBef>
              <a:buSzPct val="100000"/>
              <a:buFont typeface="Wingdings" panose="05000000000000000000" pitchFamily="2" charset="2"/>
              <a:buChar char="ü"/>
            </a:pPr>
            <a:r>
              <a:rPr sz="2800" spc="-5" dirty="0">
                <a:latin typeface="Times New Roman" panose="02020603050405020304" pitchFamily="18" charset="0"/>
                <a:cs typeface="Times New Roman" panose="02020603050405020304" pitchFamily="18" charset="0"/>
              </a:rPr>
              <a:t>0..*;</a:t>
            </a:r>
            <a:endParaRPr sz="2800">
              <a:latin typeface="Times New Roman" panose="02020603050405020304" pitchFamily="18" charset="0"/>
              <a:cs typeface="Times New Roman" panose="02020603050405020304" pitchFamily="18" charset="0"/>
            </a:endParaRPr>
          </a:p>
          <a:p>
            <a:pPr marL="1612900" lvl="3" indent="-457200">
              <a:spcBef>
                <a:spcPts val="500"/>
              </a:spcBef>
              <a:buSzPct val="100000"/>
              <a:buFont typeface="Wingdings" panose="05000000000000000000" pitchFamily="2" charset="2"/>
              <a:buChar char="ü"/>
            </a:pPr>
            <a:r>
              <a:rPr sz="2800" spc="-5" dirty="0">
                <a:latin typeface="Times New Roman" panose="02020603050405020304" pitchFamily="18" charset="0"/>
                <a:cs typeface="Times New Roman" panose="02020603050405020304" pitchFamily="18" charset="0"/>
              </a:rPr>
              <a:t>a..* </a:t>
            </a:r>
            <a:r>
              <a:rPr sz="2800" dirty="0">
                <a:latin typeface="Times New Roman" panose="02020603050405020304" pitchFamily="18" charset="0"/>
                <a:cs typeface="Times New Roman" panose="02020603050405020304" pitchFamily="18" charset="0"/>
              </a:rPr>
              <a:t>: a </a:t>
            </a:r>
            <a:r>
              <a:rPr sz="2800" spc="-5" dirty="0">
                <a:latin typeface="Times New Roman" panose="02020603050405020304" pitchFamily="18" charset="0"/>
                <a:cs typeface="Times New Roman" panose="02020603050405020304" pitchFamily="18" charset="0"/>
              </a:rPr>
              <a:t>là</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hằng</a:t>
            </a:r>
            <a:endParaRPr sz="280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1985642388"/>
              </p:ext>
            </p:extLst>
          </p:nvPr>
        </p:nvGraphicFramePr>
        <p:xfrm>
          <a:off x="3369564" y="4293310"/>
          <a:ext cx="6007734" cy="561975"/>
        </p:xfrm>
        <a:graphic>
          <a:graphicData uri="http://schemas.openxmlformats.org/drawingml/2006/table">
            <a:tbl>
              <a:tblPr firstRow="1" bandRow="1">
                <a:tableStyleId>{2D5ABB26-0587-4C30-8999-92F81FD0307C}</a:tableStyleId>
              </a:tblPr>
              <a:tblGrid>
                <a:gridCol w="162179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1414144">
                  <a:extLst>
                    <a:ext uri="{9D8B030D-6E8A-4147-A177-3AD203B41FA5}">
                      <a16:colId xmlns:a16="http://schemas.microsoft.com/office/drawing/2014/main" val="20002"/>
                    </a:ext>
                  </a:extLst>
                </a:gridCol>
              </a:tblGrid>
              <a:tr h="304800">
                <a:tc>
                  <a:txBody>
                    <a:bodyPr/>
                    <a:lstStyle/>
                    <a:p>
                      <a:pPr marL="214313" indent="-214313" algn="ctr">
                        <a:lnSpc>
                          <a:spcPts val="1870"/>
                        </a:lnSpc>
                        <a:spcBef>
                          <a:spcPts val="425"/>
                        </a:spcBef>
                      </a:pPr>
                      <a:r>
                        <a:rPr lang="en-US" sz="1600" spc="0">
                          <a:latin typeface="Times New Roman" panose="02020603050405020304" pitchFamily="18" charset="0"/>
                          <a:cs typeface="Times New Roman" panose="02020603050405020304" pitchFamily="18" charset="0"/>
                        </a:rPr>
                        <a:t>Bản</a:t>
                      </a:r>
                      <a:r>
                        <a:rPr lang="en-US" sz="1600" spc="0" baseline="0">
                          <a:latin typeface="Times New Roman" panose="02020603050405020304" pitchFamily="18" charset="0"/>
                          <a:cs typeface="Times New Roman" panose="02020603050405020304" pitchFamily="18" charset="0"/>
                        </a:rPr>
                        <a:t> yêu cầu</a:t>
                      </a:r>
                      <a:endParaRPr sz="1600" spc="0" dirty="0">
                        <a:latin typeface="Times New Roman" panose="02020603050405020304" pitchFamily="18" charset="0"/>
                        <a:cs typeface="Times New Roman" panose="02020603050405020304" pitchFamily="18" charset="0"/>
                      </a:endParaRP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393190">
                        <a:lnSpc>
                          <a:spcPts val="2110"/>
                        </a:lnSpc>
                        <a:tabLst>
                          <a:tab pos="2691130" algn="l"/>
                        </a:tabLst>
                      </a:pPr>
                      <a:r>
                        <a:rPr sz="1400" spc="0" dirty="0">
                          <a:latin typeface="Times New Roman" panose="02020603050405020304" pitchFamily="18" charset="0"/>
                          <a:cs typeface="Times New Roman" panose="02020603050405020304" pitchFamily="18" charset="0"/>
                        </a:rPr>
                        <a:t>Gởi tới</a:t>
                      </a:r>
                      <a:r>
                        <a:rPr sz="1400" spc="0" dirty="0">
                          <a:latin typeface="Tahoma"/>
                          <a:cs typeface="Tahoma"/>
                        </a:rPr>
                        <a:t>	</a:t>
                      </a:r>
                      <a:r>
                        <a:rPr sz="2850" i="1" spc="0" baseline="-14619" dirty="0">
                          <a:latin typeface="Tahoma"/>
                          <a:cs typeface="Tahoma"/>
                        </a:rPr>
                        <a:t>1</a:t>
                      </a:r>
                      <a:endParaRPr sz="2850" spc="0" baseline="-14619" dirty="0">
                        <a:latin typeface="Tahoma"/>
                        <a:cs typeface="Tahoma"/>
                      </a:endParaRPr>
                    </a:p>
                  </a:txBody>
                  <a:tcPr marL="0" marR="0" marT="0"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7325" indent="-187325" algn="ctr">
                        <a:lnSpc>
                          <a:spcPts val="1870"/>
                        </a:lnSpc>
                        <a:spcBef>
                          <a:spcPts val="425"/>
                        </a:spcBef>
                      </a:pPr>
                      <a:r>
                        <a:rPr sz="1600" spc="0">
                          <a:latin typeface="Times New Roman" panose="02020603050405020304" pitchFamily="18" charset="0"/>
                          <a:cs typeface="Times New Roman" panose="02020603050405020304" pitchFamily="18" charset="0"/>
                        </a:rPr>
                        <a:t>Phòng Ban</a:t>
                      </a:r>
                      <a:endParaRPr sz="1600" spc="0" dirty="0">
                        <a:latin typeface="Times New Roman" panose="02020603050405020304" pitchFamily="18" charset="0"/>
                        <a:cs typeface="Times New Roman" panose="02020603050405020304" pitchFamily="18" charset="0"/>
                      </a:endParaRP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5570">
                <a:tc>
                  <a:txBody>
                    <a:bodyPr/>
                    <a:lstStyle/>
                    <a:p>
                      <a:pPr>
                        <a:lnSpc>
                          <a:spcPct val="100000"/>
                        </a:lnSpc>
                      </a:pPr>
                      <a:endParaRPr sz="6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rowSpan="2">
                  <a:txBody>
                    <a:bodyPr/>
                    <a:lstStyle/>
                    <a:p>
                      <a:pPr marL="230504">
                        <a:lnSpc>
                          <a:spcPts val="1885"/>
                        </a:lnSpc>
                        <a:spcBef>
                          <a:spcPts val="40"/>
                        </a:spcBef>
                      </a:pPr>
                      <a:r>
                        <a:rPr sz="1900" i="1" spc="-50" dirty="0">
                          <a:latin typeface="Tahoma"/>
                          <a:cs typeface="Tahoma"/>
                        </a:rPr>
                        <a:t>0..*</a:t>
                      </a:r>
                      <a:endParaRPr sz="1900" dirty="0">
                        <a:latin typeface="Tahoma"/>
                        <a:cs typeface="Tahoma"/>
                      </a:endParaRPr>
                    </a:p>
                  </a:txBody>
                  <a:tcPr marL="0" marR="0" marT="508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508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5" name="object 5"/>
          <p:cNvSpPr txBox="1"/>
          <p:nvPr/>
        </p:nvSpPr>
        <p:spPr>
          <a:xfrm>
            <a:off x="6008878" y="5470600"/>
            <a:ext cx="1077722" cy="320601"/>
          </a:xfrm>
          <a:prstGeom prst="rect">
            <a:avLst/>
          </a:prstGeom>
        </p:spPr>
        <p:txBody>
          <a:bodyPr vert="horz" wrap="square" lIns="0" tIns="12700" rIns="0" bIns="0" rtlCol="0">
            <a:spAutoFit/>
          </a:bodyPr>
          <a:lstStyle/>
          <a:p>
            <a:pPr marL="12700">
              <a:spcBef>
                <a:spcPts val="100"/>
              </a:spcBef>
            </a:pPr>
            <a:r>
              <a:rPr sz="2000" dirty="0">
                <a:latin typeface="Times New Roman" panose="02020603050405020304" pitchFamily="18" charset="0"/>
                <a:cs typeface="Times New Roman" panose="02020603050405020304" pitchFamily="18" charset="0"/>
              </a:rPr>
              <a:t>Bản số</a:t>
            </a:r>
            <a:endParaRPr sz="2000">
              <a:latin typeface="Times New Roman" panose="02020603050405020304" pitchFamily="18" charset="0"/>
              <a:cs typeface="Times New Roman" panose="02020603050405020304" pitchFamily="18" charset="0"/>
            </a:endParaRPr>
          </a:p>
        </p:txBody>
      </p:sp>
      <p:sp>
        <p:nvSpPr>
          <p:cNvPr id="6" name="object 6"/>
          <p:cNvSpPr/>
          <p:nvPr/>
        </p:nvSpPr>
        <p:spPr>
          <a:xfrm>
            <a:off x="5526023" y="4904434"/>
            <a:ext cx="842010" cy="539115"/>
          </a:xfrm>
          <a:custGeom>
            <a:avLst/>
            <a:gdLst/>
            <a:ahLst/>
            <a:cxnLst/>
            <a:rect l="l" t="t" r="r" b="b"/>
            <a:pathLst>
              <a:path w="842010" h="539114">
                <a:moveTo>
                  <a:pt x="755903" y="473456"/>
                </a:moveTo>
                <a:lnTo>
                  <a:pt x="749046" y="484250"/>
                </a:lnTo>
                <a:lnTo>
                  <a:pt x="834771" y="538733"/>
                </a:lnTo>
                <a:lnTo>
                  <a:pt x="841628" y="528066"/>
                </a:lnTo>
                <a:lnTo>
                  <a:pt x="755903" y="473456"/>
                </a:lnTo>
                <a:close/>
              </a:path>
              <a:path w="842010" h="539114">
                <a:moveTo>
                  <a:pt x="638048" y="398525"/>
                </a:moveTo>
                <a:lnTo>
                  <a:pt x="631189" y="409194"/>
                </a:lnTo>
                <a:lnTo>
                  <a:pt x="716914" y="463804"/>
                </a:lnTo>
                <a:lnTo>
                  <a:pt x="723773" y="453008"/>
                </a:lnTo>
                <a:lnTo>
                  <a:pt x="638048" y="398525"/>
                </a:lnTo>
                <a:close/>
              </a:path>
              <a:path w="842010" h="539114">
                <a:moveTo>
                  <a:pt x="520191" y="323469"/>
                </a:moveTo>
                <a:lnTo>
                  <a:pt x="513334" y="334263"/>
                </a:lnTo>
                <a:lnTo>
                  <a:pt x="599059" y="388747"/>
                </a:lnTo>
                <a:lnTo>
                  <a:pt x="605916" y="378079"/>
                </a:lnTo>
                <a:lnTo>
                  <a:pt x="520191" y="323469"/>
                </a:lnTo>
                <a:close/>
              </a:path>
              <a:path w="842010" h="539114">
                <a:moveTo>
                  <a:pt x="402336" y="248538"/>
                </a:moveTo>
                <a:lnTo>
                  <a:pt x="395477" y="259206"/>
                </a:lnTo>
                <a:lnTo>
                  <a:pt x="481202" y="313689"/>
                </a:lnTo>
                <a:lnTo>
                  <a:pt x="488061" y="303022"/>
                </a:lnTo>
                <a:lnTo>
                  <a:pt x="402336" y="248538"/>
                </a:lnTo>
                <a:close/>
              </a:path>
              <a:path w="842010" h="539114">
                <a:moveTo>
                  <a:pt x="284479" y="173481"/>
                </a:moveTo>
                <a:lnTo>
                  <a:pt x="277622" y="184150"/>
                </a:lnTo>
                <a:lnTo>
                  <a:pt x="363347" y="238760"/>
                </a:lnTo>
                <a:lnTo>
                  <a:pt x="370204" y="228092"/>
                </a:lnTo>
                <a:lnTo>
                  <a:pt x="284479" y="173481"/>
                </a:lnTo>
                <a:close/>
              </a:path>
              <a:path w="842010" h="539114">
                <a:moveTo>
                  <a:pt x="166624" y="98425"/>
                </a:moveTo>
                <a:lnTo>
                  <a:pt x="159765" y="109219"/>
                </a:lnTo>
                <a:lnTo>
                  <a:pt x="245490" y="163702"/>
                </a:lnTo>
                <a:lnTo>
                  <a:pt x="252349" y="153035"/>
                </a:lnTo>
                <a:lnTo>
                  <a:pt x="166624" y="98425"/>
                </a:lnTo>
                <a:close/>
              </a:path>
              <a:path w="842010" h="539114">
                <a:moveTo>
                  <a:pt x="67699" y="35492"/>
                </a:moveTo>
                <a:lnTo>
                  <a:pt x="60832" y="46282"/>
                </a:lnTo>
                <a:lnTo>
                  <a:pt x="127635" y="88773"/>
                </a:lnTo>
                <a:lnTo>
                  <a:pt x="134492" y="77977"/>
                </a:lnTo>
                <a:lnTo>
                  <a:pt x="67699" y="35492"/>
                </a:lnTo>
                <a:close/>
              </a:path>
              <a:path w="842010" h="539114">
                <a:moveTo>
                  <a:pt x="0" y="0"/>
                </a:moveTo>
                <a:lnTo>
                  <a:pt x="43814" y="73025"/>
                </a:lnTo>
                <a:lnTo>
                  <a:pt x="60832" y="46282"/>
                </a:lnTo>
                <a:lnTo>
                  <a:pt x="50164" y="39497"/>
                </a:lnTo>
                <a:lnTo>
                  <a:pt x="57023" y="28701"/>
                </a:lnTo>
                <a:lnTo>
                  <a:pt x="72020" y="28701"/>
                </a:lnTo>
                <a:lnTo>
                  <a:pt x="84709" y="8762"/>
                </a:lnTo>
                <a:lnTo>
                  <a:pt x="0" y="0"/>
                </a:lnTo>
                <a:close/>
              </a:path>
              <a:path w="842010" h="539114">
                <a:moveTo>
                  <a:pt x="57023" y="28701"/>
                </a:moveTo>
                <a:lnTo>
                  <a:pt x="50164" y="39497"/>
                </a:lnTo>
                <a:lnTo>
                  <a:pt x="60832" y="46282"/>
                </a:lnTo>
                <a:lnTo>
                  <a:pt x="67699" y="35492"/>
                </a:lnTo>
                <a:lnTo>
                  <a:pt x="57023" y="28701"/>
                </a:lnTo>
                <a:close/>
              </a:path>
              <a:path w="842010" h="539114">
                <a:moveTo>
                  <a:pt x="72020" y="28701"/>
                </a:moveTo>
                <a:lnTo>
                  <a:pt x="57023" y="28701"/>
                </a:lnTo>
                <a:lnTo>
                  <a:pt x="67699" y="35492"/>
                </a:lnTo>
                <a:lnTo>
                  <a:pt x="72020" y="28701"/>
                </a:lnTo>
                <a:close/>
              </a:path>
            </a:pathLst>
          </a:custGeom>
          <a:solidFill>
            <a:srgbClr val="FF33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6400038" y="4675833"/>
            <a:ext cx="1031240" cy="767080"/>
          </a:xfrm>
          <a:custGeom>
            <a:avLst/>
            <a:gdLst/>
            <a:ahLst/>
            <a:cxnLst/>
            <a:rect l="l" t="t" r="r" b="b"/>
            <a:pathLst>
              <a:path w="1031239" h="767079">
                <a:moveTo>
                  <a:pt x="81661" y="696341"/>
                </a:moveTo>
                <a:lnTo>
                  <a:pt x="0" y="756919"/>
                </a:lnTo>
                <a:lnTo>
                  <a:pt x="7620" y="767080"/>
                </a:lnTo>
                <a:lnTo>
                  <a:pt x="89153" y="706627"/>
                </a:lnTo>
                <a:lnTo>
                  <a:pt x="81661" y="696341"/>
                </a:lnTo>
                <a:close/>
              </a:path>
              <a:path w="1031239" h="767079">
                <a:moveTo>
                  <a:pt x="193801" y="613156"/>
                </a:moveTo>
                <a:lnTo>
                  <a:pt x="112267" y="673607"/>
                </a:lnTo>
                <a:lnTo>
                  <a:pt x="119761" y="683894"/>
                </a:lnTo>
                <a:lnTo>
                  <a:pt x="201422" y="623316"/>
                </a:lnTo>
                <a:lnTo>
                  <a:pt x="193801" y="613156"/>
                </a:lnTo>
                <a:close/>
              </a:path>
              <a:path w="1031239" h="767079">
                <a:moveTo>
                  <a:pt x="306070" y="529844"/>
                </a:moveTo>
                <a:lnTo>
                  <a:pt x="224409" y="590423"/>
                </a:lnTo>
                <a:lnTo>
                  <a:pt x="232028" y="600582"/>
                </a:lnTo>
                <a:lnTo>
                  <a:pt x="313563" y="540131"/>
                </a:lnTo>
                <a:lnTo>
                  <a:pt x="306070" y="529844"/>
                </a:lnTo>
                <a:close/>
              </a:path>
              <a:path w="1031239" h="767079">
                <a:moveTo>
                  <a:pt x="418211" y="446658"/>
                </a:moveTo>
                <a:lnTo>
                  <a:pt x="336676" y="507238"/>
                </a:lnTo>
                <a:lnTo>
                  <a:pt x="344170" y="517398"/>
                </a:lnTo>
                <a:lnTo>
                  <a:pt x="425831" y="456819"/>
                </a:lnTo>
                <a:lnTo>
                  <a:pt x="418211" y="446658"/>
                </a:lnTo>
                <a:close/>
              </a:path>
              <a:path w="1031239" h="767079">
                <a:moveTo>
                  <a:pt x="530351" y="363474"/>
                </a:moveTo>
                <a:lnTo>
                  <a:pt x="448817" y="423925"/>
                </a:lnTo>
                <a:lnTo>
                  <a:pt x="456438" y="434213"/>
                </a:lnTo>
                <a:lnTo>
                  <a:pt x="537972" y="373633"/>
                </a:lnTo>
                <a:lnTo>
                  <a:pt x="530351" y="363474"/>
                </a:lnTo>
                <a:close/>
              </a:path>
              <a:path w="1031239" h="767079">
                <a:moveTo>
                  <a:pt x="642620" y="280162"/>
                </a:moveTo>
                <a:lnTo>
                  <a:pt x="560959" y="340741"/>
                </a:lnTo>
                <a:lnTo>
                  <a:pt x="568578" y="350900"/>
                </a:lnTo>
                <a:lnTo>
                  <a:pt x="650239" y="290449"/>
                </a:lnTo>
                <a:lnTo>
                  <a:pt x="642620" y="280162"/>
                </a:lnTo>
                <a:close/>
              </a:path>
              <a:path w="1031239" h="767079">
                <a:moveTo>
                  <a:pt x="754761" y="196976"/>
                </a:moveTo>
                <a:lnTo>
                  <a:pt x="673226" y="257556"/>
                </a:lnTo>
                <a:lnTo>
                  <a:pt x="680720" y="267716"/>
                </a:lnTo>
                <a:lnTo>
                  <a:pt x="762381" y="207137"/>
                </a:lnTo>
                <a:lnTo>
                  <a:pt x="754761" y="196976"/>
                </a:lnTo>
                <a:close/>
              </a:path>
              <a:path w="1031239" h="767079">
                <a:moveTo>
                  <a:pt x="867028" y="113792"/>
                </a:moveTo>
                <a:lnTo>
                  <a:pt x="785367" y="174244"/>
                </a:lnTo>
                <a:lnTo>
                  <a:pt x="792988" y="184531"/>
                </a:lnTo>
                <a:lnTo>
                  <a:pt x="874522" y="123951"/>
                </a:lnTo>
                <a:lnTo>
                  <a:pt x="867028" y="113792"/>
                </a:lnTo>
                <a:close/>
              </a:path>
              <a:path w="1031239" h="767079">
                <a:moveTo>
                  <a:pt x="966015" y="40354"/>
                </a:moveTo>
                <a:lnTo>
                  <a:pt x="897636" y="91058"/>
                </a:lnTo>
                <a:lnTo>
                  <a:pt x="905128" y="101218"/>
                </a:lnTo>
                <a:lnTo>
                  <a:pt x="973552" y="50481"/>
                </a:lnTo>
                <a:lnTo>
                  <a:pt x="966015" y="40354"/>
                </a:lnTo>
                <a:close/>
              </a:path>
              <a:path w="1031239" h="767079">
                <a:moveTo>
                  <a:pt x="1014383" y="32766"/>
                </a:moveTo>
                <a:lnTo>
                  <a:pt x="976249" y="32766"/>
                </a:lnTo>
                <a:lnTo>
                  <a:pt x="983741" y="42925"/>
                </a:lnTo>
                <a:lnTo>
                  <a:pt x="973552" y="50481"/>
                </a:lnTo>
                <a:lnTo>
                  <a:pt x="992504" y="75945"/>
                </a:lnTo>
                <a:lnTo>
                  <a:pt x="1014383" y="32766"/>
                </a:lnTo>
                <a:close/>
              </a:path>
              <a:path w="1031239" h="767079">
                <a:moveTo>
                  <a:pt x="976249" y="32766"/>
                </a:moveTo>
                <a:lnTo>
                  <a:pt x="966015" y="40354"/>
                </a:lnTo>
                <a:lnTo>
                  <a:pt x="973552" y="50481"/>
                </a:lnTo>
                <a:lnTo>
                  <a:pt x="983741" y="42925"/>
                </a:lnTo>
                <a:lnTo>
                  <a:pt x="976249" y="32766"/>
                </a:lnTo>
                <a:close/>
              </a:path>
              <a:path w="1031239" h="767079">
                <a:moveTo>
                  <a:pt x="1030986" y="0"/>
                </a:moveTo>
                <a:lnTo>
                  <a:pt x="947038" y="14858"/>
                </a:lnTo>
                <a:lnTo>
                  <a:pt x="966015" y="40354"/>
                </a:lnTo>
                <a:lnTo>
                  <a:pt x="976249" y="32766"/>
                </a:lnTo>
                <a:lnTo>
                  <a:pt x="1014383" y="32766"/>
                </a:lnTo>
                <a:lnTo>
                  <a:pt x="1030986" y="0"/>
                </a:lnTo>
                <a:close/>
              </a:path>
            </a:pathLst>
          </a:custGeom>
          <a:solidFill>
            <a:srgbClr val="FF33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9"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52695521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04814"/>
            <a:ext cx="12192000" cy="1397305"/>
          </a:xfrm>
          <a:prstGeom prst="rect">
            <a:avLst/>
          </a:prstGeom>
        </p:spPr>
        <p:txBody>
          <a:bodyPr vert="horz" wrap="square" lIns="0" tIns="104139" rIns="0" bIns="0" rtlCol="0">
            <a:spAutoFit/>
          </a:bodyPr>
          <a:lstStyle/>
          <a:p>
            <a:pPr marL="469900" indent="-457200">
              <a:lnSpc>
                <a:spcPct val="150000"/>
              </a:lnSpc>
              <a:spcBef>
                <a:spcPts val="819"/>
              </a:spcBef>
              <a:buSzPct val="100000"/>
              <a:buFont typeface="Wingdings" panose="05000000000000000000" pitchFamily="2" charset="2"/>
              <a:buChar char="§"/>
            </a:pPr>
            <a:r>
              <a:rPr sz="2800" b="1" dirty="0">
                <a:solidFill>
                  <a:srgbClr val="FF0000"/>
                </a:solidFill>
                <a:latin typeface="Times New Roman" panose="02020603050405020304" pitchFamily="18" charset="0"/>
                <a:cs typeface="Times New Roman" panose="02020603050405020304" pitchFamily="18" charset="0"/>
              </a:rPr>
              <a:t>Xác định mối kết hợp (association):</a:t>
            </a:r>
          </a:p>
          <a:p>
            <a:pPr marL="835025" lvl="1" indent="-457200">
              <a:lnSpc>
                <a:spcPct val="150000"/>
              </a:lnSpc>
              <a:spcBef>
                <a:spcPts val="610"/>
              </a:spcBef>
              <a:buSzPct val="100000"/>
              <a:buFont typeface="Wingdings" panose="05000000000000000000" pitchFamily="2" charset="2"/>
              <a:buChar char="ü"/>
            </a:pPr>
            <a:r>
              <a:rPr sz="2800" b="1" dirty="0">
                <a:solidFill>
                  <a:srgbClr val="006FC0"/>
                </a:solidFill>
                <a:latin typeface="Times New Roman" panose="02020603050405020304" pitchFamily="18" charset="0"/>
                <a:cs typeface="Times New Roman" panose="02020603050405020304" pitchFamily="18" charset="0"/>
              </a:rPr>
              <a:t>Xác định bản số cho mối kết hợp: </a:t>
            </a:r>
            <a:r>
              <a:rPr sz="2800" dirty="0">
                <a:latin typeface="Times New Roman" panose="02020603050405020304" pitchFamily="18" charset="0"/>
                <a:cs typeface="Times New Roman" panose="02020603050405020304" pitchFamily="18" charset="0"/>
              </a:rPr>
              <a:t>(min, </a:t>
            </a:r>
            <a:r>
              <a:rPr sz="2800">
                <a:latin typeface="Times New Roman" panose="02020603050405020304" pitchFamily="18" charset="0"/>
                <a:cs typeface="Times New Roman" panose="02020603050405020304" pitchFamily="18" charset="0"/>
              </a:rPr>
              <a:t>max)</a:t>
            </a:r>
            <a:endParaRPr sz="2800" dirty="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2576786870"/>
              </p:ext>
            </p:extLst>
          </p:nvPr>
        </p:nvGraphicFramePr>
        <p:xfrm>
          <a:off x="3046476" y="2970276"/>
          <a:ext cx="1412875" cy="561340"/>
        </p:xfrm>
        <a:graphic>
          <a:graphicData uri="http://schemas.openxmlformats.org/drawingml/2006/table">
            <a:tbl>
              <a:tblPr firstRow="1" bandRow="1">
                <a:tableStyleId>{2D5ABB26-0587-4C30-8999-92F81FD0307C}</a:tableStyleId>
              </a:tblPr>
              <a:tblGrid>
                <a:gridCol w="1412875">
                  <a:extLst>
                    <a:ext uri="{9D8B030D-6E8A-4147-A177-3AD203B41FA5}">
                      <a16:colId xmlns:a16="http://schemas.microsoft.com/office/drawing/2014/main" val="20000"/>
                    </a:ext>
                  </a:extLst>
                </a:gridCol>
              </a:tblGrid>
              <a:tr h="307340">
                <a:tc>
                  <a:txBody>
                    <a:bodyPr/>
                    <a:lstStyle/>
                    <a:p>
                      <a:pPr marL="185738" indent="-185738" algn="ctr">
                        <a:lnSpc>
                          <a:spcPts val="1900"/>
                        </a:lnSpc>
                        <a:spcBef>
                          <a:spcPts val="425"/>
                        </a:spcBef>
                      </a:pPr>
                      <a:r>
                        <a:rPr sz="1800" spc="0" baseline="0" dirty="0">
                          <a:latin typeface="Times New Roman" panose="02020603050405020304" pitchFamily="18" charset="0"/>
                          <a:cs typeface="Times New Roman" panose="02020603050405020304" pitchFamily="18" charset="0"/>
                        </a:rPr>
                        <a:t>Cầu Thủ</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788443440"/>
              </p:ext>
            </p:extLst>
          </p:nvPr>
        </p:nvGraphicFramePr>
        <p:xfrm>
          <a:off x="3046476" y="4113277"/>
          <a:ext cx="5832475" cy="561975"/>
        </p:xfrm>
        <a:graphic>
          <a:graphicData uri="http://schemas.openxmlformats.org/drawingml/2006/table">
            <a:tbl>
              <a:tblPr firstRow="1" bandRow="1">
                <a:tableStyleId>{2D5ABB26-0587-4C30-8999-92F81FD0307C}</a:tableStyleId>
              </a:tblPr>
              <a:tblGrid>
                <a:gridCol w="1412875">
                  <a:extLst>
                    <a:ext uri="{9D8B030D-6E8A-4147-A177-3AD203B41FA5}">
                      <a16:colId xmlns:a16="http://schemas.microsoft.com/office/drawing/2014/main" val="20000"/>
                    </a:ext>
                  </a:extLst>
                </a:gridCol>
                <a:gridCol w="3006725">
                  <a:extLst>
                    <a:ext uri="{9D8B030D-6E8A-4147-A177-3AD203B41FA5}">
                      <a16:colId xmlns:a16="http://schemas.microsoft.com/office/drawing/2014/main" val="20001"/>
                    </a:ext>
                  </a:extLst>
                </a:gridCol>
                <a:gridCol w="1412875">
                  <a:extLst>
                    <a:ext uri="{9D8B030D-6E8A-4147-A177-3AD203B41FA5}">
                      <a16:colId xmlns:a16="http://schemas.microsoft.com/office/drawing/2014/main" val="20002"/>
                    </a:ext>
                  </a:extLst>
                </a:gridCol>
              </a:tblGrid>
              <a:tr h="304800">
                <a:tc>
                  <a:txBody>
                    <a:bodyPr/>
                    <a:lstStyle/>
                    <a:p>
                      <a:pPr marL="185738" indent="-185738" algn="ctr">
                        <a:lnSpc>
                          <a:spcPts val="1870"/>
                        </a:lnSpc>
                        <a:spcBef>
                          <a:spcPts val="425"/>
                        </a:spcBef>
                      </a:pPr>
                      <a:r>
                        <a:rPr sz="1800" spc="0" dirty="0">
                          <a:latin typeface="Times New Roman" panose="02020603050405020304" pitchFamily="18" charset="0"/>
                          <a:cs typeface="Times New Roman" panose="02020603050405020304" pitchFamily="18" charset="0"/>
                        </a:rPr>
                        <a:t>Phòng</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marL="1028065">
                        <a:lnSpc>
                          <a:spcPct val="100000"/>
                        </a:lnSpc>
                        <a:spcBef>
                          <a:spcPts val="275"/>
                        </a:spcBef>
                        <a:tabLst>
                          <a:tab pos="2490470" algn="l"/>
                        </a:tabLst>
                      </a:pPr>
                      <a:r>
                        <a:rPr sz="1400" spc="0" dirty="0">
                          <a:latin typeface="Tahoma"/>
                          <a:cs typeface="Tahoma"/>
                        </a:rPr>
                        <a:t>Chứa trong	</a:t>
                      </a:r>
                      <a:r>
                        <a:rPr sz="2175" i="1" spc="0" baseline="21072" dirty="0">
                          <a:latin typeface="Tahoma"/>
                          <a:cs typeface="Tahoma"/>
                        </a:rPr>
                        <a:t>1</a:t>
                      </a:r>
                      <a:endParaRPr sz="2175" spc="0" baseline="21072" dirty="0">
                        <a:latin typeface="Tahoma"/>
                        <a:cs typeface="Tahoma"/>
                      </a:endParaRPr>
                    </a:p>
                  </a:txBody>
                  <a:tcPr marL="0" marR="0" marT="34925"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5738" indent="-185738" algn="ctr">
                        <a:lnSpc>
                          <a:spcPts val="1870"/>
                        </a:lnSpc>
                        <a:spcBef>
                          <a:spcPts val="425"/>
                        </a:spcBef>
                      </a:pPr>
                      <a:r>
                        <a:rPr sz="1800" spc="0" dirty="0">
                          <a:latin typeface="Times New Roman" panose="02020603050405020304" pitchFamily="18" charset="0"/>
                          <a:cs typeface="Times New Roman" panose="02020603050405020304" pitchFamily="18" charset="0"/>
                        </a:rPr>
                        <a:t>Toà Nhà</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557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rowSpan="2">
                  <a:txBody>
                    <a:bodyPr/>
                    <a:lstStyle/>
                    <a:p>
                      <a:pPr marL="112395">
                        <a:lnSpc>
                          <a:spcPts val="1230"/>
                        </a:lnSpc>
                        <a:spcBef>
                          <a:spcPts val="695"/>
                        </a:spcBef>
                      </a:pPr>
                      <a:r>
                        <a:rPr sz="1450" i="1" spc="-25" dirty="0">
                          <a:latin typeface="Tahoma"/>
                          <a:cs typeface="Tahoma"/>
                        </a:rPr>
                        <a:t>2..*</a:t>
                      </a:r>
                      <a:endParaRPr sz="1450">
                        <a:latin typeface="Tahoma"/>
                        <a:cs typeface="Tahoma"/>
                      </a:endParaRPr>
                    </a:p>
                  </a:txBody>
                  <a:tcPr marL="0" marR="0" marT="88265"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88265"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7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4051626834"/>
              </p:ext>
            </p:extLst>
          </p:nvPr>
        </p:nvGraphicFramePr>
        <p:xfrm>
          <a:off x="4494277" y="2970276"/>
          <a:ext cx="4384675" cy="561340"/>
        </p:xfrm>
        <a:graphic>
          <a:graphicData uri="http://schemas.openxmlformats.org/drawingml/2006/table">
            <a:tbl>
              <a:tblPr firstRow="1" bandRow="1">
                <a:tableStyleId>{2D5ABB26-0587-4C30-8999-92F81FD0307C}</a:tableStyleId>
              </a:tblPr>
              <a:tblGrid>
                <a:gridCol w="2971800">
                  <a:extLst>
                    <a:ext uri="{9D8B030D-6E8A-4147-A177-3AD203B41FA5}">
                      <a16:colId xmlns:a16="http://schemas.microsoft.com/office/drawing/2014/main" val="20000"/>
                    </a:ext>
                  </a:extLst>
                </a:gridCol>
                <a:gridCol w="1412875">
                  <a:extLst>
                    <a:ext uri="{9D8B030D-6E8A-4147-A177-3AD203B41FA5}">
                      <a16:colId xmlns:a16="http://schemas.microsoft.com/office/drawing/2014/main" val="20001"/>
                    </a:ext>
                  </a:extLst>
                </a:gridCol>
              </a:tblGrid>
              <a:tr h="307340">
                <a:tc rowSpan="2">
                  <a:txBody>
                    <a:bodyPr/>
                    <a:lstStyle/>
                    <a:p>
                      <a:pPr marL="563245">
                        <a:lnSpc>
                          <a:spcPct val="100000"/>
                        </a:lnSpc>
                        <a:spcBef>
                          <a:spcPts val="305"/>
                        </a:spcBef>
                        <a:tabLst>
                          <a:tab pos="2531745" algn="l"/>
                        </a:tabLst>
                      </a:pPr>
                      <a:r>
                        <a:rPr sz="1400" spc="0" baseline="0" dirty="0">
                          <a:latin typeface="Tahoma"/>
                          <a:cs typeface="Tahoma"/>
                        </a:rPr>
                        <a:t>Là thành phần của</a:t>
                      </a:r>
                      <a:r>
                        <a:rPr sz="1400" spc="-210">
                          <a:latin typeface="Tahoma"/>
                          <a:cs typeface="Tahoma"/>
                        </a:rPr>
                        <a:t>	</a:t>
                      </a:r>
                      <a:r>
                        <a:rPr lang="en-US" sz="2175" i="1" spc="-37" baseline="11494" smtClean="0">
                          <a:latin typeface="Tahoma"/>
                          <a:cs typeface="Tahoma"/>
                        </a:rPr>
                        <a:t>0</a:t>
                      </a:r>
                      <a:r>
                        <a:rPr sz="2175" i="1" spc="-37" baseline="11494" smtClean="0">
                          <a:latin typeface="Tahoma"/>
                          <a:cs typeface="Tahoma"/>
                        </a:rPr>
                        <a:t>..*</a:t>
                      </a:r>
                      <a:endParaRPr sz="2175" baseline="11494" dirty="0">
                        <a:latin typeface="Tahoma"/>
                        <a:cs typeface="Tahoma"/>
                      </a:endParaRPr>
                    </a:p>
                  </a:txBody>
                  <a:tcPr marL="0" marR="0" marT="38735" marB="0">
                    <a:lnR w="3175">
                      <a:solidFill>
                        <a:srgbClr val="000000"/>
                      </a:solidFill>
                      <a:prstDash val="solid"/>
                    </a:lnR>
                    <a:lnB w="9525">
                      <a:solidFill>
                        <a:srgbClr val="000000"/>
                      </a:solidFill>
                      <a:prstDash val="solid"/>
                    </a:lnB>
                  </a:tcPr>
                </a:tc>
                <a:tc>
                  <a:txBody>
                    <a:bodyPr/>
                    <a:lstStyle/>
                    <a:p>
                      <a:pPr marL="185738" indent="-185738" algn="ctr">
                        <a:lnSpc>
                          <a:spcPts val="1900"/>
                        </a:lnSpc>
                        <a:spcBef>
                          <a:spcPts val="425"/>
                        </a:spcBef>
                      </a:pPr>
                      <a:r>
                        <a:rPr sz="1800" spc="0" baseline="0" dirty="0">
                          <a:latin typeface="Times New Roman" panose="02020603050405020304" pitchFamily="18" charset="0"/>
                          <a:cs typeface="Times New Roman" panose="02020603050405020304" pitchFamily="18" charset="0"/>
                        </a:rPr>
                        <a:t>Đội Bóng</a:t>
                      </a:r>
                    </a:p>
                  </a:txBody>
                  <a:tcPr marL="0" marR="0" marT="539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73025">
                <a:tc vMerge="1">
                  <a:txBody>
                    <a:bodyPr/>
                    <a:lstStyle/>
                    <a:p>
                      <a:endParaRPr/>
                    </a:p>
                  </a:txBody>
                  <a:tcPr marL="0" marR="0" marT="38735" marB="0">
                    <a:lnR w="3175">
                      <a:solidFill>
                        <a:srgbClr val="000000"/>
                      </a:solidFill>
                      <a:prstDash val="solid"/>
                    </a:lnR>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80975">
                <a:tc>
                  <a:txBody>
                    <a:bodyPr/>
                    <a:lstStyle/>
                    <a:p>
                      <a:pPr marL="93345">
                        <a:lnSpc>
                          <a:spcPts val="1019"/>
                        </a:lnSpc>
                        <a:spcBef>
                          <a:spcPts val="305"/>
                        </a:spcBef>
                      </a:pPr>
                      <a:r>
                        <a:rPr sz="1450" i="1" spc="-25" dirty="0">
                          <a:latin typeface="Tahoma"/>
                          <a:cs typeface="Tahoma"/>
                        </a:rPr>
                        <a:t>1..*</a:t>
                      </a:r>
                      <a:endParaRPr sz="1450">
                        <a:latin typeface="Tahoma"/>
                        <a:cs typeface="Tahoma"/>
                      </a:endParaRPr>
                    </a:p>
                  </a:txBody>
                  <a:tcPr marL="0" marR="0" marT="38735" marB="0">
                    <a:lnR w="3175">
                      <a:solidFill>
                        <a:srgbClr val="000000"/>
                      </a:solidFill>
                      <a:prstDash val="solid"/>
                    </a:lnR>
                    <a:lnT w="9525">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7" name="object 7"/>
          <p:cNvGraphicFramePr>
            <a:graphicFrameLocks noGrp="1"/>
          </p:cNvGraphicFramePr>
          <p:nvPr>
            <p:extLst>
              <p:ext uri="{D42A27DB-BD31-4B8C-83A1-F6EECF244321}">
                <p14:modId xmlns:p14="http://schemas.microsoft.com/office/powerpoint/2010/main" val="908323909"/>
              </p:ext>
            </p:extLst>
          </p:nvPr>
        </p:nvGraphicFramePr>
        <p:xfrm>
          <a:off x="3046476" y="5303520"/>
          <a:ext cx="1412875" cy="561340"/>
        </p:xfrm>
        <a:graphic>
          <a:graphicData uri="http://schemas.openxmlformats.org/drawingml/2006/table">
            <a:tbl>
              <a:tblPr firstRow="1" bandRow="1">
                <a:tableStyleId>{2D5ABB26-0587-4C30-8999-92F81FD0307C}</a:tableStyleId>
              </a:tblPr>
              <a:tblGrid>
                <a:gridCol w="1412875">
                  <a:extLst>
                    <a:ext uri="{9D8B030D-6E8A-4147-A177-3AD203B41FA5}">
                      <a16:colId xmlns:a16="http://schemas.microsoft.com/office/drawing/2014/main" val="20000"/>
                    </a:ext>
                  </a:extLst>
                </a:gridCol>
              </a:tblGrid>
              <a:tr h="307340">
                <a:tc>
                  <a:txBody>
                    <a:bodyPr/>
                    <a:lstStyle/>
                    <a:p>
                      <a:pPr marL="185738" indent="-185738" algn="ctr">
                        <a:lnSpc>
                          <a:spcPts val="1889"/>
                        </a:lnSpc>
                        <a:spcBef>
                          <a:spcPts val="430"/>
                        </a:spcBef>
                      </a:pPr>
                      <a:r>
                        <a:rPr sz="1800" spc="0" baseline="0" dirty="0">
                          <a:latin typeface="Times New Roman" panose="02020603050405020304" pitchFamily="18" charset="0"/>
                          <a:cs typeface="Times New Roman" panose="02020603050405020304" pitchFamily="18" charset="0"/>
                        </a:rPr>
                        <a:t>Đơn Hàng</a:t>
                      </a: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8" name="object 8"/>
          <p:cNvGraphicFramePr>
            <a:graphicFrameLocks noGrp="1"/>
          </p:cNvGraphicFramePr>
          <p:nvPr>
            <p:extLst>
              <p:ext uri="{D42A27DB-BD31-4B8C-83A1-F6EECF244321}">
                <p14:modId xmlns:p14="http://schemas.microsoft.com/office/powerpoint/2010/main" val="1648789405"/>
              </p:ext>
            </p:extLst>
          </p:nvPr>
        </p:nvGraphicFramePr>
        <p:xfrm>
          <a:off x="4494277" y="5303520"/>
          <a:ext cx="4384675" cy="561340"/>
        </p:xfrm>
        <a:graphic>
          <a:graphicData uri="http://schemas.openxmlformats.org/drawingml/2006/table">
            <a:tbl>
              <a:tblPr firstRow="1" bandRow="1">
                <a:tableStyleId>{2D5ABB26-0587-4C30-8999-92F81FD0307C}</a:tableStyleId>
              </a:tblPr>
              <a:tblGrid>
                <a:gridCol w="2971800">
                  <a:extLst>
                    <a:ext uri="{9D8B030D-6E8A-4147-A177-3AD203B41FA5}">
                      <a16:colId xmlns:a16="http://schemas.microsoft.com/office/drawing/2014/main" val="20000"/>
                    </a:ext>
                  </a:extLst>
                </a:gridCol>
                <a:gridCol w="1412875">
                  <a:extLst>
                    <a:ext uri="{9D8B030D-6E8A-4147-A177-3AD203B41FA5}">
                      <a16:colId xmlns:a16="http://schemas.microsoft.com/office/drawing/2014/main" val="20001"/>
                    </a:ext>
                  </a:extLst>
                </a:gridCol>
              </a:tblGrid>
              <a:tr h="307340">
                <a:tc rowSpan="2">
                  <a:txBody>
                    <a:bodyPr/>
                    <a:lstStyle/>
                    <a:p>
                      <a:pPr marL="1341120">
                        <a:lnSpc>
                          <a:spcPct val="100000"/>
                        </a:lnSpc>
                        <a:spcBef>
                          <a:spcPts val="540"/>
                        </a:spcBef>
                        <a:tabLst>
                          <a:tab pos="2531745" algn="l"/>
                        </a:tabLst>
                      </a:pPr>
                      <a:r>
                        <a:rPr sz="2100" spc="0" baseline="2000" dirty="0">
                          <a:latin typeface="Tahoma"/>
                          <a:cs typeface="Tahoma"/>
                        </a:rPr>
                        <a:t>Đặt tới</a:t>
                      </a:r>
                      <a:r>
                        <a:rPr sz="2100" spc="-315" baseline="1984" dirty="0">
                          <a:latin typeface="Tahoma"/>
                          <a:cs typeface="Tahoma"/>
                        </a:rPr>
                        <a:t>	</a:t>
                      </a:r>
                      <a:r>
                        <a:rPr sz="1450" i="1" spc="-30" dirty="0">
                          <a:latin typeface="Tahoma"/>
                          <a:cs typeface="Tahoma"/>
                        </a:rPr>
                        <a:t>1</a:t>
                      </a:r>
                      <a:endParaRPr sz="1450" dirty="0">
                        <a:latin typeface="Tahoma"/>
                        <a:cs typeface="Tahoma"/>
                      </a:endParaRPr>
                    </a:p>
                  </a:txBody>
                  <a:tcPr marL="0" marR="0" marT="68580" marB="0">
                    <a:lnR w="3175">
                      <a:solidFill>
                        <a:srgbClr val="000000"/>
                      </a:solidFill>
                      <a:prstDash val="solid"/>
                    </a:lnR>
                    <a:lnB w="9525">
                      <a:solidFill>
                        <a:srgbClr val="000000"/>
                      </a:solidFill>
                      <a:prstDash val="solid"/>
                    </a:lnB>
                  </a:tcPr>
                </a:tc>
                <a:tc>
                  <a:txBody>
                    <a:bodyPr/>
                    <a:lstStyle/>
                    <a:p>
                      <a:pPr marL="185738" indent="-185738" algn="ctr">
                        <a:lnSpc>
                          <a:spcPts val="1889"/>
                        </a:lnSpc>
                        <a:spcBef>
                          <a:spcPts val="430"/>
                        </a:spcBef>
                      </a:pPr>
                      <a:r>
                        <a:rPr sz="1800" spc="0" baseline="0" dirty="0">
                          <a:latin typeface="Times New Roman" panose="02020603050405020304" pitchFamily="18" charset="0"/>
                          <a:cs typeface="Times New Roman" panose="02020603050405020304" pitchFamily="18" charset="0"/>
                        </a:rPr>
                        <a:t>Nhà CCấp</a:t>
                      </a:r>
                    </a:p>
                  </a:txBody>
                  <a:tcPr marL="0" marR="0" marT="546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73025">
                <a:tc vMerge="1">
                  <a:txBody>
                    <a:bodyPr/>
                    <a:lstStyle/>
                    <a:p>
                      <a:endParaRPr/>
                    </a:p>
                  </a:txBody>
                  <a:tcPr marL="0" marR="0" marT="68580" marB="0">
                    <a:lnR w="3175">
                      <a:solidFill>
                        <a:srgbClr val="000000"/>
                      </a:solidFill>
                      <a:prstDash val="solid"/>
                    </a:lnR>
                    <a:lnB w="9525">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80975">
                <a:tc>
                  <a:txBody>
                    <a:bodyPr/>
                    <a:lstStyle/>
                    <a:p>
                      <a:pPr>
                        <a:lnSpc>
                          <a:spcPct val="100000"/>
                        </a:lnSpc>
                      </a:pPr>
                      <a:endParaRPr sz="1000" dirty="0">
                        <a:latin typeface="Times New Roman"/>
                        <a:cs typeface="Times New Roman"/>
                      </a:endParaRPr>
                    </a:p>
                  </a:txBody>
                  <a:tcPr marL="0" marR="0" marT="0" marB="0">
                    <a:lnR w="3175">
                      <a:solidFill>
                        <a:srgbClr val="000000"/>
                      </a:solidFill>
                      <a:prstDash val="solid"/>
                    </a:lnR>
                    <a:lnT w="9525">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9" name="object 9"/>
          <p:cNvSpPr txBox="1"/>
          <p:nvPr/>
        </p:nvSpPr>
        <p:spPr>
          <a:xfrm>
            <a:off x="4727567" y="5738072"/>
            <a:ext cx="327025" cy="239809"/>
          </a:xfrm>
          <a:prstGeom prst="rect">
            <a:avLst/>
          </a:prstGeom>
        </p:spPr>
        <p:txBody>
          <a:bodyPr vert="horz" wrap="square" lIns="0" tIns="16510" rIns="0" bIns="0" rtlCol="0">
            <a:spAutoFit/>
          </a:bodyPr>
          <a:lstStyle/>
          <a:p>
            <a:pPr marL="12700">
              <a:spcBef>
                <a:spcPts val="130"/>
              </a:spcBef>
            </a:pPr>
            <a:r>
              <a:rPr sz="1450" i="1" dirty="0">
                <a:latin typeface="Times New Roman" panose="02020603050405020304" pitchFamily="18" charset="0"/>
                <a:cs typeface="Times New Roman" panose="02020603050405020304" pitchFamily="18" charset="0"/>
              </a:rPr>
              <a:t>0..*</a:t>
            </a:r>
            <a:endParaRPr sz="1450">
              <a:latin typeface="Times New Roman" panose="02020603050405020304" pitchFamily="18" charset="0"/>
              <a:cs typeface="Times New Roman" panose="02020603050405020304" pitchFamily="18" charset="0"/>
            </a:endParaRPr>
          </a:p>
        </p:txBody>
      </p:sp>
      <p:sp>
        <p:nvSpPr>
          <p:cNvPr id="11"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12"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74571357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5"/>
          <p:cNvGraphicFramePr>
            <a:graphicFrameLocks noGrp="1"/>
          </p:cNvGraphicFramePr>
          <p:nvPr>
            <p:extLst>
              <p:ext uri="{D42A27DB-BD31-4B8C-83A1-F6EECF244321}">
                <p14:modId xmlns:p14="http://schemas.microsoft.com/office/powerpoint/2010/main" val="177235690"/>
              </p:ext>
            </p:extLst>
          </p:nvPr>
        </p:nvGraphicFramePr>
        <p:xfrm>
          <a:off x="8851392" y="3896867"/>
          <a:ext cx="1118870" cy="561340"/>
        </p:xfrm>
        <a:graphic>
          <a:graphicData uri="http://schemas.openxmlformats.org/drawingml/2006/table">
            <a:tbl>
              <a:tblPr firstRow="1" bandRow="1">
                <a:tableStyleId>{2D5ABB26-0587-4C30-8999-92F81FD0307C}</a:tableStyleId>
              </a:tblPr>
              <a:tblGrid>
                <a:gridCol w="1118870">
                  <a:extLst>
                    <a:ext uri="{9D8B030D-6E8A-4147-A177-3AD203B41FA5}">
                      <a16:colId xmlns:a16="http://schemas.microsoft.com/office/drawing/2014/main" val="20000"/>
                    </a:ext>
                  </a:extLst>
                </a:gridCol>
              </a:tblGrid>
              <a:tr h="307340">
                <a:tc>
                  <a:txBody>
                    <a:bodyPr/>
                    <a:lstStyle/>
                    <a:p>
                      <a:pPr marL="179388" indent="-179388">
                        <a:lnSpc>
                          <a:spcPts val="1980"/>
                        </a:lnSpc>
                        <a:spcBef>
                          <a:spcPts val="340"/>
                        </a:spcBef>
                      </a:pPr>
                      <a:r>
                        <a:rPr lang="en-US" sz="1800" spc="-30">
                          <a:latin typeface="Times New Roman" panose="02020603050405020304" pitchFamily="18" charset="0"/>
                          <a:cs typeface="Times New Roman" panose="02020603050405020304" pitchFamily="18" charset="0"/>
                        </a:rPr>
                        <a:t>  </a:t>
                      </a:r>
                      <a:r>
                        <a:rPr sz="1800" spc="-30">
                          <a:latin typeface="Times New Roman" panose="02020603050405020304" pitchFamily="18" charset="0"/>
                          <a:cs typeface="Times New Roman" panose="02020603050405020304" pitchFamily="18" charset="0"/>
                        </a:rPr>
                        <a:t>MáyATM</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430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39700">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p:nvPr/>
        </p:nvSpPr>
        <p:spPr>
          <a:xfrm>
            <a:off x="4040123" y="3898391"/>
            <a:ext cx="1490980" cy="562610"/>
          </a:xfrm>
          <a:custGeom>
            <a:avLst/>
            <a:gdLst/>
            <a:ahLst/>
            <a:cxnLst/>
            <a:rect l="l" t="t" r="r" b="b"/>
            <a:pathLst>
              <a:path w="1490979" h="562610">
                <a:moveTo>
                  <a:pt x="0" y="562355"/>
                </a:moveTo>
                <a:lnTo>
                  <a:pt x="1490472" y="562355"/>
                </a:lnTo>
                <a:lnTo>
                  <a:pt x="1490472" y="0"/>
                </a:lnTo>
                <a:lnTo>
                  <a:pt x="0" y="0"/>
                </a:lnTo>
                <a:lnTo>
                  <a:pt x="0" y="5623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4040123" y="4206241"/>
            <a:ext cx="1490980" cy="254635"/>
          </a:xfrm>
          <a:custGeom>
            <a:avLst/>
            <a:gdLst/>
            <a:ahLst/>
            <a:cxnLst/>
            <a:rect l="l" t="t" r="r" b="b"/>
            <a:pathLst>
              <a:path w="1490979" h="254635">
                <a:moveTo>
                  <a:pt x="0" y="254507"/>
                </a:moveTo>
                <a:lnTo>
                  <a:pt x="1490472" y="254507"/>
                </a:lnTo>
                <a:lnTo>
                  <a:pt x="1490472"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4040123" y="4320541"/>
            <a:ext cx="1490980" cy="140335"/>
          </a:xfrm>
          <a:custGeom>
            <a:avLst/>
            <a:gdLst/>
            <a:ahLst/>
            <a:cxnLst/>
            <a:rect l="l" t="t" r="r" b="b"/>
            <a:pathLst>
              <a:path w="1490979" h="140335">
                <a:moveTo>
                  <a:pt x="0" y="140207"/>
                </a:moveTo>
                <a:lnTo>
                  <a:pt x="1490472" y="140207"/>
                </a:lnTo>
                <a:lnTo>
                  <a:pt x="1490472" y="0"/>
                </a:lnTo>
                <a:lnTo>
                  <a:pt x="0" y="0"/>
                </a:lnTo>
                <a:lnTo>
                  <a:pt x="0" y="1402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p:nvPr/>
        </p:nvSpPr>
        <p:spPr>
          <a:xfrm>
            <a:off x="4187951" y="5465064"/>
            <a:ext cx="1195070" cy="562610"/>
          </a:xfrm>
          <a:custGeom>
            <a:avLst/>
            <a:gdLst/>
            <a:ahLst/>
            <a:cxnLst/>
            <a:rect l="l" t="t" r="r" b="b"/>
            <a:pathLst>
              <a:path w="1195070" h="562610">
                <a:moveTo>
                  <a:pt x="0" y="562356"/>
                </a:moveTo>
                <a:lnTo>
                  <a:pt x="1194815" y="562356"/>
                </a:lnTo>
                <a:lnTo>
                  <a:pt x="1194815" y="0"/>
                </a:lnTo>
                <a:lnTo>
                  <a:pt x="0" y="0"/>
                </a:lnTo>
                <a:lnTo>
                  <a:pt x="0" y="56235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p:nvPr/>
        </p:nvSpPr>
        <p:spPr>
          <a:xfrm>
            <a:off x="4187951" y="5772912"/>
            <a:ext cx="1195070" cy="254635"/>
          </a:xfrm>
          <a:custGeom>
            <a:avLst/>
            <a:gdLst/>
            <a:ahLst/>
            <a:cxnLst/>
            <a:rect l="l" t="t" r="r" b="b"/>
            <a:pathLst>
              <a:path w="1195070" h="254635">
                <a:moveTo>
                  <a:pt x="0" y="254507"/>
                </a:moveTo>
                <a:lnTo>
                  <a:pt x="1194815" y="254507"/>
                </a:lnTo>
                <a:lnTo>
                  <a:pt x="1194815"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4187951" y="5885688"/>
            <a:ext cx="1195070" cy="142240"/>
          </a:xfrm>
          <a:custGeom>
            <a:avLst/>
            <a:gdLst/>
            <a:ahLst/>
            <a:cxnLst/>
            <a:rect l="l" t="t" r="r" b="b"/>
            <a:pathLst>
              <a:path w="1195070" h="142239">
                <a:moveTo>
                  <a:pt x="0" y="141731"/>
                </a:moveTo>
                <a:lnTo>
                  <a:pt x="1194815" y="141731"/>
                </a:lnTo>
                <a:lnTo>
                  <a:pt x="1194815"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8813293" y="5465064"/>
            <a:ext cx="1198245" cy="562610"/>
          </a:xfrm>
          <a:custGeom>
            <a:avLst/>
            <a:gdLst/>
            <a:ahLst/>
            <a:cxnLst/>
            <a:rect l="l" t="t" r="r" b="b"/>
            <a:pathLst>
              <a:path w="1198245" h="562610">
                <a:moveTo>
                  <a:pt x="0" y="562356"/>
                </a:moveTo>
                <a:lnTo>
                  <a:pt x="1197863" y="562356"/>
                </a:lnTo>
                <a:lnTo>
                  <a:pt x="1197863" y="0"/>
                </a:lnTo>
                <a:lnTo>
                  <a:pt x="0" y="0"/>
                </a:lnTo>
                <a:lnTo>
                  <a:pt x="0" y="56235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txBox="1"/>
          <p:nvPr/>
        </p:nvSpPr>
        <p:spPr>
          <a:xfrm>
            <a:off x="8813293" y="5465064"/>
            <a:ext cx="1198245" cy="288290"/>
          </a:xfrm>
          <a:prstGeom prst="rect">
            <a:avLst/>
          </a:prstGeom>
          <a:ln w="3175">
            <a:solidFill>
              <a:srgbClr val="000000"/>
            </a:solidFill>
          </a:ln>
        </p:spPr>
        <p:txBody>
          <a:bodyPr vert="horz" wrap="square" lIns="0" tIns="41910" rIns="0" bIns="0" rtlCol="0">
            <a:spAutoFit/>
          </a:bodyPr>
          <a:lstStyle/>
          <a:p>
            <a:pPr marL="156845">
              <a:lnSpc>
                <a:spcPts val="1935"/>
              </a:lnSpc>
              <a:spcBef>
                <a:spcPts val="330"/>
              </a:spcBef>
            </a:pPr>
            <a:r>
              <a:rPr spc="-5" dirty="0">
                <a:latin typeface="Times New Roman" panose="02020603050405020304" pitchFamily="18" charset="0"/>
                <a:cs typeface="Times New Roman" panose="02020603050405020304" pitchFamily="18" charset="0"/>
              </a:rPr>
              <a:t>GiaoDịch</a:t>
            </a:r>
            <a:endParaRPr>
              <a:latin typeface="Times New Roman" panose="02020603050405020304" pitchFamily="18" charset="0"/>
              <a:cs typeface="Times New Roman" panose="02020603050405020304" pitchFamily="18" charset="0"/>
            </a:endParaRPr>
          </a:p>
        </p:txBody>
      </p:sp>
      <p:sp>
        <p:nvSpPr>
          <p:cNvPr id="14" name="object 14"/>
          <p:cNvSpPr/>
          <p:nvPr/>
        </p:nvSpPr>
        <p:spPr>
          <a:xfrm>
            <a:off x="8813293" y="5772912"/>
            <a:ext cx="1198245" cy="254635"/>
          </a:xfrm>
          <a:custGeom>
            <a:avLst/>
            <a:gdLst/>
            <a:ahLst/>
            <a:cxnLst/>
            <a:rect l="l" t="t" r="r" b="b"/>
            <a:pathLst>
              <a:path w="1198245" h="254635">
                <a:moveTo>
                  <a:pt x="0" y="254507"/>
                </a:moveTo>
                <a:lnTo>
                  <a:pt x="1197863" y="254507"/>
                </a:lnTo>
                <a:lnTo>
                  <a:pt x="1197863"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8813293" y="5885688"/>
            <a:ext cx="1198245" cy="142240"/>
          </a:xfrm>
          <a:custGeom>
            <a:avLst/>
            <a:gdLst/>
            <a:ahLst/>
            <a:cxnLst/>
            <a:rect l="l" t="t" r="r" b="b"/>
            <a:pathLst>
              <a:path w="1198245" h="142239">
                <a:moveTo>
                  <a:pt x="0" y="141731"/>
                </a:moveTo>
                <a:lnTo>
                  <a:pt x="1197863" y="141731"/>
                </a:lnTo>
                <a:lnTo>
                  <a:pt x="1197863"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7101840" y="5753100"/>
            <a:ext cx="1706880" cy="0"/>
          </a:xfrm>
          <a:custGeom>
            <a:avLst/>
            <a:gdLst/>
            <a:ahLst/>
            <a:cxnLst/>
            <a:rect l="l" t="t" r="r" b="b"/>
            <a:pathLst>
              <a:path w="1706879">
                <a:moveTo>
                  <a:pt x="0" y="0"/>
                </a:moveTo>
                <a:lnTo>
                  <a:pt x="170688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5401055" y="5753100"/>
            <a:ext cx="1701164" cy="0"/>
          </a:xfrm>
          <a:custGeom>
            <a:avLst/>
            <a:gdLst/>
            <a:ahLst/>
            <a:cxnLst/>
            <a:rect l="l" t="t" r="r" b="b"/>
            <a:pathLst>
              <a:path w="1701164">
                <a:moveTo>
                  <a:pt x="1700784" y="0"/>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4794504" y="4965191"/>
            <a:ext cx="1905" cy="494030"/>
          </a:xfrm>
          <a:custGeom>
            <a:avLst/>
            <a:gdLst/>
            <a:ahLst/>
            <a:cxnLst/>
            <a:rect l="l" t="t" r="r" b="b"/>
            <a:pathLst>
              <a:path w="1904" h="494029">
                <a:moveTo>
                  <a:pt x="0" y="0"/>
                </a:moveTo>
                <a:lnTo>
                  <a:pt x="1524" y="493775"/>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4794504" y="4477511"/>
            <a:ext cx="1905" cy="487680"/>
          </a:xfrm>
          <a:custGeom>
            <a:avLst/>
            <a:gdLst/>
            <a:ahLst/>
            <a:cxnLst/>
            <a:rect l="l" t="t" r="r" b="b"/>
            <a:pathLst>
              <a:path w="1904" h="487679">
                <a:moveTo>
                  <a:pt x="0" y="487680"/>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7668767" y="2897123"/>
            <a:ext cx="1362710" cy="1001394"/>
          </a:xfrm>
          <a:custGeom>
            <a:avLst/>
            <a:gdLst/>
            <a:ahLst/>
            <a:cxnLst/>
            <a:rect l="l" t="t" r="r" b="b"/>
            <a:pathLst>
              <a:path w="1362709" h="1001395">
                <a:moveTo>
                  <a:pt x="0" y="0"/>
                </a:moveTo>
                <a:lnTo>
                  <a:pt x="1362456" y="1001268"/>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txBox="1"/>
          <p:nvPr/>
        </p:nvSpPr>
        <p:spPr>
          <a:xfrm>
            <a:off x="8284591" y="3087370"/>
            <a:ext cx="660400" cy="299720"/>
          </a:xfrm>
          <a:prstGeom prst="rect">
            <a:avLst/>
          </a:prstGeom>
        </p:spPr>
        <p:txBody>
          <a:bodyPr vert="horz" wrap="square" lIns="0" tIns="12700" rIns="0" bIns="0" rtlCol="0">
            <a:spAutoFit/>
          </a:bodyPr>
          <a:lstStyle/>
          <a:p>
            <a:pPr marL="12700">
              <a:spcBef>
                <a:spcPts val="100"/>
              </a:spcBef>
            </a:pPr>
            <a:r>
              <a:rPr i="1" dirty="0">
                <a:latin typeface="Times New Roman" panose="02020603050405020304" pitchFamily="18" charset="0"/>
                <a:cs typeface="Times New Roman" panose="02020603050405020304" pitchFamily="18" charset="0"/>
              </a:rPr>
              <a:t>Th</a:t>
            </a:r>
            <a:r>
              <a:rPr i="1" spc="-10" dirty="0">
                <a:latin typeface="Times New Roman" panose="02020603050405020304" pitchFamily="18" charset="0"/>
                <a:cs typeface="Times New Roman" panose="02020603050405020304" pitchFamily="18" charset="0"/>
              </a:rPr>
              <a:t>u</a:t>
            </a:r>
            <a:r>
              <a:rPr i="1" spc="-5" dirty="0">
                <a:latin typeface="Times New Roman" panose="02020603050405020304" pitchFamily="18" charset="0"/>
                <a:cs typeface="Times New Roman" panose="02020603050405020304" pitchFamily="18" charset="0"/>
              </a:rPr>
              <a:t>ộc</a:t>
            </a:r>
            <a:endParaRPr>
              <a:latin typeface="Times New Roman" panose="02020603050405020304" pitchFamily="18" charset="0"/>
              <a:cs typeface="Times New Roman" panose="02020603050405020304" pitchFamily="18" charset="0"/>
            </a:endParaRPr>
          </a:p>
        </p:txBody>
      </p:sp>
      <p:sp>
        <p:nvSpPr>
          <p:cNvPr id="22" name="object 22"/>
          <p:cNvSpPr txBox="1"/>
          <p:nvPr/>
        </p:nvSpPr>
        <p:spPr>
          <a:xfrm>
            <a:off x="3889629" y="3017597"/>
            <a:ext cx="660400" cy="300355"/>
          </a:xfrm>
          <a:prstGeom prst="rect">
            <a:avLst/>
          </a:prstGeom>
        </p:spPr>
        <p:txBody>
          <a:bodyPr vert="horz" wrap="square" lIns="0" tIns="12700" rIns="0" bIns="0" rtlCol="0">
            <a:spAutoFit/>
          </a:bodyPr>
          <a:lstStyle/>
          <a:p>
            <a:pPr marL="12700">
              <a:spcBef>
                <a:spcPts val="100"/>
              </a:spcBef>
            </a:pPr>
            <a:r>
              <a:rPr i="1" dirty="0">
                <a:latin typeface="Times New Roman" panose="02020603050405020304" pitchFamily="18" charset="0"/>
                <a:cs typeface="Times New Roman" panose="02020603050405020304" pitchFamily="18" charset="0"/>
              </a:rPr>
              <a:t>Th</a:t>
            </a:r>
            <a:r>
              <a:rPr i="1" spc="-10" dirty="0">
                <a:latin typeface="Times New Roman" panose="02020603050405020304" pitchFamily="18" charset="0"/>
                <a:cs typeface="Times New Roman" panose="02020603050405020304" pitchFamily="18" charset="0"/>
              </a:rPr>
              <a:t>uộ</a:t>
            </a:r>
            <a:r>
              <a:rPr i="1" dirty="0">
                <a:latin typeface="Times New Roman" panose="02020603050405020304" pitchFamily="18" charset="0"/>
                <a:cs typeface="Times New Roman" panose="02020603050405020304" pitchFamily="18" charset="0"/>
              </a:rPr>
              <a:t>c</a:t>
            </a:r>
            <a:endParaRPr>
              <a:latin typeface="Times New Roman" panose="02020603050405020304" pitchFamily="18" charset="0"/>
              <a:cs typeface="Times New Roman" panose="02020603050405020304" pitchFamily="18" charset="0"/>
            </a:endParaRPr>
          </a:p>
        </p:txBody>
      </p:sp>
      <p:sp>
        <p:nvSpPr>
          <p:cNvPr id="23" name="object 23"/>
          <p:cNvSpPr txBox="1"/>
          <p:nvPr/>
        </p:nvSpPr>
        <p:spPr>
          <a:xfrm>
            <a:off x="8258683" y="5462422"/>
            <a:ext cx="353695" cy="299720"/>
          </a:xfrm>
          <a:prstGeom prst="rect">
            <a:avLst/>
          </a:prstGeom>
        </p:spPr>
        <p:txBody>
          <a:bodyPr vert="horz" wrap="square" lIns="0" tIns="12700" rIns="0" bIns="0" rtlCol="0">
            <a:spAutoFit/>
          </a:bodyPr>
          <a:lstStyle/>
          <a:p>
            <a:pPr marL="12700">
              <a:spcBef>
                <a:spcPts val="100"/>
              </a:spcBef>
            </a:pPr>
            <a:r>
              <a:rPr i="1" spc="-35" dirty="0">
                <a:latin typeface="Times New Roman" panose="02020603050405020304" pitchFamily="18" charset="0"/>
                <a:cs typeface="Times New Roman" panose="02020603050405020304" pitchFamily="18" charset="0"/>
              </a:rPr>
              <a:t>0..*</a:t>
            </a:r>
            <a:endParaRPr>
              <a:latin typeface="Times New Roman" panose="02020603050405020304" pitchFamily="18" charset="0"/>
              <a:cs typeface="Times New Roman" panose="02020603050405020304" pitchFamily="18" charset="0"/>
            </a:endParaRPr>
          </a:p>
        </p:txBody>
      </p:sp>
      <p:sp>
        <p:nvSpPr>
          <p:cNvPr id="24" name="object 24"/>
          <p:cNvSpPr txBox="1"/>
          <p:nvPr/>
        </p:nvSpPr>
        <p:spPr>
          <a:xfrm>
            <a:off x="5591303" y="5767527"/>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25" name="object 25"/>
          <p:cNvSpPr txBox="1"/>
          <p:nvPr/>
        </p:nvSpPr>
        <p:spPr>
          <a:xfrm>
            <a:off x="7877684" y="2642742"/>
            <a:ext cx="151765" cy="299720"/>
          </a:xfrm>
          <a:prstGeom prst="rect">
            <a:avLst/>
          </a:prstGeom>
        </p:spPr>
        <p:txBody>
          <a:bodyPr vert="horz" wrap="square" lIns="0" tIns="12700" rIns="0" bIns="0" rtlCol="0">
            <a:spAutoFit/>
          </a:bodyPr>
          <a:lstStyle/>
          <a:p>
            <a:pPr marL="12700">
              <a:spcBef>
                <a:spcPts val="100"/>
              </a:spcBef>
            </a:pPr>
            <a:r>
              <a:rPr i="1" spc="-10" dirty="0">
                <a:latin typeface="Arial"/>
                <a:cs typeface="Arial"/>
              </a:rPr>
              <a:t>1</a:t>
            </a:r>
            <a:endParaRPr>
              <a:latin typeface="Arial"/>
              <a:cs typeface="Arial"/>
            </a:endParaRPr>
          </a:p>
        </p:txBody>
      </p:sp>
      <p:sp>
        <p:nvSpPr>
          <p:cNvPr id="26" name="object 26"/>
          <p:cNvSpPr txBox="1"/>
          <p:nvPr/>
        </p:nvSpPr>
        <p:spPr>
          <a:xfrm>
            <a:off x="8411083" y="3785742"/>
            <a:ext cx="353695" cy="299720"/>
          </a:xfrm>
          <a:prstGeom prst="rect">
            <a:avLst/>
          </a:prstGeom>
        </p:spPr>
        <p:txBody>
          <a:bodyPr vert="horz" wrap="square" lIns="0" tIns="12700" rIns="0" bIns="0" rtlCol="0">
            <a:spAutoFit/>
          </a:bodyPr>
          <a:lstStyle/>
          <a:p>
            <a:pPr marL="12700">
              <a:spcBef>
                <a:spcPts val="100"/>
              </a:spcBef>
            </a:pPr>
            <a:r>
              <a:rPr i="1" spc="-35"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27" name="object 27"/>
          <p:cNvSpPr txBox="1"/>
          <p:nvPr/>
        </p:nvSpPr>
        <p:spPr>
          <a:xfrm>
            <a:off x="5972303" y="2871342"/>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28" name="object 28"/>
          <p:cNvGraphicFramePr>
            <a:graphicFrameLocks noGrp="1"/>
          </p:cNvGraphicFramePr>
          <p:nvPr>
            <p:extLst>
              <p:ext uri="{D42A27DB-BD31-4B8C-83A1-F6EECF244321}">
                <p14:modId xmlns:p14="http://schemas.microsoft.com/office/powerpoint/2010/main" val="2171362780"/>
              </p:ext>
            </p:extLst>
          </p:nvPr>
        </p:nvGraphicFramePr>
        <p:xfrm>
          <a:off x="3602735" y="2567939"/>
          <a:ext cx="4062094" cy="3201670"/>
        </p:xfrm>
        <a:graphic>
          <a:graphicData uri="http://schemas.openxmlformats.org/drawingml/2006/table">
            <a:tbl>
              <a:tblPr firstRow="1" bandRow="1">
                <a:tableStyleId>{2D5ABB26-0587-4C30-8999-92F81FD0307C}</a:tableStyleId>
              </a:tblPr>
              <a:tblGrid>
                <a:gridCol w="554355">
                  <a:extLst>
                    <a:ext uri="{9D8B030D-6E8A-4147-A177-3AD203B41FA5}">
                      <a16:colId xmlns:a16="http://schemas.microsoft.com/office/drawing/2014/main" val="20000"/>
                    </a:ext>
                  </a:extLst>
                </a:gridCol>
                <a:gridCol w="2094864">
                  <a:extLst>
                    <a:ext uri="{9D8B030D-6E8A-4147-A177-3AD203B41FA5}">
                      <a16:colId xmlns:a16="http://schemas.microsoft.com/office/drawing/2014/main" val="20001"/>
                    </a:ext>
                  </a:extLst>
                </a:gridCol>
                <a:gridCol w="1412875">
                  <a:extLst>
                    <a:ext uri="{9D8B030D-6E8A-4147-A177-3AD203B41FA5}">
                      <a16:colId xmlns:a16="http://schemas.microsoft.com/office/drawing/2014/main" val="20002"/>
                    </a:ext>
                  </a:extLst>
                </a:gridCol>
              </a:tblGrid>
              <a:tr h="280035">
                <a:tc gridSpan="2">
                  <a:txBody>
                    <a:bodyPr/>
                    <a:lstStyle/>
                    <a:p>
                      <a:pPr>
                        <a:lnSpc>
                          <a:spcPct val="100000"/>
                        </a:lnSpc>
                      </a:pPr>
                      <a:endParaRPr sz="1700">
                        <a:latin typeface="Times New Roman"/>
                        <a:cs typeface="Times New Roman"/>
                      </a:endParaRPr>
                    </a:p>
                  </a:txBody>
                  <a:tcPr marL="0" marR="0" marT="0" marB="0">
                    <a:lnR w="3175">
                      <a:solidFill>
                        <a:srgbClr val="000000"/>
                      </a:solidFill>
                      <a:prstDash val="solid"/>
                    </a:lnR>
                    <a:lnB w="9525">
                      <a:solidFill>
                        <a:srgbClr val="000000"/>
                      </a:solidFill>
                      <a:prstDash val="solid"/>
                    </a:lnB>
                  </a:tcPr>
                </a:tc>
                <a:tc hMerge="1">
                  <a:txBody>
                    <a:bodyPr/>
                    <a:lstStyle/>
                    <a:p>
                      <a:endParaRPr/>
                    </a:p>
                  </a:txBody>
                  <a:tcPr marL="0" marR="0" marT="0" marB="0"/>
                </a:tc>
                <a:tc>
                  <a:txBody>
                    <a:bodyPr/>
                    <a:lstStyle/>
                    <a:p>
                      <a:pPr marL="189865">
                        <a:lnSpc>
                          <a:spcPts val="1780"/>
                        </a:lnSpc>
                        <a:spcBef>
                          <a:spcPts val="325"/>
                        </a:spcBef>
                      </a:pPr>
                      <a:r>
                        <a:rPr sz="1800" spc="-5" dirty="0">
                          <a:latin typeface="Times New Roman" panose="02020603050405020304" pitchFamily="18" charset="0"/>
                          <a:cs typeface="Times New Roman" panose="02020603050405020304" pitchFamily="18" charset="0"/>
                        </a:rPr>
                        <a:t>NgânHàng</a:t>
                      </a:r>
                      <a:endParaRPr sz="1800">
                        <a:latin typeface="Times New Roman" panose="02020603050405020304" pitchFamily="18" charset="0"/>
                        <a:cs typeface="Times New Roman" panose="02020603050405020304" pitchFamily="18" charset="0"/>
                      </a:endParaRPr>
                    </a:p>
                  </a:txBody>
                  <a:tcPr marL="0" marR="0" marT="412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38430">
                <a:tc rowSpan="2" gridSpan="2">
                  <a:txBody>
                    <a:bodyPr/>
                    <a:lstStyle/>
                    <a:p>
                      <a:pPr>
                        <a:lnSpc>
                          <a:spcPct val="100000"/>
                        </a:lnSpc>
                      </a:pPr>
                      <a:endParaRPr sz="1700">
                        <a:latin typeface="Times New Roman"/>
                        <a:cs typeface="Times New Roman"/>
                      </a:endParaRPr>
                    </a:p>
                  </a:txBody>
                  <a:tcPr marL="0" marR="0" marT="0" marB="0">
                    <a:lnL w="9525">
                      <a:solidFill>
                        <a:srgbClr val="000000"/>
                      </a:solidFill>
                      <a:prstDash val="solid"/>
                    </a:lnL>
                    <a:lnR w="3175">
                      <a:solidFill>
                        <a:srgbClr val="000000"/>
                      </a:solidFill>
                      <a:prstDash val="solid"/>
                    </a:lnR>
                    <a:lnT w="9525">
                      <a:solidFill>
                        <a:srgbClr val="000000"/>
                      </a:solidFill>
                      <a:prstDash val="solid"/>
                    </a:lnT>
                  </a:tcPr>
                </a:tc>
                <a:tc rowSpan="2" hMerge="1">
                  <a:txBody>
                    <a:bodyPr/>
                    <a:lstStyle/>
                    <a:p>
                      <a:endParaRPr/>
                    </a:p>
                  </a:txBody>
                  <a:tcPr marL="0" marR="0" marT="0" marB="0"/>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gridSpan="2" vMerge="1">
                  <a:txBody>
                    <a:bodyPr/>
                    <a:lstStyle/>
                    <a:p>
                      <a:endParaRPr/>
                    </a:p>
                  </a:txBody>
                  <a:tcPr marL="0" marR="0" marT="0" marB="0">
                    <a:lnL w="9525">
                      <a:solidFill>
                        <a:srgbClr val="000000"/>
                      </a:solidFill>
                      <a:prstDash val="solid"/>
                    </a:lnL>
                    <a:lnR w="3175">
                      <a:solidFill>
                        <a:srgbClr val="000000"/>
                      </a:solidFill>
                      <a:prstDash val="solid"/>
                    </a:lnR>
                    <a:lnT w="9525">
                      <a:solidFill>
                        <a:srgbClr val="000000"/>
                      </a:solidFill>
                      <a:prstDash val="solid"/>
                    </a:lnT>
                  </a:tcPr>
                </a:tc>
                <a:tc hMerge="1" vMerge="1">
                  <a:txBody>
                    <a:bodyPr/>
                    <a:lstStyle/>
                    <a:p>
                      <a:endParaRPr/>
                    </a:p>
                  </a:txBody>
                  <a:tcPr marL="0" marR="0" marT="0" marB="0"/>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2614930">
                <a:tc>
                  <a:txBody>
                    <a:bodyPr/>
                    <a:lstStyle/>
                    <a:p>
                      <a:pPr>
                        <a:lnSpc>
                          <a:spcPct val="100000"/>
                        </a:lnSpc>
                      </a:pPr>
                      <a:endParaRPr sz="1900">
                        <a:latin typeface="Times New Roman"/>
                        <a:cs typeface="Times New Roman"/>
                      </a:endParaRPr>
                    </a:p>
                    <a:p>
                      <a:pPr>
                        <a:lnSpc>
                          <a:spcPct val="100000"/>
                        </a:lnSpc>
                      </a:pPr>
                      <a:endParaRPr sz="1900">
                        <a:latin typeface="Times New Roman"/>
                        <a:cs typeface="Times New Roman"/>
                      </a:endParaRPr>
                    </a:p>
                    <a:p>
                      <a:pPr>
                        <a:lnSpc>
                          <a:spcPct val="100000"/>
                        </a:lnSpc>
                      </a:pPr>
                      <a:endParaRPr sz="1900">
                        <a:latin typeface="Times New Roman"/>
                        <a:cs typeface="Times New Roman"/>
                      </a:endParaRPr>
                    </a:p>
                    <a:p>
                      <a:pPr>
                        <a:lnSpc>
                          <a:spcPct val="100000"/>
                        </a:lnSpc>
                      </a:pPr>
                      <a:endParaRPr sz="1900">
                        <a:latin typeface="Times New Roman"/>
                        <a:cs typeface="Times New Roman"/>
                      </a:endParaRPr>
                    </a:p>
                    <a:p>
                      <a:pPr>
                        <a:lnSpc>
                          <a:spcPct val="100000"/>
                        </a:lnSpc>
                      </a:pPr>
                      <a:endParaRPr sz="1900">
                        <a:latin typeface="Times New Roman"/>
                        <a:cs typeface="Times New Roman"/>
                      </a:endParaRPr>
                    </a:p>
                    <a:p>
                      <a:pPr>
                        <a:lnSpc>
                          <a:spcPct val="100000"/>
                        </a:lnSpc>
                      </a:pPr>
                      <a:endParaRPr sz="1900">
                        <a:latin typeface="Times New Roman"/>
                        <a:cs typeface="Times New Roman"/>
                      </a:endParaRPr>
                    </a:p>
                    <a:p>
                      <a:pPr>
                        <a:lnSpc>
                          <a:spcPct val="100000"/>
                        </a:lnSpc>
                      </a:pPr>
                      <a:endParaRPr sz="1900">
                        <a:latin typeface="Times New Roman"/>
                        <a:cs typeface="Times New Roman"/>
                      </a:endParaRPr>
                    </a:p>
                    <a:p>
                      <a:pPr>
                        <a:lnSpc>
                          <a:spcPct val="100000"/>
                        </a:lnSpc>
                        <a:spcBef>
                          <a:spcPts val="35"/>
                        </a:spcBef>
                      </a:pPr>
                      <a:endParaRPr sz="2200">
                        <a:latin typeface="Times New Roman"/>
                        <a:cs typeface="Times New Roman"/>
                      </a:endParaRPr>
                    </a:p>
                    <a:p>
                      <a:pPr marL="172085">
                        <a:lnSpc>
                          <a:spcPct val="100000"/>
                        </a:lnSpc>
                        <a:spcBef>
                          <a:spcPts val="5"/>
                        </a:spcBef>
                      </a:pPr>
                      <a:r>
                        <a:rPr sz="1800" i="1" spc="-35" dirty="0">
                          <a:latin typeface="Arial"/>
                          <a:cs typeface="Arial"/>
                        </a:rPr>
                        <a:t>1..*</a:t>
                      </a:r>
                      <a:endParaRPr sz="1800">
                        <a:latin typeface="Arial"/>
                        <a:cs typeface="Arial"/>
                      </a:endParaRPr>
                    </a:p>
                  </a:txBody>
                  <a:tcPr marL="0" marR="0" marT="0" marB="0">
                    <a:lnL w="9525">
                      <a:solidFill>
                        <a:srgbClr val="000000"/>
                      </a:solidFill>
                      <a:prstDash val="solid"/>
                    </a:lnL>
                    <a:lnB w="9525">
                      <a:solidFill>
                        <a:srgbClr val="000000"/>
                      </a:solidFill>
                      <a:prstDash val="solid"/>
                    </a:lnB>
                  </a:tcPr>
                </a:tc>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marR="768985" algn="ctr">
                        <a:lnSpc>
                          <a:spcPct val="100000"/>
                        </a:lnSpc>
                        <a:spcBef>
                          <a:spcPts val="1789"/>
                        </a:spcBef>
                      </a:pPr>
                      <a:r>
                        <a:rPr sz="1800" spc="-5" dirty="0">
                          <a:latin typeface="Times New Roman" panose="02020603050405020304" pitchFamily="18" charset="0"/>
                          <a:cs typeface="Times New Roman" panose="02020603050405020304" pitchFamily="18" charset="0"/>
                        </a:rPr>
                        <a:t>KháchHàng</a:t>
                      </a:r>
                      <a:endParaRPr sz="1800">
                        <a:latin typeface="Times New Roman" panose="02020603050405020304" pitchFamily="18" charset="0"/>
                        <a:cs typeface="Times New Roman" panose="02020603050405020304" pitchFamily="18" charset="0"/>
                      </a:endParaRPr>
                    </a:p>
                    <a:p>
                      <a:pPr>
                        <a:lnSpc>
                          <a:spcPct val="100000"/>
                        </a:lnSpc>
                        <a:spcBef>
                          <a:spcPts val="40"/>
                        </a:spcBef>
                      </a:pPr>
                      <a:endParaRPr sz="1800">
                        <a:latin typeface="Times New Roman"/>
                        <a:cs typeface="Times New Roman"/>
                      </a:endParaRPr>
                    </a:p>
                    <a:p>
                      <a:pPr marL="455930">
                        <a:lnSpc>
                          <a:spcPct val="100000"/>
                        </a:lnSpc>
                      </a:pPr>
                      <a:r>
                        <a:rPr sz="1800" i="1" dirty="0">
                          <a:latin typeface="Arial"/>
                          <a:cs typeface="Arial"/>
                        </a:rPr>
                        <a:t>1</a:t>
                      </a:r>
                      <a:endParaRPr sz="1800">
                        <a:latin typeface="Arial"/>
                        <a:cs typeface="Arial"/>
                      </a:endParaRPr>
                    </a:p>
                    <a:p>
                      <a:pPr marR="227965" algn="ctr">
                        <a:lnSpc>
                          <a:spcPct val="100000"/>
                        </a:lnSpc>
                        <a:spcBef>
                          <a:spcPts val="355"/>
                        </a:spcBef>
                      </a:pPr>
                      <a:r>
                        <a:rPr sz="1800" i="1" spc="-5" dirty="0">
                          <a:latin typeface="Arial"/>
                          <a:cs typeface="Arial"/>
                        </a:rPr>
                        <a:t>Của</a:t>
                      </a:r>
                      <a:endParaRPr sz="1800">
                        <a:latin typeface="Arial"/>
                        <a:cs typeface="Arial"/>
                      </a:endParaRPr>
                    </a:p>
                    <a:p>
                      <a:pPr marR="237490" algn="ctr">
                        <a:lnSpc>
                          <a:spcPct val="100000"/>
                        </a:lnSpc>
                        <a:spcBef>
                          <a:spcPts val="725"/>
                        </a:spcBef>
                      </a:pPr>
                      <a:r>
                        <a:rPr sz="1800" i="1" spc="-35" dirty="0">
                          <a:latin typeface="Arial"/>
                          <a:cs typeface="Arial"/>
                        </a:rPr>
                        <a:t>1..*</a:t>
                      </a:r>
                      <a:endParaRPr sz="1800">
                        <a:latin typeface="Arial"/>
                        <a:cs typeface="Arial"/>
                      </a:endParaRPr>
                    </a:p>
                    <a:p>
                      <a:pPr marR="773430" algn="ctr">
                        <a:lnSpc>
                          <a:spcPts val="1775"/>
                        </a:lnSpc>
                        <a:spcBef>
                          <a:spcPts val="495"/>
                        </a:spcBef>
                      </a:pPr>
                      <a:r>
                        <a:rPr sz="1800" spc="-5" dirty="0">
                          <a:latin typeface="Times New Roman" panose="02020603050405020304" pitchFamily="18" charset="0"/>
                          <a:cs typeface="Times New Roman" panose="02020603050405020304" pitchFamily="18" charset="0"/>
                        </a:rPr>
                        <a:t>TàiKhoản</a:t>
                      </a:r>
                      <a:endParaRPr sz="1800">
                        <a:latin typeface="Times New Roman" panose="02020603050405020304" pitchFamily="18" charset="0"/>
                        <a:cs typeface="Times New Roman" panose="02020603050405020304" pitchFamily="18" charset="0"/>
                      </a:endParaRPr>
                    </a:p>
                  </a:txBody>
                  <a:tcPr marL="0" marR="0" marT="0" marB="0"/>
                </a:tc>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marL="708660">
                        <a:lnSpc>
                          <a:spcPct val="100000"/>
                        </a:lnSpc>
                        <a:spcBef>
                          <a:spcPts val="1305"/>
                        </a:spcBef>
                      </a:pPr>
                      <a:r>
                        <a:rPr sz="1800" i="1" spc="-10" dirty="0">
                          <a:latin typeface="Times New Roman" panose="02020603050405020304" pitchFamily="18" charset="0"/>
                          <a:cs typeface="Times New Roman" panose="02020603050405020304" pitchFamily="18" charset="0"/>
                        </a:rPr>
                        <a:t>Có</a:t>
                      </a:r>
                      <a:endParaRPr sz="1800">
                        <a:latin typeface="Times New Roman" panose="02020603050405020304" pitchFamily="18" charset="0"/>
                        <a:cs typeface="Times New Roman" panose="02020603050405020304" pitchFamily="18" charset="0"/>
                      </a:endParaRPr>
                    </a:p>
                  </a:txBody>
                  <a:tcPr marL="0" marR="0" marT="0" marB="0">
                    <a:lnT w="3175">
                      <a:solidFill>
                        <a:srgbClr val="000000"/>
                      </a:solidFill>
                      <a:prstDash val="solid"/>
                    </a:lnT>
                  </a:tcPr>
                </a:tc>
                <a:extLst>
                  <a:ext uri="{0D108BD9-81ED-4DB2-BD59-A6C34878D82A}">
                    <a16:rowId xmlns:a16="http://schemas.microsoft.com/office/drawing/2014/main" val="10003"/>
                  </a:ext>
                </a:extLst>
              </a:tr>
            </a:tbl>
          </a:graphicData>
        </a:graphic>
      </p:graphicFrame>
      <p:sp>
        <p:nvSpPr>
          <p:cNvPr id="30"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31"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32" name="object 3"/>
          <p:cNvSpPr txBox="1"/>
          <p:nvPr/>
        </p:nvSpPr>
        <p:spPr>
          <a:xfrm>
            <a:off x="0" y="1004814"/>
            <a:ext cx="12192000" cy="1397305"/>
          </a:xfrm>
          <a:prstGeom prst="rect">
            <a:avLst/>
          </a:prstGeom>
        </p:spPr>
        <p:txBody>
          <a:bodyPr vert="horz" wrap="square" lIns="0" tIns="104139" rIns="0" bIns="0" rtlCol="0">
            <a:spAutoFit/>
          </a:bodyPr>
          <a:lstStyle/>
          <a:p>
            <a:pPr marL="469900" indent="-457200">
              <a:lnSpc>
                <a:spcPct val="150000"/>
              </a:lnSpc>
              <a:spcBef>
                <a:spcPts val="819"/>
              </a:spcBef>
              <a:buSzPct val="100000"/>
              <a:buFont typeface="Wingdings" panose="05000000000000000000" pitchFamily="2" charset="2"/>
              <a:buChar char="§"/>
            </a:pPr>
            <a:r>
              <a:rPr sz="2800" b="1" dirty="0">
                <a:solidFill>
                  <a:srgbClr val="FF0000"/>
                </a:solidFill>
                <a:latin typeface="Times New Roman" panose="02020603050405020304" pitchFamily="18" charset="0"/>
                <a:cs typeface="Times New Roman" panose="02020603050405020304" pitchFamily="18" charset="0"/>
              </a:rPr>
              <a:t>Xác định mối kết hợp (association):</a:t>
            </a:r>
          </a:p>
          <a:p>
            <a:pPr marL="835025" lvl="1" indent="-457200">
              <a:lnSpc>
                <a:spcPct val="150000"/>
              </a:lnSpc>
              <a:spcBef>
                <a:spcPts val="610"/>
              </a:spcBef>
              <a:buSzPct val="100000"/>
              <a:buFont typeface="Wingdings" panose="05000000000000000000" pitchFamily="2" charset="2"/>
              <a:buChar char="ü"/>
            </a:pPr>
            <a:r>
              <a:rPr sz="2800" b="1" dirty="0">
                <a:solidFill>
                  <a:srgbClr val="006FC0"/>
                </a:solidFill>
                <a:latin typeface="Times New Roman" panose="02020603050405020304" pitchFamily="18" charset="0"/>
                <a:cs typeface="Times New Roman" panose="02020603050405020304" pitchFamily="18" charset="0"/>
              </a:rPr>
              <a:t>Xác định bản số cho mối kết hợp: </a:t>
            </a:r>
            <a:r>
              <a:rPr sz="2800" dirty="0">
                <a:latin typeface="Times New Roman" panose="02020603050405020304" pitchFamily="18" charset="0"/>
                <a:cs typeface="Times New Roman" panose="02020603050405020304" pitchFamily="18" charset="0"/>
              </a:rPr>
              <a:t>(min, </a:t>
            </a:r>
            <a:r>
              <a:rPr sz="2800">
                <a:latin typeface="Times New Roman" panose="02020603050405020304" pitchFamily="18" charset="0"/>
                <a:cs typeface="Times New Roman" panose="02020603050405020304" pitchFamily="18" charset="0"/>
              </a:rPr>
              <a:t>max)</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8655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212751"/>
            <a:ext cx="7552690" cy="443711"/>
          </a:xfrm>
          <a:prstGeom prst="rect">
            <a:avLst/>
          </a:prstGeom>
        </p:spPr>
        <p:txBody>
          <a:bodyPr vert="horz" wrap="square" lIns="0" tIns="12700" rIns="0" bIns="0" rtlCol="0">
            <a:spAutoFit/>
          </a:bodyPr>
          <a:lstStyle/>
          <a:p>
            <a:pPr marL="355600" indent="-342900">
              <a:spcBef>
                <a:spcPts val="100"/>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Xác định lớp </a:t>
            </a:r>
            <a:r>
              <a:rPr sz="2800" b="1" dirty="0">
                <a:solidFill>
                  <a:srgbClr val="FF0000"/>
                </a:solidFill>
                <a:latin typeface="Times New Roman" panose="02020603050405020304" pitchFamily="18" charset="0"/>
                <a:cs typeface="Times New Roman" panose="02020603050405020304" pitchFamily="18" charset="0"/>
              </a:rPr>
              <a:t>kết </a:t>
            </a:r>
            <a:r>
              <a:rPr sz="2800" b="1" spc="-5" dirty="0">
                <a:solidFill>
                  <a:srgbClr val="FF0000"/>
                </a:solidFill>
                <a:latin typeface="Times New Roman" panose="02020603050405020304" pitchFamily="18" charset="0"/>
                <a:cs typeface="Times New Roman" panose="02020603050405020304" pitchFamily="18" charset="0"/>
              </a:rPr>
              <a:t>hợp (Association</a:t>
            </a:r>
            <a:r>
              <a:rPr sz="2800" b="1" spc="4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class)</a:t>
            </a:r>
            <a:endParaRPr sz="2800" b="1">
              <a:solidFill>
                <a:srgbClr val="FF0000"/>
              </a:solidFill>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4238846540"/>
              </p:ext>
            </p:extLst>
          </p:nvPr>
        </p:nvGraphicFramePr>
        <p:xfrm>
          <a:off x="2866644" y="2176273"/>
          <a:ext cx="6671944" cy="561975"/>
        </p:xfrm>
        <a:graphic>
          <a:graphicData uri="http://schemas.openxmlformats.org/drawingml/2006/table">
            <a:tbl>
              <a:tblPr firstRow="1" bandRow="1">
                <a:tableStyleId>{2D5ABB26-0587-4C30-8999-92F81FD0307C}</a:tableStyleId>
              </a:tblPr>
              <a:tblGrid>
                <a:gridCol w="1490345">
                  <a:extLst>
                    <a:ext uri="{9D8B030D-6E8A-4147-A177-3AD203B41FA5}">
                      <a16:colId xmlns:a16="http://schemas.microsoft.com/office/drawing/2014/main" val="20000"/>
                    </a:ext>
                  </a:extLst>
                </a:gridCol>
                <a:gridCol w="3691254">
                  <a:extLst>
                    <a:ext uri="{9D8B030D-6E8A-4147-A177-3AD203B41FA5}">
                      <a16:colId xmlns:a16="http://schemas.microsoft.com/office/drawing/2014/main" val="20001"/>
                    </a:ext>
                  </a:extLst>
                </a:gridCol>
                <a:gridCol w="1490345">
                  <a:extLst>
                    <a:ext uri="{9D8B030D-6E8A-4147-A177-3AD203B41FA5}">
                      <a16:colId xmlns:a16="http://schemas.microsoft.com/office/drawing/2014/main" val="20002"/>
                    </a:ext>
                  </a:extLst>
                </a:gridCol>
              </a:tblGrid>
              <a:tr h="304800">
                <a:tc>
                  <a:txBody>
                    <a:bodyPr/>
                    <a:lstStyle/>
                    <a:p>
                      <a:pPr marL="180975">
                        <a:lnSpc>
                          <a:spcPct val="100000"/>
                        </a:lnSpc>
                        <a:spcBef>
                          <a:spcPts val="350"/>
                        </a:spcBef>
                      </a:pPr>
                      <a:r>
                        <a:rPr lang="en-US" sz="1600" spc="-10">
                          <a:latin typeface="Times New Roman" panose="02020603050405020304" pitchFamily="18" charset="0"/>
                          <a:cs typeface="Times New Roman" panose="02020603050405020304" pitchFamily="18" charset="0"/>
                        </a:rPr>
                        <a:t>    </a:t>
                      </a:r>
                      <a:r>
                        <a:rPr sz="1600" spc="-10">
                          <a:latin typeface="Times New Roman" panose="02020603050405020304" pitchFamily="18" charset="0"/>
                          <a:cs typeface="Times New Roman" panose="02020603050405020304" pitchFamily="18" charset="0"/>
                        </a:rPr>
                        <a:t>Hoá </a:t>
                      </a:r>
                      <a:r>
                        <a:rPr sz="1600" spc="-10" dirty="0">
                          <a:latin typeface="Times New Roman" panose="02020603050405020304" pitchFamily="18" charset="0"/>
                          <a:cs typeface="Times New Roman" panose="02020603050405020304" pitchFamily="18" charset="0"/>
                        </a:rPr>
                        <a:t>Đơn</a:t>
                      </a:r>
                      <a:endParaRPr sz="1600">
                        <a:latin typeface="Times New Roman" panose="02020603050405020304" pitchFamily="18" charset="0"/>
                        <a:cs typeface="Times New Roman" panose="02020603050405020304" pitchFamily="18" charset="0"/>
                      </a:endParaRPr>
                    </a:p>
                  </a:txBody>
                  <a:tcPr marL="0" marR="0" marT="44450" marB="0">
                    <a:lnL w="3175">
                      <a:solidFill>
                        <a:srgbClr val="000000"/>
                      </a:solidFill>
                      <a:prstDash val="solid"/>
                    </a:lnL>
                    <a:lnR w="3175">
                      <a:solidFill>
                        <a:srgbClr val="000000"/>
                      </a:solidFill>
                      <a:prstDash val="solid"/>
                    </a:lnR>
                    <a:lnT w="3175">
                      <a:solidFill>
                        <a:srgbClr val="000000"/>
                      </a:solidFill>
                      <a:prstDash val="solid"/>
                    </a:lnT>
                    <a:lnB w="9525">
                      <a:solidFill>
                        <a:srgbClr val="000000"/>
                      </a:solidFill>
                      <a:prstDash val="solid"/>
                    </a:lnB>
                  </a:tcPr>
                </a:tc>
                <a:tc>
                  <a:txBody>
                    <a:bodyPr/>
                    <a:lstStyle/>
                    <a:p>
                      <a:pPr marL="262890">
                        <a:lnSpc>
                          <a:spcPct val="100000"/>
                        </a:lnSpc>
                        <a:spcBef>
                          <a:spcPts val="50"/>
                        </a:spcBef>
                      </a:pPr>
                      <a:r>
                        <a:rPr sz="1800" spc="-35" dirty="0">
                          <a:latin typeface="Arial"/>
                          <a:cs typeface="Arial"/>
                        </a:rPr>
                        <a:t>0..*</a:t>
                      </a:r>
                      <a:endParaRPr sz="1800">
                        <a:latin typeface="Arial"/>
                        <a:cs typeface="Arial"/>
                      </a:endParaRPr>
                    </a:p>
                  </a:txBody>
                  <a:tcPr marL="0" marR="0" marT="6350"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1610">
                        <a:lnSpc>
                          <a:spcPts val="1970"/>
                        </a:lnSpc>
                        <a:spcBef>
                          <a:spcPts val="330"/>
                        </a:spcBef>
                      </a:pPr>
                      <a:r>
                        <a:rPr lang="en-US" sz="1800" spc="-5">
                          <a:latin typeface="Times New Roman" panose="02020603050405020304" pitchFamily="18" charset="0"/>
                          <a:cs typeface="Times New Roman" panose="02020603050405020304" pitchFamily="18" charset="0"/>
                        </a:rPr>
                        <a:t>  </a:t>
                      </a:r>
                      <a:r>
                        <a:rPr sz="1800" spc="-5">
                          <a:latin typeface="Times New Roman" panose="02020603050405020304" pitchFamily="18" charset="0"/>
                          <a:cs typeface="Times New Roman" panose="02020603050405020304" pitchFamily="18" charset="0"/>
                        </a:rPr>
                        <a:t>Sản</a:t>
                      </a:r>
                      <a:r>
                        <a:rPr sz="1800" spc="-25">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Phẩm</a:t>
                      </a:r>
                      <a:endParaRPr sz="1800">
                        <a:latin typeface="Times New Roman" panose="02020603050405020304" pitchFamily="18" charset="0"/>
                        <a:cs typeface="Times New Roman" panose="02020603050405020304" pitchFamily="18" charset="0"/>
                      </a:endParaRPr>
                    </a:p>
                  </a:txBody>
                  <a:tcPr marL="0" marR="0" marT="419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557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lnB w="3175">
                      <a:solidFill>
                        <a:srgbClr val="000000"/>
                      </a:solidFill>
                      <a:prstDash val="solid"/>
                    </a:lnB>
                  </a:tcPr>
                </a:tc>
                <a:tc rowSpan="2">
                  <a:txBody>
                    <a:bodyPr/>
                    <a:lstStyle/>
                    <a:p>
                      <a:pPr marR="104139" algn="r">
                        <a:lnSpc>
                          <a:spcPts val="1660"/>
                        </a:lnSpc>
                        <a:spcBef>
                          <a:spcPts val="265"/>
                        </a:spcBef>
                      </a:pPr>
                      <a:r>
                        <a:rPr sz="1800" dirty="0">
                          <a:latin typeface="Arial"/>
                          <a:cs typeface="Arial"/>
                        </a:rPr>
                        <a:t>1..*</a:t>
                      </a:r>
                      <a:endParaRPr sz="1800">
                        <a:latin typeface="Arial"/>
                        <a:cs typeface="Arial"/>
                      </a:endParaRPr>
                    </a:p>
                  </a:txBody>
                  <a:tcPr marL="0" marR="0" marT="33655"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33655"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5" name="object 5"/>
          <p:cNvSpPr/>
          <p:nvPr/>
        </p:nvSpPr>
        <p:spPr>
          <a:xfrm>
            <a:off x="6140196" y="2482595"/>
            <a:ext cx="157480" cy="365760"/>
          </a:xfrm>
          <a:custGeom>
            <a:avLst/>
            <a:gdLst/>
            <a:ahLst/>
            <a:cxnLst/>
            <a:rect l="l" t="t" r="r" b="b"/>
            <a:pathLst>
              <a:path w="157479" h="365760">
                <a:moveTo>
                  <a:pt x="156971" y="0"/>
                </a:moveTo>
                <a:lnTo>
                  <a:pt x="0" y="365759"/>
                </a:lnTo>
              </a:path>
            </a:pathLst>
          </a:custGeom>
          <a:ln w="9144">
            <a:solidFill>
              <a:srgbClr val="000000"/>
            </a:solidFill>
            <a:prstDash val="sysDash"/>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6" name="object 6"/>
          <p:cNvGraphicFramePr>
            <a:graphicFrameLocks noGrp="1"/>
          </p:cNvGraphicFramePr>
          <p:nvPr>
            <p:extLst>
              <p:ext uri="{D42A27DB-BD31-4B8C-83A1-F6EECF244321}">
                <p14:modId xmlns:p14="http://schemas.microsoft.com/office/powerpoint/2010/main" val="708371571"/>
              </p:ext>
            </p:extLst>
          </p:nvPr>
        </p:nvGraphicFramePr>
        <p:xfrm>
          <a:off x="5202935" y="2866645"/>
          <a:ext cx="2133600" cy="1142365"/>
        </p:xfrm>
        <a:graphic>
          <a:graphicData uri="http://schemas.openxmlformats.org/drawingml/2006/table">
            <a:tbl>
              <a:tblPr firstRow="1" bandRow="1">
                <a:tableStyleId>{2D5ABB26-0587-4C30-8999-92F81FD0307C}</a:tableStyleId>
              </a:tblPr>
              <a:tblGrid>
                <a:gridCol w="2133600">
                  <a:extLst>
                    <a:ext uri="{9D8B030D-6E8A-4147-A177-3AD203B41FA5}">
                      <a16:colId xmlns:a16="http://schemas.microsoft.com/office/drawing/2014/main" val="20000"/>
                    </a:ext>
                  </a:extLst>
                </a:gridCol>
              </a:tblGrid>
              <a:tr h="307340">
                <a:tc>
                  <a:txBody>
                    <a:bodyPr/>
                    <a:lstStyle/>
                    <a:p>
                      <a:pPr marL="259079">
                        <a:lnSpc>
                          <a:spcPct val="100000"/>
                        </a:lnSpc>
                        <a:spcBef>
                          <a:spcPts val="355"/>
                        </a:spcBef>
                      </a:pPr>
                      <a:r>
                        <a:rPr lang="en-US" sz="1600" spc="-5">
                          <a:latin typeface="Times New Roman" panose="02020603050405020304" pitchFamily="18" charset="0"/>
                          <a:cs typeface="Times New Roman" panose="02020603050405020304" pitchFamily="18" charset="0"/>
                        </a:rPr>
                        <a:t> </a:t>
                      </a:r>
                      <a:r>
                        <a:rPr sz="1600" spc="-5">
                          <a:latin typeface="Times New Roman" panose="02020603050405020304" pitchFamily="18" charset="0"/>
                          <a:cs typeface="Times New Roman" panose="02020603050405020304" pitchFamily="18" charset="0"/>
                        </a:rPr>
                        <a:t>Chi </a:t>
                      </a:r>
                      <a:r>
                        <a:rPr sz="1600" spc="-20" dirty="0">
                          <a:latin typeface="Times New Roman" panose="02020603050405020304" pitchFamily="18" charset="0"/>
                          <a:cs typeface="Times New Roman" panose="02020603050405020304" pitchFamily="18" charset="0"/>
                        </a:rPr>
                        <a:t>Tiết </a:t>
                      </a:r>
                      <a:r>
                        <a:rPr sz="1600" spc="-5" dirty="0">
                          <a:latin typeface="Times New Roman" panose="02020603050405020304" pitchFamily="18" charset="0"/>
                          <a:cs typeface="Times New Roman" panose="02020603050405020304" pitchFamily="18" charset="0"/>
                        </a:rPr>
                        <a:t>Hoá</a:t>
                      </a:r>
                      <a:r>
                        <a:rPr sz="1600" spc="-25"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Đơn</a:t>
                      </a:r>
                      <a:endParaRPr sz="1600">
                        <a:latin typeface="Times New Roman" panose="02020603050405020304" pitchFamily="18" charset="0"/>
                        <a:cs typeface="Times New Roman" panose="02020603050405020304" pitchFamily="18" charset="0"/>
                      </a:endParaRPr>
                    </a:p>
                  </a:txBody>
                  <a:tcPr marL="0" marR="0" marT="450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682625">
                <a:tc>
                  <a:txBody>
                    <a:bodyPr/>
                    <a:lstStyle/>
                    <a:p>
                      <a:pPr marL="153670">
                        <a:lnSpc>
                          <a:spcPts val="1664"/>
                        </a:lnSpc>
                      </a:pPr>
                      <a:r>
                        <a:rPr sz="1400" dirty="0">
                          <a:latin typeface="Arial"/>
                          <a:cs typeface="Arial"/>
                        </a:rPr>
                        <a:t>sốLượng</a:t>
                      </a:r>
                      <a:endParaRPr sz="1400">
                        <a:latin typeface="Arial"/>
                        <a:cs typeface="Arial"/>
                      </a:endParaRPr>
                    </a:p>
                    <a:p>
                      <a:pPr marL="153670">
                        <a:lnSpc>
                          <a:spcPct val="100000"/>
                        </a:lnSpc>
                      </a:pPr>
                      <a:r>
                        <a:rPr sz="1400" spc="-5" dirty="0">
                          <a:latin typeface="Arial"/>
                          <a:cs typeface="Arial"/>
                        </a:rPr>
                        <a:t>đơnGiá</a:t>
                      </a:r>
                      <a:endParaRPr sz="1400">
                        <a:latin typeface="Arial"/>
                        <a:cs typeface="Arial"/>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52400">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7"/>
          <p:cNvSpPr/>
          <p:nvPr/>
        </p:nvSpPr>
        <p:spPr>
          <a:xfrm>
            <a:off x="2825496" y="4299203"/>
            <a:ext cx="1490980" cy="562610"/>
          </a:xfrm>
          <a:custGeom>
            <a:avLst/>
            <a:gdLst/>
            <a:ahLst/>
            <a:cxnLst/>
            <a:rect l="l" t="t" r="r" b="b"/>
            <a:pathLst>
              <a:path w="1490980" h="562610">
                <a:moveTo>
                  <a:pt x="0" y="562356"/>
                </a:moveTo>
                <a:lnTo>
                  <a:pt x="1490472" y="562356"/>
                </a:lnTo>
                <a:lnTo>
                  <a:pt x="1490472" y="0"/>
                </a:lnTo>
                <a:lnTo>
                  <a:pt x="0" y="0"/>
                </a:lnTo>
                <a:lnTo>
                  <a:pt x="0" y="56235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txBox="1"/>
          <p:nvPr/>
        </p:nvSpPr>
        <p:spPr>
          <a:xfrm>
            <a:off x="2827020" y="4332173"/>
            <a:ext cx="1487805" cy="258404"/>
          </a:xfrm>
          <a:prstGeom prst="rect">
            <a:avLst/>
          </a:prstGeom>
        </p:spPr>
        <p:txBody>
          <a:bodyPr vert="horz" wrap="square" lIns="0" tIns="12065" rIns="0" bIns="0" rtlCol="0">
            <a:spAutoFit/>
          </a:bodyPr>
          <a:lstStyle/>
          <a:p>
            <a:pPr marL="177165">
              <a:spcBef>
                <a:spcPts val="95"/>
              </a:spcBef>
            </a:pPr>
            <a:r>
              <a:rPr lang="en-US" sz="1600" spc="-5">
                <a:latin typeface="Times New Roman" panose="02020603050405020304" pitchFamily="18" charset="0"/>
                <a:cs typeface="Times New Roman" panose="02020603050405020304" pitchFamily="18" charset="0"/>
              </a:rPr>
              <a:t>   </a:t>
            </a:r>
            <a:r>
              <a:rPr sz="1600" spc="-5">
                <a:latin typeface="Times New Roman" panose="02020603050405020304" pitchFamily="18" charset="0"/>
                <a:cs typeface="Times New Roman" panose="02020603050405020304" pitchFamily="18" charset="0"/>
              </a:rPr>
              <a:t>Sinh</a:t>
            </a:r>
            <a:r>
              <a:rPr sz="1600" spc="-2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Viên</a:t>
            </a:r>
            <a:endParaRPr sz="1600">
              <a:latin typeface="Times New Roman" panose="02020603050405020304" pitchFamily="18" charset="0"/>
              <a:cs typeface="Times New Roman" panose="02020603050405020304" pitchFamily="18" charset="0"/>
            </a:endParaRPr>
          </a:p>
        </p:txBody>
      </p:sp>
      <p:sp>
        <p:nvSpPr>
          <p:cNvPr id="9" name="object 9"/>
          <p:cNvSpPr/>
          <p:nvPr/>
        </p:nvSpPr>
        <p:spPr>
          <a:xfrm>
            <a:off x="2825496" y="4607053"/>
            <a:ext cx="1490980" cy="254635"/>
          </a:xfrm>
          <a:custGeom>
            <a:avLst/>
            <a:gdLst/>
            <a:ahLst/>
            <a:cxnLst/>
            <a:rect l="l" t="t" r="r" b="b"/>
            <a:pathLst>
              <a:path w="1490980" h="254635">
                <a:moveTo>
                  <a:pt x="0" y="254508"/>
                </a:moveTo>
                <a:lnTo>
                  <a:pt x="1490472" y="254508"/>
                </a:lnTo>
                <a:lnTo>
                  <a:pt x="1490472" y="0"/>
                </a:lnTo>
                <a:lnTo>
                  <a:pt x="0" y="0"/>
                </a:lnTo>
                <a:lnTo>
                  <a:pt x="0" y="2545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p:nvPr/>
        </p:nvSpPr>
        <p:spPr>
          <a:xfrm>
            <a:off x="2825496" y="4719828"/>
            <a:ext cx="1490980" cy="142240"/>
          </a:xfrm>
          <a:custGeom>
            <a:avLst/>
            <a:gdLst/>
            <a:ahLst/>
            <a:cxnLst/>
            <a:rect l="l" t="t" r="r" b="b"/>
            <a:pathLst>
              <a:path w="1490980" h="142239">
                <a:moveTo>
                  <a:pt x="0" y="141732"/>
                </a:moveTo>
                <a:lnTo>
                  <a:pt x="1490472" y="141732"/>
                </a:lnTo>
                <a:lnTo>
                  <a:pt x="1490472" y="0"/>
                </a:lnTo>
                <a:lnTo>
                  <a:pt x="0" y="0"/>
                </a:lnTo>
                <a:lnTo>
                  <a:pt x="0" y="14173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8007096" y="4299203"/>
            <a:ext cx="1490980" cy="562610"/>
          </a:xfrm>
          <a:custGeom>
            <a:avLst/>
            <a:gdLst/>
            <a:ahLst/>
            <a:cxnLst/>
            <a:rect l="l" t="t" r="r" b="b"/>
            <a:pathLst>
              <a:path w="1490979" h="562610">
                <a:moveTo>
                  <a:pt x="0" y="562356"/>
                </a:moveTo>
                <a:lnTo>
                  <a:pt x="1490472" y="562356"/>
                </a:lnTo>
                <a:lnTo>
                  <a:pt x="1490472" y="0"/>
                </a:lnTo>
                <a:lnTo>
                  <a:pt x="0" y="0"/>
                </a:lnTo>
                <a:lnTo>
                  <a:pt x="0" y="56235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txBox="1"/>
          <p:nvPr/>
        </p:nvSpPr>
        <p:spPr>
          <a:xfrm>
            <a:off x="8007096" y="4299204"/>
            <a:ext cx="1490980" cy="291747"/>
          </a:xfrm>
          <a:prstGeom prst="rect">
            <a:avLst/>
          </a:prstGeom>
          <a:ln w="3175">
            <a:solidFill>
              <a:srgbClr val="000000"/>
            </a:solidFill>
          </a:ln>
        </p:spPr>
        <p:txBody>
          <a:bodyPr vert="horz" wrap="square" lIns="0" tIns="45085" rIns="0" bIns="0" rtlCol="0">
            <a:spAutoFit/>
          </a:bodyPr>
          <a:lstStyle/>
          <a:p>
            <a:pPr marL="179705">
              <a:spcBef>
                <a:spcPts val="355"/>
              </a:spcBef>
            </a:pPr>
            <a:r>
              <a:rPr lang="en-US" sz="1600" spc="-5">
                <a:latin typeface="Times New Roman" panose="02020603050405020304" pitchFamily="18" charset="0"/>
                <a:cs typeface="Times New Roman" panose="02020603050405020304" pitchFamily="18" charset="0"/>
              </a:rPr>
              <a:t>  </a:t>
            </a:r>
            <a:r>
              <a:rPr sz="1600" spc="-5">
                <a:latin typeface="Times New Roman" panose="02020603050405020304" pitchFamily="18" charset="0"/>
                <a:cs typeface="Times New Roman" panose="02020603050405020304" pitchFamily="18" charset="0"/>
              </a:rPr>
              <a:t>Khoá</a:t>
            </a:r>
            <a:r>
              <a:rPr sz="1600" spc="-15">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Học</a:t>
            </a:r>
            <a:endParaRPr sz="1600">
              <a:latin typeface="Times New Roman" panose="02020603050405020304" pitchFamily="18" charset="0"/>
              <a:cs typeface="Times New Roman" panose="02020603050405020304" pitchFamily="18" charset="0"/>
            </a:endParaRPr>
          </a:p>
        </p:txBody>
      </p:sp>
      <p:sp>
        <p:nvSpPr>
          <p:cNvPr id="13" name="object 13"/>
          <p:cNvSpPr/>
          <p:nvPr/>
        </p:nvSpPr>
        <p:spPr>
          <a:xfrm>
            <a:off x="8007096" y="4607053"/>
            <a:ext cx="1490980" cy="254635"/>
          </a:xfrm>
          <a:custGeom>
            <a:avLst/>
            <a:gdLst/>
            <a:ahLst/>
            <a:cxnLst/>
            <a:rect l="l" t="t" r="r" b="b"/>
            <a:pathLst>
              <a:path w="1490979" h="254635">
                <a:moveTo>
                  <a:pt x="0" y="254508"/>
                </a:moveTo>
                <a:lnTo>
                  <a:pt x="1490472" y="254508"/>
                </a:lnTo>
                <a:lnTo>
                  <a:pt x="1490472" y="0"/>
                </a:lnTo>
                <a:lnTo>
                  <a:pt x="0" y="0"/>
                </a:lnTo>
                <a:lnTo>
                  <a:pt x="0" y="2545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8007096" y="4719828"/>
            <a:ext cx="1490980" cy="142240"/>
          </a:xfrm>
          <a:custGeom>
            <a:avLst/>
            <a:gdLst/>
            <a:ahLst/>
            <a:cxnLst/>
            <a:rect l="l" t="t" r="r" b="b"/>
            <a:pathLst>
              <a:path w="1490979" h="142239">
                <a:moveTo>
                  <a:pt x="0" y="141732"/>
                </a:moveTo>
                <a:lnTo>
                  <a:pt x="1490472" y="141732"/>
                </a:lnTo>
                <a:lnTo>
                  <a:pt x="1490472" y="0"/>
                </a:lnTo>
                <a:lnTo>
                  <a:pt x="0" y="0"/>
                </a:lnTo>
                <a:lnTo>
                  <a:pt x="0" y="14173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4273295" y="4604003"/>
            <a:ext cx="3733800" cy="0"/>
          </a:xfrm>
          <a:custGeom>
            <a:avLst/>
            <a:gdLst/>
            <a:ahLst/>
            <a:cxnLst/>
            <a:rect l="l" t="t" r="r" b="b"/>
            <a:pathLst>
              <a:path w="3733800">
                <a:moveTo>
                  <a:pt x="0" y="0"/>
                </a:moveTo>
                <a:lnTo>
                  <a:pt x="37338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5263896" y="4985003"/>
            <a:ext cx="2133600" cy="996950"/>
          </a:xfrm>
          <a:custGeom>
            <a:avLst/>
            <a:gdLst/>
            <a:ahLst/>
            <a:cxnLst/>
            <a:rect l="l" t="t" r="r" b="b"/>
            <a:pathLst>
              <a:path w="2133600" h="996950">
                <a:moveTo>
                  <a:pt x="0" y="996696"/>
                </a:moveTo>
                <a:lnTo>
                  <a:pt x="2133600" y="996696"/>
                </a:lnTo>
                <a:lnTo>
                  <a:pt x="2133600" y="0"/>
                </a:lnTo>
                <a:lnTo>
                  <a:pt x="0" y="0"/>
                </a:lnTo>
                <a:lnTo>
                  <a:pt x="0" y="99669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txBox="1"/>
          <p:nvPr/>
        </p:nvSpPr>
        <p:spPr>
          <a:xfrm>
            <a:off x="5263896" y="4985004"/>
            <a:ext cx="2133600" cy="268605"/>
          </a:xfrm>
          <a:prstGeom prst="rect">
            <a:avLst/>
          </a:prstGeom>
          <a:ln w="3175">
            <a:solidFill>
              <a:srgbClr val="000000"/>
            </a:solidFill>
          </a:ln>
        </p:spPr>
        <p:txBody>
          <a:bodyPr vert="horz" wrap="square" lIns="0" tIns="38735" rIns="0" bIns="0" rtlCol="0">
            <a:spAutoFit/>
          </a:bodyPr>
          <a:lstStyle/>
          <a:p>
            <a:pPr marL="257175">
              <a:lnSpc>
                <a:spcPts val="1805"/>
              </a:lnSpc>
              <a:spcBef>
                <a:spcPts val="305"/>
              </a:spcBef>
            </a:pPr>
            <a:r>
              <a:rPr lang="en-US" sz="1600" spc="-5">
                <a:latin typeface="Times New Roman" panose="02020603050405020304" pitchFamily="18" charset="0"/>
                <a:cs typeface="Times New Roman" panose="02020603050405020304" pitchFamily="18" charset="0"/>
              </a:rPr>
              <a:t>            </a:t>
            </a:r>
            <a:r>
              <a:rPr sz="1600" spc="-5">
                <a:latin typeface="Times New Roman" panose="02020603050405020304" pitchFamily="18" charset="0"/>
                <a:cs typeface="Times New Roman" panose="02020603050405020304" pitchFamily="18" charset="0"/>
              </a:rPr>
              <a:t>Kết </a:t>
            </a:r>
            <a:r>
              <a:rPr sz="1600" spc="-10" dirty="0">
                <a:latin typeface="Times New Roman" panose="02020603050405020304" pitchFamily="18" charset="0"/>
                <a:cs typeface="Times New Roman" panose="02020603050405020304" pitchFamily="18" charset="0"/>
              </a:rPr>
              <a:t>Quả</a:t>
            </a:r>
            <a:endParaRPr sz="1600">
              <a:latin typeface="Times New Roman" panose="02020603050405020304" pitchFamily="18" charset="0"/>
              <a:cs typeface="Times New Roman" panose="02020603050405020304" pitchFamily="18" charset="0"/>
            </a:endParaRPr>
          </a:p>
        </p:txBody>
      </p:sp>
      <p:sp>
        <p:nvSpPr>
          <p:cNvPr id="18" name="object 18"/>
          <p:cNvSpPr/>
          <p:nvPr/>
        </p:nvSpPr>
        <p:spPr>
          <a:xfrm>
            <a:off x="5263896" y="5253228"/>
            <a:ext cx="2133600" cy="728980"/>
          </a:xfrm>
          <a:custGeom>
            <a:avLst/>
            <a:gdLst/>
            <a:ahLst/>
            <a:cxnLst/>
            <a:rect l="l" t="t" r="r" b="b"/>
            <a:pathLst>
              <a:path w="2133600" h="728979">
                <a:moveTo>
                  <a:pt x="0" y="728472"/>
                </a:moveTo>
                <a:lnTo>
                  <a:pt x="2133600" y="728472"/>
                </a:lnTo>
                <a:lnTo>
                  <a:pt x="2133600" y="0"/>
                </a:lnTo>
                <a:lnTo>
                  <a:pt x="0" y="0"/>
                </a:lnTo>
                <a:lnTo>
                  <a:pt x="0" y="72847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5263896" y="5725667"/>
            <a:ext cx="2133600" cy="256540"/>
          </a:xfrm>
          <a:custGeom>
            <a:avLst/>
            <a:gdLst/>
            <a:ahLst/>
            <a:cxnLst/>
            <a:rect l="l" t="t" r="r" b="b"/>
            <a:pathLst>
              <a:path w="2133600" h="256539">
                <a:moveTo>
                  <a:pt x="0" y="256031"/>
                </a:moveTo>
                <a:lnTo>
                  <a:pt x="2133600" y="256031"/>
                </a:lnTo>
                <a:lnTo>
                  <a:pt x="2133600" y="0"/>
                </a:lnTo>
                <a:lnTo>
                  <a:pt x="0" y="0"/>
                </a:lnTo>
                <a:lnTo>
                  <a:pt x="0" y="2560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txBox="1"/>
          <p:nvPr/>
        </p:nvSpPr>
        <p:spPr>
          <a:xfrm>
            <a:off x="5263896" y="5253228"/>
            <a:ext cx="2133600" cy="434734"/>
          </a:xfrm>
          <a:prstGeom prst="rect">
            <a:avLst/>
          </a:prstGeom>
          <a:ln w="3175">
            <a:solidFill>
              <a:srgbClr val="000000"/>
            </a:solidFill>
          </a:ln>
        </p:spPr>
        <p:txBody>
          <a:bodyPr vert="horz" wrap="square" lIns="0" tIns="3810" rIns="0" bIns="0" rtlCol="0">
            <a:spAutoFit/>
          </a:bodyPr>
          <a:lstStyle/>
          <a:p>
            <a:pPr marL="151130">
              <a:spcBef>
                <a:spcPts val="30"/>
              </a:spcBef>
            </a:pPr>
            <a:r>
              <a:rPr sz="1400" spc="-5" dirty="0">
                <a:latin typeface="Times New Roman" panose="02020603050405020304" pitchFamily="18" charset="0"/>
                <a:cs typeface="Times New Roman" panose="02020603050405020304" pitchFamily="18" charset="0"/>
              </a:rPr>
              <a:t>điểmTB</a:t>
            </a:r>
            <a:endParaRPr sz="1400" dirty="0">
              <a:latin typeface="Times New Roman" panose="02020603050405020304" pitchFamily="18" charset="0"/>
              <a:cs typeface="Times New Roman" panose="02020603050405020304" pitchFamily="18" charset="0"/>
            </a:endParaRPr>
          </a:p>
          <a:p>
            <a:pPr marL="151130">
              <a:spcBef>
                <a:spcPts val="5"/>
              </a:spcBef>
            </a:pPr>
            <a:r>
              <a:rPr sz="1400" spc="-10" dirty="0">
                <a:latin typeface="Times New Roman" panose="02020603050405020304" pitchFamily="18" charset="0"/>
                <a:cs typeface="Times New Roman" panose="02020603050405020304" pitchFamily="18" charset="0"/>
              </a:rPr>
              <a:t>xếpLoại</a:t>
            </a:r>
            <a:endParaRPr sz="1400" dirty="0">
              <a:latin typeface="Times New Roman" panose="02020603050405020304" pitchFamily="18" charset="0"/>
              <a:cs typeface="Times New Roman" panose="02020603050405020304" pitchFamily="18" charset="0"/>
            </a:endParaRPr>
          </a:p>
        </p:txBody>
      </p:sp>
      <p:sp>
        <p:nvSpPr>
          <p:cNvPr id="21" name="object 21"/>
          <p:cNvSpPr/>
          <p:nvPr/>
        </p:nvSpPr>
        <p:spPr>
          <a:xfrm>
            <a:off x="6330696" y="4604003"/>
            <a:ext cx="0" cy="381000"/>
          </a:xfrm>
          <a:custGeom>
            <a:avLst/>
            <a:gdLst/>
            <a:ahLst/>
            <a:cxnLst/>
            <a:rect l="l" t="t" r="r" b="b"/>
            <a:pathLst>
              <a:path h="381000">
                <a:moveTo>
                  <a:pt x="0" y="0"/>
                </a:moveTo>
                <a:lnTo>
                  <a:pt x="0" y="381000"/>
                </a:lnTo>
              </a:path>
            </a:pathLst>
          </a:custGeom>
          <a:ln w="9144">
            <a:solidFill>
              <a:srgbClr val="000000"/>
            </a:solidFill>
            <a:prstDash val="sysDash"/>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txBox="1"/>
          <p:nvPr/>
        </p:nvSpPr>
        <p:spPr>
          <a:xfrm>
            <a:off x="4504436" y="4245102"/>
            <a:ext cx="353695" cy="299720"/>
          </a:xfrm>
          <a:prstGeom prst="rect">
            <a:avLst/>
          </a:prstGeom>
        </p:spPr>
        <p:txBody>
          <a:bodyPr vert="horz" wrap="square" lIns="0" tIns="12700" rIns="0" bIns="0" rtlCol="0">
            <a:spAutoFit/>
          </a:bodyPr>
          <a:lstStyle/>
          <a:p>
            <a:pPr marL="12700">
              <a:spcBef>
                <a:spcPts val="100"/>
              </a:spcBef>
            </a:pPr>
            <a:r>
              <a:rPr spc="-35" dirty="0">
                <a:latin typeface="Times New Roman" panose="02020603050405020304" pitchFamily="18" charset="0"/>
                <a:cs typeface="Times New Roman" panose="02020603050405020304" pitchFamily="18" charset="0"/>
              </a:rPr>
              <a:t>0..*</a:t>
            </a:r>
            <a:endParaRPr>
              <a:latin typeface="Times New Roman" panose="02020603050405020304" pitchFamily="18" charset="0"/>
              <a:cs typeface="Times New Roman" panose="02020603050405020304" pitchFamily="18" charset="0"/>
            </a:endParaRPr>
          </a:p>
        </p:txBody>
      </p:sp>
      <p:sp>
        <p:nvSpPr>
          <p:cNvPr id="23" name="object 23"/>
          <p:cNvSpPr txBox="1"/>
          <p:nvPr/>
        </p:nvSpPr>
        <p:spPr>
          <a:xfrm>
            <a:off x="7552691" y="4626102"/>
            <a:ext cx="353695" cy="299720"/>
          </a:xfrm>
          <a:prstGeom prst="rect">
            <a:avLst/>
          </a:prstGeom>
        </p:spPr>
        <p:txBody>
          <a:bodyPr vert="horz" wrap="square" lIns="0" tIns="12700" rIns="0" bIns="0" rtlCol="0">
            <a:spAutoFit/>
          </a:bodyPr>
          <a:lstStyle/>
          <a:p>
            <a:pPr marL="12700">
              <a:spcBef>
                <a:spcPts val="100"/>
              </a:spcBef>
            </a:pPr>
            <a:r>
              <a:rPr spc="-35"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27"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2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79607042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161478"/>
            <a:ext cx="7547610" cy="443711"/>
          </a:xfrm>
          <a:prstGeom prst="rect">
            <a:avLst/>
          </a:prstGeom>
        </p:spPr>
        <p:txBody>
          <a:bodyPr vert="horz" wrap="square" lIns="0" tIns="12700" rIns="0" bIns="0" rtlCol="0">
            <a:spAutoFit/>
          </a:bodyPr>
          <a:lstStyle/>
          <a:p>
            <a:pPr marL="355600" indent="-342900">
              <a:spcBef>
                <a:spcPts val="100"/>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Xác định lớp </a:t>
            </a:r>
            <a:r>
              <a:rPr sz="2800" b="1" dirty="0">
                <a:solidFill>
                  <a:srgbClr val="FF0000"/>
                </a:solidFill>
                <a:latin typeface="Times New Roman" panose="02020603050405020304" pitchFamily="18" charset="0"/>
                <a:cs typeface="Times New Roman" panose="02020603050405020304" pitchFamily="18" charset="0"/>
              </a:rPr>
              <a:t>kết </a:t>
            </a:r>
            <a:r>
              <a:rPr sz="2800" b="1" spc="-5" dirty="0">
                <a:solidFill>
                  <a:srgbClr val="FF0000"/>
                </a:solidFill>
                <a:latin typeface="Times New Roman" panose="02020603050405020304" pitchFamily="18" charset="0"/>
                <a:cs typeface="Times New Roman" panose="02020603050405020304" pitchFamily="18" charset="0"/>
              </a:rPr>
              <a:t>hợp (Association</a:t>
            </a:r>
            <a:r>
              <a:rPr sz="2800" b="1" spc="3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class)</a:t>
            </a:r>
            <a:endParaRPr sz="2800" b="1">
              <a:solidFill>
                <a:srgbClr val="FF0000"/>
              </a:solidFill>
              <a:latin typeface="Times New Roman" panose="02020603050405020304" pitchFamily="18" charset="0"/>
              <a:cs typeface="Times New Roman" panose="02020603050405020304" pitchFamily="18" charset="0"/>
            </a:endParaRPr>
          </a:p>
        </p:txBody>
      </p:sp>
      <p:sp>
        <p:nvSpPr>
          <p:cNvPr id="4" name="object 4"/>
          <p:cNvSpPr/>
          <p:nvPr/>
        </p:nvSpPr>
        <p:spPr>
          <a:xfrm>
            <a:off x="6169152" y="4052315"/>
            <a:ext cx="304800" cy="304800"/>
          </a:xfrm>
          <a:custGeom>
            <a:avLst/>
            <a:gdLst/>
            <a:ahLst/>
            <a:cxnLst/>
            <a:rect l="l" t="t" r="r" b="b"/>
            <a:pathLst>
              <a:path w="304800" h="304800">
                <a:moveTo>
                  <a:pt x="304800" y="228599"/>
                </a:moveTo>
                <a:lnTo>
                  <a:pt x="0" y="228599"/>
                </a:lnTo>
                <a:lnTo>
                  <a:pt x="152400" y="304799"/>
                </a:lnTo>
                <a:lnTo>
                  <a:pt x="304800" y="228599"/>
                </a:lnTo>
                <a:close/>
              </a:path>
              <a:path w="304800" h="304800">
                <a:moveTo>
                  <a:pt x="228600" y="0"/>
                </a:moveTo>
                <a:lnTo>
                  <a:pt x="76200" y="0"/>
                </a:lnTo>
                <a:lnTo>
                  <a:pt x="76200" y="228599"/>
                </a:lnTo>
                <a:lnTo>
                  <a:pt x="228600" y="228599"/>
                </a:lnTo>
                <a:lnTo>
                  <a:pt x="228600" y="0"/>
                </a:lnTo>
                <a:close/>
              </a:path>
            </a:pathLst>
          </a:custGeom>
          <a:solidFill>
            <a:srgbClr val="93B6D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p:nvPr/>
        </p:nvSpPr>
        <p:spPr>
          <a:xfrm>
            <a:off x="6169152" y="4052315"/>
            <a:ext cx="304800" cy="304800"/>
          </a:xfrm>
          <a:custGeom>
            <a:avLst/>
            <a:gdLst/>
            <a:ahLst/>
            <a:cxnLst/>
            <a:rect l="l" t="t" r="r" b="b"/>
            <a:pathLst>
              <a:path w="304800" h="304800">
                <a:moveTo>
                  <a:pt x="0" y="228599"/>
                </a:moveTo>
                <a:lnTo>
                  <a:pt x="76200" y="228599"/>
                </a:lnTo>
                <a:lnTo>
                  <a:pt x="76200" y="0"/>
                </a:lnTo>
                <a:lnTo>
                  <a:pt x="228600" y="0"/>
                </a:lnTo>
                <a:lnTo>
                  <a:pt x="228600" y="228599"/>
                </a:lnTo>
                <a:lnTo>
                  <a:pt x="304800" y="228599"/>
                </a:lnTo>
                <a:lnTo>
                  <a:pt x="152400" y="304799"/>
                </a:lnTo>
                <a:lnTo>
                  <a:pt x="0" y="228599"/>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6" name="object 6"/>
          <p:cNvGraphicFramePr>
            <a:graphicFrameLocks noGrp="1"/>
          </p:cNvGraphicFramePr>
          <p:nvPr>
            <p:extLst>
              <p:ext uri="{D42A27DB-BD31-4B8C-83A1-F6EECF244321}">
                <p14:modId xmlns:p14="http://schemas.microsoft.com/office/powerpoint/2010/main" val="910399861"/>
              </p:ext>
            </p:extLst>
          </p:nvPr>
        </p:nvGraphicFramePr>
        <p:xfrm>
          <a:off x="2153413" y="4863084"/>
          <a:ext cx="1490345" cy="574040"/>
        </p:xfrm>
        <a:graphic>
          <a:graphicData uri="http://schemas.openxmlformats.org/drawingml/2006/table">
            <a:tbl>
              <a:tblPr firstRow="1" bandRow="1">
                <a:tableStyleId>{2D5ABB26-0587-4C30-8999-92F81FD0307C}</a:tableStyleId>
              </a:tblPr>
              <a:tblGrid>
                <a:gridCol w="1490345">
                  <a:extLst>
                    <a:ext uri="{9D8B030D-6E8A-4147-A177-3AD203B41FA5}">
                      <a16:colId xmlns:a16="http://schemas.microsoft.com/office/drawing/2014/main" val="20000"/>
                    </a:ext>
                  </a:extLst>
                </a:gridCol>
              </a:tblGrid>
              <a:tr h="307340">
                <a:tc>
                  <a:txBody>
                    <a:bodyPr/>
                    <a:lstStyle/>
                    <a:p>
                      <a:pPr marL="181610">
                        <a:lnSpc>
                          <a:spcPct val="100000"/>
                        </a:lnSpc>
                        <a:spcBef>
                          <a:spcPts val="360"/>
                        </a:spcBef>
                      </a:pPr>
                      <a:r>
                        <a:rPr lang="en-US" sz="1800" spc="-10">
                          <a:latin typeface="Times New Roman" panose="02020603050405020304" pitchFamily="18" charset="0"/>
                          <a:cs typeface="Times New Roman" panose="02020603050405020304" pitchFamily="18" charset="0"/>
                        </a:rPr>
                        <a:t>    </a:t>
                      </a:r>
                      <a:r>
                        <a:rPr sz="1800" spc="-10">
                          <a:latin typeface="Times New Roman" panose="02020603050405020304" pitchFamily="18" charset="0"/>
                          <a:cs typeface="Times New Roman" panose="02020603050405020304" pitchFamily="18" charset="0"/>
                        </a:rPr>
                        <a:t>Hoá </a:t>
                      </a:r>
                      <a:r>
                        <a:rPr sz="1800" spc="-10" dirty="0">
                          <a:latin typeface="Times New Roman" panose="02020603050405020304" pitchFamily="18" charset="0"/>
                          <a:cs typeface="Times New Roman" panose="02020603050405020304" pitchFamily="18" charset="0"/>
                        </a:rPr>
                        <a:t>Đơn</a:t>
                      </a:r>
                      <a:endParaRPr sz="1800">
                        <a:latin typeface="Times New Roman" panose="02020603050405020304" pitchFamily="18" charset="0"/>
                        <a:cs typeface="Times New Roman" panose="02020603050405020304" pitchFamily="18" charset="0"/>
                      </a:endParaRPr>
                    </a:p>
                  </a:txBody>
                  <a:tcPr marL="0" marR="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430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39700">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7"/>
          <p:cNvSpPr/>
          <p:nvPr/>
        </p:nvSpPr>
        <p:spPr>
          <a:xfrm>
            <a:off x="3678935" y="5093208"/>
            <a:ext cx="304800" cy="152400"/>
          </a:xfrm>
          <a:custGeom>
            <a:avLst/>
            <a:gdLst/>
            <a:ahLst/>
            <a:cxnLst/>
            <a:rect l="l" t="t" r="r" b="b"/>
            <a:pathLst>
              <a:path w="304800" h="152400">
                <a:moveTo>
                  <a:pt x="152400" y="0"/>
                </a:moveTo>
                <a:lnTo>
                  <a:pt x="0" y="76200"/>
                </a:lnTo>
                <a:lnTo>
                  <a:pt x="152400" y="152400"/>
                </a:lnTo>
                <a:lnTo>
                  <a:pt x="304800" y="76200"/>
                </a:lnTo>
                <a:lnTo>
                  <a:pt x="152400" y="0"/>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3678935" y="5093208"/>
            <a:ext cx="304800" cy="152400"/>
          </a:xfrm>
          <a:custGeom>
            <a:avLst/>
            <a:gdLst/>
            <a:ahLst/>
            <a:cxnLst/>
            <a:rect l="l" t="t" r="r" b="b"/>
            <a:pathLst>
              <a:path w="304800" h="152400">
                <a:moveTo>
                  <a:pt x="0" y="76200"/>
                </a:moveTo>
                <a:lnTo>
                  <a:pt x="152400" y="0"/>
                </a:lnTo>
                <a:lnTo>
                  <a:pt x="304800" y="76200"/>
                </a:lnTo>
                <a:lnTo>
                  <a:pt x="152400" y="152400"/>
                </a:lnTo>
                <a:lnTo>
                  <a:pt x="0" y="762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txBox="1"/>
          <p:nvPr/>
        </p:nvSpPr>
        <p:spPr>
          <a:xfrm>
            <a:off x="3818890" y="4707763"/>
            <a:ext cx="151765" cy="299720"/>
          </a:xfrm>
          <a:prstGeom prst="rect">
            <a:avLst/>
          </a:prstGeom>
        </p:spPr>
        <p:txBody>
          <a:bodyPr vert="horz" wrap="square" lIns="0" tIns="12700" rIns="0" bIns="0" rtlCol="0">
            <a:spAutoFit/>
          </a:bodyPr>
          <a:lstStyle/>
          <a:p>
            <a:pPr marL="12700">
              <a:spcBef>
                <a:spcPts val="100"/>
              </a:spcBef>
            </a:pPr>
            <a:r>
              <a:rPr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10" name="object 10"/>
          <p:cNvGraphicFramePr>
            <a:graphicFrameLocks noGrp="1"/>
          </p:cNvGraphicFramePr>
          <p:nvPr>
            <p:extLst>
              <p:ext uri="{D42A27DB-BD31-4B8C-83A1-F6EECF244321}">
                <p14:modId xmlns:p14="http://schemas.microsoft.com/office/powerpoint/2010/main" val="750300723"/>
              </p:ext>
            </p:extLst>
          </p:nvPr>
        </p:nvGraphicFramePr>
        <p:xfrm>
          <a:off x="3982212" y="4482084"/>
          <a:ext cx="6290945" cy="965200"/>
        </p:xfrm>
        <a:graphic>
          <a:graphicData uri="http://schemas.openxmlformats.org/drawingml/2006/table">
            <a:tbl>
              <a:tblPr firstRow="1" bandRow="1">
                <a:tableStyleId>{2D5ABB26-0587-4C30-8999-92F81FD0307C}</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90345">
                  <a:extLst>
                    <a:ext uri="{9D8B030D-6E8A-4147-A177-3AD203B41FA5}">
                      <a16:colId xmlns:a16="http://schemas.microsoft.com/office/drawing/2014/main" val="20003"/>
                    </a:ext>
                  </a:extLst>
                </a:gridCol>
              </a:tblGrid>
              <a:tr h="282575">
                <a:tc rowSpan="3">
                  <a:txBody>
                    <a:bodyPr/>
                    <a:lstStyle/>
                    <a:p>
                      <a:pPr>
                        <a:lnSpc>
                          <a:spcPct val="100000"/>
                        </a:lnSpc>
                      </a:pPr>
                      <a:endParaRPr sz="1900">
                        <a:latin typeface="Times New Roman"/>
                        <a:cs typeface="Times New Roman"/>
                      </a:endParaRPr>
                    </a:p>
                  </a:txBody>
                  <a:tcPr marL="0" marR="0" marT="0" marB="0">
                    <a:lnR w="3175">
                      <a:solidFill>
                        <a:srgbClr val="000000"/>
                      </a:solidFill>
                      <a:prstDash val="solid"/>
                    </a:lnR>
                    <a:lnB w="9525">
                      <a:solidFill>
                        <a:srgbClr val="000000"/>
                      </a:solidFill>
                      <a:prstDash val="solid"/>
                    </a:lnB>
                  </a:tcPr>
                </a:tc>
                <a:tc>
                  <a:txBody>
                    <a:bodyPr/>
                    <a:lstStyle/>
                    <a:p>
                      <a:pPr marL="259079">
                        <a:lnSpc>
                          <a:spcPts val="1830"/>
                        </a:lnSpc>
                        <a:spcBef>
                          <a:spcPts val="295"/>
                        </a:spcBef>
                      </a:pPr>
                      <a:r>
                        <a:rPr lang="en-US" sz="1600" spc="-5">
                          <a:latin typeface="Times New Roman" panose="02020603050405020304" pitchFamily="18" charset="0"/>
                          <a:cs typeface="Times New Roman" panose="02020603050405020304" pitchFamily="18" charset="0"/>
                        </a:rPr>
                        <a:t>  </a:t>
                      </a:r>
                      <a:r>
                        <a:rPr sz="1600" spc="-5">
                          <a:latin typeface="Times New Roman" panose="02020603050405020304" pitchFamily="18" charset="0"/>
                          <a:cs typeface="Times New Roman" panose="02020603050405020304" pitchFamily="18" charset="0"/>
                        </a:rPr>
                        <a:t>Chi </a:t>
                      </a:r>
                      <a:r>
                        <a:rPr sz="1600" spc="-20" dirty="0">
                          <a:latin typeface="Times New Roman" panose="02020603050405020304" pitchFamily="18" charset="0"/>
                          <a:cs typeface="Times New Roman" panose="02020603050405020304" pitchFamily="18" charset="0"/>
                        </a:rPr>
                        <a:t>Tiết </a:t>
                      </a:r>
                      <a:r>
                        <a:rPr sz="1600" spc="-10" dirty="0">
                          <a:latin typeface="Times New Roman" panose="02020603050405020304" pitchFamily="18" charset="0"/>
                          <a:cs typeface="Times New Roman" panose="02020603050405020304" pitchFamily="18" charset="0"/>
                        </a:rPr>
                        <a:t>Hoá</a:t>
                      </a:r>
                      <a:r>
                        <a:rPr sz="1600" spc="-20"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Đơn</a:t>
                      </a:r>
                      <a:endParaRPr sz="1600">
                        <a:latin typeface="Times New Roman" panose="02020603050405020304" pitchFamily="18" charset="0"/>
                        <a:cs typeface="Times New Roman" panose="02020603050405020304" pitchFamily="18" charset="0"/>
                      </a:endParaRPr>
                    </a:p>
                  </a:txBody>
                  <a:tcPr marL="0" marR="0" marT="3746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gridSpan="2">
                  <a:txBody>
                    <a:bodyPr/>
                    <a:lstStyle/>
                    <a:p>
                      <a:pPr>
                        <a:lnSpc>
                          <a:spcPct val="100000"/>
                        </a:lnSpc>
                      </a:pPr>
                      <a:endParaRPr sz="1700">
                        <a:latin typeface="Times New Roman"/>
                        <a:cs typeface="Times New Roman"/>
                      </a:endParaRPr>
                    </a:p>
                  </a:txBody>
                  <a:tcPr marL="0" marR="0" marT="0" marB="0">
                    <a:lnL w="3175">
                      <a:solidFill>
                        <a:srgbClr val="000000"/>
                      </a:solidFill>
                      <a:prstDash val="solid"/>
                    </a:lnL>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29565">
                <a:tc vMerge="1">
                  <a:txBody>
                    <a:bodyPr/>
                    <a:lstStyle/>
                    <a:p>
                      <a:endParaRPr/>
                    </a:p>
                  </a:txBody>
                  <a:tcPr marL="0" marR="0" marT="0" marB="0">
                    <a:lnR w="3175">
                      <a:solidFill>
                        <a:srgbClr val="000000"/>
                      </a:solidFill>
                      <a:prstDash val="solid"/>
                    </a:lnR>
                    <a:lnB w="9525">
                      <a:solidFill>
                        <a:srgbClr val="000000"/>
                      </a:solidFill>
                      <a:prstDash val="solid"/>
                    </a:lnB>
                  </a:tcPr>
                </a:tc>
                <a:tc rowSpan="2">
                  <a:txBody>
                    <a:bodyPr/>
                    <a:lstStyle/>
                    <a:p>
                      <a:pPr marL="153670">
                        <a:lnSpc>
                          <a:spcPts val="1545"/>
                        </a:lnSpc>
                      </a:pPr>
                      <a:r>
                        <a:rPr sz="1400" dirty="0">
                          <a:latin typeface="Arial"/>
                          <a:cs typeface="Arial"/>
                        </a:rPr>
                        <a:t>sốLượng</a:t>
                      </a:r>
                      <a:endParaRPr sz="1400">
                        <a:latin typeface="Arial"/>
                        <a:cs typeface="Arial"/>
                      </a:endParaRPr>
                    </a:p>
                    <a:p>
                      <a:pPr marL="153670">
                        <a:lnSpc>
                          <a:spcPct val="100000"/>
                        </a:lnSpc>
                      </a:pPr>
                      <a:r>
                        <a:rPr sz="1400" spc="-5" dirty="0">
                          <a:latin typeface="Arial"/>
                          <a:cs typeface="Arial"/>
                        </a:rPr>
                        <a:t>đơnGiá</a:t>
                      </a:r>
                      <a:endParaRPr sz="1400">
                        <a:latin typeface="Arial"/>
                        <a:cs typeface="Arial"/>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rowSpan="2">
                  <a:txBody>
                    <a:bodyPr/>
                    <a:lstStyle/>
                    <a:p>
                      <a:pPr marL="93980">
                        <a:lnSpc>
                          <a:spcPct val="100000"/>
                        </a:lnSpc>
                        <a:spcBef>
                          <a:spcPts val="450"/>
                        </a:spcBef>
                      </a:pPr>
                      <a:r>
                        <a:rPr sz="1800" spc="-35" dirty="0">
                          <a:latin typeface="Arial"/>
                          <a:cs typeface="Arial"/>
                        </a:rPr>
                        <a:t>0..*</a:t>
                      </a:r>
                      <a:endParaRPr sz="1800">
                        <a:latin typeface="Arial"/>
                        <a:cs typeface="Arial"/>
                      </a:endParaRPr>
                    </a:p>
                  </a:txBody>
                  <a:tcPr marL="0" marR="0" marT="57150" marB="0">
                    <a:lnL w="3175">
                      <a:solidFill>
                        <a:srgbClr val="000000"/>
                      </a:solidFill>
                      <a:prstDash val="solid"/>
                    </a:lnL>
                    <a:lnR w="3175">
                      <a:solidFill>
                        <a:srgbClr val="000000"/>
                      </a:solidFill>
                      <a:prstDash val="solid"/>
                    </a:lnR>
                    <a:lnT w="3175"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182880">
                        <a:lnSpc>
                          <a:spcPct val="100000"/>
                        </a:lnSpc>
                        <a:spcBef>
                          <a:spcPts val="535"/>
                        </a:spcBef>
                      </a:pPr>
                      <a:r>
                        <a:rPr lang="en-US" sz="1600" spc="-5">
                          <a:latin typeface="Times New Roman" panose="02020603050405020304" pitchFamily="18" charset="0"/>
                          <a:cs typeface="Times New Roman" panose="02020603050405020304" pitchFamily="18" charset="0"/>
                        </a:rPr>
                        <a:t>   </a:t>
                      </a:r>
                      <a:r>
                        <a:rPr sz="1600" spc="-5">
                          <a:latin typeface="Times New Roman" panose="02020603050405020304" pitchFamily="18" charset="0"/>
                          <a:cs typeface="Times New Roman" panose="02020603050405020304" pitchFamily="18" charset="0"/>
                        </a:rPr>
                        <a:t>Sản</a:t>
                      </a:r>
                      <a:r>
                        <a:rPr sz="1600" spc="-15">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Phẩm</a:t>
                      </a:r>
                      <a:endParaRPr sz="1600">
                        <a:latin typeface="Times New Roman" panose="02020603050405020304" pitchFamily="18" charset="0"/>
                        <a:cs typeface="Times New Roman" panose="02020603050405020304" pitchFamily="18" charset="0"/>
                      </a:endParaRPr>
                    </a:p>
                  </a:txBody>
                  <a:tcPr marL="0" marR="0" marT="679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09220">
                <a:tc vMerge="1">
                  <a:txBody>
                    <a:bodyPr/>
                    <a:lstStyle/>
                    <a:p>
                      <a:endParaRPr/>
                    </a:p>
                  </a:txBody>
                  <a:tcPr marL="0" marR="0" marT="0" marB="0">
                    <a:lnR w="3175">
                      <a:solidFill>
                        <a:srgbClr val="000000"/>
                      </a:solidFill>
                      <a:prstDash val="solid"/>
                    </a:lnR>
                    <a:lnB w="9525">
                      <a:solidFill>
                        <a:srgbClr val="000000"/>
                      </a:solidFill>
                      <a:prstDash val="solid"/>
                    </a:lnB>
                  </a:tcPr>
                </a:tc>
                <a:tc vMerge="1">
                  <a:txBody>
                    <a:bodyPr/>
                    <a:lstStyle/>
                    <a:p>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57150"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r h="144780">
                <a:tc rowSpan="2">
                  <a:txBody>
                    <a:bodyPr/>
                    <a:lstStyle/>
                    <a:p>
                      <a:pPr marL="779145">
                        <a:lnSpc>
                          <a:spcPts val="1820"/>
                        </a:lnSpc>
                      </a:pPr>
                      <a:r>
                        <a:rPr sz="1800" spc="-35" dirty="0">
                          <a:latin typeface="Arial"/>
                          <a:cs typeface="Arial"/>
                        </a:rPr>
                        <a:t>1..*</a:t>
                      </a:r>
                      <a:endParaRPr sz="1800">
                        <a:latin typeface="Arial"/>
                        <a:cs typeface="Arial"/>
                      </a:endParaRPr>
                    </a:p>
                  </a:txBody>
                  <a:tcPr marL="0" marR="0" marT="0" marB="0">
                    <a:lnR w="3175">
                      <a:solidFill>
                        <a:srgbClr val="000000"/>
                      </a:solidFill>
                      <a:prstDash val="solid"/>
                    </a:lnR>
                    <a:lnT w="9525">
                      <a:solidFill>
                        <a:srgbClr val="000000"/>
                      </a:solidFill>
                      <a:prstDash val="solid"/>
                    </a:lnT>
                  </a:tcPr>
                </a:tc>
                <a:tc rowSpan="2">
                  <a:txBody>
                    <a:bodyPr/>
                    <a:lstStyle/>
                    <a:p>
                      <a:pPr>
                        <a:lnSpc>
                          <a:spcPct val="100000"/>
                        </a:lnSpc>
                      </a:pPr>
                      <a:endParaRPr sz="14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rowSpan="2">
                  <a:txBody>
                    <a:bodyPr/>
                    <a:lstStyle/>
                    <a:p>
                      <a:pPr marR="304800" algn="r">
                        <a:lnSpc>
                          <a:spcPts val="1820"/>
                        </a:lnSpc>
                      </a:pPr>
                      <a:r>
                        <a:rPr sz="1800" dirty="0">
                          <a:latin typeface="Arial"/>
                          <a:cs typeface="Arial"/>
                        </a:rPr>
                        <a:t>1</a:t>
                      </a:r>
                      <a:endParaRPr sz="1800">
                        <a:latin typeface="Arial"/>
                        <a:cs typeface="Arial"/>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3"/>
                  </a:ext>
                </a:extLst>
              </a:tr>
              <a:tr h="99060">
                <a:tc vMerge="1">
                  <a:txBody>
                    <a:bodyPr/>
                    <a:lstStyle/>
                    <a:p>
                      <a:endParaRPr/>
                    </a:p>
                  </a:txBody>
                  <a:tcPr marL="0" marR="0" marT="0" marB="0">
                    <a:lnR w="3175">
                      <a:solidFill>
                        <a:srgbClr val="000000"/>
                      </a:solidFill>
                      <a:prstDash val="solid"/>
                    </a:lnR>
                    <a:lnT w="9525">
                      <a:solidFill>
                        <a:srgbClr val="000000"/>
                      </a:solidFill>
                      <a:prstDash val="solid"/>
                    </a:lnT>
                  </a:tcPr>
                </a:tc>
                <a:tc vMerge="1">
                  <a:txBody>
                    <a:bodyPr/>
                    <a:lstStyle/>
                    <a:p>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175">
                      <a:solidFill>
                        <a:srgbClr val="000000"/>
                      </a:solidFill>
                      <a:prstDash val="solid"/>
                    </a:lnT>
                  </a:tcPr>
                </a:tc>
                <a:extLst>
                  <a:ext uri="{0D108BD9-81ED-4DB2-BD59-A6C34878D82A}">
                    <a16:rowId xmlns:a16="http://schemas.microsoft.com/office/drawing/2014/main" val="10004"/>
                  </a:ext>
                </a:extLst>
              </a:tr>
            </a:tbl>
          </a:graphicData>
        </a:graphic>
      </p:graphicFrame>
      <p:graphicFrame>
        <p:nvGraphicFramePr>
          <p:cNvPr id="11" name="object 11"/>
          <p:cNvGraphicFramePr>
            <a:graphicFrameLocks noGrp="1"/>
          </p:cNvGraphicFramePr>
          <p:nvPr>
            <p:extLst>
              <p:ext uri="{D42A27DB-BD31-4B8C-83A1-F6EECF244321}">
                <p14:modId xmlns:p14="http://schemas.microsoft.com/office/powerpoint/2010/main" val="3578265986"/>
              </p:ext>
            </p:extLst>
          </p:nvPr>
        </p:nvGraphicFramePr>
        <p:xfrm>
          <a:off x="2866644" y="2176273"/>
          <a:ext cx="6671944" cy="575945"/>
        </p:xfrm>
        <a:graphic>
          <a:graphicData uri="http://schemas.openxmlformats.org/drawingml/2006/table">
            <a:tbl>
              <a:tblPr firstRow="1" bandRow="1">
                <a:tableStyleId>{2D5ABB26-0587-4C30-8999-92F81FD0307C}</a:tableStyleId>
              </a:tblPr>
              <a:tblGrid>
                <a:gridCol w="1490345">
                  <a:extLst>
                    <a:ext uri="{9D8B030D-6E8A-4147-A177-3AD203B41FA5}">
                      <a16:colId xmlns:a16="http://schemas.microsoft.com/office/drawing/2014/main" val="20000"/>
                    </a:ext>
                  </a:extLst>
                </a:gridCol>
                <a:gridCol w="3691254">
                  <a:extLst>
                    <a:ext uri="{9D8B030D-6E8A-4147-A177-3AD203B41FA5}">
                      <a16:colId xmlns:a16="http://schemas.microsoft.com/office/drawing/2014/main" val="20001"/>
                    </a:ext>
                  </a:extLst>
                </a:gridCol>
                <a:gridCol w="1490345">
                  <a:extLst>
                    <a:ext uri="{9D8B030D-6E8A-4147-A177-3AD203B41FA5}">
                      <a16:colId xmlns:a16="http://schemas.microsoft.com/office/drawing/2014/main" val="20002"/>
                    </a:ext>
                  </a:extLst>
                </a:gridCol>
              </a:tblGrid>
              <a:tr h="304800">
                <a:tc>
                  <a:txBody>
                    <a:bodyPr/>
                    <a:lstStyle/>
                    <a:p>
                      <a:pPr marL="180975">
                        <a:lnSpc>
                          <a:spcPct val="100000"/>
                        </a:lnSpc>
                        <a:spcBef>
                          <a:spcPts val="350"/>
                        </a:spcBef>
                      </a:pPr>
                      <a:r>
                        <a:rPr lang="en-US" sz="1800" spc="-10">
                          <a:latin typeface="Times New Roman" panose="02020603050405020304" pitchFamily="18" charset="0"/>
                          <a:cs typeface="Times New Roman" panose="02020603050405020304" pitchFamily="18" charset="0"/>
                        </a:rPr>
                        <a:t>   </a:t>
                      </a:r>
                      <a:r>
                        <a:rPr sz="1800" spc="-10">
                          <a:latin typeface="Times New Roman" panose="02020603050405020304" pitchFamily="18" charset="0"/>
                          <a:cs typeface="Times New Roman" panose="02020603050405020304" pitchFamily="18" charset="0"/>
                        </a:rPr>
                        <a:t>Hoá </a:t>
                      </a:r>
                      <a:r>
                        <a:rPr sz="1800" spc="-10" dirty="0">
                          <a:latin typeface="Times New Roman" panose="02020603050405020304" pitchFamily="18" charset="0"/>
                          <a:cs typeface="Times New Roman" panose="02020603050405020304" pitchFamily="18" charset="0"/>
                        </a:rPr>
                        <a:t>Đơn</a:t>
                      </a:r>
                      <a:endParaRPr sz="1800">
                        <a:latin typeface="Times New Roman" panose="02020603050405020304" pitchFamily="18" charset="0"/>
                        <a:cs typeface="Times New Roman" panose="02020603050405020304" pitchFamily="18" charset="0"/>
                      </a:endParaRPr>
                    </a:p>
                  </a:txBody>
                  <a:tcPr marL="0" marR="0" marT="44450" marB="0">
                    <a:lnL w="3175">
                      <a:solidFill>
                        <a:srgbClr val="000000"/>
                      </a:solidFill>
                      <a:prstDash val="solid"/>
                    </a:lnL>
                    <a:lnR w="3175">
                      <a:solidFill>
                        <a:srgbClr val="000000"/>
                      </a:solidFill>
                      <a:prstDash val="solid"/>
                    </a:lnR>
                    <a:lnT w="3175">
                      <a:solidFill>
                        <a:srgbClr val="000000"/>
                      </a:solidFill>
                      <a:prstDash val="solid"/>
                    </a:lnT>
                    <a:lnB w="9525">
                      <a:solidFill>
                        <a:srgbClr val="000000"/>
                      </a:solidFill>
                      <a:prstDash val="solid"/>
                    </a:lnB>
                  </a:tcPr>
                </a:tc>
                <a:tc>
                  <a:txBody>
                    <a:bodyPr/>
                    <a:lstStyle/>
                    <a:p>
                      <a:pPr marL="262890">
                        <a:lnSpc>
                          <a:spcPct val="100000"/>
                        </a:lnSpc>
                        <a:spcBef>
                          <a:spcPts val="50"/>
                        </a:spcBef>
                      </a:pPr>
                      <a:r>
                        <a:rPr sz="1800" spc="-35" dirty="0">
                          <a:latin typeface="Arial"/>
                          <a:cs typeface="Arial"/>
                        </a:rPr>
                        <a:t>0..*</a:t>
                      </a:r>
                      <a:endParaRPr sz="1800">
                        <a:latin typeface="Arial"/>
                        <a:cs typeface="Arial"/>
                      </a:endParaRPr>
                    </a:p>
                  </a:txBody>
                  <a:tcPr marL="0" marR="0" marT="6350" marB="0">
                    <a:lnL w="3175">
                      <a:solidFill>
                        <a:srgbClr val="000000"/>
                      </a:solidFill>
                      <a:prstDash val="solid"/>
                    </a:lnL>
                    <a:lnR w="3175">
                      <a:solidFill>
                        <a:srgbClr val="000000"/>
                      </a:solidFill>
                      <a:prstDash val="solid"/>
                    </a:lnR>
                    <a:lnB w="9525">
                      <a:solidFill>
                        <a:srgbClr val="000000"/>
                      </a:solidFill>
                      <a:prstDash val="solid"/>
                    </a:lnB>
                  </a:tcPr>
                </a:tc>
                <a:tc>
                  <a:txBody>
                    <a:bodyPr/>
                    <a:lstStyle/>
                    <a:p>
                      <a:pPr marL="181610">
                        <a:lnSpc>
                          <a:spcPts val="1970"/>
                        </a:lnSpc>
                        <a:spcBef>
                          <a:spcPts val="330"/>
                        </a:spcBef>
                      </a:pPr>
                      <a:r>
                        <a:rPr lang="en-US" sz="1800" spc="-5">
                          <a:latin typeface="Times New Roman" panose="02020603050405020304" pitchFamily="18" charset="0"/>
                          <a:cs typeface="Times New Roman" panose="02020603050405020304" pitchFamily="18" charset="0"/>
                        </a:rPr>
                        <a:t>  </a:t>
                      </a:r>
                      <a:r>
                        <a:rPr sz="1800" spc="-5">
                          <a:latin typeface="Times New Roman" panose="02020603050405020304" pitchFamily="18" charset="0"/>
                          <a:cs typeface="Times New Roman" panose="02020603050405020304" pitchFamily="18" charset="0"/>
                        </a:rPr>
                        <a:t>Sản</a:t>
                      </a:r>
                      <a:r>
                        <a:rPr sz="1800" spc="-25">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Phẩm</a:t>
                      </a:r>
                      <a:endParaRPr sz="1800">
                        <a:latin typeface="Times New Roman" panose="02020603050405020304" pitchFamily="18" charset="0"/>
                        <a:cs typeface="Times New Roman" panose="02020603050405020304" pitchFamily="18" charset="0"/>
                      </a:endParaRPr>
                    </a:p>
                  </a:txBody>
                  <a:tcPr marL="0" marR="0" marT="419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557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9525">
                      <a:solidFill>
                        <a:srgbClr val="000000"/>
                      </a:solidFill>
                      <a:prstDash val="solid"/>
                    </a:lnT>
                    <a:lnB w="3175">
                      <a:solidFill>
                        <a:srgbClr val="000000"/>
                      </a:solidFill>
                      <a:prstDash val="solid"/>
                    </a:lnB>
                  </a:tcPr>
                </a:tc>
                <a:tc rowSpan="2">
                  <a:txBody>
                    <a:bodyPr/>
                    <a:lstStyle/>
                    <a:p>
                      <a:pPr marR="104139" algn="r">
                        <a:lnSpc>
                          <a:spcPts val="1660"/>
                        </a:lnSpc>
                        <a:spcBef>
                          <a:spcPts val="265"/>
                        </a:spcBef>
                      </a:pPr>
                      <a:r>
                        <a:rPr sz="1800" dirty="0">
                          <a:latin typeface="Arial"/>
                          <a:cs typeface="Arial"/>
                        </a:rPr>
                        <a:t>1..*</a:t>
                      </a:r>
                      <a:endParaRPr sz="1800">
                        <a:latin typeface="Arial"/>
                        <a:cs typeface="Arial"/>
                      </a:endParaRPr>
                    </a:p>
                  </a:txBody>
                  <a:tcPr marL="0" marR="0" marT="33655"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33655" marB="0">
                    <a:lnL w="3175">
                      <a:solidFill>
                        <a:srgbClr val="000000"/>
                      </a:solidFill>
                      <a:prstDash val="solid"/>
                    </a:lnL>
                    <a:lnR w="3175">
                      <a:solidFill>
                        <a:srgbClr val="000000"/>
                      </a:solidFill>
                      <a:prstDash val="solid"/>
                    </a:lnR>
                    <a:lnT w="9525">
                      <a:solidFill>
                        <a:srgbClr val="000000"/>
                      </a:solidFill>
                      <a:prstDash val="solid"/>
                    </a:lnT>
                  </a:tcPr>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12" name="object 12"/>
          <p:cNvSpPr/>
          <p:nvPr/>
        </p:nvSpPr>
        <p:spPr>
          <a:xfrm>
            <a:off x="6140196" y="2482595"/>
            <a:ext cx="157480" cy="365760"/>
          </a:xfrm>
          <a:custGeom>
            <a:avLst/>
            <a:gdLst/>
            <a:ahLst/>
            <a:cxnLst/>
            <a:rect l="l" t="t" r="r" b="b"/>
            <a:pathLst>
              <a:path w="157479" h="365760">
                <a:moveTo>
                  <a:pt x="156971" y="0"/>
                </a:moveTo>
                <a:lnTo>
                  <a:pt x="0" y="365759"/>
                </a:lnTo>
              </a:path>
            </a:pathLst>
          </a:custGeom>
          <a:ln w="9144">
            <a:solidFill>
              <a:srgbClr val="000000"/>
            </a:solidFill>
            <a:prstDash val="sysDash"/>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13" name="object 13"/>
          <p:cNvGraphicFramePr>
            <a:graphicFrameLocks noGrp="1"/>
          </p:cNvGraphicFramePr>
          <p:nvPr>
            <p:extLst>
              <p:ext uri="{D42A27DB-BD31-4B8C-83A1-F6EECF244321}">
                <p14:modId xmlns:p14="http://schemas.microsoft.com/office/powerpoint/2010/main" val="2736989030"/>
              </p:ext>
            </p:extLst>
          </p:nvPr>
        </p:nvGraphicFramePr>
        <p:xfrm>
          <a:off x="5202935" y="2866645"/>
          <a:ext cx="2133600" cy="1142365"/>
        </p:xfrm>
        <a:graphic>
          <a:graphicData uri="http://schemas.openxmlformats.org/drawingml/2006/table">
            <a:tbl>
              <a:tblPr firstRow="1" bandRow="1">
                <a:tableStyleId>{2D5ABB26-0587-4C30-8999-92F81FD0307C}</a:tableStyleId>
              </a:tblPr>
              <a:tblGrid>
                <a:gridCol w="2133600">
                  <a:extLst>
                    <a:ext uri="{9D8B030D-6E8A-4147-A177-3AD203B41FA5}">
                      <a16:colId xmlns:a16="http://schemas.microsoft.com/office/drawing/2014/main" val="20000"/>
                    </a:ext>
                  </a:extLst>
                </a:gridCol>
              </a:tblGrid>
              <a:tr h="307340">
                <a:tc>
                  <a:txBody>
                    <a:bodyPr/>
                    <a:lstStyle/>
                    <a:p>
                      <a:pPr marL="259079">
                        <a:lnSpc>
                          <a:spcPct val="100000"/>
                        </a:lnSpc>
                        <a:spcBef>
                          <a:spcPts val="355"/>
                        </a:spcBef>
                      </a:pPr>
                      <a:r>
                        <a:rPr lang="en-US" sz="1600" spc="-5">
                          <a:latin typeface="Times New Roman" panose="02020603050405020304" pitchFamily="18" charset="0"/>
                          <a:cs typeface="Times New Roman" panose="02020603050405020304" pitchFamily="18" charset="0"/>
                        </a:rPr>
                        <a:t>  </a:t>
                      </a:r>
                      <a:r>
                        <a:rPr sz="1600" spc="-5">
                          <a:latin typeface="Times New Roman" panose="02020603050405020304" pitchFamily="18" charset="0"/>
                          <a:cs typeface="Times New Roman" panose="02020603050405020304" pitchFamily="18" charset="0"/>
                        </a:rPr>
                        <a:t>Chi </a:t>
                      </a:r>
                      <a:r>
                        <a:rPr sz="1600" spc="-20" dirty="0">
                          <a:latin typeface="Times New Roman" panose="02020603050405020304" pitchFamily="18" charset="0"/>
                          <a:cs typeface="Times New Roman" panose="02020603050405020304" pitchFamily="18" charset="0"/>
                        </a:rPr>
                        <a:t>Tiết </a:t>
                      </a:r>
                      <a:r>
                        <a:rPr sz="1600" spc="-5" dirty="0">
                          <a:latin typeface="Times New Roman" panose="02020603050405020304" pitchFamily="18" charset="0"/>
                          <a:cs typeface="Times New Roman" panose="02020603050405020304" pitchFamily="18" charset="0"/>
                        </a:rPr>
                        <a:t>Hoá</a:t>
                      </a:r>
                      <a:r>
                        <a:rPr sz="1600" spc="-25"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Đơn</a:t>
                      </a:r>
                      <a:endParaRPr sz="1600">
                        <a:latin typeface="Times New Roman" panose="02020603050405020304" pitchFamily="18" charset="0"/>
                        <a:cs typeface="Times New Roman" panose="02020603050405020304" pitchFamily="18" charset="0"/>
                      </a:endParaRPr>
                    </a:p>
                  </a:txBody>
                  <a:tcPr marL="0" marR="0" marT="450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682625">
                <a:tc>
                  <a:txBody>
                    <a:bodyPr/>
                    <a:lstStyle/>
                    <a:p>
                      <a:pPr marL="153670">
                        <a:lnSpc>
                          <a:spcPts val="1664"/>
                        </a:lnSpc>
                      </a:pPr>
                      <a:r>
                        <a:rPr sz="1400" dirty="0">
                          <a:latin typeface="Arial"/>
                          <a:cs typeface="Arial"/>
                        </a:rPr>
                        <a:t>sốLượng</a:t>
                      </a:r>
                      <a:endParaRPr sz="1400">
                        <a:latin typeface="Arial"/>
                        <a:cs typeface="Arial"/>
                      </a:endParaRPr>
                    </a:p>
                    <a:p>
                      <a:pPr marL="153670">
                        <a:lnSpc>
                          <a:spcPct val="100000"/>
                        </a:lnSpc>
                      </a:pPr>
                      <a:r>
                        <a:rPr sz="1400" spc="-5" dirty="0">
                          <a:latin typeface="Arial"/>
                          <a:cs typeface="Arial"/>
                        </a:rPr>
                        <a:t>đơnGiá</a:t>
                      </a:r>
                      <a:endParaRPr sz="1400">
                        <a:latin typeface="Arial"/>
                        <a:cs typeface="Arial"/>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52400">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15"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1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62778204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600"/>
            <a:ext cx="12192000" cy="4848122"/>
          </a:xfrm>
          <a:prstGeom prst="rect">
            <a:avLst/>
          </a:prstGeom>
        </p:spPr>
        <p:txBody>
          <a:bodyPr vert="horz" wrap="square" lIns="0" tIns="104775" rIns="0" bIns="0" rtlCol="0">
            <a:spAutoFit/>
          </a:bodyPr>
          <a:lstStyle/>
          <a:p>
            <a:pPr marL="231775" marR="5080" lvl="1" indent="-173038" algn="just">
              <a:lnSpc>
                <a:spcPct val="150000"/>
              </a:lnSpc>
              <a:spcBef>
                <a:spcPts val="610"/>
              </a:spcBef>
              <a:buSzPct val="100000"/>
              <a:buFont typeface="Wingdings" panose="05000000000000000000" pitchFamily="2" charset="2"/>
              <a:buChar char="§"/>
              <a:tabLst>
                <a:tab pos="653415" algn="l"/>
              </a:tabLst>
            </a:pPr>
            <a:r>
              <a:rPr lang="en-US" sz="2400" spc="-10">
                <a:solidFill>
                  <a:srgbClr val="FF0066"/>
                </a:solidFill>
                <a:latin typeface="Times New Roman" panose="02020603050405020304" pitchFamily="18" charset="0"/>
                <a:cs typeface="Times New Roman" panose="02020603050405020304" pitchFamily="18" charset="0"/>
              </a:rPr>
              <a:t> </a:t>
            </a:r>
            <a:r>
              <a:rPr sz="2800" b="1" spc="-10">
                <a:solidFill>
                  <a:srgbClr val="FF0000"/>
                </a:solidFill>
                <a:latin typeface="Times New Roman" panose="02020603050405020304" pitchFamily="18" charset="0"/>
                <a:cs typeface="Times New Roman" panose="02020603050405020304" pitchFamily="18" charset="0"/>
              </a:rPr>
              <a:t>Xác </a:t>
            </a:r>
            <a:r>
              <a:rPr sz="2800" b="1" spc="-5" dirty="0">
                <a:solidFill>
                  <a:srgbClr val="FF0000"/>
                </a:solidFill>
                <a:latin typeface="Times New Roman" panose="02020603050405020304" pitchFamily="18" charset="0"/>
                <a:cs typeface="Times New Roman" panose="02020603050405020304" pitchFamily="18" charset="0"/>
              </a:rPr>
              <a:t>định mối kết </a:t>
            </a:r>
            <a:r>
              <a:rPr sz="2800" b="1" spc="-10" dirty="0">
                <a:solidFill>
                  <a:srgbClr val="FF0000"/>
                </a:solidFill>
                <a:latin typeface="Times New Roman" panose="02020603050405020304" pitchFamily="18" charset="0"/>
                <a:cs typeface="Times New Roman" panose="02020603050405020304" pitchFamily="18" charset="0"/>
              </a:rPr>
              <a:t>hợp </a:t>
            </a:r>
            <a:r>
              <a:rPr sz="2800" b="1" spc="-5" dirty="0">
                <a:solidFill>
                  <a:srgbClr val="FF0000"/>
                </a:solidFill>
                <a:latin typeface="Times New Roman" panose="02020603050405020304" pitchFamily="18" charset="0"/>
                <a:cs typeface="Times New Roman" panose="02020603050405020304" pitchFamily="18" charset="0"/>
              </a:rPr>
              <a:t>tổng quát – </a:t>
            </a:r>
            <a:r>
              <a:rPr sz="2800" b="1" spc="-5">
                <a:solidFill>
                  <a:srgbClr val="FF0000"/>
                </a:solidFill>
                <a:latin typeface="Times New Roman" panose="02020603050405020304" pitchFamily="18" charset="0"/>
                <a:cs typeface="Times New Roman" panose="02020603050405020304" pitchFamily="18" charset="0"/>
              </a:rPr>
              <a:t>chuyên </a:t>
            </a:r>
            <a:r>
              <a:rPr sz="2800" b="1" spc="-10">
                <a:solidFill>
                  <a:srgbClr val="FF0000"/>
                </a:solidFill>
                <a:latin typeface="Times New Roman" panose="02020603050405020304" pitchFamily="18" charset="0"/>
                <a:cs typeface="Times New Roman" panose="02020603050405020304" pitchFamily="18" charset="0"/>
              </a:rPr>
              <a:t>biệt</a:t>
            </a:r>
            <a:r>
              <a:rPr lang="en-US" sz="2800" b="1" spc="-10">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a:t>
            </a:r>
            <a:r>
              <a:rPr sz="2800" b="1" dirty="0">
                <a:solidFill>
                  <a:srgbClr val="FF0000"/>
                </a:solidFill>
                <a:latin typeface="Times New Roman" panose="02020603050405020304" pitchFamily="18" charset="0"/>
                <a:cs typeface="Times New Roman" panose="02020603050405020304" pitchFamily="18" charset="0"/>
              </a:rPr>
              <a:t>generalization): </a:t>
            </a:r>
            <a:r>
              <a:rPr sz="2400" spc="-5" dirty="0">
                <a:latin typeface="Times New Roman" panose="02020603050405020304" pitchFamily="18" charset="0"/>
                <a:cs typeface="Times New Roman" panose="02020603050405020304" pitchFamily="18" charset="0"/>
              </a:rPr>
              <a:t>Thể hiện </a:t>
            </a:r>
            <a:r>
              <a:rPr sz="2400" dirty="0">
                <a:latin typeface="Times New Roman" panose="02020603050405020304" pitchFamily="18" charset="0"/>
                <a:cs typeface="Times New Roman" panose="02020603050405020304" pitchFamily="18" charset="0"/>
              </a:rPr>
              <a:t>quan </a:t>
            </a:r>
            <a:r>
              <a:rPr sz="2400" spc="-5" dirty="0">
                <a:latin typeface="Times New Roman" panose="02020603050405020304" pitchFamily="18" charset="0"/>
                <a:cs typeface="Times New Roman" panose="02020603050405020304" pitchFamily="18" charset="0"/>
              </a:rPr>
              <a:t>hệ </a:t>
            </a:r>
            <a:r>
              <a:rPr sz="2400" dirty="0">
                <a:latin typeface="Times New Roman" panose="02020603050405020304" pitchFamily="18" charset="0"/>
                <a:cs typeface="Times New Roman" panose="02020603050405020304" pitchFamily="18" charset="0"/>
              </a:rPr>
              <a:t>kế </a:t>
            </a:r>
            <a:r>
              <a:rPr sz="2400" spc="-5" dirty="0">
                <a:latin typeface="Times New Roman" panose="02020603050405020304" pitchFamily="18" charset="0"/>
                <a:cs typeface="Times New Roman" panose="02020603050405020304" pitchFamily="18" charset="0"/>
              </a:rPr>
              <a:t>thừa giữa các </a:t>
            </a:r>
            <a:r>
              <a:rPr sz="2400" spc="-10">
                <a:latin typeface="Times New Roman" panose="02020603050405020304" pitchFamily="18" charset="0"/>
                <a:cs typeface="Times New Roman" panose="02020603050405020304" pitchFamily="18" charset="0"/>
              </a:rPr>
              <a:t>lớp và</a:t>
            </a:r>
            <a:r>
              <a:rPr lang="en-US" sz="2400" spc="-1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một </a:t>
            </a:r>
            <a:r>
              <a:rPr sz="2400" spc="-5" dirty="0">
                <a:latin typeface="Times New Roman" panose="02020603050405020304" pitchFamily="18" charset="0"/>
                <a:cs typeface="Times New Roman" panose="02020603050405020304" pitchFamily="18" charset="0"/>
              </a:rPr>
              <a:t>cấu trúc phân cấp xác định những dòng </a:t>
            </a:r>
            <a:r>
              <a:rPr sz="2400" dirty="0">
                <a:latin typeface="Times New Roman" panose="02020603050405020304" pitchFamily="18" charset="0"/>
                <a:cs typeface="Times New Roman" panose="02020603050405020304" pitchFamily="18" charset="0"/>
              </a:rPr>
              <a:t>kế </a:t>
            </a:r>
            <a:r>
              <a:rPr sz="2400" spc="-5">
                <a:latin typeface="Times New Roman" panose="02020603050405020304" pitchFamily="18" charset="0"/>
                <a:cs typeface="Times New Roman" panose="02020603050405020304" pitchFamily="18" charset="0"/>
              </a:rPr>
              <a:t>thừa</a:t>
            </a:r>
            <a:r>
              <a:rPr sz="2400" spc="13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này</a:t>
            </a:r>
            <a:r>
              <a:rPr lang="en-US" sz="2400" spc="-5">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400050" lvl="2" indent="-342900" algn="just">
              <a:lnSpc>
                <a:spcPct val="150000"/>
              </a:lnSpc>
              <a:spcBef>
                <a:spcPts val="509"/>
              </a:spcBef>
              <a:buSzPct val="100000"/>
              <a:buFont typeface="Arial" panose="020B0604020202020204" pitchFamily="34" charset="0"/>
              <a:buChar char="•"/>
              <a:tabLst>
                <a:tab pos="927735" algn="l"/>
              </a:tabLst>
            </a:pPr>
            <a:r>
              <a:rPr sz="2400" b="1" spc="-20" dirty="0">
                <a:solidFill>
                  <a:srgbClr val="006FC0"/>
                </a:solidFill>
                <a:latin typeface="Times New Roman" panose="02020603050405020304" pitchFamily="18" charset="0"/>
                <a:cs typeface="Times New Roman" panose="02020603050405020304" pitchFamily="18" charset="0"/>
              </a:rPr>
              <a:t>Tiếp </a:t>
            </a:r>
            <a:r>
              <a:rPr sz="2400" b="1" dirty="0">
                <a:solidFill>
                  <a:srgbClr val="006FC0"/>
                </a:solidFill>
                <a:latin typeface="Times New Roman" panose="02020603050405020304" pitchFamily="18" charset="0"/>
                <a:cs typeface="Times New Roman" panose="02020603050405020304" pitchFamily="18" charset="0"/>
              </a:rPr>
              <a:t>cận</a:t>
            </a:r>
            <a:r>
              <a:rPr sz="2400" b="1" spc="-15" dirty="0">
                <a:solidFill>
                  <a:srgbClr val="006FC0"/>
                </a:solidFill>
                <a:latin typeface="Times New Roman" panose="02020603050405020304" pitchFamily="18" charset="0"/>
                <a:cs typeface="Times New Roman" panose="02020603050405020304" pitchFamily="18" charset="0"/>
              </a:rPr>
              <a:t> </a:t>
            </a:r>
            <a:r>
              <a:rPr sz="2400" b="1" dirty="0">
                <a:solidFill>
                  <a:srgbClr val="006FC0"/>
                </a:solidFill>
                <a:latin typeface="Times New Roman" panose="02020603050405020304" pitchFamily="18" charset="0"/>
                <a:cs typeface="Times New Roman" panose="02020603050405020304" pitchFamily="18" charset="0"/>
              </a:rPr>
              <a:t>top-down:</a:t>
            </a:r>
            <a:endParaRPr sz="2400" b="1" dirty="0">
              <a:latin typeface="Times New Roman" panose="02020603050405020304" pitchFamily="18" charset="0"/>
              <a:cs typeface="Times New Roman" panose="02020603050405020304" pitchFamily="18" charset="0"/>
            </a:endParaRPr>
          </a:p>
          <a:p>
            <a:pPr marL="690563" marR="74295" lvl="3" indent="-342900" algn="just">
              <a:lnSpc>
                <a:spcPct val="150000"/>
              </a:lnSpc>
              <a:spcBef>
                <a:spcPts val="395"/>
              </a:spcBef>
              <a:buSzPct val="100000"/>
              <a:buFont typeface="Wingdings" panose="05000000000000000000" pitchFamily="2" charset="2"/>
              <a:buChar char="ü"/>
              <a:tabLst>
                <a:tab pos="1384935" algn="l"/>
              </a:tabLst>
            </a:pPr>
            <a:r>
              <a:rPr sz="2400">
                <a:latin typeface="Times New Roman" panose="02020603050405020304" pitchFamily="18" charset="0"/>
                <a:cs typeface="Times New Roman" panose="02020603050405020304" pitchFamily="18" charset="0"/>
              </a:rPr>
              <a:t>Từ </a:t>
            </a:r>
            <a:r>
              <a:rPr sz="2400" dirty="0">
                <a:latin typeface="Times New Roman" panose="02020603050405020304" pitchFamily="18" charset="0"/>
                <a:cs typeface="Times New Roman" panose="02020603050405020304" pitchFamily="18" charset="0"/>
              </a:rPr>
              <a:t>một </a:t>
            </a:r>
            <a:r>
              <a:rPr sz="2400" spc="-5" dirty="0">
                <a:latin typeface="Times New Roman" panose="02020603050405020304" pitchFamily="18" charset="0"/>
                <a:cs typeface="Times New Roman" panose="02020603050405020304" pitchFamily="18" charset="0"/>
              </a:rPr>
              <a:t>lớp </a:t>
            </a:r>
            <a:r>
              <a:rPr sz="2400" dirty="0">
                <a:latin typeface="Times New Roman" panose="02020603050405020304" pitchFamily="18" charset="0"/>
                <a:cs typeface="Times New Roman" panose="02020603050405020304" pitchFamily="18" charset="0"/>
              </a:rPr>
              <a:t>chúng ta </a:t>
            </a:r>
            <a:r>
              <a:rPr sz="2400" spc="-5" dirty="0">
                <a:latin typeface="Times New Roman" panose="02020603050405020304" pitchFamily="18" charset="0"/>
                <a:cs typeface="Times New Roman" panose="02020603050405020304" pitchFamily="18" charset="0"/>
              </a:rPr>
              <a:t>tìm </a:t>
            </a:r>
            <a:r>
              <a:rPr sz="2400" dirty="0">
                <a:latin typeface="Times New Roman" panose="02020603050405020304" pitchFamily="18" charset="0"/>
                <a:cs typeface="Times New Roman" panose="02020603050405020304" pitchFamily="18" charset="0"/>
              </a:rPr>
              <a:t>kiếm cụm danh </a:t>
            </a:r>
            <a:r>
              <a:rPr sz="2400" spc="-5" dirty="0">
                <a:latin typeface="Times New Roman" panose="02020603050405020304" pitchFamily="18" charset="0"/>
                <a:cs typeface="Times New Roman" panose="02020603050405020304" pitchFamily="18" charset="0"/>
              </a:rPr>
              <a:t>từ </a:t>
            </a:r>
            <a:r>
              <a:rPr sz="2400" dirty="0">
                <a:latin typeface="Times New Roman" panose="02020603050405020304" pitchFamily="18" charset="0"/>
                <a:cs typeface="Times New Roman" panose="02020603050405020304" pitchFamily="18" charset="0"/>
              </a:rPr>
              <a:t>chứa </a:t>
            </a:r>
            <a:r>
              <a:rPr sz="2400">
                <a:latin typeface="Times New Roman" panose="02020603050405020304" pitchFamily="18" charset="0"/>
                <a:cs typeface="Times New Roman" panose="02020603050405020304" pitchFamily="18" charset="0"/>
              </a:rPr>
              <a:t>tên </a:t>
            </a:r>
            <a:r>
              <a:rPr sz="2400" spc="-5">
                <a:latin typeface="Times New Roman" panose="02020603050405020304" pitchFamily="18" charset="0"/>
                <a:cs typeface="Times New Roman" panose="02020603050405020304" pitchFamily="18" charset="0"/>
              </a:rPr>
              <a:t>lớp</a:t>
            </a:r>
            <a:r>
              <a:rPr lang="en-US" sz="2400" spc="-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và </a:t>
            </a:r>
            <a:r>
              <a:rPr sz="2400" spc="-5" dirty="0">
                <a:latin typeface="Times New Roman" panose="02020603050405020304" pitchFamily="18" charset="0"/>
                <a:cs typeface="Times New Roman" panose="02020603050405020304" pitchFamily="18" charset="0"/>
              </a:rPr>
              <a:t>tính từ </a:t>
            </a:r>
            <a:r>
              <a:rPr sz="2400" dirty="0">
                <a:latin typeface="Times New Roman" panose="02020603050405020304" pitchFamily="18" charset="0"/>
                <a:cs typeface="Times New Roman" panose="02020603050405020304" pitchFamily="18" charset="0"/>
              </a:rPr>
              <a:t>(hoặc danh từ). </a:t>
            </a:r>
            <a:r>
              <a:rPr sz="2400" spc="-5" dirty="0">
                <a:latin typeface="Times New Roman" panose="02020603050405020304" pitchFamily="18" charset="0"/>
                <a:cs typeface="Times New Roman" panose="02020603050405020304" pitchFamily="18" charset="0"/>
              </a:rPr>
              <a:t>Đánh </a:t>
            </a:r>
            <a:r>
              <a:rPr sz="2400" dirty="0">
                <a:latin typeface="Times New Roman" panose="02020603050405020304" pitchFamily="18" charset="0"/>
                <a:cs typeface="Times New Roman" panose="02020603050405020304" pitchFamily="18" charset="0"/>
              </a:rPr>
              <a:t>giá xem cụm danh </a:t>
            </a:r>
            <a:r>
              <a:rPr sz="2400" spc="-5">
                <a:latin typeface="Times New Roman" panose="02020603050405020304" pitchFamily="18" charset="0"/>
                <a:cs typeface="Times New Roman" panose="02020603050405020304" pitchFamily="18" charset="0"/>
              </a:rPr>
              <a:t>từ</a:t>
            </a:r>
            <a:r>
              <a:rPr sz="2400" spc="-18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này</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có </a:t>
            </a:r>
            <a:r>
              <a:rPr sz="2400" dirty="0">
                <a:latin typeface="Times New Roman" panose="02020603050405020304" pitchFamily="18" charset="0"/>
                <a:cs typeface="Times New Roman" panose="02020603050405020304" pitchFamily="18" charset="0"/>
              </a:rPr>
              <a:t>thể </a:t>
            </a:r>
            <a:r>
              <a:rPr sz="2400" spc="-5" dirty="0">
                <a:latin typeface="Times New Roman" panose="02020603050405020304" pitchFamily="18" charset="0"/>
                <a:cs typeface="Times New Roman" panose="02020603050405020304" pitchFamily="18" charset="0"/>
              </a:rPr>
              <a:t>là </a:t>
            </a:r>
            <a:r>
              <a:rPr sz="2400" dirty="0">
                <a:latin typeface="Times New Roman" panose="02020603050405020304" pitchFamily="18" charset="0"/>
                <a:cs typeface="Times New Roman" panose="02020603050405020304" pitchFamily="18" charset="0"/>
              </a:rPr>
              <a:t>một trường hợp đặc </a:t>
            </a:r>
            <a:r>
              <a:rPr sz="2400" spc="-5" dirty="0">
                <a:latin typeface="Times New Roman" panose="02020603050405020304" pitchFamily="18" charset="0"/>
                <a:cs typeface="Times New Roman" panose="02020603050405020304" pitchFamily="18" charset="0"/>
              </a:rPr>
              <a:t>biệt </a:t>
            </a:r>
            <a:r>
              <a:rPr sz="2400" dirty="0">
                <a:latin typeface="Times New Roman" panose="02020603050405020304" pitchFamily="18" charset="0"/>
                <a:cs typeface="Times New Roman" panose="02020603050405020304" pitchFamily="18" charset="0"/>
              </a:rPr>
              <a:t>cần được quản </a:t>
            </a:r>
            <a:r>
              <a:rPr sz="2400" spc="-5">
                <a:latin typeface="Times New Roman" panose="02020603050405020304" pitchFamily="18" charset="0"/>
                <a:cs typeface="Times New Roman" panose="02020603050405020304" pitchFamily="18" charset="0"/>
              </a:rPr>
              <a:t>lý </a:t>
            </a:r>
            <a:r>
              <a:rPr sz="2400">
                <a:latin typeface="Times New Roman" panose="02020603050405020304" pitchFamily="18" charset="0"/>
                <a:cs typeface="Times New Roman" panose="02020603050405020304" pitchFamily="18" charset="0"/>
              </a:rPr>
              <a:t>trong</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hệ thống</a:t>
            </a:r>
            <a:r>
              <a:rPr sz="2400" spc="-3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không</a:t>
            </a:r>
            <a:endParaRPr sz="2400" dirty="0">
              <a:latin typeface="Times New Roman" panose="02020603050405020304" pitchFamily="18" charset="0"/>
              <a:cs typeface="Times New Roman" panose="02020603050405020304" pitchFamily="18" charset="0"/>
            </a:endParaRPr>
          </a:p>
          <a:p>
            <a:pPr marL="690563" lvl="3" indent="-342900" algn="just">
              <a:lnSpc>
                <a:spcPct val="150000"/>
              </a:lnSpc>
              <a:spcBef>
                <a:spcPts val="400"/>
              </a:spcBef>
              <a:buSzPct val="100000"/>
              <a:buFont typeface="Wingdings" panose="05000000000000000000" pitchFamily="2" charset="2"/>
              <a:buChar char="ü"/>
              <a:tabLst>
                <a:tab pos="1384935" algn="l"/>
              </a:tabLst>
            </a:pP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Tìm </a:t>
            </a:r>
            <a:r>
              <a:rPr sz="2400" dirty="0">
                <a:latin typeface="Times New Roman" panose="02020603050405020304" pitchFamily="18" charset="0"/>
                <a:cs typeface="Times New Roman" panose="02020603050405020304" pitchFamily="18" charset="0"/>
              </a:rPr>
              <a:t>kiếm xem có </a:t>
            </a:r>
            <a:r>
              <a:rPr sz="2400" spc="-5" dirty="0">
                <a:latin typeface="Times New Roman" panose="02020603050405020304" pitchFamily="18" charset="0"/>
                <a:cs typeface="Times New Roman" panose="02020603050405020304" pitchFamily="18" charset="0"/>
              </a:rPr>
              <a:t>những </a:t>
            </a:r>
            <a:r>
              <a:rPr sz="2400" dirty="0">
                <a:latin typeface="Times New Roman" panose="02020603050405020304" pitchFamily="18" charset="0"/>
                <a:cs typeface="Times New Roman" panose="02020603050405020304" pitchFamily="18" charset="0"/>
              </a:rPr>
              <a:t>đặc trưng riêng </a:t>
            </a:r>
            <a:r>
              <a:rPr sz="2400">
                <a:latin typeface="Times New Roman" panose="02020603050405020304" pitchFamily="18" charset="0"/>
                <a:cs typeface="Times New Roman" panose="02020603050405020304" pitchFamily="18" charset="0"/>
              </a:rPr>
              <a:t>của</a:t>
            </a:r>
            <a:r>
              <a:rPr sz="2400" spc="-17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lớp</a:t>
            </a:r>
            <a:endParaRPr sz="2400" dirty="0">
              <a:latin typeface="Times New Roman" panose="02020603050405020304" pitchFamily="18" charset="0"/>
              <a:cs typeface="Times New Roman" panose="02020603050405020304" pitchFamily="18" charset="0"/>
            </a:endParaRPr>
          </a:p>
          <a:p>
            <a:pPr marL="690563" marR="33020" lvl="3" indent="-342900" algn="just">
              <a:lnSpc>
                <a:spcPct val="150000"/>
              </a:lnSpc>
              <a:spcBef>
                <a:spcPts val="409"/>
              </a:spcBef>
              <a:buSzPct val="100000"/>
              <a:buFont typeface="Wingdings" panose="05000000000000000000" pitchFamily="2" charset="2"/>
              <a:buChar char="ü"/>
              <a:tabLst>
                <a:tab pos="1384935" algn="l"/>
              </a:tabLst>
            </a:pP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Xây </a:t>
            </a:r>
            <a:r>
              <a:rPr sz="2400" spc="-5" dirty="0">
                <a:latin typeface="Times New Roman" panose="02020603050405020304" pitchFamily="18" charset="0"/>
                <a:cs typeface="Times New Roman" panose="02020603050405020304" pitchFamily="18" charset="0"/>
              </a:rPr>
              <a:t>dựng </a:t>
            </a:r>
            <a:r>
              <a:rPr sz="2400" dirty="0">
                <a:latin typeface="Times New Roman" panose="02020603050405020304" pitchFamily="18" charset="0"/>
                <a:cs typeface="Times New Roman" panose="02020603050405020304" pitchFamily="18" charset="0"/>
              </a:rPr>
              <a:t>mối kết hợp chuyên </a:t>
            </a:r>
            <a:r>
              <a:rPr sz="2400" spc="-5" dirty="0">
                <a:latin typeface="Times New Roman" panose="02020603050405020304" pitchFamily="18" charset="0"/>
                <a:cs typeface="Times New Roman" panose="02020603050405020304" pitchFamily="18" charset="0"/>
              </a:rPr>
              <a:t>biệt từ lớp </a:t>
            </a:r>
            <a:r>
              <a:rPr sz="2400" dirty="0">
                <a:latin typeface="Times New Roman" panose="02020603050405020304" pitchFamily="18" charset="0"/>
                <a:cs typeface="Times New Roman" panose="02020603050405020304" pitchFamily="18" charset="0"/>
              </a:rPr>
              <a:t>này đến </a:t>
            </a:r>
            <a:r>
              <a:rPr sz="2400" spc="-5">
                <a:latin typeface="Times New Roman" panose="02020603050405020304" pitchFamily="18" charset="0"/>
                <a:cs typeface="Times New Roman" panose="02020603050405020304" pitchFamily="18" charset="0"/>
              </a:rPr>
              <a:t>lớp</a:t>
            </a:r>
            <a:r>
              <a:rPr sz="2400" spc="-13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ban</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đầu</a:t>
            </a:r>
            <a:endParaRPr sz="2400" dirty="0">
              <a:latin typeface="Times New Roman" panose="02020603050405020304" pitchFamily="18" charset="0"/>
              <a:cs typeface="Times New Roman" panose="02020603050405020304" pitchFamily="18" charset="0"/>
            </a:endParaRPr>
          </a:p>
        </p:txBody>
      </p:sp>
      <p:sp>
        <p:nvSpPr>
          <p:cNvPr id="5"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a:latin typeface="Times New Roman" panose="02020603050405020304" pitchFamily="18" charset="0"/>
                <a:cs typeface="Times New Roman" panose="02020603050405020304" pitchFamily="18" charset="0"/>
              </a:rPr>
              <a:t>Xác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67388782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24708"/>
            <a:ext cx="10515600" cy="954107"/>
          </a:xfrm>
          <a:prstGeom prst="rect">
            <a:avLst/>
          </a:prstGeom>
        </p:spPr>
        <p:txBody>
          <a:bodyPr vert="horz" wrap="square" lIns="0" tIns="88900" rIns="0" bIns="0" rtlCol="0">
            <a:spAutoFit/>
          </a:bodyPr>
          <a:lstStyle/>
          <a:p>
            <a:pPr marL="290513" marR="5080" lvl="1" indent="-231775">
              <a:spcBef>
                <a:spcPts val="600"/>
              </a:spcBef>
              <a:buSzPct val="100000"/>
              <a:buFont typeface="Wingdings" panose="05000000000000000000" pitchFamily="2" charset="2"/>
              <a:buChar char="§"/>
            </a:pPr>
            <a:r>
              <a:rPr sz="2800" b="1" spc="-5" dirty="0" err="1">
                <a:solidFill>
                  <a:srgbClr val="FF0000"/>
                </a:solidFill>
                <a:latin typeface="Times New Roman" panose="02020603050405020304" pitchFamily="18" charset="0"/>
                <a:cs typeface="Times New Roman" panose="02020603050405020304" pitchFamily="18" charset="0"/>
              </a:rPr>
              <a:t>Xác</a:t>
            </a:r>
            <a:r>
              <a:rPr sz="2800" b="1" spc="-5" dirty="0">
                <a:solidFill>
                  <a:srgbClr val="FF0000"/>
                </a:solidFill>
                <a:latin typeface="Times New Roman" panose="02020603050405020304" pitchFamily="18" charset="0"/>
                <a:cs typeface="Times New Roman" panose="02020603050405020304" pitchFamily="18" charset="0"/>
              </a:rPr>
              <a:t> định </a:t>
            </a:r>
            <a:r>
              <a:rPr sz="2800" b="1" dirty="0">
                <a:solidFill>
                  <a:srgbClr val="FF0000"/>
                </a:solidFill>
                <a:latin typeface="Times New Roman" panose="02020603050405020304" pitchFamily="18" charset="0"/>
                <a:cs typeface="Times New Roman" panose="02020603050405020304" pitchFamily="18" charset="0"/>
              </a:rPr>
              <a:t>mối kết </a:t>
            </a:r>
            <a:r>
              <a:rPr sz="2800" b="1" spc="-5" dirty="0">
                <a:solidFill>
                  <a:srgbClr val="FF0000"/>
                </a:solidFill>
                <a:latin typeface="Times New Roman" panose="02020603050405020304" pitchFamily="18" charset="0"/>
                <a:cs typeface="Times New Roman" panose="02020603050405020304" pitchFamily="18" charset="0"/>
              </a:rPr>
              <a:t>hợp </a:t>
            </a:r>
            <a:r>
              <a:rPr sz="2800" b="1" dirty="0">
                <a:solidFill>
                  <a:srgbClr val="FF0000"/>
                </a:solidFill>
                <a:latin typeface="Times New Roman" panose="02020603050405020304" pitchFamily="18" charset="0"/>
                <a:cs typeface="Times New Roman" panose="02020603050405020304" pitchFamily="18" charset="0"/>
              </a:rPr>
              <a:t>tổng </a:t>
            </a:r>
            <a:r>
              <a:rPr sz="2800" b="1" spc="-5" dirty="0">
                <a:solidFill>
                  <a:srgbClr val="FF0000"/>
                </a:solidFill>
                <a:latin typeface="Times New Roman" panose="02020603050405020304" pitchFamily="18" charset="0"/>
                <a:cs typeface="Times New Roman" panose="02020603050405020304" pitchFamily="18" charset="0"/>
              </a:rPr>
              <a:t>quát </a:t>
            </a:r>
            <a:r>
              <a:rPr sz="2800" b="1" dirty="0">
                <a:solidFill>
                  <a:srgbClr val="FF0000"/>
                </a:solidFill>
                <a:latin typeface="Times New Roman" panose="02020603050405020304" pitchFamily="18" charset="0"/>
                <a:cs typeface="Times New Roman" panose="02020603050405020304" pitchFamily="18" charset="0"/>
              </a:rPr>
              <a:t>– </a:t>
            </a:r>
            <a:r>
              <a:rPr sz="2800" b="1">
                <a:solidFill>
                  <a:srgbClr val="FF0000"/>
                </a:solidFill>
                <a:latin typeface="Times New Roman" panose="02020603050405020304" pitchFamily="18" charset="0"/>
                <a:cs typeface="Times New Roman" panose="02020603050405020304" pitchFamily="18" charset="0"/>
              </a:rPr>
              <a:t>chuyên </a:t>
            </a:r>
            <a:r>
              <a:rPr sz="2800" b="1" spc="-100">
                <a:solidFill>
                  <a:srgbClr val="FF0000"/>
                </a:solidFill>
                <a:latin typeface="Times New Roman" panose="02020603050405020304" pitchFamily="18" charset="0"/>
                <a:cs typeface="Times New Roman" panose="02020603050405020304" pitchFamily="18" charset="0"/>
              </a:rPr>
              <a:t>biệt</a:t>
            </a:r>
            <a:r>
              <a:rPr lang="en-US" sz="2800" b="1" spc="-100">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a:t>
            </a:r>
            <a:r>
              <a:rPr sz="2800" b="1" spc="-5" dirty="0">
                <a:solidFill>
                  <a:srgbClr val="FF0000"/>
                </a:solidFill>
                <a:latin typeface="Times New Roman" panose="02020603050405020304" pitchFamily="18" charset="0"/>
                <a:cs typeface="Times New Roman" panose="02020603050405020304" pitchFamily="18" charset="0"/>
              </a:rPr>
              <a:t>generalization):</a:t>
            </a:r>
            <a:endParaRPr sz="2800" b="1" dirty="0">
              <a:solidFill>
                <a:srgbClr val="FF0000"/>
              </a:solidFill>
              <a:latin typeface="Times New Roman" panose="02020603050405020304" pitchFamily="18" charset="0"/>
              <a:cs typeface="Times New Roman" panose="02020603050405020304" pitchFamily="18" charset="0"/>
            </a:endParaRPr>
          </a:p>
          <a:p>
            <a:pPr marL="749300" lvl="2" indent="-342900">
              <a:spcBef>
                <a:spcPts val="490"/>
              </a:spcBef>
              <a:buSzPct val="100000"/>
              <a:buFont typeface="Arial" panose="020B0604020202020204" pitchFamily="34" charset="0"/>
              <a:buChar char="•"/>
              <a:tabLst>
                <a:tab pos="682625" algn="l"/>
              </a:tabLst>
            </a:pPr>
            <a:r>
              <a:rPr sz="2400" b="1" spc="-30" dirty="0">
                <a:solidFill>
                  <a:srgbClr val="006FC0"/>
                </a:solidFill>
                <a:latin typeface="Times New Roman" panose="02020603050405020304" pitchFamily="18" charset="0"/>
                <a:cs typeface="Times New Roman" panose="02020603050405020304" pitchFamily="18" charset="0"/>
              </a:rPr>
              <a:t>Tiếp </a:t>
            </a:r>
            <a:r>
              <a:rPr sz="2400" b="1">
                <a:solidFill>
                  <a:srgbClr val="006FC0"/>
                </a:solidFill>
                <a:latin typeface="Times New Roman" panose="02020603050405020304" pitchFamily="18" charset="0"/>
                <a:cs typeface="Times New Roman" panose="02020603050405020304" pitchFamily="18" charset="0"/>
              </a:rPr>
              <a:t>cận </a:t>
            </a:r>
            <a:r>
              <a:rPr sz="2400" b="1" spc="-5">
                <a:solidFill>
                  <a:srgbClr val="006FC0"/>
                </a:solidFill>
                <a:latin typeface="Times New Roman" panose="02020603050405020304" pitchFamily="18" charset="0"/>
                <a:cs typeface="Times New Roman" panose="02020603050405020304" pitchFamily="18" charset="0"/>
              </a:rPr>
              <a:t>top-down</a:t>
            </a:r>
            <a:r>
              <a:rPr sz="2400" b="1">
                <a:solidFill>
                  <a:srgbClr val="006FC0"/>
                </a:solidFill>
                <a:latin typeface="Times New Roman" panose="02020603050405020304" pitchFamily="18" charset="0"/>
                <a:cs typeface="Times New Roman" panose="02020603050405020304" pitchFamily="18" charset="0"/>
              </a:rPr>
              <a:t> </a:t>
            </a:r>
            <a:endParaRPr lang="en-US" sz="2400" b="1">
              <a:solidFill>
                <a:srgbClr val="006FC0"/>
              </a:solidFill>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43830484"/>
              </p:ext>
            </p:extLst>
          </p:nvPr>
        </p:nvGraphicFramePr>
        <p:xfrm>
          <a:off x="2284476" y="2514601"/>
          <a:ext cx="1447800" cy="563245"/>
        </p:xfrm>
        <a:graphic>
          <a:graphicData uri="http://schemas.openxmlformats.org/drawingml/2006/table">
            <a:tbl>
              <a:tblPr firstRow="1" bandRow="1">
                <a:tableStyleId>{2D5ABB26-0587-4C30-8999-92F81FD0307C}</a:tableStyleId>
              </a:tblPr>
              <a:tblGrid>
                <a:gridCol w="1447800">
                  <a:extLst>
                    <a:ext uri="{9D8B030D-6E8A-4147-A177-3AD203B41FA5}">
                      <a16:colId xmlns:a16="http://schemas.microsoft.com/office/drawing/2014/main" val="20000"/>
                    </a:ext>
                  </a:extLst>
                </a:gridCol>
              </a:tblGrid>
              <a:tr h="309245">
                <a:tc>
                  <a:txBody>
                    <a:bodyPr/>
                    <a:lstStyle/>
                    <a:p>
                      <a:pPr marL="189230">
                        <a:lnSpc>
                          <a:spcPts val="2000"/>
                        </a:lnSpc>
                        <a:spcBef>
                          <a:spcPts val="335"/>
                        </a:spcBef>
                      </a:pPr>
                      <a:r>
                        <a:rPr lang="en-US" sz="1800" spc="-5">
                          <a:latin typeface="Times New Roman" panose="02020603050405020304" pitchFamily="18" charset="0"/>
                          <a:cs typeface="Times New Roman" panose="02020603050405020304" pitchFamily="18" charset="0"/>
                        </a:rPr>
                        <a:t>   </a:t>
                      </a:r>
                      <a:r>
                        <a:rPr sz="1800" spc="-5">
                          <a:latin typeface="Times New Roman" panose="02020603050405020304" pitchFamily="18" charset="0"/>
                          <a:cs typeface="Times New Roman" panose="02020603050405020304" pitchFamily="18" charset="0"/>
                        </a:rPr>
                        <a:t>Hoá</a:t>
                      </a:r>
                      <a:r>
                        <a:rPr sz="1800" spc="-1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đơn</a:t>
                      </a:r>
                      <a:endParaRPr sz="18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5" name="object 5"/>
          <p:cNvSpPr/>
          <p:nvPr/>
        </p:nvSpPr>
        <p:spPr>
          <a:xfrm>
            <a:off x="1752600" y="4268724"/>
            <a:ext cx="2819400" cy="563880"/>
          </a:xfrm>
          <a:custGeom>
            <a:avLst/>
            <a:gdLst/>
            <a:ahLst/>
            <a:cxnLst/>
            <a:rect l="l" t="t" r="r" b="b"/>
            <a:pathLst>
              <a:path w="2819400" h="563879">
                <a:moveTo>
                  <a:pt x="0" y="563880"/>
                </a:moveTo>
                <a:lnTo>
                  <a:pt x="2819400" y="563880"/>
                </a:lnTo>
                <a:lnTo>
                  <a:pt x="2819400" y="0"/>
                </a:lnTo>
                <a:lnTo>
                  <a:pt x="0" y="0"/>
                </a:lnTo>
                <a:lnTo>
                  <a:pt x="0" y="563880"/>
                </a:lnTo>
                <a:close/>
              </a:path>
            </a:pathLst>
          </a:custGeom>
          <a:ln w="3175">
            <a:solidFill>
              <a:srgbClr val="000000"/>
            </a:solidFill>
          </a:ln>
        </p:spPr>
        <p:txBody>
          <a:bodyPr wrap="square" lIns="0" tIns="0" rIns="0" bIns="0" rtlCol="0"/>
          <a:lstStyle/>
          <a:p>
            <a:endParaRPr/>
          </a:p>
        </p:txBody>
      </p:sp>
      <p:sp>
        <p:nvSpPr>
          <p:cNvPr id="6" name="object 6"/>
          <p:cNvSpPr txBox="1"/>
          <p:nvPr/>
        </p:nvSpPr>
        <p:spPr>
          <a:xfrm>
            <a:off x="1752600" y="4268724"/>
            <a:ext cx="2819400" cy="309880"/>
          </a:xfrm>
          <a:prstGeom prst="rect">
            <a:avLst/>
          </a:prstGeom>
          <a:ln w="3175">
            <a:solidFill>
              <a:srgbClr val="000000"/>
            </a:solidFill>
          </a:ln>
        </p:spPr>
        <p:txBody>
          <a:bodyPr vert="horz" wrap="square" lIns="0" tIns="42545" rIns="0" bIns="0" rtlCol="0">
            <a:spAutoFit/>
          </a:bodyPr>
          <a:lstStyle/>
          <a:p>
            <a:pPr marL="365125">
              <a:lnSpc>
                <a:spcPts val="2100"/>
              </a:lnSpc>
              <a:spcBef>
                <a:spcPts val="335"/>
              </a:spcBef>
            </a:pPr>
            <a:r>
              <a:rPr spc="-10" dirty="0">
                <a:latin typeface="Arial"/>
                <a:cs typeface="Arial"/>
              </a:rPr>
              <a:t>Hoá đơn </a:t>
            </a:r>
            <a:r>
              <a:rPr spc="-10">
                <a:latin typeface="Arial"/>
                <a:cs typeface="Arial"/>
              </a:rPr>
              <a:t>giao</a:t>
            </a:r>
            <a:r>
              <a:rPr spc="15">
                <a:latin typeface="Arial"/>
                <a:cs typeface="Arial"/>
              </a:rPr>
              <a:t> </a:t>
            </a:r>
            <a:r>
              <a:rPr spc="-10">
                <a:latin typeface="Arial"/>
                <a:cs typeface="Arial"/>
              </a:rPr>
              <a:t>hàng</a:t>
            </a:r>
            <a:endParaRPr>
              <a:latin typeface="Arial"/>
              <a:cs typeface="Arial"/>
            </a:endParaRPr>
          </a:p>
        </p:txBody>
      </p:sp>
      <p:sp>
        <p:nvSpPr>
          <p:cNvPr id="7" name="object 7"/>
          <p:cNvSpPr/>
          <p:nvPr/>
        </p:nvSpPr>
        <p:spPr>
          <a:xfrm>
            <a:off x="1752600" y="4578096"/>
            <a:ext cx="2819400" cy="254635"/>
          </a:xfrm>
          <a:custGeom>
            <a:avLst/>
            <a:gdLst/>
            <a:ahLst/>
            <a:cxnLst/>
            <a:rect l="l" t="t" r="r" b="b"/>
            <a:pathLst>
              <a:path w="2819400" h="254635">
                <a:moveTo>
                  <a:pt x="0" y="254507"/>
                </a:moveTo>
                <a:lnTo>
                  <a:pt x="2819400" y="254507"/>
                </a:lnTo>
                <a:lnTo>
                  <a:pt x="2819400" y="0"/>
                </a:lnTo>
                <a:lnTo>
                  <a:pt x="0" y="0"/>
                </a:lnTo>
                <a:lnTo>
                  <a:pt x="0" y="254507"/>
                </a:lnTo>
                <a:close/>
              </a:path>
            </a:pathLst>
          </a:custGeom>
          <a:ln w="3175">
            <a:solidFill>
              <a:srgbClr val="000000"/>
            </a:solidFill>
          </a:ln>
        </p:spPr>
        <p:txBody>
          <a:bodyPr wrap="square" lIns="0" tIns="0" rIns="0" bIns="0" rtlCol="0"/>
          <a:lstStyle/>
          <a:p>
            <a:endParaRPr/>
          </a:p>
        </p:txBody>
      </p:sp>
      <p:sp>
        <p:nvSpPr>
          <p:cNvPr id="8" name="object 8"/>
          <p:cNvSpPr/>
          <p:nvPr/>
        </p:nvSpPr>
        <p:spPr>
          <a:xfrm>
            <a:off x="1752600" y="4690871"/>
            <a:ext cx="2819400" cy="142240"/>
          </a:xfrm>
          <a:custGeom>
            <a:avLst/>
            <a:gdLst/>
            <a:ahLst/>
            <a:cxnLst/>
            <a:rect l="l" t="t" r="r" b="b"/>
            <a:pathLst>
              <a:path w="2819400" h="142239">
                <a:moveTo>
                  <a:pt x="0" y="141731"/>
                </a:moveTo>
                <a:lnTo>
                  <a:pt x="2819400" y="141731"/>
                </a:lnTo>
                <a:lnTo>
                  <a:pt x="2819400" y="0"/>
                </a:lnTo>
                <a:lnTo>
                  <a:pt x="0" y="0"/>
                </a:lnTo>
                <a:lnTo>
                  <a:pt x="0" y="141731"/>
                </a:lnTo>
                <a:close/>
              </a:path>
            </a:pathLst>
          </a:custGeom>
          <a:ln w="3175">
            <a:solidFill>
              <a:srgbClr val="000000"/>
            </a:solidFill>
          </a:ln>
        </p:spPr>
        <p:txBody>
          <a:bodyPr wrap="square" lIns="0" tIns="0" rIns="0" bIns="0" rtlCol="0"/>
          <a:lstStyle/>
          <a:p>
            <a:endParaRPr/>
          </a:p>
        </p:txBody>
      </p:sp>
      <p:sp>
        <p:nvSpPr>
          <p:cNvPr id="9" name="object 9"/>
          <p:cNvSpPr/>
          <p:nvPr/>
        </p:nvSpPr>
        <p:spPr>
          <a:xfrm>
            <a:off x="7405116" y="2567891"/>
            <a:ext cx="1187450" cy="576580"/>
          </a:xfrm>
          <a:custGeom>
            <a:avLst/>
            <a:gdLst/>
            <a:ahLst/>
            <a:cxnLst/>
            <a:rect l="l" t="t" r="r" b="b"/>
            <a:pathLst>
              <a:path w="1187450" h="576579">
                <a:moveTo>
                  <a:pt x="0" y="576071"/>
                </a:moveTo>
                <a:lnTo>
                  <a:pt x="1187195" y="576071"/>
                </a:lnTo>
                <a:lnTo>
                  <a:pt x="1187195" y="0"/>
                </a:lnTo>
                <a:lnTo>
                  <a:pt x="0" y="0"/>
                </a:lnTo>
                <a:lnTo>
                  <a:pt x="0" y="57607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txBox="1"/>
          <p:nvPr/>
        </p:nvSpPr>
        <p:spPr>
          <a:xfrm>
            <a:off x="7405116" y="2567892"/>
            <a:ext cx="1187450" cy="315595"/>
          </a:xfrm>
          <a:prstGeom prst="rect">
            <a:avLst/>
          </a:prstGeom>
          <a:ln w="3175">
            <a:solidFill>
              <a:srgbClr val="000000"/>
            </a:solidFill>
          </a:ln>
        </p:spPr>
        <p:txBody>
          <a:bodyPr vert="horz" wrap="square" lIns="0" tIns="43180" rIns="0" bIns="0" rtlCol="0">
            <a:spAutoFit/>
          </a:bodyPr>
          <a:lstStyle/>
          <a:p>
            <a:pPr marL="153670">
              <a:lnSpc>
                <a:spcPts val="2145"/>
              </a:lnSpc>
              <a:spcBef>
                <a:spcPts val="340"/>
              </a:spcBef>
            </a:pPr>
            <a:r>
              <a:rPr spc="-5" dirty="0">
                <a:latin typeface="Times New Roman" panose="02020603050405020304" pitchFamily="18" charset="0"/>
                <a:cs typeface="Times New Roman" panose="02020603050405020304" pitchFamily="18" charset="0"/>
              </a:rPr>
              <a:t>GiaoDịch</a:t>
            </a:r>
            <a:endParaRPr>
              <a:latin typeface="Times New Roman" panose="02020603050405020304" pitchFamily="18" charset="0"/>
              <a:cs typeface="Times New Roman" panose="02020603050405020304" pitchFamily="18" charset="0"/>
            </a:endParaRPr>
          </a:p>
        </p:txBody>
      </p:sp>
      <p:sp>
        <p:nvSpPr>
          <p:cNvPr id="11" name="object 11"/>
          <p:cNvSpPr/>
          <p:nvPr/>
        </p:nvSpPr>
        <p:spPr>
          <a:xfrm>
            <a:off x="7405116" y="2883360"/>
            <a:ext cx="1187450" cy="260985"/>
          </a:xfrm>
          <a:custGeom>
            <a:avLst/>
            <a:gdLst/>
            <a:ahLst/>
            <a:cxnLst/>
            <a:rect l="l" t="t" r="r" b="b"/>
            <a:pathLst>
              <a:path w="1187450" h="260985">
                <a:moveTo>
                  <a:pt x="0" y="260604"/>
                </a:moveTo>
                <a:lnTo>
                  <a:pt x="1187195" y="260604"/>
                </a:lnTo>
                <a:lnTo>
                  <a:pt x="1187195" y="0"/>
                </a:lnTo>
                <a:lnTo>
                  <a:pt x="0" y="0"/>
                </a:lnTo>
                <a:lnTo>
                  <a:pt x="0" y="26060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7405116" y="2997660"/>
            <a:ext cx="1187450" cy="146685"/>
          </a:xfrm>
          <a:custGeom>
            <a:avLst/>
            <a:gdLst/>
            <a:ahLst/>
            <a:cxnLst/>
            <a:rect l="l" t="t" r="r" b="b"/>
            <a:pathLst>
              <a:path w="1187450" h="146685">
                <a:moveTo>
                  <a:pt x="0" y="146304"/>
                </a:moveTo>
                <a:lnTo>
                  <a:pt x="1187195" y="146304"/>
                </a:lnTo>
                <a:lnTo>
                  <a:pt x="1187195" y="0"/>
                </a:lnTo>
                <a:lnTo>
                  <a:pt x="0" y="0"/>
                </a:lnTo>
                <a:lnTo>
                  <a:pt x="0" y="14630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6006085" y="3971544"/>
            <a:ext cx="1466215" cy="576580"/>
          </a:xfrm>
          <a:custGeom>
            <a:avLst/>
            <a:gdLst/>
            <a:ahLst/>
            <a:cxnLst/>
            <a:rect l="l" t="t" r="r" b="b"/>
            <a:pathLst>
              <a:path w="1466214" h="576579">
                <a:moveTo>
                  <a:pt x="0" y="576071"/>
                </a:moveTo>
                <a:lnTo>
                  <a:pt x="1466088" y="576071"/>
                </a:lnTo>
                <a:lnTo>
                  <a:pt x="1466088" y="0"/>
                </a:lnTo>
                <a:lnTo>
                  <a:pt x="0" y="0"/>
                </a:lnTo>
                <a:lnTo>
                  <a:pt x="0" y="57607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txBox="1"/>
          <p:nvPr/>
        </p:nvSpPr>
        <p:spPr>
          <a:xfrm>
            <a:off x="6006085" y="3971544"/>
            <a:ext cx="1466215" cy="317500"/>
          </a:xfrm>
          <a:prstGeom prst="rect">
            <a:avLst/>
          </a:prstGeom>
          <a:ln w="3175">
            <a:solidFill>
              <a:srgbClr val="000000"/>
            </a:solidFill>
          </a:ln>
        </p:spPr>
        <p:txBody>
          <a:bodyPr vert="horz" wrap="square" lIns="0" tIns="44450" rIns="0" bIns="0" rtlCol="0">
            <a:spAutoFit/>
          </a:bodyPr>
          <a:lstStyle/>
          <a:p>
            <a:pPr marL="123825">
              <a:lnSpc>
                <a:spcPts val="2145"/>
              </a:lnSpc>
              <a:spcBef>
                <a:spcPts val="350"/>
              </a:spcBef>
            </a:pPr>
            <a:r>
              <a:rPr spc="-5" dirty="0">
                <a:latin typeface="Times New Roman" panose="02020603050405020304" pitchFamily="18" charset="0"/>
                <a:cs typeface="Times New Roman" panose="02020603050405020304" pitchFamily="18" charset="0"/>
              </a:rPr>
              <a:t>GiaoDịchRút</a:t>
            </a:r>
            <a:endParaRPr>
              <a:latin typeface="Times New Roman" panose="02020603050405020304" pitchFamily="18" charset="0"/>
              <a:cs typeface="Times New Roman" panose="02020603050405020304" pitchFamily="18" charset="0"/>
            </a:endParaRPr>
          </a:p>
        </p:txBody>
      </p:sp>
      <p:sp>
        <p:nvSpPr>
          <p:cNvPr id="15" name="object 15"/>
          <p:cNvSpPr/>
          <p:nvPr/>
        </p:nvSpPr>
        <p:spPr>
          <a:xfrm>
            <a:off x="6006085" y="4288536"/>
            <a:ext cx="1466215" cy="259079"/>
          </a:xfrm>
          <a:custGeom>
            <a:avLst/>
            <a:gdLst/>
            <a:ahLst/>
            <a:cxnLst/>
            <a:rect l="l" t="t" r="r" b="b"/>
            <a:pathLst>
              <a:path w="1466214" h="259079">
                <a:moveTo>
                  <a:pt x="0" y="259079"/>
                </a:moveTo>
                <a:lnTo>
                  <a:pt x="1466088" y="259079"/>
                </a:lnTo>
                <a:lnTo>
                  <a:pt x="1466088" y="0"/>
                </a:lnTo>
                <a:lnTo>
                  <a:pt x="0" y="0"/>
                </a:lnTo>
                <a:lnTo>
                  <a:pt x="0" y="25907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6006085" y="4404359"/>
            <a:ext cx="1466215" cy="143510"/>
          </a:xfrm>
          <a:custGeom>
            <a:avLst/>
            <a:gdLst/>
            <a:ahLst/>
            <a:cxnLst/>
            <a:rect l="l" t="t" r="r" b="b"/>
            <a:pathLst>
              <a:path w="1466214" h="143510">
                <a:moveTo>
                  <a:pt x="0" y="143255"/>
                </a:moveTo>
                <a:lnTo>
                  <a:pt x="1466088" y="143255"/>
                </a:lnTo>
                <a:lnTo>
                  <a:pt x="1466088" y="0"/>
                </a:lnTo>
                <a:lnTo>
                  <a:pt x="0" y="0"/>
                </a:lnTo>
                <a:lnTo>
                  <a:pt x="0" y="1432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8343900" y="3971544"/>
            <a:ext cx="1469390" cy="576580"/>
          </a:xfrm>
          <a:custGeom>
            <a:avLst/>
            <a:gdLst/>
            <a:ahLst/>
            <a:cxnLst/>
            <a:rect l="l" t="t" r="r" b="b"/>
            <a:pathLst>
              <a:path w="1469390" h="576579">
                <a:moveTo>
                  <a:pt x="0" y="576071"/>
                </a:moveTo>
                <a:lnTo>
                  <a:pt x="1469136" y="576071"/>
                </a:lnTo>
                <a:lnTo>
                  <a:pt x="1469136" y="0"/>
                </a:lnTo>
                <a:lnTo>
                  <a:pt x="0" y="0"/>
                </a:lnTo>
                <a:lnTo>
                  <a:pt x="0" y="57607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txBox="1"/>
          <p:nvPr/>
        </p:nvSpPr>
        <p:spPr>
          <a:xfrm>
            <a:off x="8343900" y="3971544"/>
            <a:ext cx="1469390" cy="317500"/>
          </a:xfrm>
          <a:prstGeom prst="rect">
            <a:avLst/>
          </a:prstGeom>
          <a:ln w="3175">
            <a:solidFill>
              <a:srgbClr val="000000"/>
            </a:solidFill>
          </a:ln>
        </p:spPr>
        <p:txBody>
          <a:bodyPr vert="horz" wrap="square" lIns="0" tIns="44450" rIns="0" bIns="0" rtlCol="0">
            <a:spAutoFit/>
          </a:bodyPr>
          <a:lstStyle/>
          <a:p>
            <a:pPr marL="126364">
              <a:lnSpc>
                <a:spcPts val="2145"/>
              </a:lnSpc>
              <a:spcBef>
                <a:spcPts val="350"/>
              </a:spcBef>
            </a:pPr>
            <a:r>
              <a:rPr spc="-5" dirty="0">
                <a:latin typeface="Times New Roman" panose="02020603050405020304" pitchFamily="18" charset="0"/>
                <a:cs typeface="Times New Roman" panose="02020603050405020304" pitchFamily="18" charset="0"/>
              </a:rPr>
              <a:t>GiaoDịchGởi</a:t>
            </a:r>
            <a:endParaRPr>
              <a:latin typeface="Times New Roman" panose="02020603050405020304" pitchFamily="18" charset="0"/>
              <a:cs typeface="Times New Roman" panose="02020603050405020304" pitchFamily="18" charset="0"/>
            </a:endParaRPr>
          </a:p>
        </p:txBody>
      </p:sp>
      <p:sp>
        <p:nvSpPr>
          <p:cNvPr id="19" name="object 19"/>
          <p:cNvSpPr/>
          <p:nvPr/>
        </p:nvSpPr>
        <p:spPr>
          <a:xfrm>
            <a:off x="8343900" y="4288536"/>
            <a:ext cx="1469390" cy="259079"/>
          </a:xfrm>
          <a:custGeom>
            <a:avLst/>
            <a:gdLst/>
            <a:ahLst/>
            <a:cxnLst/>
            <a:rect l="l" t="t" r="r" b="b"/>
            <a:pathLst>
              <a:path w="1469390" h="259079">
                <a:moveTo>
                  <a:pt x="0" y="259079"/>
                </a:moveTo>
                <a:lnTo>
                  <a:pt x="1469136" y="259079"/>
                </a:lnTo>
                <a:lnTo>
                  <a:pt x="1469136" y="0"/>
                </a:lnTo>
                <a:lnTo>
                  <a:pt x="0" y="0"/>
                </a:lnTo>
                <a:lnTo>
                  <a:pt x="0" y="25907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8343900" y="4404359"/>
            <a:ext cx="1469390" cy="143510"/>
          </a:xfrm>
          <a:custGeom>
            <a:avLst/>
            <a:gdLst/>
            <a:ahLst/>
            <a:cxnLst/>
            <a:rect l="l" t="t" r="r" b="b"/>
            <a:pathLst>
              <a:path w="1469390" h="143510">
                <a:moveTo>
                  <a:pt x="0" y="143255"/>
                </a:moveTo>
                <a:lnTo>
                  <a:pt x="1469136" y="143255"/>
                </a:lnTo>
                <a:lnTo>
                  <a:pt x="1469136" y="0"/>
                </a:lnTo>
                <a:lnTo>
                  <a:pt x="0" y="0"/>
                </a:lnTo>
                <a:lnTo>
                  <a:pt x="0" y="1432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8028433" y="3201924"/>
            <a:ext cx="1905" cy="451484"/>
          </a:xfrm>
          <a:custGeom>
            <a:avLst/>
            <a:gdLst/>
            <a:ahLst/>
            <a:cxnLst/>
            <a:rect l="l" t="t" r="r" b="b"/>
            <a:pathLst>
              <a:path w="1904" h="451485">
                <a:moveTo>
                  <a:pt x="0" y="451104"/>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p:nvPr/>
        </p:nvSpPr>
        <p:spPr>
          <a:xfrm>
            <a:off x="6963696" y="3640392"/>
            <a:ext cx="2098675" cy="0"/>
          </a:xfrm>
          <a:custGeom>
            <a:avLst/>
            <a:gdLst/>
            <a:ahLst/>
            <a:cxnLst/>
            <a:rect l="l" t="t" r="r" b="b"/>
            <a:pathLst>
              <a:path w="2098675">
                <a:moveTo>
                  <a:pt x="0" y="0"/>
                </a:moveTo>
                <a:lnTo>
                  <a:pt x="2098548"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3" name="object 23"/>
          <p:cNvSpPr/>
          <p:nvPr/>
        </p:nvSpPr>
        <p:spPr>
          <a:xfrm>
            <a:off x="7904988" y="3157681"/>
            <a:ext cx="247015" cy="300355"/>
          </a:xfrm>
          <a:custGeom>
            <a:avLst/>
            <a:gdLst/>
            <a:ahLst/>
            <a:cxnLst/>
            <a:rect l="l" t="t" r="r" b="b"/>
            <a:pathLst>
              <a:path w="247014" h="300354">
                <a:moveTo>
                  <a:pt x="123444" y="0"/>
                </a:moveTo>
                <a:lnTo>
                  <a:pt x="0" y="300227"/>
                </a:lnTo>
                <a:lnTo>
                  <a:pt x="246888" y="300227"/>
                </a:lnTo>
                <a:lnTo>
                  <a:pt x="123444" y="0"/>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4" name="object 24"/>
          <p:cNvSpPr/>
          <p:nvPr/>
        </p:nvSpPr>
        <p:spPr>
          <a:xfrm>
            <a:off x="7904988" y="3157681"/>
            <a:ext cx="247015" cy="300355"/>
          </a:xfrm>
          <a:custGeom>
            <a:avLst/>
            <a:gdLst/>
            <a:ahLst/>
            <a:cxnLst/>
            <a:rect l="l" t="t" r="r" b="b"/>
            <a:pathLst>
              <a:path w="247014" h="300354">
                <a:moveTo>
                  <a:pt x="123444" y="0"/>
                </a:moveTo>
                <a:lnTo>
                  <a:pt x="246888" y="300227"/>
                </a:lnTo>
                <a:lnTo>
                  <a:pt x="0" y="300227"/>
                </a:lnTo>
                <a:lnTo>
                  <a:pt x="123444"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5" name="object 25"/>
          <p:cNvSpPr/>
          <p:nvPr/>
        </p:nvSpPr>
        <p:spPr>
          <a:xfrm>
            <a:off x="6982968" y="3653027"/>
            <a:ext cx="1905" cy="318770"/>
          </a:xfrm>
          <a:custGeom>
            <a:avLst/>
            <a:gdLst/>
            <a:ahLst/>
            <a:cxnLst/>
            <a:rect l="l" t="t" r="r" b="b"/>
            <a:pathLst>
              <a:path w="1904" h="318770">
                <a:moveTo>
                  <a:pt x="0" y="318516"/>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6" name="object 26"/>
          <p:cNvSpPr/>
          <p:nvPr/>
        </p:nvSpPr>
        <p:spPr>
          <a:xfrm>
            <a:off x="9070848" y="3633215"/>
            <a:ext cx="1905" cy="378460"/>
          </a:xfrm>
          <a:custGeom>
            <a:avLst/>
            <a:gdLst/>
            <a:ahLst/>
            <a:cxnLst/>
            <a:rect l="l" t="t" r="r" b="b"/>
            <a:pathLst>
              <a:path w="1904" h="378460">
                <a:moveTo>
                  <a:pt x="0" y="377951"/>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7" name="object 27"/>
          <p:cNvSpPr/>
          <p:nvPr/>
        </p:nvSpPr>
        <p:spPr>
          <a:xfrm>
            <a:off x="2819400" y="3125725"/>
            <a:ext cx="248920" cy="300355"/>
          </a:xfrm>
          <a:custGeom>
            <a:avLst/>
            <a:gdLst/>
            <a:ahLst/>
            <a:cxnLst/>
            <a:rect l="l" t="t" r="r" b="b"/>
            <a:pathLst>
              <a:path w="248919" h="300354">
                <a:moveTo>
                  <a:pt x="124206" y="0"/>
                </a:moveTo>
                <a:lnTo>
                  <a:pt x="248412" y="300227"/>
                </a:lnTo>
                <a:lnTo>
                  <a:pt x="0" y="300227"/>
                </a:lnTo>
                <a:lnTo>
                  <a:pt x="124206"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8" name="object 28"/>
          <p:cNvSpPr/>
          <p:nvPr/>
        </p:nvSpPr>
        <p:spPr>
          <a:xfrm>
            <a:off x="2938272" y="3430524"/>
            <a:ext cx="0" cy="838200"/>
          </a:xfrm>
          <a:custGeom>
            <a:avLst/>
            <a:gdLst/>
            <a:ahLst/>
            <a:cxnLst/>
            <a:rect l="l" t="t" r="r" b="b"/>
            <a:pathLst>
              <a:path h="838200">
                <a:moveTo>
                  <a:pt x="0" y="0"/>
                </a:moveTo>
                <a:lnTo>
                  <a:pt x="0" y="838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9" name="object 29"/>
          <p:cNvSpPr/>
          <p:nvPr/>
        </p:nvSpPr>
        <p:spPr>
          <a:xfrm>
            <a:off x="1981200" y="4268724"/>
            <a:ext cx="1066800" cy="381000"/>
          </a:xfrm>
          <a:custGeom>
            <a:avLst/>
            <a:gdLst/>
            <a:ahLst/>
            <a:cxnLst/>
            <a:rect l="l" t="t" r="r" b="b"/>
            <a:pathLst>
              <a:path w="1066800" h="381000">
                <a:moveTo>
                  <a:pt x="0" y="190500"/>
                </a:moveTo>
                <a:lnTo>
                  <a:pt x="16290" y="143611"/>
                </a:lnTo>
                <a:lnTo>
                  <a:pt x="62496" y="100968"/>
                </a:lnTo>
                <a:lnTo>
                  <a:pt x="95567" y="81686"/>
                </a:lnTo>
                <a:lnTo>
                  <a:pt x="134617" y="64003"/>
                </a:lnTo>
                <a:lnTo>
                  <a:pt x="179147" y="48096"/>
                </a:lnTo>
                <a:lnTo>
                  <a:pt x="228656" y="34146"/>
                </a:lnTo>
                <a:lnTo>
                  <a:pt x="282645" y="22330"/>
                </a:lnTo>
                <a:lnTo>
                  <a:pt x="340614" y="12829"/>
                </a:lnTo>
                <a:lnTo>
                  <a:pt x="402062" y="5821"/>
                </a:lnTo>
                <a:lnTo>
                  <a:pt x="466491" y="1485"/>
                </a:lnTo>
                <a:lnTo>
                  <a:pt x="533400" y="0"/>
                </a:lnTo>
                <a:lnTo>
                  <a:pt x="600318" y="1485"/>
                </a:lnTo>
                <a:lnTo>
                  <a:pt x="664753" y="5821"/>
                </a:lnTo>
                <a:lnTo>
                  <a:pt x="726206" y="12829"/>
                </a:lnTo>
                <a:lnTo>
                  <a:pt x="784176" y="22330"/>
                </a:lnTo>
                <a:lnTo>
                  <a:pt x="838165" y="34146"/>
                </a:lnTo>
                <a:lnTo>
                  <a:pt x="887672" y="48096"/>
                </a:lnTo>
                <a:lnTo>
                  <a:pt x="932199" y="64003"/>
                </a:lnTo>
                <a:lnTo>
                  <a:pt x="971246" y="81686"/>
                </a:lnTo>
                <a:lnTo>
                  <a:pt x="1004313" y="100968"/>
                </a:lnTo>
                <a:lnTo>
                  <a:pt x="1050512" y="143611"/>
                </a:lnTo>
                <a:lnTo>
                  <a:pt x="1066800" y="190500"/>
                </a:lnTo>
                <a:lnTo>
                  <a:pt x="1062644" y="214395"/>
                </a:lnTo>
                <a:lnTo>
                  <a:pt x="1030902" y="259350"/>
                </a:lnTo>
                <a:lnTo>
                  <a:pt x="971246" y="299335"/>
                </a:lnTo>
                <a:lnTo>
                  <a:pt x="932199" y="317017"/>
                </a:lnTo>
                <a:lnTo>
                  <a:pt x="887672" y="332920"/>
                </a:lnTo>
                <a:lnTo>
                  <a:pt x="838165" y="346867"/>
                </a:lnTo>
                <a:lnTo>
                  <a:pt x="784176" y="358679"/>
                </a:lnTo>
                <a:lnTo>
                  <a:pt x="726206" y="368176"/>
                </a:lnTo>
                <a:lnTo>
                  <a:pt x="664753" y="375181"/>
                </a:lnTo>
                <a:lnTo>
                  <a:pt x="600318" y="379515"/>
                </a:lnTo>
                <a:lnTo>
                  <a:pt x="533400" y="381000"/>
                </a:lnTo>
                <a:lnTo>
                  <a:pt x="466491" y="379515"/>
                </a:lnTo>
                <a:lnTo>
                  <a:pt x="402062" y="375181"/>
                </a:lnTo>
                <a:lnTo>
                  <a:pt x="340614" y="368176"/>
                </a:lnTo>
                <a:lnTo>
                  <a:pt x="282645" y="358679"/>
                </a:lnTo>
                <a:lnTo>
                  <a:pt x="228656" y="346867"/>
                </a:lnTo>
                <a:lnTo>
                  <a:pt x="179147" y="332920"/>
                </a:lnTo>
                <a:lnTo>
                  <a:pt x="134617" y="317017"/>
                </a:lnTo>
                <a:lnTo>
                  <a:pt x="95567" y="299335"/>
                </a:lnTo>
                <a:lnTo>
                  <a:pt x="62496" y="280053"/>
                </a:lnTo>
                <a:lnTo>
                  <a:pt x="16290" y="237404"/>
                </a:lnTo>
                <a:lnTo>
                  <a:pt x="0" y="190500"/>
                </a:lnTo>
                <a:close/>
              </a:path>
            </a:pathLst>
          </a:custGeom>
          <a:ln w="15240">
            <a:solidFill>
              <a:srgbClr val="C00000"/>
            </a:solidFill>
            <a:prstDash val="sysDash"/>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0" name="object 30"/>
          <p:cNvSpPr/>
          <p:nvPr/>
        </p:nvSpPr>
        <p:spPr>
          <a:xfrm>
            <a:off x="6019800" y="3963924"/>
            <a:ext cx="1066800" cy="381000"/>
          </a:xfrm>
          <a:custGeom>
            <a:avLst/>
            <a:gdLst/>
            <a:ahLst/>
            <a:cxnLst/>
            <a:rect l="l" t="t" r="r" b="b"/>
            <a:pathLst>
              <a:path w="1066800" h="381000">
                <a:moveTo>
                  <a:pt x="0" y="190500"/>
                </a:moveTo>
                <a:lnTo>
                  <a:pt x="16287" y="143611"/>
                </a:lnTo>
                <a:lnTo>
                  <a:pt x="62486" y="100968"/>
                </a:lnTo>
                <a:lnTo>
                  <a:pt x="95553" y="81686"/>
                </a:lnTo>
                <a:lnTo>
                  <a:pt x="134600" y="64003"/>
                </a:lnTo>
                <a:lnTo>
                  <a:pt x="179127" y="48096"/>
                </a:lnTo>
                <a:lnTo>
                  <a:pt x="228634" y="34146"/>
                </a:lnTo>
                <a:lnTo>
                  <a:pt x="282623" y="22330"/>
                </a:lnTo>
                <a:lnTo>
                  <a:pt x="340593" y="12829"/>
                </a:lnTo>
                <a:lnTo>
                  <a:pt x="402046" y="5821"/>
                </a:lnTo>
                <a:lnTo>
                  <a:pt x="466481" y="1485"/>
                </a:lnTo>
                <a:lnTo>
                  <a:pt x="533400" y="0"/>
                </a:lnTo>
                <a:lnTo>
                  <a:pt x="600318" y="1485"/>
                </a:lnTo>
                <a:lnTo>
                  <a:pt x="664753" y="5821"/>
                </a:lnTo>
                <a:lnTo>
                  <a:pt x="726206" y="12829"/>
                </a:lnTo>
                <a:lnTo>
                  <a:pt x="784176" y="22330"/>
                </a:lnTo>
                <a:lnTo>
                  <a:pt x="838165" y="34146"/>
                </a:lnTo>
                <a:lnTo>
                  <a:pt x="887672" y="48096"/>
                </a:lnTo>
                <a:lnTo>
                  <a:pt x="932199" y="64003"/>
                </a:lnTo>
                <a:lnTo>
                  <a:pt x="971246" y="81686"/>
                </a:lnTo>
                <a:lnTo>
                  <a:pt x="1004313" y="100968"/>
                </a:lnTo>
                <a:lnTo>
                  <a:pt x="1050512" y="143611"/>
                </a:lnTo>
                <a:lnTo>
                  <a:pt x="1066800" y="190500"/>
                </a:lnTo>
                <a:lnTo>
                  <a:pt x="1062644" y="214385"/>
                </a:lnTo>
                <a:lnTo>
                  <a:pt x="1030902" y="259329"/>
                </a:lnTo>
                <a:lnTo>
                  <a:pt x="971246" y="299313"/>
                </a:lnTo>
                <a:lnTo>
                  <a:pt x="932199" y="316996"/>
                </a:lnTo>
                <a:lnTo>
                  <a:pt x="887672" y="332903"/>
                </a:lnTo>
                <a:lnTo>
                  <a:pt x="838165" y="346853"/>
                </a:lnTo>
                <a:lnTo>
                  <a:pt x="784176" y="358669"/>
                </a:lnTo>
                <a:lnTo>
                  <a:pt x="726206" y="368170"/>
                </a:lnTo>
                <a:lnTo>
                  <a:pt x="664753" y="375178"/>
                </a:lnTo>
                <a:lnTo>
                  <a:pt x="600318" y="379514"/>
                </a:lnTo>
                <a:lnTo>
                  <a:pt x="533400" y="381000"/>
                </a:lnTo>
                <a:lnTo>
                  <a:pt x="466481" y="379514"/>
                </a:lnTo>
                <a:lnTo>
                  <a:pt x="402046" y="375178"/>
                </a:lnTo>
                <a:lnTo>
                  <a:pt x="340593" y="368170"/>
                </a:lnTo>
                <a:lnTo>
                  <a:pt x="282623" y="358669"/>
                </a:lnTo>
                <a:lnTo>
                  <a:pt x="228634" y="346853"/>
                </a:lnTo>
                <a:lnTo>
                  <a:pt x="179127" y="332903"/>
                </a:lnTo>
                <a:lnTo>
                  <a:pt x="134600" y="316996"/>
                </a:lnTo>
                <a:lnTo>
                  <a:pt x="95553" y="299313"/>
                </a:lnTo>
                <a:lnTo>
                  <a:pt x="62486" y="280031"/>
                </a:lnTo>
                <a:lnTo>
                  <a:pt x="16287" y="237388"/>
                </a:lnTo>
                <a:lnTo>
                  <a:pt x="0" y="190500"/>
                </a:lnTo>
                <a:close/>
              </a:path>
            </a:pathLst>
          </a:custGeom>
          <a:ln w="9144">
            <a:solidFill>
              <a:srgbClr val="FF0066"/>
            </a:solidFill>
            <a:prstDash val="sysDash"/>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1" name="object 31"/>
          <p:cNvSpPr/>
          <p:nvPr/>
        </p:nvSpPr>
        <p:spPr>
          <a:xfrm>
            <a:off x="8382000" y="3963924"/>
            <a:ext cx="1066800" cy="381000"/>
          </a:xfrm>
          <a:custGeom>
            <a:avLst/>
            <a:gdLst/>
            <a:ahLst/>
            <a:cxnLst/>
            <a:rect l="l" t="t" r="r" b="b"/>
            <a:pathLst>
              <a:path w="1066800" h="381000">
                <a:moveTo>
                  <a:pt x="0" y="190500"/>
                </a:moveTo>
                <a:lnTo>
                  <a:pt x="16287" y="143611"/>
                </a:lnTo>
                <a:lnTo>
                  <a:pt x="62486" y="100968"/>
                </a:lnTo>
                <a:lnTo>
                  <a:pt x="95553" y="81686"/>
                </a:lnTo>
                <a:lnTo>
                  <a:pt x="134600" y="64003"/>
                </a:lnTo>
                <a:lnTo>
                  <a:pt x="179127" y="48096"/>
                </a:lnTo>
                <a:lnTo>
                  <a:pt x="228634" y="34146"/>
                </a:lnTo>
                <a:lnTo>
                  <a:pt x="282623" y="22330"/>
                </a:lnTo>
                <a:lnTo>
                  <a:pt x="340593" y="12829"/>
                </a:lnTo>
                <a:lnTo>
                  <a:pt x="402046" y="5821"/>
                </a:lnTo>
                <a:lnTo>
                  <a:pt x="466481" y="1485"/>
                </a:lnTo>
                <a:lnTo>
                  <a:pt x="533400" y="0"/>
                </a:lnTo>
                <a:lnTo>
                  <a:pt x="600318" y="1485"/>
                </a:lnTo>
                <a:lnTo>
                  <a:pt x="664753" y="5821"/>
                </a:lnTo>
                <a:lnTo>
                  <a:pt x="726206" y="12829"/>
                </a:lnTo>
                <a:lnTo>
                  <a:pt x="784176" y="22330"/>
                </a:lnTo>
                <a:lnTo>
                  <a:pt x="838165" y="34146"/>
                </a:lnTo>
                <a:lnTo>
                  <a:pt x="887672" y="48096"/>
                </a:lnTo>
                <a:lnTo>
                  <a:pt x="932199" y="64003"/>
                </a:lnTo>
                <a:lnTo>
                  <a:pt x="971246" y="81686"/>
                </a:lnTo>
                <a:lnTo>
                  <a:pt x="1004313" y="100968"/>
                </a:lnTo>
                <a:lnTo>
                  <a:pt x="1050512" y="143611"/>
                </a:lnTo>
                <a:lnTo>
                  <a:pt x="1066800" y="190500"/>
                </a:lnTo>
                <a:lnTo>
                  <a:pt x="1062644" y="214385"/>
                </a:lnTo>
                <a:lnTo>
                  <a:pt x="1030902" y="259329"/>
                </a:lnTo>
                <a:lnTo>
                  <a:pt x="971246" y="299313"/>
                </a:lnTo>
                <a:lnTo>
                  <a:pt x="932199" y="316996"/>
                </a:lnTo>
                <a:lnTo>
                  <a:pt x="887672" y="332903"/>
                </a:lnTo>
                <a:lnTo>
                  <a:pt x="838165" y="346853"/>
                </a:lnTo>
                <a:lnTo>
                  <a:pt x="784176" y="358669"/>
                </a:lnTo>
                <a:lnTo>
                  <a:pt x="726206" y="368170"/>
                </a:lnTo>
                <a:lnTo>
                  <a:pt x="664753" y="375178"/>
                </a:lnTo>
                <a:lnTo>
                  <a:pt x="600318" y="379514"/>
                </a:lnTo>
                <a:lnTo>
                  <a:pt x="533400" y="381000"/>
                </a:lnTo>
                <a:lnTo>
                  <a:pt x="466481" y="379514"/>
                </a:lnTo>
                <a:lnTo>
                  <a:pt x="402046" y="375178"/>
                </a:lnTo>
                <a:lnTo>
                  <a:pt x="340593" y="368170"/>
                </a:lnTo>
                <a:lnTo>
                  <a:pt x="282623" y="358669"/>
                </a:lnTo>
                <a:lnTo>
                  <a:pt x="228634" y="346853"/>
                </a:lnTo>
                <a:lnTo>
                  <a:pt x="179127" y="332903"/>
                </a:lnTo>
                <a:lnTo>
                  <a:pt x="134600" y="316996"/>
                </a:lnTo>
                <a:lnTo>
                  <a:pt x="95553" y="299313"/>
                </a:lnTo>
                <a:lnTo>
                  <a:pt x="62486" y="280031"/>
                </a:lnTo>
                <a:lnTo>
                  <a:pt x="16287" y="237388"/>
                </a:lnTo>
                <a:lnTo>
                  <a:pt x="0" y="190500"/>
                </a:lnTo>
                <a:close/>
              </a:path>
            </a:pathLst>
          </a:custGeom>
          <a:ln w="9144">
            <a:solidFill>
              <a:srgbClr val="FF0066"/>
            </a:solidFill>
            <a:prstDash val="sysDash"/>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2" name="object 32"/>
          <p:cNvSpPr txBox="1"/>
          <p:nvPr/>
        </p:nvSpPr>
        <p:spPr>
          <a:xfrm>
            <a:off x="76200" y="5048778"/>
            <a:ext cx="12115799" cy="750847"/>
          </a:xfrm>
          <a:prstGeom prst="rect">
            <a:avLst/>
          </a:prstGeom>
        </p:spPr>
        <p:txBody>
          <a:bodyPr vert="horz" wrap="square" lIns="0" tIns="12065" rIns="0" bIns="0" rtlCol="0">
            <a:spAutoFit/>
          </a:bodyPr>
          <a:lstStyle/>
          <a:p>
            <a:pPr marL="12700" marR="5080" algn="just">
              <a:spcBef>
                <a:spcPts val="95"/>
              </a:spcBef>
            </a:pPr>
            <a:r>
              <a:rPr sz="2400" b="1" dirty="0">
                <a:solidFill>
                  <a:srgbClr val="00B050"/>
                </a:solidFill>
                <a:latin typeface="Times New Roman" panose="02020603050405020304" pitchFamily="18" charset="0"/>
                <a:cs typeface="Times New Roman" panose="02020603050405020304" pitchFamily="18" charset="0"/>
              </a:rPr>
              <a:t>Ghi chú: chỉ cần đưa vào các lớp chuyên biệt mà chúng ta </a:t>
            </a:r>
            <a:r>
              <a:rPr sz="2400" b="1">
                <a:solidFill>
                  <a:srgbClr val="00B050"/>
                </a:solidFill>
                <a:latin typeface="Times New Roman" panose="02020603050405020304" pitchFamily="18" charset="0"/>
                <a:cs typeface="Times New Roman" panose="02020603050405020304" pitchFamily="18" charset="0"/>
              </a:rPr>
              <a:t>xác định</a:t>
            </a:r>
            <a:r>
              <a:rPr lang="en-US" sz="2400" b="1">
                <a:solidFill>
                  <a:srgbClr val="00B050"/>
                </a:solidFill>
                <a:latin typeface="Times New Roman" panose="02020603050405020304" pitchFamily="18" charset="0"/>
                <a:cs typeface="Times New Roman" panose="02020603050405020304" pitchFamily="18" charset="0"/>
              </a:rPr>
              <a:t> </a:t>
            </a:r>
            <a:r>
              <a:rPr sz="2400" b="1">
                <a:solidFill>
                  <a:srgbClr val="00B050"/>
                </a:solidFill>
                <a:latin typeface="Times New Roman" panose="02020603050405020304" pitchFamily="18" charset="0"/>
                <a:cs typeface="Times New Roman" panose="02020603050405020304" pitchFamily="18" charset="0"/>
              </a:rPr>
              <a:t>được </a:t>
            </a:r>
            <a:r>
              <a:rPr sz="2400" b="1" dirty="0">
                <a:solidFill>
                  <a:srgbClr val="00B050"/>
                </a:solidFill>
                <a:latin typeface="Times New Roman" panose="02020603050405020304" pitchFamily="18" charset="0"/>
                <a:cs typeface="Times New Roman" panose="02020603050405020304" pitchFamily="18" charset="0"/>
              </a:rPr>
              <a:t>các </a:t>
            </a:r>
            <a:r>
              <a:rPr sz="2400" b="1">
                <a:solidFill>
                  <a:srgbClr val="00B050"/>
                </a:solidFill>
                <a:latin typeface="Times New Roman" panose="02020603050405020304" pitchFamily="18" charset="0"/>
                <a:cs typeface="Times New Roman" panose="02020603050405020304" pitchFamily="18" charset="0"/>
              </a:rPr>
              <a:t>đặc trưng</a:t>
            </a:r>
            <a:r>
              <a:rPr lang="en-US" sz="2400" b="1">
                <a:solidFill>
                  <a:srgbClr val="00B050"/>
                </a:solidFill>
                <a:latin typeface="Times New Roman" panose="02020603050405020304" pitchFamily="18" charset="0"/>
                <a:cs typeface="Times New Roman" panose="02020603050405020304" pitchFamily="18" charset="0"/>
              </a:rPr>
              <a:t> </a:t>
            </a:r>
            <a:r>
              <a:rPr sz="2400" b="1">
                <a:solidFill>
                  <a:srgbClr val="00B050"/>
                </a:solidFill>
                <a:latin typeface="Times New Roman" panose="02020603050405020304" pitchFamily="18" charset="0"/>
                <a:cs typeface="Times New Roman" panose="02020603050405020304" pitchFamily="18" charset="0"/>
              </a:rPr>
              <a:t>riêng </a:t>
            </a:r>
            <a:r>
              <a:rPr sz="2400" b="1" dirty="0">
                <a:solidFill>
                  <a:srgbClr val="00B050"/>
                </a:solidFill>
                <a:latin typeface="Times New Roman" panose="02020603050405020304" pitchFamily="18" charset="0"/>
                <a:cs typeface="Times New Roman" panose="02020603050405020304" pitchFamily="18" charset="0"/>
              </a:rPr>
              <a:t>(thuộc tính, method, liên kết) của nó trong </a:t>
            </a:r>
            <a:r>
              <a:rPr sz="2400" b="1">
                <a:solidFill>
                  <a:srgbClr val="00B050"/>
                </a:solidFill>
                <a:latin typeface="Times New Roman" panose="02020603050405020304" pitchFamily="18" charset="0"/>
                <a:cs typeface="Times New Roman" panose="02020603050405020304" pitchFamily="18" charset="0"/>
              </a:rPr>
              <a:t>hệ thống</a:t>
            </a:r>
            <a:endParaRPr sz="2400" b="1" dirty="0">
              <a:solidFill>
                <a:srgbClr val="00B050"/>
              </a:solidFill>
              <a:latin typeface="Times New Roman" panose="02020603050405020304" pitchFamily="18" charset="0"/>
              <a:cs typeface="Times New Roman" panose="02020603050405020304" pitchFamily="18" charset="0"/>
            </a:endParaRPr>
          </a:p>
        </p:txBody>
      </p:sp>
      <p:sp>
        <p:nvSpPr>
          <p:cNvPr id="34"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3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9154860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14966"/>
            <a:ext cx="12191999" cy="1012393"/>
          </a:xfrm>
          <a:prstGeom prst="rect">
            <a:avLst/>
          </a:prstGeom>
        </p:spPr>
        <p:txBody>
          <a:bodyPr vert="horz" wrap="square" lIns="0" tIns="95885" rIns="0" bIns="0" rtlCol="0">
            <a:spAutoFit/>
          </a:bodyPr>
          <a:lstStyle/>
          <a:p>
            <a:pPr marL="290513" marR="5080" lvl="1" indent="-231775">
              <a:lnSpc>
                <a:spcPct val="107700"/>
              </a:lnSpc>
              <a:spcBef>
                <a:spcPts val="390"/>
              </a:spcBef>
              <a:buSzPct val="100000"/>
              <a:buFont typeface="Wingdings" panose="05000000000000000000" pitchFamily="2" charset="2"/>
              <a:buChar char="§"/>
              <a:tabLst>
                <a:tab pos="406400" algn="l"/>
              </a:tabLst>
            </a:pPr>
            <a:r>
              <a:rPr sz="2800" b="1" spc="-10" dirty="0" err="1">
                <a:solidFill>
                  <a:srgbClr val="FF0000"/>
                </a:solidFill>
                <a:latin typeface="Times New Roman" panose="02020603050405020304" pitchFamily="18" charset="0"/>
                <a:cs typeface="Times New Roman" panose="02020603050405020304" pitchFamily="18" charset="0"/>
              </a:rPr>
              <a:t>Xác</a:t>
            </a:r>
            <a:r>
              <a:rPr sz="2800" b="1" spc="-1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định mối kết </a:t>
            </a:r>
            <a:r>
              <a:rPr sz="2800" b="1" spc="-10" dirty="0">
                <a:solidFill>
                  <a:srgbClr val="FF0000"/>
                </a:solidFill>
                <a:latin typeface="Times New Roman" panose="02020603050405020304" pitchFamily="18" charset="0"/>
                <a:cs typeface="Times New Roman" panose="02020603050405020304" pitchFamily="18" charset="0"/>
              </a:rPr>
              <a:t>hợp </a:t>
            </a:r>
            <a:r>
              <a:rPr sz="2800" b="1" spc="-5" dirty="0">
                <a:solidFill>
                  <a:srgbClr val="FF0000"/>
                </a:solidFill>
                <a:latin typeface="Times New Roman" panose="02020603050405020304" pitchFamily="18" charset="0"/>
                <a:cs typeface="Times New Roman" panose="02020603050405020304" pitchFamily="18" charset="0"/>
              </a:rPr>
              <a:t>tổng quát – </a:t>
            </a:r>
            <a:r>
              <a:rPr sz="2800" b="1" spc="-5">
                <a:solidFill>
                  <a:srgbClr val="FF0000"/>
                </a:solidFill>
                <a:latin typeface="Times New Roman" panose="02020603050405020304" pitchFamily="18" charset="0"/>
                <a:cs typeface="Times New Roman" panose="02020603050405020304" pitchFamily="18" charset="0"/>
              </a:rPr>
              <a:t>chuyên </a:t>
            </a:r>
            <a:r>
              <a:rPr sz="2800" b="1" spc="-85">
                <a:solidFill>
                  <a:srgbClr val="FF0000"/>
                </a:solidFill>
                <a:latin typeface="Times New Roman" panose="02020603050405020304" pitchFamily="18" charset="0"/>
                <a:cs typeface="Times New Roman" panose="02020603050405020304" pitchFamily="18" charset="0"/>
              </a:rPr>
              <a:t>biệt</a:t>
            </a:r>
            <a:r>
              <a:rPr lang="en-US" sz="2800" b="1" spc="-85">
                <a:solidFill>
                  <a:srgbClr val="FF0000"/>
                </a:solidFill>
                <a:latin typeface="Times New Roman" panose="02020603050405020304" pitchFamily="18" charset="0"/>
                <a:cs typeface="Times New Roman" panose="02020603050405020304" pitchFamily="18" charset="0"/>
              </a:rPr>
              <a:t> </a:t>
            </a:r>
            <a:r>
              <a:rPr sz="2800" b="1" spc="-5">
                <a:solidFill>
                  <a:srgbClr val="FF0000"/>
                </a:solidFill>
                <a:latin typeface="Times New Roman" panose="02020603050405020304" pitchFamily="18" charset="0"/>
                <a:cs typeface="Times New Roman" panose="02020603050405020304" pitchFamily="18" charset="0"/>
              </a:rPr>
              <a:t>(generalization):</a:t>
            </a:r>
            <a:endParaRPr lang="en-US" sz="2800" b="1" dirty="0">
              <a:solidFill>
                <a:srgbClr val="FF0000"/>
              </a:solidFill>
              <a:latin typeface="Times New Roman" panose="02020603050405020304" pitchFamily="18" charset="0"/>
              <a:cs typeface="Times New Roman" panose="02020603050405020304" pitchFamily="18" charset="0"/>
            </a:endParaRPr>
          </a:p>
          <a:p>
            <a:pPr marL="633413" marR="5080" lvl="1" indent="-342900">
              <a:lnSpc>
                <a:spcPct val="107700"/>
              </a:lnSpc>
              <a:spcBef>
                <a:spcPts val="390"/>
              </a:spcBef>
              <a:buSzPct val="100000"/>
              <a:buFont typeface="Arial" panose="020B0604020202020204" pitchFamily="34" charset="0"/>
              <a:buChar char="•"/>
              <a:tabLst>
                <a:tab pos="406400" algn="l"/>
              </a:tabLst>
            </a:pPr>
            <a:r>
              <a:rPr sz="2400" b="1" spc="-20">
                <a:solidFill>
                  <a:srgbClr val="006FC0"/>
                </a:solidFill>
                <a:latin typeface="Times New Roman" panose="02020603050405020304" pitchFamily="18" charset="0"/>
                <a:cs typeface="Times New Roman" panose="02020603050405020304" pitchFamily="18" charset="0"/>
              </a:rPr>
              <a:t>Tiếp </a:t>
            </a:r>
            <a:r>
              <a:rPr sz="2400" b="1">
                <a:solidFill>
                  <a:srgbClr val="006FC0"/>
                </a:solidFill>
                <a:latin typeface="Times New Roman" panose="02020603050405020304" pitchFamily="18" charset="0"/>
                <a:cs typeface="Times New Roman" panose="02020603050405020304" pitchFamily="18" charset="0"/>
              </a:rPr>
              <a:t>cận top-down</a:t>
            </a:r>
            <a:endParaRPr lang="en-US" sz="2400" b="1">
              <a:solidFill>
                <a:srgbClr val="006FC0"/>
              </a:solidFill>
              <a:latin typeface="Times New Roman" panose="02020603050405020304" pitchFamily="18" charset="0"/>
              <a:cs typeface="Times New Roman" panose="02020603050405020304" pitchFamily="18" charset="0"/>
            </a:endParaRPr>
          </a:p>
        </p:txBody>
      </p:sp>
      <p:sp>
        <p:nvSpPr>
          <p:cNvPr id="4" name="object 4"/>
          <p:cNvSpPr/>
          <p:nvPr/>
        </p:nvSpPr>
        <p:spPr>
          <a:xfrm>
            <a:off x="5891785" y="2895600"/>
            <a:ext cx="1188720" cy="576580"/>
          </a:xfrm>
          <a:custGeom>
            <a:avLst/>
            <a:gdLst/>
            <a:ahLst/>
            <a:cxnLst/>
            <a:rect l="l" t="t" r="r" b="b"/>
            <a:pathLst>
              <a:path w="1188720" h="576579">
                <a:moveTo>
                  <a:pt x="0" y="576072"/>
                </a:moveTo>
                <a:lnTo>
                  <a:pt x="1188720" y="576072"/>
                </a:lnTo>
                <a:lnTo>
                  <a:pt x="1188720" y="0"/>
                </a:lnTo>
                <a:lnTo>
                  <a:pt x="0" y="0"/>
                </a:lnTo>
                <a:lnTo>
                  <a:pt x="0" y="57607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5891785" y="2895601"/>
            <a:ext cx="1188720" cy="315595"/>
          </a:xfrm>
          <a:prstGeom prst="rect">
            <a:avLst/>
          </a:prstGeom>
          <a:ln w="3175">
            <a:solidFill>
              <a:srgbClr val="000000"/>
            </a:solidFill>
          </a:ln>
        </p:spPr>
        <p:txBody>
          <a:bodyPr vert="horz" wrap="square" lIns="0" tIns="43180" rIns="0" bIns="0" rtlCol="0">
            <a:spAutoFit/>
          </a:bodyPr>
          <a:lstStyle/>
          <a:p>
            <a:pPr marL="154940">
              <a:lnSpc>
                <a:spcPts val="2140"/>
              </a:lnSpc>
              <a:spcBef>
                <a:spcPts val="340"/>
              </a:spcBef>
            </a:pPr>
            <a:r>
              <a:rPr spc="-5" dirty="0">
                <a:latin typeface="Times New Roman" panose="02020603050405020304" pitchFamily="18" charset="0"/>
                <a:cs typeface="Times New Roman" panose="02020603050405020304" pitchFamily="18" charset="0"/>
              </a:rPr>
              <a:t>Nhân</a:t>
            </a:r>
            <a:r>
              <a:rPr spc="-70" dirty="0">
                <a:latin typeface="Times New Roman" panose="02020603050405020304" pitchFamily="18" charset="0"/>
                <a:cs typeface="Times New Roman" panose="02020603050405020304" pitchFamily="18" charset="0"/>
              </a:rPr>
              <a:t> </a:t>
            </a:r>
            <a:r>
              <a:rPr spc="-5" dirty="0">
                <a:latin typeface="Times New Roman" panose="02020603050405020304" pitchFamily="18" charset="0"/>
                <a:cs typeface="Times New Roman" panose="02020603050405020304" pitchFamily="18" charset="0"/>
              </a:rPr>
              <a:t>viên</a:t>
            </a:r>
            <a:endParaRPr>
              <a:latin typeface="Times New Roman" panose="02020603050405020304" pitchFamily="18" charset="0"/>
              <a:cs typeface="Times New Roman" panose="02020603050405020304" pitchFamily="18" charset="0"/>
            </a:endParaRPr>
          </a:p>
        </p:txBody>
      </p:sp>
      <p:sp>
        <p:nvSpPr>
          <p:cNvPr id="6" name="object 6"/>
          <p:cNvSpPr/>
          <p:nvPr/>
        </p:nvSpPr>
        <p:spPr>
          <a:xfrm>
            <a:off x="5891785" y="3211068"/>
            <a:ext cx="1188720" cy="260985"/>
          </a:xfrm>
          <a:custGeom>
            <a:avLst/>
            <a:gdLst/>
            <a:ahLst/>
            <a:cxnLst/>
            <a:rect l="l" t="t" r="r" b="b"/>
            <a:pathLst>
              <a:path w="1188720" h="260985">
                <a:moveTo>
                  <a:pt x="0" y="260603"/>
                </a:moveTo>
                <a:lnTo>
                  <a:pt x="1188720" y="260603"/>
                </a:lnTo>
                <a:lnTo>
                  <a:pt x="1188720" y="0"/>
                </a:lnTo>
                <a:lnTo>
                  <a:pt x="0" y="0"/>
                </a:lnTo>
                <a:lnTo>
                  <a:pt x="0" y="260603"/>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5891785" y="3325368"/>
            <a:ext cx="1188720" cy="146685"/>
          </a:xfrm>
          <a:custGeom>
            <a:avLst/>
            <a:gdLst/>
            <a:ahLst/>
            <a:cxnLst/>
            <a:rect l="l" t="t" r="r" b="b"/>
            <a:pathLst>
              <a:path w="1188720" h="146685">
                <a:moveTo>
                  <a:pt x="0" y="146303"/>
                </a:moveTo>
                <a:lnTo>
                  <a:pt x="1188720" y="146303"/>
                </a:lnTo>
                <a:lnTo>
                  <a:pt x="1188720" y="0"/>
                </a:lnTo>
                <a:lnTo>
                  <a:pt x="0" y="0"/>
                </a:lnTo>
                <a:lnTo>
                  <a:pt x="0" y="146303"/>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4215385" y="4255007"/>
            <a:ext cx="1897380" cy="577850"/>
          </a:xfrm>
          <a:custGeom>
            <a:avLst/>
            <a:gdLst/>
            <a:ahLst/>
            <a:cxnLst/>
            <a:rect l="l" t="t" r="r" b="b"/>
            <a:pathLst>
              <a:path w="1897379" h="577850">
                <a:moveTo>
                  <a:pt x="0" y="577595"/>
                </a:moveTo>
                <a:lnTo>
                  <a:pt x="1897380" y="577595"/>
                </a:lnTo>
                <a:lnTo>
                  <a:pt x="1897380" y="0"/>
                </a:lnTo>
                <a:lnTo>
                  <a:pt x="0" y="0"/>
                </a:lnTo>
                <a:lnTo>
                  <a:pt x="0" y="57759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txBox="1"/>
          <p:nvPr/>
        </p:nvSpPr>
        <p:spPr>
          <a:xfrm>
            <a:off x="4215385" y="4255007"/>
            <a:ext cx="1897380" cy="317500"/>
          </a:xfrm>
          <a:prstGeom prst="rect">
            <a:avLst/>
          </a:prstGeom>
          <a:ln w="3175">
            <a:solidFill>
              <a:srgbClr val="000000"/>
            </a:solidFill>
          </a:ln>
        </p:spPr>
        <p:txBody>
          <a:bodyPr vert="horz" wrap="square" lIns="0" tIns="44450" rIns="0" bIns="0" rtlCol="0">
            <a:spAutoFit/>
          </a:bodyPr>
          <a:lstStyle/>
          <a:p>
            <a:pPr marL="160655">
              <a:lnSpc>
                <a:spcPts val="2145"/>
              </a:lnSpc>
              <a:spcBef>
                <a:spcPts val="350"/>
              </a:spcBef>
            </a:pPr>
            <a:r>
              <a:rPr lang="en-US" spc="-10">
                <a:latin typeface="Times New Roman" panose="02020603050405020304" pitchFamily="18" charset="0"/>
                <a:cs typeface="Times New Roman" panose="02020603050405020304" pitchFamily="18" charset="0"/>
              </a:rPr>
              <a:t>   </a:t>
            </a:r>
            <a:r>
              <a:rPr spc="-10">
                <a:latin typeface="Times New Roman" panose="02020603050405020304" pitchFamily="18" charset="0"/>
                <a:cs typeface="Times New Roman" panose="02020603050405020304" pitchFamily="18" charset="0"/>
              </a:rPr>
              <a:t>Nhân </a:t>
            </a:r>
            <a:r>
              <a:rPr spc="-15" dirty="0">
                <a:latin typeface="Times New Roman" panose="02020603050405020304" pitchFamily="18" charset="0"/>
                <a:cs typeface="Times New Roman" panose="02020603050405020304" pitchFamily="18" charset="0"/>
              </a:rPr>
              <a:t>Viên</a:t>
            </a:r>
            <a:r>
              <a:rPr dirty="0">
                <a:latin typeface="Times New Roman" panose="02020603050405020304" pitchFamily="18" charset="0"/>
                <a:cs typeface="Times New Roman" panose="02020603050405020304" pitchFamily="18" charset="0"/>
              </a:rPr>
              <a:t> VP</a:t>
            </a:r>
            <a:endParaRPr>
              <a:latin typeface="Times New Roman" panose="02020603050405020304" pitchFamily="18" charset="0"/>
              <a:cs typeface="Times New Roman" panose="02020603050405020304" pitchFamily="18" charset="0"/>
            </a:endParaRPr>
          </a:p>
        </p:txBody>
      </p:sp>
      <p:sp>
        <p:nvSpPr>
          <p:cNvPr id="10" name="object 10"/>
          <p:cNvSpPr/>
          <p:nvPr/>
        </p:nvSpPr>
        <p:spPr>
          <a:xfrm>
            <a:off x="4215385" y="4572000"/>
            <a:ext cx="1897380" cy="260985"/>
          </a:xfrm>
          <a:custGeom>
            <a:avLst/>
            <a:gdLst/>
            <a:ahLst/>
            <a:cxnLst/>
            <a:rect l="l" t="t" r="r" b="b"/>
            <a:pathLst>
              <a:path w="1897379" h="260985">
                <a:moveTo>
                  <a:pt x="0" y="260604"/>
                </a:moveTo>
                <a:lnTo>
                  <a:pt x="1897380" y="260604"/>
                </a:lnTo>
                <a:lnTo>
                  <a:pt x="1897380" y="0"/>
                </a:lnTo>
                <a:lnTo>
                  <a:pt x="0" y="0"/>
                </a:lnTo>
                <a:lnTo>
                  <a:pt x="0" y="26060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4215385" y="4687824"/>
            <a:ext cx="1897380" cy="144780"/>
          </a:xfrm>
          <a:custGeom>
            <a:avLst/>
            <a:gdLst/>
            <a:ahLst/>
            <a:cxnLst/>
            <a:rect l="l" t="t" r="r" b="b"/>
            <a:pathLst>
              <a:path w="1897379" h="144779">
                <a:moveTo>
                  <a:pt x="0" y="144780"/>
                </a:moveTo>
                <a:lnTo>
                  <a:pt x="1897380" y="144780"/>
                </a:lnTo>
                <a:lnTo>
                  <a:pt x="1897380" y="0"/>
                </a:lnTo>
                <a:lnTo>
                  <a:pt x="0" y="0"/>
                </a:lnTo>
                <a:lnTo>
                  <a:pt x="0" y="14478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12" name="object 12"/>
          <p:cNvGraphicFramePr>
            <a:graphicFrameLocks noGrp="1"/>
          </p:cNvGraphicFramePr>
          <p:nvPr>
            <p:extLst>
              <p:ext uri="{D42A27DB-BD31-4B8C-83A1-F6EECF244321}">
                <p14:modId xmlns:p14="http://schemas.microsoft.com/office/powerpoint/2010/main" val="3713480470"/>
              </p:ext>
            </p:extLst>
          </p:nvPr>
        </p:nvGraphicFramePr>
        <p:xfrm>
          <a:off x="7010401" y="4253485"/>
          <a:ext cx="1467485" cy="577215"/>
        </p:xfrm>
        <a:graphic>
          <a:graphicData uri="http://schemas.openxmlformats.org/drawingml/2006/table">
            <a:tbl>
              <a:tblPr firstRow="1" bandRow="1">
                <a:tableStyleId>{2D5ABB26-0587-4C30-8999-92F81FD0307C}</a:tableStyleId>
              </a:tblPr>
              <a:tblGrid>
                <a:gridCol w="1467485">
                  <a:extLst>
                    <a:ext uri="{9D8B030D-6E8A-4147-A177-3AD203B41FA5}">
                      <a16:colId xmlns:a16="http://schemas.microsoft.com/office/drawing/2014/main" val="20000"/>
                    </a:ext>
                  </a:extLst>
                </a:gridCol>
              </a:tblGrid>
              <a:tr h="316865">
                <a:tc>
                  <a:txBody>
                    <a:bodyPr/>
                    <a:lstStyle/>
                    <a:p>
                      <a:pPr marL="127000">
                        <a:lnSpc>
                          <a:spcPts val="2045"/>
                        </a:lnSpc>
                        <a:spcBef>
                          <a:spcPts val="350"/>
                        </a:spcBef>
                      </a:pPr>
                      <a:r>
                        <a:rPr lang="en-US" sz="1800" spc="-10">
                          <a:latin typeface="Times New Roman" panose="02020603050405020304" pitchFamily="18" charset="0"/>
                          <a:cs typeface="Times New Roman" panose="02020603050405020304" pitchFamily="18" charset="0"/>
                        </a:rPr>
                        <a:t>  </a:t>
                      </a:r>
                      <a:r>
                        <a:rPr sz="1800" spc="-10">
                          <a:latin typeface="Times New Roman" panose="02020603050405020304" pitchFamily="18" charset="0"/>
                          <a:cs typeface="Times New Roman" panose="02020603050405020304" pitchFamily="18" charset="0"/>
                        </a:rPr>
                        <a:t>Công</a:t>
                      </a:r>
                      <a:r>
                        <a:rPr sz="1800" spc="-15">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Nhân</a:t>
                      </a:r>
                      <a:endParaRPr sz="1800">
                        <a:latin typeface="Times New Roman" panose="02020603050405020304" pitchFamily="18" charset="0"/>
                        <a:cs typeface="Times New Roman" panose="02020603050405020304" pitchFamily="18" charset="0"/>
                      </a:endParaRPr>
                    </a:p>
                  </a:txBody>
                  <a:tcPr marL="0" marR="0" marT="444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5570">
                <a:tc>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4780">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13" name="object 13"/>
          <p:cNvSpPr/>
          <p:nvPr/>
        </p:nvSpPr>
        <p:spPr>
          <a:xfrm>
            <a:off x="6516626" y="3485387"/>
            <a:ext cx="1905" cy="451484"/>
          </a:xfrm>
          <a:custGeom>
            <a:avLst/>
            <a:gdLst/>
            <a:ahLst/>
            <a:cxnLst/>
            <a:rect l="l" t="t" r="r" b="b"/>
            <a:pathLst>
              <a:path w="1904" h="451485">
                <a:moveTo>
                  <a:pt x="0" y="451103"/>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flipV="1">
            <a:off x="5205984" y="3880105"/>
            <a:ext cx="2540761" cy="45719"/>
          </a:xfrm>
          <a:custGeom>
            <a:avLst/>
            <a:gdLst/>
            <a:ahLst/>
            <a:cxnLst/>
            <a:rect l="l" t="t" r="r" b="b"/>
            <a:pathLst>
              <a:path w="2514600">
                <a:moveTo>
                  <a:pt x="0" y="0"/>
                </a:moveTo>
                <a:lnTo>
                  <a:pt x="251460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6393182" y="3485388"/>
            <a:ext cx="247015" cy="300355"/>
          </a:xfrm>
          <a:custGeom>
            <a:avLst/>
            <a:gdLst/>
            <a:ahLst/>
            <a:cxnLst/>
            <a:rect l="l" t="t" r="r" b="b"/>
            <a:pathLst>
              <a:path w="247014" h="300354">
                <a:moveTo>
                  <a:pt x="123444" y="0"/>
                </a:moveTo>
                <a:lnTo>
                  <a:pt x="0" y="300227"/>
                </a:lnTo>
                <a:lnTo>
                  <a:pt x="246887" y="300227"/>
                </a:lnTo>
                <a:lnTo>
                  <a:pt x="123444" y="0"/>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6393182" y="3485388"/>
            <a:ext cx="247015" cy="300355"/>
          </a:xfrm>
          <a:custGeom>
            <a:avLst/>
            <a:gdLst/>
            <a:ahLst/>
            <a:cxnLst/>
            <a:rect l="l" t="t" r="r" b="b"/>
            <a:pathLst>
              <a:path w="247014" h="300354">
                <a:moveTo>
                  <a:pt x="123444" y="0"/>
                </a:moveTo>
                <a:lnTo>
                  <a:pt x="246887" y="300227"/>
                </a:lnTo>
                <a:lnTo>
                  <a:pt x="0" y="300227"/>
                </a:lnTo>
                <a:lnTo>
                  <a:pt x="123444"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5205986" y="3925824"/>
            <a:ext cx="1905" cy="318770"/>
          </a:xfrm>
          <a:custGeom>
            <a:avLst/>
            <a:gdLst/>
            <a:ahLst/>
            <a:cxnLst/>
            <a:rect l="l" t="t" r="r" b="b"/>
            <a:pathLst>
              <a:path w="1904" h="318770">
                <a:moveTo>
                  <a:pt x="0" y="318516"/>
                </a:moveTo>
                <a:lnTo>
                  <a:pt x="1523"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7740396" y="3918205"/>
            <a:ext cx="6350" cy="337185"/>
          </a:xfrm>
          <a:custGeom>
            <a:avLst/>
            <a:gdLst/>
            <a:ahLst/>
            <a:cxnLst/>
            <a:rect l="l" t="t" r="r" b="b"/>
            <a:pathLst>
              <a:path w="6350" h="337185">
                <a:moveTo>
                  <a:pt x="6096" y="336804"/>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5053585" y="4840225"/>
            <a:ext cx="248920" cy="300355"/>
          </a:xfrm>
          <a:custGeom>
            <a:avLst/>
            <a:gdLst/>
            <a:ahLst/>
            <a:cxnLst/>
            <a:rect l="l" t="t" r="r" b="b"/>
            <a:pathLst>
              <a:path w="248920" h="300354">
                <a:moveTo>
                  <a:pt x="124206" y="0"/>
                </a:moveTo>
                <a:lnTo>
                  <a:pt x="248411" y="300228"/>
                </a:lnTo>
                <a:lnTo>
                  <a:pt x="0" y="300228"/>
                </a:lnTo>
                <a:lnTo>
                  <a:pt x="124206"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20" name="object 20"/>
          <p:cNvGraphicFramePr>
            <a:graphicFrameLocks noGrp="1"/>
          </p:cNvGraphicFramePr>
          <p:nvPr>
            <p:extLst>
              <p:ext uri="{D42A27DB-BD31-4B8C-83A1-F6EECF244321}">
                <p14:modId xmlns:p14="http://schemas.microsoft.com/office/powerpoint/2010/main" val="2679004576"/>
              </p:ext>
            </p:extLst>
          </p:nvPr>
        </p:nvGraphicFramePr>
        <p:xfrm>
          <a:off x="2569848" y="5145025"/>
          <a:ext cx="5964553" cy="1031875"/>
        </p:xfrm>
        <a:graphic>
          <a:graphicData uri="http://schemas.openxmlformats.org/drawingml/2006/table">
            <a:tbl>
              <a:tblPr firstRow="1" bandRow="1">
                <a:tableStyleId>{2D5ABB26-0587-4C30-8999-92F81FD0307C}</a:tableStyleId>
              </a:tblPr>
              <a:tblGrid>
                <a:gridCol w="838200">
                  <a:extLst>
                    <a:ext uri="{9D8B030D-6E8A-4147-A177-3AD203B41FA5}">
                      <a16:colId xmlns:a16="http://schemas.microsoft.com/office/drawing/2014/main" val="20000"/>
                    </a:ext>
                  </a:extLst>
                </a:gridCol>
                <a:gridCol w="906780">
                  <a:extLst>
                    <a:ext uri="{9D8B030D-6E8A-4147-A177-3AD203B41FA5}">
                      <a16:colId xmlns:a16="http://schemas.microsoft.com/office/drawing/2014/main" val="20001"/>
                    </a:ext>
                  </a:extLst>
                </a:gridCol>
                <a:gridCol w="541019">
                  <a:extLst>
                    <a:ext uri="{9D8B030D-6E8A-4147-A177-3AD203B41FA5}">
                      <a16:colId xmlns:a16="http://schemas.microsoft.com/office/drawing/2014/main" val="20002"/>
                    </a:ext>
                  </a:extLst>
                </a:gridCol>
                <a:gridCol w="349250">
                  <a:extLst>
                    <a:ext uri="{9D8B030D-6E8A-4147-A177-3AD203B41FA5}">
                      <a16:colId xmlns:a16="http://schemas.microsoft.com/office/drawing/2014/main" val="20003"/>
                    </a:ext>
                  </a:extLst>
                </a:gridCol>
                <a:gridCol w="413385">
                  <a:extLst>
                    <a:ext uri="{9D8B030D-6E8A-4147-A177-3AD203B41FA5}">
                      <a16:colId xmlns:a16="http://schemas.microsoft.com/office/drawing/2014/main" val="20004"/>
                    </a:ext>
                  </a:extLst>
                </a:gridCol>
                <a:gridCol w="707389">
                  <a:extLst>
                    <a:ext uri="{9D8B030D-6E8A-4147-A177-3AD203B41FA5}">
                      <a16:colId xmlns:a16="http://schemas.microsoft.com/office/drawing/2014/main" val="20005"/>
                    </a:ext>
                  </a:extLst>
                </a:gridCol>
                <a:gridCol w="588645">
                  <a:extLst>
                    <a:ext uri="{9D8B030D-6E8A-4147-A177-3AD203B41FA5}">
                      <a16:colId xmlns:a16="http://schemas.microsoft.com/office/drawing/2014/main" val="20006"/>
                    </a:ext>
                  </a:extLst>
                </a:gridCol>
                <a:gridCol w="762635">
                  <a:extLst>
                    <a:ext uri="{9D8B030D-6E8A-4147-A177-3AD203B41FA5}">
                      <a16:colId xmlns:a16="http://schemas.microsoft.com/office/drawing/2014/main" val="20007"/>
                    </a:ext>
                  </a:extLst>
                </a:gridCol>
                <a:gridCol w="857250">
                  <a:extLst>
                    <a:ext uri="{9D8B030D-6E8A-4147-A177-3AD203B41FA5}">
                      <a16:colId xmlns:a16="http://schemas.microsoft.com/office/drawing/2014/main" val="20008"/>
                    </a:ext>
                  </a:extLst>
                </a:gridCol>
              </a:tblGrid>
              <a:tr h="152400">
                <a:tc gridSpan="4">
                  <a:txBody>
                    <a:bodyPr/>
                    <a:lstStyle/>
                    <a:p>
                      <a:pPr>
                        <a:lnSpc>
                          <a:spcPct val="100000"/>
                        </a:lnSpc>
                      </a:pPr>
                      <a:endParaRPr sz="800">
                        <a:latin typeface="Times New Roman"/>
                        <a:cs typeface="Times New Roman"/>
                      </a:endParaRPr>
                    </a:p>
                  </a:txBody>
                  <a:tcPr marL="0" marR="0" marT="0" marB="0">
                    <a:lnR w="9525">
                      <a:solidFill>
                        <a:srgbClr val="000000"/>
                      </a:solidFill>
                      <a:prstDash val="solid"/>
                    </a:lnR>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5">
                  <a:txBody>
                    <a:bodyPr/>
                    <a:lstStyle/>
                    <a:p>
                      <a:pPr>
                        <a:lnSpc>
                          <a:spcPct val="100000"/>
                        </a:lnSpc>
                      </a:pPr>
                      <a:endParaRPr sz="800" dirty="0">
                        <a:latin typeface="Times New Roman"/>
                        <a:cs typeface="Times New Roman"/>
                      </a:endParaRPr>
                    </a:p>
                  </a:txBody>
                  <a:tcPr marL="0" marR="0" marT="0" marB="0">
                    <a:lnL w="9525">
                      <a:solidFill>
                        <a:srgbClr val="000000"/>
                      </a:solidFill>
                      <a:prstDash val="solid"/>
                    </a:ln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04800">
                <a:tc>
                  <a:txBody>
                    <a:bodyPr/>
                    <a:lstStyle/>
                    <a:p>
                      <a:pPr>
                        <a:lnSpc>
                          <a:spcPct val="100000"/>
                        </a:lnSpc>
                      </a:pPr>
                      <a:endParaRPr sz="19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gridSpan="4">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1"/>
                  </a:ext>
                </a:extLst>
              </a:tr>
              <a:tr h="314960">
                <a:tc gridSpan="2">
                  <a:txBody>
                    <a:bodyPr/>
                    <a:lstStyle/>
                    <a:p>
                      <a:pPr marL="151130">
                        <a:lnSpc>
                          <a:spcPts val="2035"/>
                        </a:lnSpc>
                        <a:spcBef>
                          <a:spcPts val="345"/>
                        </a:spcBef>
                      </a:pPr>
                      <a:r>
                        <a:rPr lang="en-US" sz="1800" spc="-15">
                          <a:latin typeface="Times New Roman" panose="02020603050405020304" pitchFamily="18" charset="0"/>
                          <a:cs typeface="Times New Roman" panose="02020603050405020304" pitchFamily="18" charset="0"/>
                        </a:rPr>
                        <a:t> </a:t>
                      </a:r>
                      <a:r>
                        <a:rPr sz="1800" spc="-15">
                          <a:latin typeface="Times New Roman" panose="02020603050405020304" pitchFamily="18" charset="0"/>
                          <a:cs typeface="Times New Roman" panose="02020603050405020304" pitchFamily="18" charset="0"/>
                        </a:rPr>
                        <a:t>Trưởng</a:t>
                      </a:r>
                      <a:r>
                        <a:rPr sz="1800" spc="-5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Phòng</a:t>
                      </a:r>
                      <a:endParaRPr sz="1800">
                        <a:latin typeface="Times New Roman" panose="02020603050405020304" pitchFamily="18" charset="0"/>
                        <a:cs typeface="Times New Roman" panose="02020603050405020304" pitchFamily="18" charset="0"/>
                      </a:endParaRPr>
                    </a:p>
                  </a:txBody>
                  <a:tcPr marL="0" marR="0" marT="438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rowSpan="3">
                  <a:txBody>
                    <a:bodyPr/>
                    <a:lstStyle/>
                    <a:p>
                      <a:pPr>
                        <a:lnSpc>
                          <a:spcPct val="100000"/>
                        </a:lnSpc>
                      </a:pPr>
                      <a:endParaRPr sz="2100">
                        <a:latin typeface="Times New Roman"/>
                        <a:cs typeface="Times New Roman"/>
                      </a:endParaRPr>
                    </a:p>
                  </a:txBody>
                  <a:tcPr marL="0" marR="0" marT="0" marB="0">
                    <a:lnL w="3175">
                      <a:solidFill>
                        <a:srgbClr val="000000"/>
                      </a:solidFill>
                      <a:prstDash val="solid"/>
                    </a:lnL>
                    <a:lnR w="3175">
                      <a:solidFill>
                        <a:srgbClr val="000000"/>
                      </a:solidFill>
                      <a:prstDash val="solid"/>
                    </a:lnR>
                  </a:tcPr>
                </a:tc>
                <a:tc gridSpan="3">
                  <a:txBody>
                    <a:bodyPr/>
                    <a:lstStyle/>
                    <a:p>
                      <a:pPr marL="127635">
                        <a:lnSpc>
                          <a:spcPts val="2035"/>
                        </a:lnSpc>
                        <a:spcBef>
                          <a:spcPts val="345"/>
                        </a:spcBef>
                      </a:pPr>
                      <a:r>
                        <a:rPr lang="en-US" sz="1800">
                          <a:latin typeface="Times New Roman" panose="02020603050405020304" pitchFamily="18" charset="0"/>
                          <a:cs typeface="Times New Roman" panose="02020603050405020304" pitchFamily="18" charset="0"/>
                        </a:rPr>
                        <a:t>     </a:t>
                      </a:r>
                      <a:r>
                        <a:rPr sz="1800">
                          <a:latin typeface="Times New Roman" panose="02020603050405020304" pitchFamily="18" charset="0"/>
                          <a:cs typeface="Times New Roman" panose="02020603050405020304" pitchFamily="18" charset="0"/>
                        </a:rPr>
                        <a:t>Thư</a:t>
                      </a:r>
                      <a:r>
                        <a:rPr sz="1800" spc="-25">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Ký</a:t>
                      </a:r>
                      <a:endParaRPr sz="1800">
                        <a:latin typeface="Times New Roman" panose="02020603050405020304" pitchFamily="18" charset="0"/>
                        <a:cs typeface="Times New Roman" panose="02020603050405020304" pitchFamily="18" charset="0"/>
                      </a:endParaRPr>
                    </a:p>
                  </a:txBody>
                  <a:tcPr marL="0" marR="0" marT="438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rowSpan="3">
                  <a:txBody>
                    <a:bodyPr/>
                    <a:lstStyle/>
                    <a:p>
                      <a:pPr>
                        <a:lnSpc>
                          <a:spcPct val="100000"/>
                        </a:lnSpc>
                      </a:pPr>
                      <a:endParaRPr sz="2100">
                        <a:latin typeface="Times New Roman"/>
                        <a:cs typeface="Times New Roman"/>
                      </a:endParaRPr>
                    </a:p>
                  </a:txBody>
                  <a:tcPr marL="0" marR="0" marT="0" marB="0">
                    <a:lnL w="3175">
                      <a:solidFill>
                        <a:srgbClr val="000000"/>
                      </a:solidFill>
                      <a:prstDash val="solid"/>
                    </a:lnL>
                    <a:lnR w="3175">
                      <a:solidFill>
                        <a:srgbClr val="000000"/>
                      </a:solidFill>
                      <a:prstDash val="solid"/>
                    </a:lnR>
                  </a:tcPr>
                </a:tc>
                <a:tc gridSpan="2">
                  <a:txBody>
                    <a:bodyPr/>
                    <a:lstStyle/>
                    <a:p>
                      <a:pPr marL="139700">
                        <a:lnSpc>
                          <a:spcPts val="2035"/>
                        </a:lnSpc>
                        <a:spcBef>
                          <a:spcPts val="345"/>
                        </a:spcBef>
                      </a:pPr>
                      <a:r>
                        <a:rPr sz="1800" spc="-5" dirty="0">
                          <a:latin typeface="Times New Roman" panose="02020603050405020304" pitchFamily="18" charset="0"/>
                          <a:cs typeface="Times New Roman" panose="02020603050405020304" pitchFamily="18" charset="0"/>
                        </a:rPr>
                        <a:t>NV Bán</a:t>
                      </a:r>
                      <a:r>
                        <a:rPr sz="1800" spc="-45"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Hàng</a:t>
                      </a:r>
                      <a:endParaRPr sz="1800">
                        <a:latin typeface="Times New Roman" panose="02020603050405020304" pitchFamily="18" charset="0"/>
                        <a:cs typeface="Times New Roman" panose="02020603050405020304" pitchFamily="18" charset="0"/>
                      </a:endParaRPr>
                    </a:p>
                  </a:txBody>
                  <a:tcPr marL="0" marR="0" marT="4381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15570">
                <a:tc gridSpan="2">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vMerge="1">
                  <a:txBody>
                    <a:bodyPr/>
                    <a:lstStyle/>
                    <a:p>
                      <a:endParaRPr/>
                    </a:p>
                  </a:txBody>
                  <a:tcPr marL="0" marR="0" marT="0" marB="0">
                    <a:lnL w="3175">
                      <a:solidFill>
                        <a:srgbClr val="000000"/>
                      </a:solidFill>
                      <a:prstDash val="solid"/>
                    </a:lnL>
                    <a:lnR w="3175">
                      <a:solidFill>
                        <a:srgbClr val="000000"/>
                      </a:solidFill>
                      <a:prstDash val="solid"/>
                    </a:lnR>
                  </a:tcPr>
                </a:tc>
                <a:tc gridSpan="3">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3175">
                      <a:solidFill>
                        <a:srgbClr val="000000"/>
                      </a:solidFill>
                      <a:prstDash val="solid"/>
                    </a:lnL>
                    <a:lnR w="3175">
                      <a:solidFill>
                        <a:srgbClr val="000000"/>
                      </a:solidFill>
                      <a:prstDash val="solid"/>
                    </a:lnR>
                  </a:tcPr>
                </a:tc>
                <a:tc gridSpan="2">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r h="144145">
                <a:tc gridSpan="2">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vMerge="1">
                  <a:txBody>
                    <a:bodyPr/>
                    <a:lstStyle/>
                    <a:p>
                      <a:endParaRPr/>
                    </a:p>
                  </a:txBody>
                  <a:tcPr marL="0" marR="0" marT="0" marB="0">
                    <a:lnL w="3175">
                      <a:solidFill>
                        <a:srgbClr val="000000"/>
                      </a:solidFill>
                      <a:prstDash val="solid"/>
                    </a:lnL>
                    <a:lnR w="3175">
                      <a:solidFill>
                        <a:srgbClr val="000000"/>
                      </a:solidFill>
                      <a:prstDash val="solid"/>
                    </a:lnR>
                  </a:tcPr>
                </a:tc>
                <a:tc gridSpan="3">
                  <a:txBody>
                    <a:bodyPr/>
                    <a:lstStyle/>
                    <a:p>
                      <a:pPr>
                        <a:lnSpc>
                          <a:spcPct val="100000"/>
                        </a:lnSpc>
                      </a:pPr>
                      <a:endParaRPr sz="8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3175">
                      <a:solidFill>
                        <a:srgbClr val="000000"/>
                      </a:solidFill>
                      <a:prstDash val="solid"/>
                    </a:lnL>
                    <a:lnR w="3175">
                      <a:solidFill>
                        <a:srgbClr val="000000"/>
                      </a:solidFill>
                      <a:prstDash val="solid"/>
                    </a:lnR>
                  </a:tcPr>
                </a:tc>
                <a:tc gridSpan="2">
                  <a:txBody>
                    <a:bodyPr/>
                    <a:lstStyle/>
                    <a:p>
                      <a:pPr>
                        <a:lnSpc>
                          <a:spcPct val="100000"/>
                        </a:lnSpc>
                      </a:pPr>
                      <a:endParaRPr sz="8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
        <p:nvSpPr>
          <p:cNvPr id="21" name="object 21"/>
          <p:cNvSpPr/>
          <p:nvPr/>
        </p:nvSpPr>
        <p:spPr>
          <a:xfrm>
            <a:off x="8839200" y="3599687"/>
            <a:ext cx="228600" cy="2057400"/>
          </a:xfrm>
          <a:custGeom>
            <a:avLst/>
            <a:gdLst/>
            <a:ahLst/>
            <a:cxnLst/>
            <a:rect l="l" t="t" r="r" b="b"/>
            <a:pathLst>
              <a:path w="228600" h="2057400">
                <a:moveTo>
                  <a:pt x="228600" y="1543049"/>
                </a:moveTo>
                <a:lnTo>
                  <a:pt x="0" y="1543049"/>
                </a:lnTo>
                <a:lnTo>
                  <a:pt x="114300" y="2057399"/>
                </a:lnTo>
                <a:lnTo>
                  <a:pt x="228600" y="1543049"/>
                </a:lnTo>
                <a:close/>
              </a:path>
              <a:path w="228600" h="2057400">
                <a:moveTo>
                  <a:pt x="171450" y="0"/>
                </a:moveTo>
                <a:lnTo>
                  <a:pt x="57150" y="0"/>
                </a:lnTo>
                <a:lnTo>
                  <a:pt x="57150" y="1543049"/>
                </a:lnTo>
                <a:lnTo>
                  <a:pt x="171450" y="1543049"/>
                </a:lnTo>
                <a:lnTo>
                  <a:pt x="171450" y="0"/>
                </a:lnTo>
                <a:close/>
              </a:path>
            </a:pathLst>
          </a:custGeom>
          <a:solidFill>
            <a:srgbClr val="93B6D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p:nvPr/>
        </p:nvSpPr>
        <p:spPr>
          <a:xfrm>
            <a:off x="8839200" y="3599687"/>
            <a:ext cx="228600" cy="2057400"/>
          </a:xfrm>
          <a:custGeom>
            <a:avLst/>
            <a:gdLst/>
            <a:ahLst/>
            <a:cxnLst/>
            <a:rect l="l" t="t" r="r" b="b"/>
            <a:pathLst>
              <a:path w="228600" h="2057400">
                <a:moveTo>
                  <a:pt x="0" y="1543049"/>
                </a:moveTo>
                <a:lnTo>
                  <a:pt x="57150" y="1543049"/>
                </a:lnTo>
                <a:lnTo>
                  <a:pt x="57150" y="0"/>
                </a:lnTo>
                <a:lnTo>
                  <a:pt x="171450" y="0"/>
                </a:lnTo>
                <a:lnTo>
                  <a:pt x="171450" y="1543049"/>
                </a:lnTo>
                <a:lnTo>
                  <a:pt x="228600" y="1543049"/>
                </a:lnTo>
                <a:lnTo>
                  <a:pt x="114300" y="2057399"/>
                </a:lnTo>
                <a:lnTo>
                  <a:pt x="0" y="1543049"/>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5"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26" name="Footer Placeholder 1"/>
          <p:cNvSpPr txBox="1">
            <a:spLocks/>
          </p:cNvSpPr>
          <p:nvPr/>
        </p:nvSpPr>
        <p:spPr bwMode="auto">
          <a:xfrm>
            <a:off x="9296400" y="6567488"/>
            <a:ext cx="2895600" cy="27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000" b="1"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a:t>Lê Huỳnh Long - Viện CNTT và Điện, điện tử</a:t>
            </a:r>
            <a:endParaRPr lang="en-US" dirty="0"/>
          </a:p>
        </p:txBody>
      </p:sp>
      <p:cxnSp>
        <p:nvCxnSpPr>
          <p:cNvPr id="23" name="Straight Connector 22"/>
          <p:cNvCxnSpPr/>
          <p:nvPr/>
        </p:nvCxnSpPr>
        <p:spPr>
          <a:xfrm>
            <a:off x="5164075" y="5302044"/>
            <a:ext cx="55092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94948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66802"/>
            <a:ext cx="12192000" cy="3600986"/>
          </a:xfrm>
          <a:prstGeom prst="rect">
            <a:avLst/>
          </a:prstGeom>
        </p:spPr>
        <p:txBody>
          <a:bodyPr vert="horz" wrap="square" lIns="0" tIns="96520" rIns="0" bIns="0" rtlCol="0">
            <a:spAutoFit/>
          </a:bodyPr>
          <a:lstStyle/>
          <a:p>
            <a:pPr marL="290513" marR="1788795" lvl="1" indent="-233363" defTabSz="1360488">
              <a:lnSpc>
                <a:spcPct val="150000"/>
              </a:lnSpc>
              <a:spcBef>
                <a:spcPts val="595"/>
              </a:spcBef>
              <a:buSzPct val="100000"/>
              <a:buFont typeface="Wingdings" panose="05000000000000000000" pitchFamily="2" charset="2"/>
              <a:buChar char="§"/>
              <a:tabLst>
                <a:tab pos="9085263" algn="l"/>
              </a:tabLst>
            </a:pPr>
            <a:r>
              <a:rPr sz="2800" b="1" spc="-10" dirty="0" err="1">
                <a:solidFill>
                  <a:srgbClr val="FF0000"/>
                </a:solidFill>
                <a:latin typeface="Times New Roman" panose="02020603050405020304" pitchFamily="18" charset="0"/>
                <a:cs typeface="Times New Roman" panose="02020603050405020304" pitchFamily="18" charset="0"/>
              </a:rPr>
              <a:t>Xác</a:t>
            </a:r>
            <a:r>
              <a:rPr sz="2800" b="1" spc="-10" dirty="0">
                <a:solidFill>
                  <a:srgbClr val="FF0000"/>
                </a:solidFill>
                <a:latin typeface="Times New Roman" panose="02020603050405020304" pitchFamily="18" charset="0"/>
                <a:cs typeface="Times New Roman" panose="02020603050405020304" pitchFamily="18" charset="0"/>
              </a:rPr>
              <a:t> định mối kết hợp tổng quát </a:t>
            </a:r>
            <a:r>
              <a:rPr sz="2800" b="1" spc="-10">
                <a:solidFill>
                  <a:srgbClr val="FF0000"/>
                </a:solidFill>
                <a:latin typeface="Times New Roman" panose="02020603050405020304" pitchFamily="18" charset="0"/>
                <a:cs typeface="Times New Roman" panose="02020603050405020304" pitchFamily="18" charset="0"/>
              </a:rPr>
              <a:t>– chuyên</a:t>
            </a:r>
            <a:r>
              <a:rPr lang="en-US" sz="2800" b="1" spc="-10">
                <a:solidFill>
                  <a:srgbClr val="FF0000"/>
                </a:solidFill>
                <a:latin typeface="Times New Roman" panose="02020603050405020304" pitchFamily="18" charset="0"/>
                <a:cs typeface="Times New Roman" panose="02020603050405020304" pitchFamily="18" charset="0"/>
              </a:rPr>
              <a:t> (generalization):  </a:t>
            </a:r>
          </a:p>
          <a:p>
            <a:pPr marL="690562" marR="1788795" lvl="1" indent="-342900" defTabSz="1360488">
              <a:lnSpc>
                <a:spcPct val="150000"/>
              </a:lnSpc>
              <a:spcBef>
                <a:spcPts val="595"/>
              </a:spcBef>
              <a:buSzPct val="100000"/>
              <a:buFont typeface="Arial" panose="020B0604020202020204" pitchFamily="34" charset="0"/>
              <a:buChar char="•"/>
              <a:tabLst>
                <a:tab pos="9085263" algn="l"/>
              </a:tabLst>
            </a:pPr>
            <a:r>
              <a:rPr lang="en-US" sz="2400" spc="-20">
                <a:solidFill>
                  <a:srgbClr val="006FC0"/>
                </a:solidFill>
                <a:latin typeface="Times New Roman" panose="02020603050405020304" pitchFamily="18" charset="0"/>
                <a:cs typeface="Times New Roman" panose="02020603050405020304" pitchFamily="18" charset="0"/>
              </a:rPr>
              <a:t> </a:t>
            </a:r>
            <a:r>
              <a:rPr sz="2400" b="1" spc="-20">
                <a:solidFill>
                  <a:srgbClr val="006FC0"/>
                </a:solidFill>
                <a:latin typeface="Times New Roman" panose="02020603050405020304" pitchFamily="18" charset="0"/>
                <a:cs typeface="Times New Roman" panose="02020603050405020304" pitchFamily="18" charset="0"/>
              </a:rPr>
              <a:t>Tiếp </a:t>
            </a:r>
            <a:r>
              <a:rPr sz="2400" b="1">
                <a:solidFill>
                  <a:srgbClr val="006FC0"/>
                </a:solidFill>
                <a:latin typeface="Times New Roman" panose="02020603050405020304" pitchFamily="18" charset="0"/>
                <a:cs typeface="Times New Roman" panose="02020603050405020304" pitchFamily="18" charset="0"/>
              </a:rPr>
              <a:t>cận</a:t>
            </a:r>
            <a:r>
              <a:rPr sz="2400" b="1" spc="-85">
                <a:solidFill>
                  <a:srgbClr val="006FC0"/>
                </a:solidFill>
                <a:latin typeface="Times New Roman" panose="02020603050405020304" pitchFamily="18" charset="0"/>
                <a:cs typeface="Times New Roman" panose="02020603050405020304" pitchFamily="18" charset="0"/>
              </a:rPr>
              <a:t> </a:t>
            </a:r>
            <a:r>
              <a:rPr sz="2400" b="1">
                <a:solidFill>
                  <a:srgbClr val="006FC0"/>
                </a:solidFill>
                <a:latin typeface="Times New Roman" panose="02020603050405020304" pitchFamily="18" charset="0"/>
                <a:cs typeface="Times New Roman" panose="02020603050405020304" pitchFamily="18" charset="0"/>
              </a:rPr>
              <a:t>bottom-up:</a:t>
            </a:r>
            <a:endParaRPr sz="2400" b="1">
              <a:latin typeface="Times New Roman" panose="02020603050405020304" pitchFamily="18" charset="0"/>
              <a:cs typeface="Times New Roman" panose="02020603050405020304" pitchFamily="18" charset="0"/>
            </a:endParaRPr>
          </a:p>
          <a:p>
            <a:pPr marL="966787" marR="5080" lvl="3" indent="-342900" algn="just">
              <a:lnSpc>
                <a:spcPct val="150000"/>
              </a:lnSpc>
              <a:spcBef>
                <a:spcPts val="395"/>
              </a:spcBef>
              <a:buSzPct val="100000"/>
              <a:buFont typeface="Wingdings" panose="05000000000000000000" pitchFamily="2" charset="2"/>
              <a:buChar char="ü"/>
              <a:tabLst>
                <a:tab pos="914400" algn="l"/>
              </a:tabLst>
            </a:pPr>
            <a:r>
              <a:rPr sz="2400">
                <a:latin typeface="Times New Roman" panose="02020603050405020304" pitchFamily="18" charset="0"/>
                <a:cs typeface="Times New Roman" panose="02020603050405020304" pitchFamily="18" charset="0"/>
              </a:rPr>
              <a:t>Tìm </a:t>
            </a:r>
            <a:r>
              <a:rPr sz="2400" dirty="0">
                <a:latin typeface="Times New Roman" panose="02020603050405020304" pitchFamily="18" charset="0"/>
                <a:cs typeface="Times New Roman" panose="02020603050405020304" pitchFamily="18" charset="0"/>
              </a:rPr>
              <a:t>kiếm </a:t>
            </a:r>
            <a:r>
              <a:rPr sz="2400" spc="-5" dirty="0">
                <a:latin typeface="Times New Roman" panose="02020603050405020304" pitchFamily="18" charset="0"/>
                <a:cs typeface="Times New Roman" panose="02020603050405020304" pitchFamily="18" charset="0"/>
              </a:rPr>
              <a:t>trong </a:t>
            </a:r>
            <a:r>
              <a:rPr sz="2400" dirty="0">
                <a:latin typeface="Times New Roman" panose="02020603050405020304" pitchFamily="18" charset="0"/>
                <a:cs typeface="Times New Roman" panose="02020603050405020304" pitchFamily="18" charset="0"/>
              </a:rPr>
              <a:t>các </a:t>
            </a:r>
            <a:r>
              <a:rPr sz="2400" spc="-5" dirty="0">
                <a:latin typeface="Times New Roman" panose="02020603050405020304" pitchFamily="18" charset="0"/>
                <a:cs typeface="Times New Roman" panose="02020603050405020304" pitchFamily="18" charset="0"/>
              </a:rPr>
              <a:t>lớp </a:t>
            </a:r>
            <a:r>
              <a:rPr sz="2400" spc="-10" dirty="0">
                <a:latin typeface="Times New Roman" panose="02020603050405020304" pitchFamily="18" charset="0"/>
                <a:cs typeface="Times New Roman" panose="02020603050405020304" pitchFamily="18" charset="0"/>
              </a:rPr>
              <a:t>để </a:t>
            </a:r>
            <a:r>
              <a:rPr sz="2400" dirty="0">
                <a:latin typeface="Times New Roman" panose="02020603050405020304" pitchFamily="18" charset="0"/>
                <a:cs typeface="Times New Roman" panose="02020603050405020304" pitchFamily="18" charset="0"/>
              </a:rPr>
              <a:t>xác </a:t>
            </a:r>
            <a:r>
              <a:rPr sz="2400" spc="-5" dirty="0">
                <a:latin typeface="Times New Roman" panose="02020603050405020304" pitchFamily="18" charset="0"/>
                <a:cs typeface="Times New Roman" panose="02020603050405020304" pitchFamily="18" charset="0"/>
              </a:rPr>
              <a:t>định xem có </a:t>
            </a:r>
            <a:r>
              <a:rPr sz="2400" dirty="0">
                <a:latin typeface="Times New Roman" panose="02020603050405020304" pitchFamily="18" charset="0"/>
                <a:cs typeface="Times New Roman" panose="02020603050405020304" pitchFamily="18" charset="0"/>
              </a:rPr>
              <a:t>các </a:t>
            </a:r>
            <a:r>
              <a:rPr sz="2400" spc="-10" dirty="0" err="1">
                <a:latin typeface="Times New Roman" panose="02020603050405020304" pitchFamily="18" charset="0"/>
                <a:cs typeface="Times New Roman" panose="02020603050405020304" pitchFamily="18" charset="0"/>
              </a:rPr>
              <a:t>thuộc</a:t>
            </a:r>
            <a:r>
              <a:rPr sz="2400" spc="-10" dirty="0">
                <a:latin typeface="Times New Roman" panose="02020603050405020304" pitchFamily="18" charset="0"/>
                <a:cs typeface="Times New Roman" panose="02020603050405020304" pitchFamily="18" charset="0"/>
              </a:rPr>
              <a:t> </a:t>
            </a:r>
            <a:r>
              <a:rPr sz="2400" spc="-10" dirty="0" err="1">
                <a:latin typeface="Times New Roman" panose="02020603050405020304" pitchFamily="18" charset="0"/>
                <a:cs typeface="Times New Roman" panose="02020603050405020304" pitchFamily="18" charset="0"/>
              </a:rPr>
              <a:t>tính</a:t>
            </a:r>
            <a:r>
              <a:rPr lang="en-US" sz="2400" spc="-10" dirty="0">
                <a:latin typeface="Times New Roman" panose="02020603050405020304" pitchFamily="18" charset="0"/>
                <a:cs typeface="Times New Roman" panose="02020603050405020304" pitchFamily="18" charset="0"/>
              </a:rPr>
              <a:t> </a:t>
            </a:r>
            <a:r>
              <a:rPr sz="2400" spc="-5" dirty="0" err="1">
                <a:latin typeface="Times New Roman" panose="02020603050405020304" pitchFamily="18" charset="0"/>
                <a:cs typeface="Times New Roman" panose="02020603050405020304" pitchFamily="18" charset="0"/>
              </a:rPr>
              <a:t>và</a:t>
            </a:r>
            <a:r>
              <a:rPr sz="2400" spc="-5" dirty="0">
                <a:latin typeface="Times New Roman" panose="02020603050405020304" pitchFamily="18" charset="0"/>
                <a:cs typeface="Times New Roman" panose="02020603050405020304" pitchFamily="18" charset="0"/>
              </a:rPr>
              <a:t> phương </a:t>
            </a:r>
            <a:r>
              <a:rPr sz="2400" spc="-10" dirty="0">
                <a:latin typeface="Times New Roman" panose="02020603050405020304" pitchFamily="18" charset="0"/>
                <a:cs typeface="Times New Roman" panose="02020603050405020304" pitchFamily="18" charset="0"/>
              </a:rPr>
              <a:t>thức </a:t>
            </a:r>
            <a:r>
              <a:rPr sz="2400" spc="-5" dirty="0">
                <a:latin typeface="Times New Roman" panose="02020603050405020304" pitchFamily="18" charset="0"/>
                <a:cs typeface="Times New Roman" panose="02020603050405020304" pitchFamily="18" charset="0"/>
              </a:rPr>
              <a:t>giống </a:t>
            </a:r>
            <a:r>
              <a:rPr sz="2400" dirty="0">
                <a:latin typeface="Times New Roman" panose="02020603050405020304" pitchFamily="18" charset="0"/>
                <a:cs typeface="Times New Roman" panose="02020603050405020304" pitchFamily="18" charset="0"/>
              </a:rPr>
              <a:t>nhau. Sau đó chúng </a:t>
            </a:r>
            <a:r>
              <a:rPr sz="2400" spc="-5" dirty="0">
                <a:latin typeface="Times New Roman" panose="02020603050405020304" pitchFamily="18" charset="0"/>
                <a:cs typeface="Times New Roman" panose="02020603050405020304" pitchFamily="18" charset="0"/>
              </a:rPr>
              <a:t>ta </a:t>
            </a:r>
            <a:r>
              <a:rPr sz="2400" dirty="0">
                <a:latin typeface="Times New Roman" panose="02020603050405020304" pitchFamily="18" charset="0"/>
                <a:cs typeface="Times New Roman" panose="02020603050405020304" pitchFamily="18" charset="0"/>
              </a:rPr>
              <a:t>có </a:t>
            </a:r>
            <a:r>
              <a:rPr sz="2400" spc="-10" dirty="0" err="1">
                <a:latin typeface="Times New Roman" panose="02020603050405020304" pitchFamily="18" charset="0"/>
                <a:cs typeface="Times New Roman" panose="02020603050405020304" pitchFamily="18" charset="0"/>
              </a:rPr>
              <a:t>thể</a:t>
            </a:r>
            <a:r>
              <a:rPr sz="2400" spc="-1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gom</a:t>
            </a:r>
            <a:r>
              <a:rPr sz="2400" dirty="0">
                <a:latin typeface="Times New Roman" panose="02020603050405020304" pitchFamily="18" charset="0"/>
                <a:cs typeface="Times New Roman" panose="02020603050405020304" pitchFamily="18" charset="0"/>
              </a:rPr>
              <a:t> nhóm </a:t>
            </a:r>
            <a:r>
              <a:rPr sz="2400" spc="-5" dirty="0">
                <a:latin typeface="Times New Roman" panose="02020603050405020304" pitchFamily="18" charset="0"/>
                <a:cs typeface="Times New Roman" panose="02020603050405020304" pitchFamily="18" charset="0"/>
              </a:rPr>
              <a:t>và </a:t>
            </a:r>
            <a:r>
              <a:rPr sz="2400" spc="-10" dirty="0">
                <a:latin typeface="Times New Roman" panose="02020603050405020304" pitchFamily="18" charset="0"/>
                <a:cs typeface="Times New Roman" panose="02020603050405020304" pitchFamily="18" charset="0"/>
              </a:rPr>
              <a:t>đưa </a:t>
            </a:r>
            <a:r>
              <a:rPr sz="2400" dirty="0">
                <a:latin typeface="Times New Roman" panose="02020603050405020304" pitchFamily="18" charset="0"/>
                <a:cs typeface="Times New Roman" panose="02020603050405020304" pitchFamily="18" charset="0"/>
              </a:rPr>
              <a:t>các </a:t>
            </a:r>
            <a:r>
              <a:rPr sz="2400" spc="-5" dirty="0">
                <a:latin typeface="Times New Roman" panose="02020603050405020304" pitchFamily="18" charset="0"/>
                <a:cs typeface="Times New Roman" panose="02020603050405020304" pitchFamily="18" charset="0"/>
              </a:rPr>
              <a:t>thuộc tính và phương thức </a:t>
            </a:r>
            <a:r>
              <a:rPr sz="2400">
                <a:latin typeface="Times New Roman" panose="02020603050405020304" pitchFamily="18" charset="0"/>
                <a:cs typeface="Times New Roman" panose="02020603050405020304" pitchFamily="18" charset="0"/>
              </a:rPr>
              <a:t>chung này</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lên </a:t>
            </a:r>
            <a:r>
              <a:rPr sz="2400" dirty="0">
                <a:latin typeface="Times New Roman" panose="02020603050405020304" pitchFamily="18" charset="0"/>
                <a:cs typeface="Times New Roman" panose="02020603050405020304" pitchFamily="18" charset="0"/>
              </a:rPr>
              <a:t>một </a:t>
            </a:r>
            <a:r>
              <a:rPr sz="2400" spc="-5" dirty="0">
                <a:latin typeface="Times New Roman" panose="02020603050405020304" pitchFamily="18" charset="0"/>
                <a:cs typeface="Times New Roman" panose="02020603050405020304" pitchFamily="18" charset="0"/>
              </a:rPr>
              <a:t>lớp </a:t>
            </a:r>
            <a:r>
              <a:rPr sz="2400" dirty="0">
                <a:latin typeface="Times New Roman" panose="02020603050405020304" pitchFamily="18" charset="0"/>
                <a:cs typeface="Times New Roman" panose="02020603050405020304" pitchFamily="18" charset="0"/>
              </a:rPr>
              <a:t>tổng quát (trừu</a:t>
            </a:r>
            <a:r>
              <a:rPr sz="2400" spc="-120" dirty="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tượng)</a:t>
            </a:r>
            <a:endParaRPr sz="2400" dirty="0">
              <a:latin typeface="Times New Roman" panose="02020603050405020304" pitchFamily="18" charset="0"/>
              <a:cs typeface="Times New Roman" panose="02020603050405020304" pitchFamily="18" charset="0"/>
            </a:endParaRPr>
          </a:p>
          <a:p>
            <a:pPr marL="966787" marR="5715" lvl="3" indent="-342900" algn="just">
              <a:lnSpc>
                <a:spcPct val="150000"/>
              </a:lnSpc>
              <a:spcBef>
                <a:spcPts val="400"/>
              </a:spcBef>
              <a:buSzPct val="100000"/>
              <a:buFont typeface="Wingdings" panose="05000000000000000000" pitchFamily="2" charset="2"/>
              <a:buChar char="ü"/>
              <a:tabLst>
                <a:tab pos="914400" algn="l"/>
              </a:tabLst>
            </a:pPr>
            <a:r>
              <a:rPr sz="2400" dirty="0">
                <a:latin typeface="Times New Roman" panose="02020603050405020304" pitchFamily="18" charset="0"/>
                <a:cs typeface="Times New Roman" panose="02020603050405020304" pitchFamily="18" charset="0"/>
              </a:rPr>
              <a:t>Tạo mối kết </a:t>
            </a:r>
            <a:r>
              <a:rPr sz="2400" spc="-5" dirty="0">
                <a:latin typeface="Times New Roman" panose="02020603050405020304" pitchFamily="18" charset="0"/>
                <a:cs typeface="Times New Roman" panose="02020603050405020304" pitchFamily="18" charset="0"/>
              </a:rPr>
              <a:t>hợp tổng quát </a:t>
            </a:r>
            <a:r>
              <a:rPr sz="2400" dirty="0">
                <a:latin typeface="Times New Roman" panose="02020603050405020304" pitchFamily="18" charset="0"/>
                <a:cs typeface="Times New Roman" panose="02020603050405020304" pitchFamily="18" charset="0"/>
              </a:rPr>
              <a:t>hoá </a:t>
            </a:r>
            <a:r>
              <a:rPr sz="2400" spc="-5" dirty="0">
                <a:latin typeface="Times New Roman" panose="02020603050405020304" pitchFamily="18" charset="0"/>
                <a:cs typeface="Times New Roman" panose="02020603050405020304" pitchFamily="18" charset="0"/>
              </a:rPr>
              <a:t>từ </a:t>
            </a:r>
            <a:r>
              <a:rPr sz="2400" dirty="0">
                <a:latin typeface="Times New Roman" panose="02020603050405020304" pitchFamily="18" charset="0"/>
                <a:cs typeface="Times New Roman" panose="02020603050405020304" pitchFamily="18" charset="0"/>
              </a:rPr>
              <a:t>các </a:t>
            </a:r>
            <a:r>
              <a:rPr sz="2400" spc="-5" dirty="0">
                <a:latin typeface="Times New Roman" panose="02020603050405020304" pitchFamily="18" charset="0"/>
                <a:cs typeface="Times New Roman" panose="02020603050405020304" pitchFamily="18" charset="0"/>
              </a:rPr>
              <a:t>lớp </a:t>
            </a:r>
            <a:r>
              <a:rPr sz="2400" dirty="0">
                <a:latin typeface="Times New Roman" panose="02020603050405020304" pitchFamily="18" charset="0"/>
                <a:cs typeface="Times New Roman" panose="02020603050405020304" pitchFamily="18" charset="0"/>
              </a:rPr>
              <a:t>này đến </a:t>
            </a:r>
            <a:r>
              <a:rPr sz="2400" spc="-5">
                <a:latin typeface="Times New Roman" panose="02020603050405020304" pitchFamily="18" charset="0"/>
                <a:cs typeface="Times New Roman" panose="02020603050405020304" pitchFamily="18" charset="0"/>
              </a:rPr>
              <a:t>lớp </a:t>
            </a:r>
            <a:r>
              <a:rPr sz="2400">
                <a:latin typeface="Times New Roman" panose="02020603050405020304" pitchFamily="18" charset="0"/>
                <a:cs typeface="Times New Roman" panose="02020603050405020304" pitchFamily="18" charset="0"/>
              </a:rPr>
              <a:t>tổng</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quát </a:t>
            </a:r>
            <a:r>
              <a:rPr sz="2400" dirty="0">
                <a:latin typeface="Times New Roman" panose="02020603050405020304" pitchFamily="18" charset="0"/>
                <a:cs typeface="Times New Roman" panose="02020603050405020304" pitchFamily="18" charset="0"/>
              </a:rPr>
              <a:t>mới </a:t>
            </a:r>
            <a:r>
              <a:rPr sz="2400">
                <a:latin typeface="Times New Roman" panose="02020603050405020304" pitchFamily="18" charset="0"/>
                <a:cs typeface="Times New Roman" panose="02020603050405020304" pitchFamily="18" charset="0"/>
              </a:rPr>
              <a:t>xác</a:t>
            </a:r>
            <a:r>
              <a:rPr sz="2400" spc="-6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định</a:t>
            </a:r>
            <a:endParaRPr sz="2400" dirty="0">
              <a:latin typeface="Times New Roman" panose="02020603050405020304" pitchFamily="18" charset="0"/>
              <a:cs typeface="Times New Roman" panose="02020603050405020304" pitchFamily="18" charset="0"/>
            </a:endParaRPr>
          </a:p>
        </p:txBody>
      </p:sp>
      <p:sp>
        <p:nvSpPr>
          <p:cNvPr id="5"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32950126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 y="1061525"/>
            <a:ext cx="10668000" cy="1208536"/>
          </a:xfrm>
          <a:prstGeom prst="rect">
            <a:avLst/>
          </a:prstGeom>
        </p:spPr>
        <p:txBody>
          <a:bodyPr vert="horz" wrap="square" lIns="0" tIns="96520" rIns="0" bIns="0" rtlCol="0">
            <a:spAutoFit/>
          </a:bodyPr>
          <a:lstStyle/>
          <a:p>
            <a:pPr marL="290513" marR="5080" lvl="1" indent="-231775">
              <a:lnSpc>
                <a:spcPct val="120000"/>
              </a:lnSpc>
              <a:spcBef>
                <a:spcPts val="600"/>
              </a:spcBef>
              <a:buSzPct val="100000"/>
              <a:buFont typeface="Wingdings" panose="05000000000000000000" pitchFamily="2" charset="2"/>
              <a:buChar char="§"/>
            </a:pPr>
            <a:r>
              <a:rPr sz="2800" b="1" spc="-10" dirty="0" err="1">
                <a:solidFill>
                  <a:srgbClr val="FF0000"/>
                </a:solidFill>
                <a:latin typeface="Times New Roman" panose="02020603050405020304" pitchFamily="18" charset="0"/>
                <a:cs typeface="Times New Roman" panose="02020603050405020304" pitchFamily="18" charset="0"/>
              </a:rPr>
              <a:t>Xác</a:t>
            </a:r>
            <a:r>
              <a:rPr sz="2800" b="1" spc="-1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định mối kết </a:t>
            </a:r>
            <a:r>
              <a:rPr sz="2800" b="1" spc="-10" dirty="0">
                <a:solidFill>
                  <a:srgbClr val="FF0000"/>
                </a:solidFill>
                <a:latin typeface="Times New Roman" panose="02020603050405020304" pitchFamily="18" charset="0"/>
                <a:cs typeface="Times New Roman" panose="02020603050405020304" pitchFamily="18" charset="0"/>
              </a:rPr>
              <a:t>hợp </a:t>
            </a:r>
            <a:r>
              <a:rPr sz="2800" b="1" spc="-5" dirty="0">
                <a:solidFill>
                  <a:srgbClr val="FF0000"/>
                </a:solidFill>
                <a:latin typeface="Times New Roman" panose="02020603050405020304" pitchFamily="18" charset="0"/>
                <a:cs typeface="Times New Roman" panose="02020603050405020304" pitchFamily="18" charset="0"/>
              </a:rPr>
              <a:t>tổng quát – </a:t>
            </a:r>
            <a:r>
              <a:rPr sz="2800" b="1" spc="-5">
                <a:solidFill>
                  <a:srgbClr val="FF0000"/>
                </a:solidFill>
                <a:latin typeface="Times New Roman" panose="02020603050405020304" pitchFamily="18" charset="0"/>
                <a:cs typeface="Times New Roman" panose="02020603050405020304" pitchFamily="18" charset="0"/>
              </a:rPr>
              <a:t>chuyên </a:t>
            </a:r>
            <a:r>
              <a:rPr sz="2800" b="1" spc="-85">
                <a:solidFill>
                  <a:srgbClr val="FF0000"/>
                </a:solidFill>
                <a:latin typeface="Times New Roman" panose="02020603050405020304" pitchFamily="18" charset="0"/>
                <a:cs typeface="Times New Roman" panose="02020603050405020304" pitchFamily="18" charset="0"/>
              </a:rPr>
              <a:t>biệt</a:t>
            </a:r>
            <a:r>
              <a:rPr lang="en-US" sz="2800" b="1" spc="-85">
                <a:solidFill>
                  <a:srgbClr val="FF0000"/>
                </a:solidFill>
                <a:latin typeface="Times New Roman" panose="02020603050405020304" pitchFamily="18" charset="0"/>
                <a:cs typeface="Times New Roman" panose="02020603050405020304" pitchFamily="18" charset="0"/>
              </a:rPr>
              <a:t> </a:t>
            </a:r>
            <a:r>
              <a:rPr sz="2700" b="1" spc="-5">
                <a:solidFill>
                  <a:srgbClr val="FF0000"/>
                </a:solidFill>
                <a:latin typeface="Times New Roman" panose="02020603050405020304" pitchFamily="18" charset="0"/>
                <a:cs typeface="Times New Roman" panose="02020603050405020304" pitchFamily="18" charset="0"/>
              </a:rPr>
              <a:t>(generalization):</a:t>
            </a:r>
            <a:endParaRPr lang="en-US" sz="2700" b="1">
              <a:solidFill>
                <a:srgbClr val="FF0000"/>
              </a:solidFill>
              <a:latin typeface="Times New Roman" panose="02020603050405020304" pitchFamily="18" charset="0"/>
              <a:cs typeface="Times New Roman" panose="02020603050405020304" pitchFamily="18" charset="0"/>
            </a:endParaRPr>
          </a:p>
          <a:p>
            <a:pPr marL="747713" marR="5080" lvl="1" indent="-457200">
              <a:lnSpc>
                <a:spcPct val="120000"/>
              </a:lnSpc>
              <a:spcBef>
                <a:spcPts val="600"/>
              </a:spcBef>
              <a:buSzPct val="100000"/>
              <a:buFont typeface="Arial" panose="020B0604020202020204" pitchFamily="34" charset="0"/>
              <a:buChar char="•"/>
            </a:pPr>
            <a:r>
              <a:rPr sz="2800" b="1" spc="-20">
                <a:solidFill>
                  <a:srgbClr val="006FC0"/>
                </a:solidFill>
                <a:latin typeface="Times New Roman" panose="02020603050405020304" pitchFamily="18" charset="0"/>
                <a:cs typeface="Times New Roman" panose="02020603050405020304" pitchFamily="18" charset="0"/>
              </a:rPr>
              <a:t>Tiếp </a:t>
            </a:r>
            <a:r>
              <a:rPr sz="2800" b="1">
                <a:solidFill>
                  <a:srgbClr val="006FC0"/>
                </a:solidFill>
                <a:latin typeface="Times New Roman" panose="02020603050405020304" pitchFamily="18" charset="0"/>
                <a:cs typeface="Times New Roman" panose="02020603050405020304" pitchFamily="18" charset="0"/>
              </a:rPr>
              <a:t>cận bottom-up</a:t>
            </a:r>
            <a:endParaRPr lang="en-US" sz="2800" b="1">
              <a:solidFill>
                <a:srgbClr val="006FC0"/>
              </a:solidFill>
              <a:latin typeface="Times New Roman" panose="02020603050405020304" pitchFamily="18" charset="0"/>
              <a:cs typeface="Times New Roman" panose="02020603050405020304" pitchFamily="18" charset="0"/>
            </a:endParaRPr>
          </a:p>
        </p:txBody>
      </p:sp>
      <p:sp>
        <p:nvSpPr>
          <p:cNvPr id="4" name="object 4"/>
          <p:cNvSpPr/>
          <p:nvPr/>
        </p:nvSpPr>
        <p:spPr>
          <a:xfrm>
            <a:off x="7685532" y="4520184"/>
            <a:ext cx="1981200" cy="563880"/>
          </a:xfrm>
          <a:custGeom>
            <a:avLst/>
            <a:gdLst/>
            <a:ahLst/>
            <a:cxnLst/>
            <a:rect l="l" t="t" r="r" b="b"/>
            <a:pathLst>
              <a:path w="1981200" h="563879">
                <a:moveTo>
                  <a:pt x="0" y="563880"/>
                </a:moveTo>
                <a:lnTo>
                  <a:pt x="1981200" y="563880"/>
                </a:lnTo>
                <a:lnTo>
                  <a:pt x="1981200" y="0"/>
                </a:lnTo>
                <a:lnTo>
                  <a:pt x="0" y="0"/>
                </a:lnTo>
                <a:lnTo>
                  <a:pt x="0" y="56388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7685532" y="4520184"/>
            <a:ext cx="1981200" cy="309880"/>
          </a:xfrm>
          <a:prstGeom prst="rect">
            <a:avLst/>
          </a:prstGeom>
          <a:ln w="3175">
            <a:solidFill>
              <a:srgbClr val="000000"/>
            </a:solidFill>
          </a:ln>
        </p:spPr>
        <p:txBody>
          <a:bodyPr vert="horz" wrap="square" lIns="0" tIns="43180" rIns="0" bIns="0" rtlCol="0">
            <a:spAutoFit/>
          </a:bodyPr>
          <a:lstStyle/>
          <a:p>
            <a:pPr marL="257175" algn="ctr">
              <a:lnSpc>
                <a:spcPts val="2095"/>
              </a:lnSpc>
              <a:spcBef>
                <a:spcPts val="340"/>
              </a:spcBef>
            </a:pPr>
            <a:r>
              <a:rPr spc="-5" dirty="0">
                <a:latin typeface="Times New Roman" panose="02020603050405020304" pitchFamily="18" charset="0"/>
                <a:cs typeface="Times New Roman" panose="02020603050405020304" pitchFamily="18" charset="0"/>
              </a:rPr>
              <a:t>Đơn đặt</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hàng</a:t>
            </a:r>
            <a:endParaRPr>
              <a:latin typeface="Times New Roman" panose="02020603050405020304" pitchFamily="18" charset="0"/>
              <a:cs typeface="Times New Roman" panose="02020603050405020304" pitchFamily="18" charset="0"/>
            </a:endParaRPr>
          </a:p>
        </p:txBody>
      </p:sp>
      <p:sp>
        <p:nvSpPr>
          <p:cNvPr id="6" name="object 6"/>
          <p:cNvSpPr/>
          <p:nvPr/>
        </p:nvSpPr>
        <p:spPr>
          <a:xfrm>
            <a:off x="7685532" y="4829556"/>
            <a:ext cx="1981200" cy="254635"/>
          </a:xfrm>
          <a:custGeom>
            <a:avLst/>
            <a:gdLst/>
            <a:ahLst/>
            <a:cxnLst/>
            <a:rect l="l" t="t" r="r" b="b"/>
            <a:pathLst>
              <a:path w="1981200" h="254635">
                <a:moveTo>
                  <a:pt x="0" y="254508"/>
                </a:moveTo>
                <a:lnTo>
                  <a:pt x="1981200" y="254508"/>
                </a:lnTo>
                <a:lnTo>
                  <a:pt x="1981200" y="0"/>
                </a:lnTo>
                <a:lnTo>
                  <a:pt x="0" y="0"/>
                </a:lnTo>
                <a:lnTo>
                  <a:pt x="0" y="2545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7685532" y="4942332"/>
            <a:ext cx="1981200" cy="142240"/>
          </a:xfrm>
          <a:custGeom>
            <a:avLst/>
            <a:gdLst/>
            <a:ahLst/>
            <a:cxnLst/>
            <a:rect l="l" t="t" r="r" b="b"/>
            <a:pathLst>
              <a:path w="1981200" h="142239">
                <a:moveTo>
                  <a:pt x="0" y="141732"/>
                </a:moveTo>
                <a:lnTo>
                  <a:pt x="1981200" y="141732"/>
                </a:lnTo>
                <a:lnTo>
                  <a:pt x="1981200" y="0"/>
                </a:lnTo>
                <a:lnTo>
                  <a:pt x="0" y="0"/>
                </a:lnTo>
                <a:lnTo>
                  <a:pt x="0" y="14173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8" name="object 8"/>
          <p:cNvGraphicFramePr>
            <a:graphicFrameLocks noGrp="1"/>
          </p:cNvGraphicFramePr>
          <p:nvPr>
            <p:extLst>
              <p:ext uri="{D42A27DB-BD31-4B8C-83A1-F6EECF244321}">
                <p14:modId xmlns:p14="http://schemas.microsoft.com/office/powerpoint/2010/main" val="2451624260"/>
              </p:ext>
            </p:extLst>
          </p:nvPr>
        </p:nvGraphicFramePr>
        <p:xfrm>
          <a:off x="3569207" y="4572001"/>
          <a:ext cx="5029200" cy="1435735"/>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309245">
                <a:tc gridSpan="2">
                  <a:txBody>
                    <a:bodyPr/>
                    <a:lstStyle/>
                    <a:p>
                      <a:pPr marL="188913" indent="-188913" algn="ctr">
                        <a:lnSpc>
                          <a:spcPts val="1995"/>
                        </a:lnSpc>
                        <a:spcBef>
                          <a:spcPts val="340"/>
                        </a:spcBef>
                      </a:pPr>
                      <a:r>
                        <a:rPr sz="1800" spc="-5" dirty="0">
                          <a:latin typeface="Times New Roman" panose="02020603050405020304" pitchFamily="18" charset="0"/>
                          <a:cs typeface="Times New Roman" panose="02020603050405020304" pitchFamily="18" charset="0"/>
                        </a:rPr>
                        <a:t>Hoá </a:t>
                      </a:r>
                      <a:r>
                        <a:rPr sz="1800" spc="-10" dirty="0">
                          <a:latin typeface="Times New Roman" panose="02020603050405020304" pitchFamily="18" charset="0"/>
                          <a:cs typeface="Times New Roman" panose="02020603050405020304" pitchFamily="18" charset="0"/>
                        </a:rPr>
                        <a:t>đơn</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rowSpan="3" gridSpan="3">
                  <a:txBody>
                    <a:bodyPr/>
                    <a:lstStyle/>
                    <a:p>
                      <a:pPr>
                        <a:lnSpc>
                          <a:spcPct val="100000"/>
                        </a:lnSpc>
                      </a:pPr>
                      <a:endParaRPr sz="2100">
                        <a:latin typeface="Times New Roman"/>
                        <a:cs typeface="Times New Roman"/>
                      </a:endParaRPr>
                    </a:p>
                  </a:txBody>
                  <a:tcPr marL="0" marR="0" marT="0" marB="0">
                    <a:lnL w="3175">
                      <a:solidFill>
                        <a:srgbClr val="000000"/>
                      </a:solidFill>
                      <a:prstDash val="solid"/>
                    </a:lnL>
                  </a:tcPr>
                </a:tc>
                <a:tc rowSpan="3" hMerge="1">
                  <a:txBody>
                    <a:bodyPr/>
                    <a:lstStyle/>
                    <a:p>
                      <a:endParaRPr/>
                    </a:p>
                  </a:txBody>
                  <a:tcPr marL="0" marR="0" marT="0" marB="0"/>
                </a:tc>
                <a:tc rowSpan="3" hMerge="1">
                  <a:txBody>
                    <a:bodyPr/>
                    <a:lstStyle/>
                    <a:p>
                      <a:endParaRPr/>
                    </a:p>
                  </a:txBody>
                  <a:tcPr marL="0" marR="0" marT="0" marB="0"/>
                </a:tc>
                <a:extLst>
                  <a:ext uri="{0D108BD9-81ED-4DB2-BD59-A6C34878D82A}">
                    <a16:rowId xmlns:a16="http://schemas.microsoft.com/office/drawing/2014/main" val="10000"/>
                  </a:ext>
                </a:extLst>
              </a:tr>
              <a:tr h="11239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gridSpan="3" vMerge="1">
                  <a:txBody>
                    <a:bodyPr/>
                    <a:lstStyle/>
                    <a:p>
                      <a:endParaRPr/>
                    </a:p>
                  </a:txBody>
                  <a:tcPr marL="0" marR="0" marT="0" marB="0">
                    <a:lnL w="3175">
                      <a:solidFill>
                        <a:srgbClr val="000000"/>
                      </a:solidFill>
                      <a:prstDash val="solid"/>
                    </a:lnL>
                  </a:tcPr>
                </a:tc>
                <a:tc hMerge="1" vMerge="1">
                  <a:txBody>
                    <a:bodyPr/>
                    <a:lstStyle/>
                    <a:p>
                      <a:endParaRPr/>
                    </a:p>
                  </a:txBody>
                  <a:tcPr marL="0" marR="0" marT="0" marB="0"/>
                </a:tc>
                <a:tc hMerge="1" vMerge="1">
                  <a:txBody>
                    <a:bodyPr/>
                    <a:lstStyle/>
                    <a:p>
                      <a:endParaRPr/>
                    </a:p>
                  </a:txBody>
                  <a:tcPr marL="0" marR="0" marT="0" marB="0"/>
                </a:tc>
                <a:extLst>
                  <a:ext uri="{0D108BD9-81ED-4DB2-BD59-A6C34878D82A}">
                    <a16:rowId xmlns:a16="http://schemas.microsoft.com/office/drawing/2014/main" val="10001"/>
                  </a:ext>
                </a:extLst>
              </a:tr>
              <a:tr h="141605">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gridSpan="3" vMerge="1">
                  <a:txBody>
                    <a:bodyPr/>
                    <a:lstStyle/>
                    <a:p>
                      <a:endParaRPr/>
                    </a:p>
                  </a:txBody>
                  <a:tcPr marL="0" marR="0" marT="0" marB="0">
                    <a:lnL w="3175">
                      <a:solidFill>
                        <a:srgbClr val="000000"/>
                      </a:solidFill>
                      <a:prstDash val="solid"/>
                    </a:lnL>
                  </a:tcPr>
                </a:tc>
                <a:tc hMerge="1" vMerge="1">
                  <a:txBody>
                    <a:bodyPr/>
                    <a:lstStyle/>
                    <a:p>
                      <a:endParaRPr/>
                    </a:p>
                  </a:txBody>
                  <a:tcPr marL="0" marR="0" marT="0" marB="0"/>
                </a:tc>
                <a:tc hMerge="1" vMerge="1">
                  <a:txBody>
                    <a:bodyPr/>
                    <a:lstStyle/>
                    <a:p>
                      <a:endParaRPr/>
                    </a:p>
                  </a:txBody>
                  <a:tcPr marL="0" marR="0" marT="0" marB="0"/>
                </a:tc>
                <a:extLst>
                  <a:ext uri="{0D108BD9-81ED-4DB2-BD59-A6C34878D82A}">
                    <a16:rowId xmlns:a16="http://schemas.microsoft.com/office/drawing/2014/main" val="10002"/>
                  </a:ext>
                </a:extLst>
              </a:tr>
              <a:tr h="309245">
                <a:tc rowSpan="3">
                  <a:txBody>
                    <a:bodyPr/>
                    <a:lstStyle/>
                    <a:p>
                      <a:pPr>
                        <a:lnSpc>
                          <a:spcPct val="100000"/>
                        </a:lnSpc>
                      </a:pPr>
                      <a:endParaRPr sz="2100">
                        <a:latin typeface="Times New Roman"/>
                        <a:cs typeface="Times New Roman"/>
                      </a:endParaRPr>
                    </a:p>
                  </a:txBody>
                  <a:tcPr marL="0" marR="0" marT="0" marB="0">
                    <a:lnR w="9525">
                      <a:solidFill>
                        <a:srgbClr val="000000"/>
                      </a:solidFill>
                      <a:prstDash val="solid"/>
                    </a:lnR>
                    <a:lnT w="3175">
                      <a:solidFill>
                        <a:srgbClr val="000000"/>
                      </a:solidFill>
                      <a:prstDash val="solid"/>
                    </a:lnT>
                  </a:tcPr>
                </a:tc>
                <a:tc gridSpan="4">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152400">
                <a:tc vMerge="1">
                  <a:txBody>
                    <a:bodyPr/>
                    <a:lstStyle/>
                    <a:p>
                      <a:endParaRPr/>
                    </a:p>
                  </a:txBody>
                  <a:tcPr marL="0" marR="0" marT="0" marB="0">
                    <a:lnR w="9525">
                      <a:solidFill>
                        <a:srgbClr val="000000"/>
                      </a:solidFill>
                      <a:prstDash val="solid"/>
                    </a:lnR>
                    <a:lnT w="3175">
                      <a:solidFill>
                        <a:srgbClr val="000000"/>
                      </a:solidFill>
                      <a:prstDash val="solid"/>
                    </a:lnT>
                  </a:tcPr>
                </a:tc>
                <a:tc rowSpan="2" gridSpan="2">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3175">
                      <a:solidFill>
                        <a:srgbClr val="000000"/>
                      </a:solidFill>
                      <a:prstDash val="solid"/>
                    </a:lnR>
                    <a:lnB w="9525">
                      <a:solidFill>
                        <a:srgbClr val="000000"/>
                      </a:solidFill>
                      <a:prstDash val="solid"/>
                    </a:lnB>
                  </a:tcPr>
                </a:tc>
                <a:tc rowSpan="2" hMerge="1">
                  <a:txBody>
                    <a:bodyPr/>
                    <a:lstStyle/>
                    <a:p>
                      <a:endParaRPr/>
                    </a:p>
                  </a:txBody>
                  <a:tcPr marL="0" marR="0" marT="0" marB="0"/>
                </a:tc>
                <a:tc rowSpan="3">
                  <a:txBody>
                    <a:bodyPr/>
                    <a:lstStyle/>
                    <a:p>
                      <a:pPr marL="188913" indent="-188913" algn="ctr">
                        <a:lnSpc>
                          <a:spcPts val="1995"/>
                        </a:lnSpc>
                        <a:spcBef>
                          <a:spcPts val="340"/>
                        </a:spcBef>
                      </a:pPr>
                      <a:r>
                        <a:rPr sz="1800" spc="-5" dirty="0">
                          <a:latin typeface="Times New Roman" panose="02020603050405020304" pitchFamily="18" charset="0"/>
                          <a:cs typeface="Times New Roman" panose="02020603050405020304" pitchFamily="18" charset="0"/>
                        </a:rPr>
                        <a:t>Hàng</a:t>
                      </a:r>
                      <a:r>
                        <a:rPr sz="1800" spc="-15"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hoá</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9525">
                      <a:solidFill>
                        <a:srgbClr val="000000"/>
                      </a:solidFill>
                      <a:prstDash val="solid"/>
                    </a:lnR>
                    <a:lnB w="9525">
                      <a:solidFill>
                        <a:srgbClr val="000000"/>
                      </a:solidFill>
                      <a:prstDash val="solid"/>
                    </a:lnB>
                  </a:tcPr>
                </a:tc>
                <a:extLst>
                  <a:ext uri="{0D108BD9-81ED-4DB2-BD59-A6C34878D82A}">
                    <a16:rowId xmlns:a16="http://schemas.microsoft.com/office/drawing/2014/main" val="10004"/>
                  </a:ext>
                </a:extLst>
              </a:tr>
              <a:tr h="76200">
                <a:tc vMerge="1">
                  <a:txBody>
                    <a:bodyPr/>
                    <a:lstStyle/>
                    <a:p>
                      <a:endParaRPr/>
                    </a:p>
                  </a:txBody>
                  <a:tcPr marL="0" marR="0" marT="0" marB="0">
                    <a:lnR w="9525">
                      <a:solidFill>
                        <a:srgbClr val="000000"/>
                      </a:solidFill>
                      <a:prstDash val="solid"/>
                    </a:lnR>
                    <a:lnT w="3175">
                      <a:solidFill>
                        <a:srgbClr val="000000"/>
                      </a:solidFill>
                      <a:prstDash val="solid"/>
                    </a:lnT>
                  </a:tcPr>
                </a:tc>
                <a:tc gridSpan="2" vMerge="1">
                  <a:txBody>
                    <a:bodyPr/>
                    <a:lstStyle/>
                    <a:p>
                      <a:endParaRPr/>
                    </a:p>
                  </a:txBody>
                  <a:tcPr marL="0" marR="0" marT="0" marB="0">
                    <a:lnL w="9525">
                      <a:solidFill>
                        <a:srgbClr val="000000"/>
                      </a:solidFill>
                      <a:prstDash val="solid"/>
                    </a:lnL>
                    <a:lnR w="3175">
                      <a:solidFill>
                        <a:srgbClr val="000000"/>
                      </a:solidFill>
                      <a:prstDash val="solid"/>
                    </a:lnR>
                    <a:lnB w="9525">
                      <a:solidFill>
                        <a:srgbClr val="000000"/>
                      </a:solidFill>
                      <a:prstDash val="solid"/>
                    </a:lnB>
                  </a:tcPr>
                </a:tc>
                <a:tc hMerge="1" vMerge="1">
                  <a:txBody>
                    <a:bodyPr/>
                    <a:lstStyle/>
                    <a:p>
                      <a:endParaRPr/>
                    </a:p>
                  </a:txBody>
                  <a:tcPr marL="0" marR="0" marT="0" marB="0"/>
                </a:tc>
                <a:tc vMerge="1">
                  <a:txBody>
                    <a:bodyPr/>
                    <a:lstStyle/>
                    <a:p>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rowSpan="4">
                  <a:txBody>
                    <a:bodyPr/>
                    <a:lstStyle/>
                    <a:p>
                      <a:pPr>
                        <a:lnSpc>
                          <a:spcPct val="100000"/>
                        </a:lnSpc>
                      </a:pPr>
                      <a:endParaRPr sz="2100">
                        <a:latin typeface="Times New Roman"/>
                        <a:cs typeface="Times New Roman"/>
                      </a:endParaRPr>
                    </a:p>
                  </a:txBody>
                  <a:tcPr marL="0" marR="0" marT="0" marB="0">
                    <a:lnL w="3175">
                      <a:solidFill>
                        <a:srgbClr val="000000"/>
                      </a:solidFill>
                      <a:prstDash val="solid"/>
                    </a:lnL>
                    <a:lnT w="9525">
                      <a:solidFill>
                        <a:srgbClr val="000000"/>
                      </a:solidFill>
                      <a:prstDash val="solid"/>
                    </a:lnT>
                  </a:tcPr>
                </a:tc>
                <a:extLst>
                  <a:ext uri="{0D108BD9-81ED-4DB2-BD59-A6C34878D82A}">
                    <a16:rowId xmlns:a16="http://schemas.microsoft.com/office/drawing/2014/main" val="10005"/>
                  </a:ext>
                </a:extLst>
              </a:tr>
              <a:tr h="80645">
                <a:tc rowSpan="3" gridSpan="3">
                  <a:txBody>
                    <a:bodyPr/>
                    <a:lstStyle/>
                    <a:p>
                      <a:pPr>
                        <a:lnSpc>
                          <a:spcPct val="100000"/>
                        </a:lnSpc>
                      </a:pPr>
                      <a:endParaRPr sz="2100">
                        <a:latin typeface="Times New Roman"/>
                        <a:cs typeface="Times New Roman"/>
                      </a:endParaRPr>
                    </a:p>
                  </a:txBody>
                  <a:tcPr marL="0" marR="0" marT="0" marB="0">
                    <a:lnR w="3175">
                      <a:solidFill>
                        <a:srgbClr val="000000"/>
                      </a:solidFill>
                      <a:prstDash val="solid"/>
                    </a:lnR>
                  </a:tcPr>
                </a:tc>
                <a:tc rowSpan="3" hMerge="1">
                  <a:txBody>
                    <a:bodyPr/>
                    <a:lstStyle/>
                    <a:p>
                      <a:endParaRPr/>
                    </a:p>
                  </a:txBody>
                  <a:tcPr marL="0" marR="0" marT="0" marB="0"/>
                </a:tc>
                <a:tc rowSpan="3" hMerge="1">
                  <a:txBody>
                    <a:bodyPr/>
                    <a:lstStyle/>
                    <a:p>
                      <a:endParaRPr/>
                    </a:p>
                  </a:txBody>
                  <a:tcPr marL="0" marR="0" marT="0" marB="0"/>
                </a:tc>
                <a:tc vMerge="1">
                  <a:txBody>
                    <a:bodyPr/>
                    <a:lstStyle/>
                    <a:p>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0" marB="0">
                    <a:lnL w="3175">
                      <a:solidFill>
                        <a:srgbClr val="000000"/>
                      </a:solidFill>
                      <a:prstDash val="solid"/>
                    </a:lnL>
                    <a:lnT w="9525">
                      <a:solidFill>
                        <a:srgbClr val="000000"/>
                      </a:solidFill>
                      <a:prstDash val="solid"/>
                    </a:lnT>
                  </a:tcPr>
                </a:tc>
                <a:extLst>
                  <a:ext uri="{0D108BD9-81ED-4DB2-BD59-A6C34878D82A}">
                    <a16:rowId xmlns:a16="http://schemas.microsoft.com/office/drawing/2014/main" val="10006"/>
                  </a:ext>
                </a:extLst>
              </a:tr>
              <a:tr h="112395">
                <a:tc gridSpan="3" vMerge="1">
                  <a:txBody>
                    <a:bodyPr/>
                    <a:lstStyle/>
                    <a:p>
                      <a:endParaRPr/>
                    </a:p>
                  </a:txBody>
                  <a:tcPr marL="0" marR="0" marT="0" marB="0">
                    <a:lnR w="3175">
                      <a:solidFill>
                        <a:srgbClr val="000000"/>
                      </a:solidFill>
                      <a:prstDash val="solid"/>
                    </a:lnR>
                  </a:tcPr>
                </a:tc>
                <a:tc hMerge="1" vMerge="1">
                  <a:txBody>
                    <a:bodyPr/>
                    <a:lstStyle/>
                    <a:p>
                      <a:endParaRPr/>
                    </a:p>
                  </a:txBody>
                  <a:tcPr marL="0" marR="0" marT="0" marB="0"/>
                </a:tc>
                <a:tc hMerge="1" vMerge="1">
                  <a:txBody>
                    <a:bodyPr/>
                    <a:lstStyle/>
                    <a:p>
                      <a:endParaRPr/>
                    </a:p>
                  </a:txBody>
                  <a:tcPr marL="0" marR="0" marT="0" marB="0"/>
                </a:tc>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0" marB="0">
                    <a:lnL w="3175">
                      <a:solidFill>
                        <a:srgbClr val="000000"/>
                      </a:solidFill>
                      <a:prstDash val="solid"/>
                    </a:lnL>
                    <a:lnT w="9525">
                      <a:solidFill>
                        <a:srgbClr val="000000"/>
                      </a:solidFill>
                      <a:prstDash val="solid"/>
                    </a:lnT>
                  </a:tcPr>
                </a:tc>
                <a:extLst>
                  <a:ext uri="{0D108BD9-81ED-4DB2-BD59-A6C34878D82A}">
                    <a16:rowId xmlns:a16="http://schemas.microsoft.com/office/drawing/2014/main" val="10007"/>
                  </a:ext>
                </a:extLst>
              </a:tr>
              <a:tr h="141605">
                <a:tc gridSpan="3" vMerge="1">
                  <a:txBody>
                    <a:bodyPr/>
                    <a:lstStyle/>
                    <a:p>
                      <a:endParaRPr/>
                    </a:p>
                  </a:txBody>
                  <a:tcPr marL="0" marR="0" marT="0" marB="0">
                    <a:lnR w="3175">
                      <a:solidFill>
                        <a:srgbClr val="000000"/>
                      </a:solidFill>
                      <a:prstDash val="solid"/>
                    </a:lnR>
                  </a:tcPr>
                </a:tc>
                <a:tc hMerge="1" vMerge="1">
                  <a:txBody>
                    <a:bodyPr/>
                    <a:lstStyle/>
                    <a:p>
                      <a:endParaRPr/>
                    </a:p>
                  </a:txBody>
                  <a:tcPr marL="0" marR="0" marT="0" marB="0"/>
                </a:tc>
                <a:tc hMerge="1" vMerge="1">
                  <a:txBody>
                    <a:bodyPr/>
                    <a:lstStyle/>
                    <a:p>
                      <a:endParaRPr/>
                    </a:p>
                  </a:txBody>
                  <a:tcPr marL="0" marR="0" marT="0" marB="0"/>
                </a:tc>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vMerge="1">
                  <a:txBody>
                    <a:bodyPr/>
                    <a:lstStyle/>
                    <a:p>
                      <a:endParaRPr/>
                    </a:p>
                  </a:txBody>
                  <a:tcPr marL="0" marR="0" marT="0" marB="0">
                    <a:lnL w="3175">
                      <a:solidFill>
                        <a:srgbClr val="000000"/>
                      </a:solidFill>
                      <a:prstDash val="solid"/>
                    </a:lnL>
                    <a:lnT w="9525">
                      <a:solidFill>
                        <a:srgbClr val="000000"/>
                      </a:solidFill>
                      <a:prstDash val="solid"/>
                    </a:lnT>
                  </a:tcPr>
                </a:tc>
                <a:extLst>
                  <a:ext uri="{0D108BD9-81ED-4DB2-BD59-A6C34878D82A}">
                    <a16:rowId xmlns:a16="http://schemas.microsoft.com/office/drawing/2014/main" val="10008"/>
                  </a:ext>
                </a:extLst>
              </a:tr>
            </a:tbl>
          </a:graphicData>
        </a:graphic>
      </p:graphicFrame>
      <p:sp>
        <p:nvSpPr>
          <p:cNvPr id="9" name="object 9"/>
          <p:cNvSpPr/>
          <p:nvPr/>
        </p:nvSpPr>
        <p:spPr>
          <a:xfrm>
            <a:off x="5628132" y="3102864"/>
            <a:ext cx="1447800" cy="563880"/>
          </a:xfrm>
          <a:custGeom>
            <a:avLst/>
            <a:gdLst/>
            <a:ahLst/>
            <a:cxnLst/>
            <a:rect l="l" t="t" r="r" b="b"/>
            <a:pathLst>
              <a:path w="1447800" h="563879">
                <a:moveTo>
                  <a:pt x="0" y="563880"/>
                </a:moveTo>
                <a:lnTo>
                  <a:pt x="1447800" y="563880"/>
                </a:lnTo>
                <a:lnTo>
                  <a:pt x="1447800" y="0"/>
                </a:lnTo>
                <a:lnTo>
                  <a:pt x="0" y="0"/>
                </a:lnTo>
                <a:lnTo>
                  <a:pt x="0" y="56388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txBox="1"/>
          <p:nvPr/>
        </p:nvSpPr>
        <p:spPr>
          <a:xfrm>
            <a:off x="5628132" y="3102864"/>
            <a:ext cx="1447800" cy="309880"/>
          </a:xfrm>
          <a:prstGeom prst="rect">
            <a:avLst/>
          </a:prstGeom>
          <a:ln w="3175">
            <a:solidFill>
              <a:srgbClr val="000000"/>
            </a:solidFill>
          </a:ln>
        </p:spPr>
        <p:txBody>
          <a:bodyPr vert="horz" wrap="square" lIns="0" tIns="42545" rIns="0" bIns="0" rtlCol="0">
            <a:spAutoFit/>
          </a:bodyPr>
          <a:lstStyle/>
          <a:p>
            <a:pPr marL="187325" indent="-187325" algn="ctr">
              <a:lnSpc>
                <a:spcPts val="2100"/>
              </a:lnSpc>
              <a:spcBef>
                <a:spcPts val="335"/>
              </a:spcBef>
            </a:pPr>
            <a:r>
              <a:rPr spc="-10" dirty="0">
                <a:latin typeface="Times New Roman" panose="02020603050405020304" pitchFamily="18" charset="0"/>
                <a:cs typeface="Times New Roman" panose="02020603050405020304" pitchFamily="18" charset="0"/>
              </a:rPr>
              <a:t>Chứng </a:t>
            </a:r>
            <a:r>
              <a:rPr dirty="0">
                <a:latin typeface="Times New Roman" panose="02020603050405020304" pitchFamily="18" charset="0"/>
                <a:cs typeface="Times New Roman" panose="02020603050405020304" pitchFamily="18" charset="0"/>
              </a:rPr>
              <a:t>từ</a:t>
            </a:r>
            <a:endParaRPr>
              <a:latin typeface="Times New Roman" panose="02020603050405020304" pitchFamily="18" charset="0"/>
              <a:cs typeface="Times New Roman" panose="02020603050405020304" pitchFamily="18" charset="0"/>
            </a:endParaRPr>
          </a:p>
        </p:txBody>
      </p:sp>
      <p:sp>
        <p:nvSpPr>
          <p:cNvPr id="11" name="object 11"/>
          <p:cNvSpPr/>
          <p:nvPr/>
        </p:nvSpPr>
        <p:spPr>
          <a:xfrm>
            <a:off x="5628132" y="3412236"/>
            <a:ext cx="1447800" cy="254635"/>
          </a:xfrm>
          <a:custGeom>
            <a:avLst/>
            <a:gdLst/>
            <a:ahLst/>
            <a:cxnLst/>
            <a:rect l="l" t="t" r="r" b="b"/>
            <a:pathLst>
              <a:path w="1447800" h="254635">
                <a:moveTo>
                  <a:pt x="0" y="254507"/>
                </a:moveTo>
                <a:lnTo>
                  <a:pt x="1447800" y="254507"/>
                </a:lnTo>
                <a:lnTo>
                  <a:pt x="1447800"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5628132" y="3525011"/>
            <a:ext cx="1447800" cy="142240"/>
          </a:xfrm>
          <a:custGeom>
            <a:avLst/>
            <a:gdLst/>
            <a:ahLst/>
            <a:cxnLst/>
            <a:rect l="l" t="t" r="r" b="b"/>
            <a:pathLst>
              <a:path w="1447800" h="142239">
                <a:moveTo>
                  <a:pt x="0" y="141731"/>
                </a:moveTo>
                <a:lnTo>
                  <a:pt x="1447800" y="141731"/>
                </a:lnTo>
                <a:lnTo>
                  <a:pt x="1447800"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6161533" y="3636265"/>
            <a:ext cx="247015" cy="300355"/>
          </a:xfrm>
          <a:custGeom>
            <a:avLst/>
            <a:gdLst/>
            <a:ahLst/>
            <a:cxnLst/>
            <a:rect l="l" t="t" r="r" b="b"/>
            <a:pathLst>
              <a:path w="247014" h="300354">
                <a:moveTo>
                  <a:pt x="123443" y="0"/>
                </a:moveTo>
                <a:lnTo>
                  <a:pt x="0" y="300228"/>
                </a:lnTo>
                <a:lnTo>
                  <a:pt x="246887" y="300228"/>
                </a:lnTo>
                <a:lnTo>
                  <a:pt x="123443" y="0"/>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6161533" y="3636265"/>
            <a:ext cx="247015" cy="300355"/>
          </a:xfrm>
          <a:custGeom>
            <a:avLst/>
            <a:gdLst/>
            <a:ahLst/>
            <a:cxnLst/>
            <a:rect l="l" t="t" r="r" b="b"/>
            <a:pathLst>
              <a:path w="247014" h="300354">
                <a:moveTo>
                  <a:pt x="123443" y="0"/>
                </a:moveTo>
                <a:lnTo>
                  <a:pt x="246887" y="300228"/>
                </a:lnTo>
                <a:lnTo>
                  <a:pt x="0" y="300228"/>
                </a:lnTo>
                <a:lnTo>
                  <a:pt x="123443"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6284976" y="3941064"/>
            <a:ext cx="0" cy="152400"/>
          </a:xfrm>
          <a:custGeom>
            <a:avLst/>
            <a:gdLst/>
            <a:ahLst/>
            <a:cxnLst/>
            <a:rect l="l" t="t" r="r" b="b"/>
            <a:pathLst>
              <a:path h="152400">
                <a:moveTo>
                  <a:pt x="0" y="0"/>
                </a:moveTo>
                <a:lnTo>
                  <a:pt x="0" y="1524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4332732" y="4093464"/>
            <a:ext cx="4343400" cy="0"/>
          </a:xfrm>
          <a:custGeom>
            <a:avLst/>
            <a:gdLst/>
            <a:ahLst/>
            <a:cxnLst/>
            <a:rect l="l" t="t" r="r" b="b"/>
            <a:pathLst>
              <a:path w="4343400">
                <a:moveTo>
                  <a:pt x="0" y="0"/>
                </a:moveTo>
                <a:lnTo>
                  <a:pt x="434340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4332732" y="4093464"/>
            <a:ext cx="0" cy="457200"/>
          </a:xfrm>
          <a:custGeom>
            <a:avLst/>
            <a:gdLst/>
            <a:ahLst/>
            <a:cxnLst/>
            <a:rect l="l" t="t" r="r" b="b"/>
            <a:pathLst>
              <a:path h="457200">
                <a:moveTo>
                  <a:pt x="0" y="0"/>
                </a:moveTo>
                <a:lnTo>
                  <a:pt x="0" y="457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8676131" y="4093464"/>
            <a:ext cx="0" cy="457200"/>
          </a:xfrm>
          <a:custGeom>
            <a:avLst/>
            <a:gdLst/>
            <a:ahLst/>
            <a:cxnLst/>
            <a:rect l="l" t="t" r="r" b="b"/>
            <a:pathLst>
              <a:path h="457200">
                <a:moveTo>
                  <a:pt x="0" y="0"/>
                </a:moveTo>
                <a:lnTo>
                  <a:pt x="0" y="457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3037332" y="4017264"/>
            <a:ext cx="304800" cy="1447800"/>
          </a:xfrm>
          <a:custGeom>
            <a:avLst/>
            <a:gdLst/>
            <a:ahLst/>
            <a:cxnLst/>
            <a:rect l="l" t="t" r="r" b="b"/>
            <a:pathLst>
              <a:path w="304800" h="1447800">
                <a:moveTo>
                  <a:pt x="228600" y="361950"/>
                </a:moveTo>
                <a:lnTo>
                  <a:pt x="76200" y="361950"/>
                </a:lnTo>
                <a:lnTo>
                  <a:pt x="76200" y="1447800"/>
                </a:lnTo>
                <a:lnTo>
                  <a:pt x="228600" y="1447800"/>
                </a:lnTo>
                <a:lnTo>
                  <a:pt x="228600" y="361950"/>
                </a:lnTo>
                <a:close/>
              </a:path>
              <a:path w="304800" h="1447800">
                <a:moveTo>
                  <a:pt x="152400" y="0"/>
                </a:moveTo>
                <a:lnTo>
                  <a:pt x="0" y="361950"/>
                </a:lnTo>
                <a:lnTo>
                  <a:pt x="304800" y="361950"/>
                </a:lnTo>
                <a:lnTo>
                  <a:pt x="152400" y="0"/>
                </a:lnTo>
                <a:close/>
              </a:path>
            </a:pathLst>
          </a:custGeom>
          <a:solidFill>
            <a:srgbClr val="93B6D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3037332" y="4017264"/>
            <a:ext cx="304800" cy="1447800"/>
          </a:xfrm>
          <a:custGeom>
            <a:avLst/>
            <a:gdLst/>
            <a:ahLst/>
            <a:cxnLst/>
            <a:rect l="l" t="t" r="r" b="b"/>
            <a:pathLst>
              <a:path w="304800" h="1447800">
                <a:moveTo>
                  <a:pt x="0" y="361950"/>
                </a:moveTo>
                <a:lnTo>
                  <a:pt x="152400" y="0"/>
                </a:lnTo>
                <a:lnTo>
                  <a:pt x="304800" y="361950"/>
                </a:lnTo>
                <a:lnTo>
                  <a:pt x="228600" y="361950"/>
                </a:lnTo>
                <a:lnTo>
                  <a:pt x="228600" y="1447800"/>
                </a:lnTo>
                <a:lnTo>
                  <a:pt x="76200" y="1447800"/>
                </a:lnTo>
                <a:lnTo>
                  <a:pt x="76200" y="361950"/>
                </a:lnTo>
                <a:lnTo>
                  <a:pt x="0" y="36195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
        <p:nvSpPr>
          <p:cNvPr id="23"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cxnSp>
        <p:nvCxnSpPr>
          <p:cNvPr id="21" name="Straight Connector 20"/>
          <p:cNvCxnSpPr/>
          <p:nvPr/>
        </p:nvCxnSpPr>
        <p:spPr>
          <a:xfrm>
            <a:off x="4235244" y="5134896"/>
            <a:ext cx="762000" cy="0"/>
          </a:xfrm>
          <a:prstGeom prst="line">
            <a:avLst/>
          </a:prstGeom>
          <a:ln>
            <a:solidFill>
              <a:srgbClr val="3333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0789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5486400" y="3276600"/>
            <a:ext cx="1447800" cy="563880"/>
          </a:xfrm>
          <a:custGeom>
            <a:avLst/>
            <a:gdLst/>
            <a:ahLst/>
            <a:cxnLst/>
            <a:rect l="l" t="t" r="r" b="b"/>
            <a:pathLst>
              <a:path w="1447800" h="563879">
                <a:moveTo>
                  <a:pt x="0" y="563880"/>
                </a:moveTo>
                <a:lnTo>
                  <a:pt x="1447800" y="563880"/>
                </a:lnTo>
                <a:lnTo>
                  <a:pt x="1447800" y="0"/>
                </a:lnTo>
                <a:lnTo>
                  <a:pt x="0" y="0"/>
                </a:lnTo>
                <a:lnTo>
                  <a:pt x="0" y="56388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5486400" y="3276600"/>
            <a:ext cx="1447800" cy="309880"/>
          </a:xfrm>
          <a:prstGeom prst="rect">
            <a:avLst/>
          </a:prstGeom>
          <a:ln w="3175">
            <a:solidFill>
              <a:srgbClr val="000000"/>
            </a:solidFill>
          </a:ln>
        </p:spPr>
        <p:txBody>
          <a:bodyPr vert="horz" wrap="square" lIns="0" tIns="42545" rIns="0" bIns="0" rtlCol="0">
            <a:spAutoFit/>
          </a:bodyPr>
          <a:lstStyle/>
          <a:p>
            <a:pPr marL="187325" indent="-187325" algn="ctr">
              <a:lnSpc>
                <a:spcPts val="2100"/>
              </a:lnSpc>
              <a:spcBef>
                <a:spcPts val="335"/>
              </a:spcBef>
            </a:pPr>
            <a:r>
              <a:rPr spc="-5" dirty="0">
                <a:latin typeface="Times New Roman" panose="02020603050405020304" pitchFamily="18" charset="0"/>
                <a:cs typeface="Times New Roman" panose="02020603050405020304" pitchFamily="18" charset="0"/>
              </a:rPr>
              <a:t>Đối</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Tác</a:t>
            </a:r>
            <a:endParaRPr>
              <a:latin typeface="Times New Roman" panose="02020603050405020304" pitchFamily="18" charset="0"/>
              <a:cs typeface="Times New Roman" panose="02020603050405020304" pitchFamily="18" charset="0"/>
            </a:endParaRPr>
          </a:p>
        </p:txBody>
      </p:sp>
      <p:sp>
        <p:nvSpPr>
          <p:cNvPr id="6" name="object 6"/>
          <p:cNvSpPr/>
          <p:nvPr/>
        </p:nvSpPr>
        <p:spPr>
          <a:xfrm>
            <a:off x="5486400" y="3585972"/>
            <a:ext cx="1447800" cy="254635"/>
          </a:xfrm>
          <a:custGeom>
            <a:avLst/>
            <a:gdLst/>
            <a:ahLst/>
            <a:cxnLst/>
            <a:rect l="l" t="t" r="r" b="b"/>
            <a:pathLst>
              <a:path w="1447800" h="254635">
                <a:moveTo>
                  <a:pt x="0" y="254507"/>
                </a:moveTo>
                <a:lnTo>
                  <a:pt x="1447800" y="254507"/>
                </a:lnTo>
                <a:lnTo>
                  <a:pt x="1447800"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5486400" y="3698747"/>
            <a:ext cx="1447800" cy="142240"/>
          </a:xfrm>
          <a:custGeom>
            <a:avLst/>
            <a:gdLst/>
            <a:ahLst/>
            <a:cxnLst/>
            <a:rect l="l" t="t" r="r" b="b"/>
            <a:pathLst>
              <a:path w="1447800" h="142239">
                <a:moveTo>
                  <a:pt x="0" y="141731"/>
                </a:moveTo>
                <a:lnTo>
                  <a:pt x="1447800" y="141731"/>
                </a:lnTo>
                <a:lnTo>
                  <a:pt x="1447800"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6019800" y="3810001"/>
            <a:ext cx="248920" cy="300355"/>
          </a:xfrm>
          <a:custGeom>
            <a:avLst/>
            <a:gdLst/>
            <a:ahLst/>
            <a:cxnLst/>
            <a:rect l="l" t="t" r="r" b="b"/>
            <a:pathLst>
              <a:path w="248920" h="300354">
                <a:moveTo>
                  <a:pt x="124205" y="0"/>
                </a:moveTo>
                <a:lnTo>
                  <a:pt x="0" y="300227"/>
                </a:lnTo>
                <a:lnTo>
                  <a:pt x="248412" y="300227"/>
                </a:lnTo>
                <a:lnTo>
                  <a:pt x="124205" y="0"/>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p:nvPr/>
        </p:nvSpPr>
        <p:spPr>
          <a:xfrm>
            <a:off x="6019800" y="3810001"/>
            <a:ext cx="248920" cy="300355"/>
          </a:xfrm>
          <a:custGeom>
            <a:avLst/>
            <a:gdLst/>
            <a:ahLst/>
            <a:cxnLst/>
            <a:rect l="l" t="t" r="r" b="b"/>
            <a:pathLst>
              <a:path w="248920" h="300354">
                <a:moveTo>
                  <a:pt x="124205" y="0"/>
                </a:moveTo>
                <a:lnTo>
                  <a:pt x="248412" y="300227"/>
                </a:lnTo>
                <a:lnTo>
                  <a:pt x="0" y="300227"/>
                </a:lnTo>
                <a:lnTo>
                  <a:pt x="124205"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10" name="object 10"/>
          <p:cNvGraphicFramePr>
            <a:graphicFrameLocks noGrp="1"/>
          </p:cNvGraphicFramePr>
          <p:nvPr>
            <p:extLst>
              <p:ext uri="{D42A27DB-BD31-4B8C-83A1-F6EECF244321}">
                <p14:modId xmlns:p14="http://schemas.microsoft.com/office/powerpoint/2010/main" val="410873079"/>
              </p:ext>
            </p:extLst>
          </p:nvPr>
        </p:nvGraphicFramePr>
        <p:xfrm>
          <a:off x="3427476" y="4114800"/>
          <a:ext cx="6094092" cy="1157604"/>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61389">
                  <a:extLst>
                    <a:ext uri="{9D8B030D-6E8A-4147-A177-3AD203B41FA5}">
                      <a16:colId xmlns:a16="http://schemas.microsoft.com/office/drawing/2014/main" val="20002"/>
                    </a:ext>
                  </a:extLst>
                </a:gridCol>
                <a:gridCol w="1400175">
                  <a:extLst>
                    <a:ext uri="{9D8B030D-6E8A-4147-A177-3AD203B41FA5}">
                      <a16:colId xmlns:a16="http://schemas.microsoft.com/office/drawing/2014/main" val="20003"/>
                    </a:ext>
                  </a:extLst>
                </a:gridCol>
                <a:gridCol w="989964">
                  <a:extLst>
                    <a:ext uri="{9D8B030D-6E8A-4147-A177-3AD203B41FA5}">
                      <a16:colId xmlns:a16="http://schemas.microsoft.com/office/drawing/2014/main" val="20004"/>
                    </a:ext>
                  </a:extLst>
                </a:gridCol>
                <a:gridCol w="989964">
                  <a:extLst>
                    <a:ext uri="{9D8B030D-6E8A-4147-A177-3AD203B41FA5}">
                      <a16:colId xmlns:a16="http://schemas.microsoft.com/office/drawing/2014/main" val="20005"/>
                    </a:ext>
                  </a:extLst>
                </a:gridCol>
              </a:tblGrid>
              <a:tr h="152400">
                <a:tc gridSpan="3">
                  <a:txBody>
                    <a:bodyPr/>
                    <a:lstStyle/>
                    <a:p>
                      <a:pPr>
                        <a:lnSpc>
                          <a:spcPct val="100000"/>
                        </a:lnSpc>
                      </a:pPr>
                      <a:endParaRPr sz="800">
                        <a:latin typeface="Times New Roman"/>
                        <a:cs typeface="Times New Roman"/>
                      </a:endParaRPr>
                    </a:p>
                  </a:txBody>
                  <a:tcPr marL="0" marR="0" marT="0" marB="0">
                    <a:lnR w="9525">
                      <a:solidFill>
                        <a:srgbClr val="000000"/>
                      </a:solidFill>
                      <a:prstDash val="solid"/>
                    </a:lnR>
                  </a:tcPr>
                </a:tc>
                <a:tc hMerge="1">
                  <a:txBody>
                    <a:bodyPr/>
                    <a:lstStyle/>
                    <a:p>
                      <a:endParaRPr/>
                    </a:p>
                  </a:txBody>
                  <a:tcPr marL="0" marR="0" marT="0" marB="0"/>
                </a:tc>
                <a:tc hMerge="1">
                  <a:txBody>
                    <a:bodyPr/>
                    <a:lstStyle/>
                    <a:p>
                      <a:endParaRPr/>
                    </a:p>
                  </a:txBody>
                  <a:tcPr marL="0" marR="0" marT="0" marB="0"/>
                </a:tc>
                <a:tc gridSpan="3">
                  <a:txBody>
                    <a:bodyPr/>
                    <a:lstStyle/>
                    <a:p>
                      <a:pPr>
                        <a:lnSpc>
                          <a:spcPct val="100000"/>
                        </a:lnSpc>
                      </a:pPr>
                      <a:endParaRPr sz="800">
                        <a:latin typeface="Times New Roman"/>
                        <a:cs typeface="Times New Roman"/>
                      </a:endParaRPr>
                    </a:p>
                  </a:txBody>
                  <a:tcPr marL="0" marR="0" marT="0" marB="0">
                    <a:lnL w="9525">
                      <a:solidFill>
                        <a:srgbClr val="000000"/>
                      </a:solidFill>
                      <a:prstDash val="soli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41959">
                <a:tc>
                  <a:txBody>
                    <a:bodyPr/>
                    <a:lstStyle/>
                    <a:p>
                      <a:pPr>
                        <a:lnSpc>
                          <a:spcPct val="100000"/>
                        </a:lnSpc>
                      </a:pPr>
                      <a:endParaRPr sz="21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gridSpan="4">
                  <a:txBody>
                    <a:bodyPr/>
                    <a:lstStyle/>
                    <a:p>
                      <a:pPr>
                        <a:lnSpc>
                          <a:spcPct val="100000"/>
                        </a:lnSpc>
                      </a:pPr>
                      <a:endParaRPr sz="21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31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2100">
                        <a:latin typeface="Times New Roman"/>
                        <a:cs typeface="Times New Roman"/>
                      </a:endParaRPr>
                    </a:p>
                  </a:txBody>
                  <a:tcPr marL="0" marR="0" marT="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1"/>
                  </a:ext>
                </a:extLst>
              </a:tr>
              <a:tr h="309245">
                <a:tc gridSpan="2">
                  <a:txBody>
                    <a:bodyPr/>
                    <a:lstStyle/>
                    <a:p>
                      <a:pPr marL="115888" indent="-115888" algn="ctr">
                        <a:lnSpc>
                          <a:spcPts val="1880"/>
                        </a:lnSpc>
                        <a:spcBef>
                          <a:spcPts val="455"/>
                        </a:spcBef>
                      </a:pPr>
                      <a:r>
                        <a:rPr sz="1800" spc="-5" dirty="0">
                          <a:latin typeface="Times New Roman" panose="02020603050405020304" pitchFamily="18" charset="0"/>
                          <a:cs typeface="Times New Roman" panose="02020603050405020304" pitchFamily="18" charset="0"/>
                        </a:rPr>
                        <a:t>Khách</a:t>
                      </a:r>
                      <a:r>
                        <a:rPr sz="1800" spc="-10"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Hàng</a:t>
                      </a:r>
                      <a:endParaRPr sz="1800">
                        <a:latin typeface="Times New Roman" panose="02020603050405020304" pitchFamily="18" charset="0"/>
                        <a:cs typeface="Times New Roman" panose="02020603050405020304" pitchFamily="18" charset="0"/>
                      </a:endParaRPr>
                    </a:p>
                  </a:txBody>
                  <a:tcPr marL="0" marR="0" marT="5778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rowSpan="3" gridSpan="2">
                  <a:txBody>
                    <a:bodyPr/>
                    <a:lstStyle/>
                    <a:p>
                      <a:pPr>
                        <a:lnSpc>
                          <a:spcPct val="100000"/>
                        </a:lnSpc>
                      </a:pPr>
                      <a:endParaRPr sz="2100">
                        <a:latin typeface="Times New Roman"/>
                        <a:cs typeface="Times New Roman"/>
                      </a:endParaRPr>
                    </a:p>
                  </a:txBody>
                  <a:tcPr marL="0" marR="0" marT="0" marB="0">
                    <a:lnL w="3175">
                      <a:solidFill>
                        <a:srgbClr val="000000"/>
                      </a:solidFill>
                      <a:prstDash val="solid"/>
                    </a:lnL>
                    <a:lnR w="3175">
                      <a:solidFill>
                        <a:srgbClr val="000000"/>
                      </a:solidFill>
                      <a:prstDash val="solid"/>
                    </a:lnR>
                  </a:tcPr>
                </a:tc>
                <a:tc rowSpan="3" hMerge="1">
                  <a:txBody>
                    <a:bodyPr/>
                    <a:lstStyle/>
                    <a:p>
                      <a:endParaRPr/>
                    </a:p>
                  </a:txBody>
                  <a:tcPr marL="0" marR="0" marT="0" marB="0"/>
                </a:tc>
                <a:tc gridSpan="2">
                  <a:txBody>
                    <a:bodyPr/>
                    <a:lstStyle/>
                    <a:p>
                      <a:pPr marL="258763" indent="-258763" algn="ctr">
                        <a:lnSpc>
                          <a:spcPts val="2115"/>
                        </a:lnSpc>
                        <a:spcBef>
                          <a:spcPts val="220"/>
                        </a:spcBef>
                      </a:pPr>
                      <a:r>
                        <a:rPr sz="1800" spc="-5" dirty="0">
                          <a:latin typeface="Times New Roman" panose="02020603050405020304" pitchFamily="18" charset="0"/>
                          <a:cs typeface="Times New Roman" panose="02020603050405020304" pitchFamily="18" charset="0"/>
                        </a:rPr>
                        <a:t>Nhà </a:t>
                      </a:r>
                      <a:r>
                        <a:rPr sz="1800" spc="-10" dirty="0">
                          <a:latin typeface="Times New Roman" panose="02020603050405020304" pitchFamily="18" charset="0"/>
                          <a:cs typeface="Times New Roman" panose="02020603050405020304" pitchFamily="18" charset="0"/>
                        </a:rPr>
                        <a:t>CCấp</a:t>
                      </a:r>
                      <a:endParaRPr sz="1800">
                        <a:latin typeface="Times New Roman" panose="02020603050405020304" pitchFamily="18" charset="0"/>
                        <a:cs typeface="Times New Roman" panose="02020603050405020304" pitchFamily="18" charset="0"/>
                      </a:endParaRPr>
                    </a:p>
                  </a:txBody>
                  <a:tcPr marL="0" marR="0" marT="2794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1239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gridSpan="2" vMerge="1">
                  <a:txBody>
                    <a:bodyPr/>
                    <a:lstStyle/>
                    <a:p>
                      <a:endParaRPr/>
                    </a:p>
                  </a:txBody>
                  <a:tcPr marL="0" marR="0" marT="0" marB="0">
                    <a:lnL w="3175">
                      <a:solidFill>
                        <a:srgbClr val="000000"/>
                      </a:solidFill>
                      <a:prstDash val="solid"/>
                    </a:lnL>
                    <a:lnR w="3175">
                      <a:solidFill>
                        <a:srgbClr val="000000"/>
                      </a:solidFill>
                      <a:prstDash val="solid"/>
                    </a:lnR>
                  </a:tcPr>
                </a:tc>
                <a:tc hMerge="1" vMerge="1">
                  <a:txBody>
                    <a:bodyPr/>
                    <a:lstStyle/>
                    <a:p>
                      <a:endParaRPr/>
                    </a:p>
                  </a:txBody>
                  <a:tcPr marL="0" marR="0" marT="0" marB="0"/>
                </a:tc>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r h="141605">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gridSpan="2" vMerge="1">
                  <a:txBody>
                    <a:bodyPr/>
                    <a:lstStyle/>
                    <a:p>
                      <a:endParaRPr/>
                    </a:p>
                  </a:txBody>
                  <a:tcPr marL="0" marR="0" marT="0" marB="0">
                    <a:lnL w="3175">
                      <a:solidFill>
                        <a:srgbClr val="000000"/>
                      </a:solidFill>
                      <a:prstDash val="solid"/>
                    </a:lnL>
                    <a:lnR w="3175">
                      <a:solidFill>
                        <a:srgbClr val="000000"/>
                      </a:solidFill>
                      <a:prstDash val="solid"/>
                    </a:lnR>
                  </a:tcPr>
                </a:tc>
                <a:tc hMerge="1" vMerge="1">
                  <a:txBody>
                    <a:bodyPr/>
                    <a:lstStyle/>
                    <a:p>
                      <a:endParaRPr/>
                    </a:p>
                  </a:txBody>
                  <a:tcPr marL="0" marR="0" marT="0" marB="0"/>
                </a:tc>
                <a:tc gridSpan="2">
                  <a:txBody>
                    <a:bodyPr/>
                    <a:lstStyle/>
                    <a:p>
                      <a:pPr>
                        <a:lnSpc>
                          <a:spcPct val="100000"/>
                        </a:lnSpc>
                      </a:pPr>
                      <a:endParaRPr sz="700" dirty="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
        <p:nvSpPr>
          <p:cNvPr id="11" name="object 11"/>
          <p:cNvSpPr/>
          <p:nvPr/>
        </p:nvSpPr>
        <p:spPr>
          <a:xfrm>
            <a:off x="2895600" y="3657600"/>
            <a:ext cx="304800" cy="1447800"/>
          </a:xfrm>
          <a:custGeom>
            <a:avLst/>
            <a:gdLst/>
            <a:ahLst/>
            <a:cxnLst/>
            <a:rect l="l" t="t" r="r" b="b"/>
            <a:pathLst>
              <a:path w="304800" h="1447800">
                <a:moveTo>
                  <a:pt x="228600" y="361950"/>
                </a:moveTo>
                <a:lnTo>
                  <a:pt x="76200" y="361950"/>
                </a:lnTo>
                <a:lnTo>
                  <a:pt x="76200" y="1447800"/>
                </a:lnTo>
                <a:lnTo>
                  <a:pt x="228600" y="1447800"/>
                </a:lnTo>
                <a:lnTo>
                  <a:pt x="228600" y="361950"/>
                </a:lnTo>
                <a:close/>
              </a:path>
              <a:path w="304800" h="1447800">
                <a:moveTo>
                  <a:pt x="152400" y="0"/>
                </a:moveTo>
                <a:lnTo>
                  <a:pt x="0" y="361950"/>
                </a:lnTo>
                <a:lnTo>
                  <a:pt x="304800" y="361950"/>
                </a:lnTo>
                <a:lnTo>
                  <a:pt x="152400" y="0"/>
                </a:lnTo>
                <a:close/>
              </a:path>
            </a:pathLst>
          </a:custGeom>
          <a:solidFill>
            <a:srgbClr val="93B6D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2895600" y="3657600"/>
            <a:ext cx="304800" cy="1447800"/>
          </a:xfrm>
          <a:custGeom>
            <a:avLst/>
            <a:gdLst/>
            <a:ahLst/>
            <a:cxnLst/>
            <a:rect l="l" t="t" r="r" b="b"/>
            <a:pathLst>
              <a:path w="304800" h="1447800">
                <a:moveTo>
                  <a:pt x="0" y="361950"/>
                </a:moveTo>
                <a:lnTo>
                  <a:pt x="152400" y="0"/>
                </a:lnTo>
                <a:lnTo>
                  <a:pt x="304800" y="361950"/>
                </a:lnTo>
                <a:lnTo>
                  <a:pt x="228600" y="361950"/>
                </a:lnTo>
                <a:lnTo>
                  <a:pt x="228600" y="1447800"/>
                </a:lnTo>
                <a:lnTo>
                  <a:pt x="76200" y="1447800"/>
                </a:lnTo>
                <a:lnTo>
                  <a:pt x="76200" y="361950"/>
                </a:lnTo>
                <a:lnTo>
                  <a:pt x="0" y="36195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cxnSp>
        <p:nvCxnSpPr>
          <p:cNvPr id="18" name="Straight Connector 17"/>
          <p:cNvCxnSpPr/>
          <p:nvPr/>
        </p:nvCxnSpPr>
        <p:spPr>
          <a:xfrm>
            <a:off x="6109648" y="4254912"/>
            <a:ext cx="2438400" cy="0"/>
          </a:xfrm>
          <a:prstGeom prst="line">
            <a:avLst/>
          </a:prstGeom>
        </p:spPr>
        <p:style>
          <a:lnRef idx="1">
            <a:schemeClr val="dk1"/>
          </a:lnRef>
          <a:fillRef idx="0">
            <a:schemeClr val="dk1"/>
          </a:fillRef>
          <a:effectRef idx="0">
            <a:schemeClr val="dk1"/>
          </a:effectRef>
          <a:fontRef idx="minor">
            <a:schemeClr val="tx1"/>
          </a:fontRef>
        </p:style>
      </p:cxnSp>
      <p:sp>
        <p:nvSpPr>
          <p:cNvPr id="1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16" name="object 3"/>
          <p:cNvSpPr txBox="1"/>
          <p:nvPr/>
        </p:nvSpPr>
        <p:spPr>
          <a:xfrm>
            <a:off x="76200" y="1061525"/>
            <a:ext cx="10668000" cy="1208536"/>
          </a:xfrm>
          <a:prstGeom prst="rect">
            <a:avLst/>
          </a:prstGeom>
        </p:spPr>
        <p:txBody>
          <a:bodyPr vert="horz" wrap="square" lIns="0" tIns="96520" rIns="0" bIns="0" rtlCol="0">
            <a:spAutoFit/>
          </a:bodyPr>
          <a:lstStyle/>
          <a:p>
            <a:pPr marL="290513" marR="5080" lvl="1" indent="-231775">
              <a:lnSpc>
                <a:spcPct val="120000"/>
              </a:lnSpc>
              <a:spcBef>
                <a:spcPts val="600"/>
              </a:spcBef>
              <a:buSzPct val="100000"/>
              <a:buFont typeface="Wingdings" panose="05000000000000000000" pitchFamily="2" charset="2"/>
              <a:buChar char="§"/>
            </a:pPr>
            <a:r>
              <a:rPr sz="2800" b="1" spc="-10" dirty="0" err="1">
                <a:solidFill>
                  <a:srgbClr val="FF0000"/>
                </a:solidFill>
                <a:latin typeface="Times New Roman" panose="02020603050405020304" pitchFamily="18" charset="0"/>
                <a:cs typeface="Times New Roman" panose="02020603050405020304" pitchFamily="18" charset="0"/>
              </a:rPr>
              <a:t>Xác</a:t>
            </a:r>
            <a:r>
              <a:rPr sz="2800" b="1" spc="-1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định mối kết </a:t>
            </a:r>
            <a:r>
              <a:rPr sz="2800" b="1" spc="-10" dirty="0">
                <a:solidFill>
                  <a:srgbClr val="FF0000"/>
                </a:solidFill>
                <a:latin typeface="Times New Roman" panose="02020603050405020304" pitchFamily="18" charset="0"/>
                <a:cs typeface="Times New Roman" panose="02020603050405020304" pitchFamily="18" charset="0"/>
              </a:rPr>
              <a:t>hợp </a:t>
            </a:r>
            <a:r>
              <a:rPr sz="2800" b="1" spc="-5" dirty="0">
                <a:solidFill>
                  <a:srgbClr val="FF0000"/>
                </a:solidFill>
                <a:latin typeface="Times New Roman" panose="02020603050405020304" pitchFamily="18" charset="0"/>
                <a:cs typeface="Times New Roman" panose="02020603050405020304" pitchFamily="18" charset="0"/>
              </a:rPr>
              <a:t>tổng quát – </a:t>
            </a:r>
            <a:r>
              <a:rPr sz="2800" b="1" spc="-5">
                <a:solidFill>
                  <a:srgbClr val="FF0000"/>
                </a:solidFill>
                <a:latin typeface="Times New Roman" panose="02020603050405020304" pitchFamily="18" charset="0"/>
                <a:cs typeface="Times New Roman" panose="02020603050405020304" pitchFamily="18" charset="0"/>
              </a:rPr>
              <a:t>chuyên </a:t>
            </a:r>
            <a:r>
              <a:rPr sz="2800" b="1" spc="-85">
                <a:solidFill>
                  <a:srgbClr val="FF0000"/>
                </a:solidFill>
                <a:latin typeface="Times New Roman" panose="02020603050405020304" pitchFamily="18" charset="0"/>
                <a:cs typeface="Times New Roman" panose="02020603050405020304" pitchFamily="18" charset="0"/>
              </a:rPr>
              <a:t>biệt</a:t>
            </a:r>
            <a:r>
              <a:rPr lang="en-US" sz="2800" b="1" spc="-85">
                <a:solidFill>
                  <a:srgbClr val="FF0000"/>
                </a:solidFill>
                <a:latin typeface="Times New Roman" panose="02020603050405020304" pitchFamily="18" charset="0"/>
                <a:cs typeface="Times New Roman" panose="02020603050405020304" pitchFamily="18" charset="0"/>
              </a:rPr>
              <a:t> </a:t>
            </a:r>
            <a:r>
              <a:rPr sz="2700" b="1" spc="-5">
                <a:solidFill>
                  <a:srgbClr val="FF0000"/>
                </a:solidFill>
                <a:latin typeface="Times New Roman" panose="02020603050405020304" pitchFamily="18" charset="0"/>
                <a:cs typeface="Times New Roman" panose="02020603050405020304" pitchFamily="18" charset="0"/>
              </a:rPr>
              <a:t>(generalization):</a:t>
            </a:r>
            <a:endParaRPr lang="en-US" sz="2700" b="1">
              <a:solidFill>
                <a:srgbClr val="FF0000"/>
              </a:solidFill>
              <a:latin typeface="Times New Roman" panose="02020603050405020304" pitchFamily="18" charset="0"/>
              <a:cs typeface="Times New Roman" panose="02020603050405020304" pitchFamily="18" charset="0"/>
            </a:endParaRPr>
          </a:p>
          <a:p>
            <a:pPr marL="747713" marR="5080" lvl="1" indent="-457200">
              <a:lnSpc>
                <a:spcPct val="120000"/>
              </a:lnSpc>
              <a:spcBef>
                <a:spcPts val="600"/>
              </a:spcBef>
              <a:buSzPct val="100000"/>
              <a:buFont typeface="Arial" panose="020B0604020202020204" pitchFamily="34" charset="0"/>
              <a:buChar char="•"/>
            </a:pPr>
            <a:r>
              <a:rPr sz="2800" b="1" spc="-20">
                <a:solidFill>
                  <a:srgbClr val="006FC0"/>
                </a:solidFill>
                <a:latin typeface="Times New Roman" panose="02020603050405020304" pitchFamily="18" charset="0"/>
                <a:cs typeface="Times New Roman" panose="02020603050405020304" pitchFamily="18" charset="0"/>
              </a:rPr>
              <a:t>Tiếp </a:t>
            </a:r>
            <a:r>
              <a:rPr sz="2800" b="1">
                <a:solidFill>
                  <a:srgbClr val="006FC0"/>
                </a:solidFill>
                <a:latin typeface="Times New Roman" panose="02020603050405020304" pitchFamily="18" charset="0"/>
                <a:cs typeface="Times New Roman" panose="02020603050405020304" pitchFamily="18" charset="0"/>
              </a:rPr>
              <a:t>cận bottom-up</a:t>
            </a:r>
            <a:endParaRPr lang="en-US" sz="2800" b="1">
              <a:solidFill>
                <a:srgbClr val="006FC0"/>
              </a:solidFill>
              <a:latin typeface="Times New Roman" panose="02020603050405020304" pitchFamily="18" charset="0"/>
              <a:cs typeface="Times New Roman" panose="02020603050405020304" pitchFamily="18" charset="0"/>
            </a:endParaRPr>
          </a:p>
        </p:txBody>
      </p:sp>
      <p:sp>
        <p:nvSpPr>
          <p:cNvPr id="17"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41166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3352" y="938304"/>
            <a:ext cx="12192000" cy="1441420"/>
          </a:xfrm>
          <a:prstGeom prst="rect">
            <a:avLst/>
          </a:prstGeom>
        </p:spPr>
        <p:txBody>
          <a:bodyPr vert="horz" wrap="square" lIns="0" tIns="96520" rIns="0" bIns="0" rtlCol="0">
            <a:spAutoFit/>
          </a:bodyPr>
          <a:lstStyle/>
          <a:p>
            <a:pPr marL="339725" lvl="2" indent="-339725">
              <a:lnSpc>
                <a:spcPct val="150000"/>
              </a:lnSpc>
              <a:spcBef>
                <a:spcPts val="515"/>
              </a:spcBef>
              <a:buSzPct val="100000"/>
              <a:buFont typeface="Wingdings" panose="05000000000000000000" pitchFamily="2" charset="2"/>
              <a:buChar char="§"/>
              <a:tabLst>
                <a:tab pos="927100" algn="l"/>
              </a:tabLst>
            </a:pPr>
            <a:r>
              <a:rPr sz="2800" b="1">
                <a:solidFill>
                  <a:srgbClr val="006FC0"/>
                </a:solidFill>
                <a:latin typeface="Times New Roman" panose="02020603050405020304" pitchFamily="18" charset="0"/>
                <a:cs typeface="Times New Roman" panose="02020603050405020304" pitchFamily="18" charset="0"/>
              </a:rPr>
              <a:t>Vấn </a:t>
            </a:r>
            <a:r>
              <a:rPr sz="2800" b="1" dirty="0">
                <a:solidFill>
                  <a:srgbClr val="006FC0"/>
                </a:solidFill>
                <a:latin typeface="Times New Roman" panose="02020603050405020304" pitchFamily="18" charset="0"/>
                <a:cs typeface="Times New Roman" panose="02020603050405020304" pitchFamily="18" charset="0"/>
              </a:rPr>
              <a:t>đề đa thừa</a:t>
            </a:r>
            <a:r>
              <a:rPr sz="2800" b="1" spc="-65" dirty="0">
                <a:solidFill>
                  <a:srgbClr val="006FC0"/>
                </a:solidFill>
                <a:latin typeface="Times New Roman" panose="02020603050405020304" pitchFamily="18" charset="0"/>
                <a:cs typeface="Times New Roman" panose="02020603050405020304" pitchFamily="18" charset="0"/>
              </a:rPr>
              <a:t> </a:t>
            </a:r>
            <a:r>
              <a:rPr sz="2800" b="1">
                <a:solidFill>
                  <a:srgbClr val="006FC0"/>
                </a:solidFill>
                <a:latin typeface="Times New Roman" panose="02020603050405020304" pitchFamily="18" charset="0"/>
                <a:cs typeface="Times New Roman" panose="02020603050405020304" pitchFamily="18" charset="0"/>
              </a:rPr>
              <a:t>kế</a:t>
            </a:r>
            <a:r>
              <a:rPr sz="2800" b="1">
                <a:latin typeface="Times New Roman" panose="02020603050405020304" pitchFamily="18" charset="0"/>
                <a:cs typeface="Times New Roman" panose="02020603050405020304" pitchFamily="18" charset="0"/>
              </a:rPr>
              <a:t>:</a:t>
            </a:r>
            <a:r>
              <a:rPr lang="en-US" sz="2800" b="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Phức tạp trong vấn đề kế</a:t>
            </a:r>
            <a:r>
              <a:rPr lang="en-US" sz="2800" spc="-11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thừa</a:t>
            </a:r>
          </a:p>
          <a:p>
            <a:pPr marL="1155065" lvl="3" algn="ctr">
              <a:lnSpc>
                <a:spcPct val="150000"/>
              </a:lnSpc>
              <a:spcBef>
                <a:spcPts val="395"/>
              </a:spcBef>
              <a:buClr>
                <a:srgbClr val="A4AB81"/>
              </a:buClr>
              <a:buSzPct val="75000"/>
              <a:tabLst>
                <a:tab pos="1384300" algn="l"/>
              </a:tabLst>
            </a:pPr>
            <a:r>
              <a:rPr lang="en-US" sz="280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sz="2800">
                <a:solidFill>
                  <a:srgbClr val="FF0000"/>
                </a:solidFill>
                <a:latin typeface="Times New Roman" panose="02020603050405020304" pitchFamily="18" charset="0"/>
                <a:cs typeface="Times New Roman" panose="02020603050405020304" pitchFamily="18" charset="0"/>
              </a:rPr>
              <a:t>Không </a:t>
            </a:r>
            <a:r>
              <a:rPr sz="2800" dirty="0">
                <a:solidFill>
                  <a:srgbClr val="FF0000"/>
                </a:solidFill>
                <a:latin typeface="Times New Roman" panose="02020603050405020304" pitchFamily="18" charset="0"/>
                <a:cs typeface="Times New Roman" panose="02020603050405020304" pitchFamily="18" charset="0"/>
              </a:rPr>
              <a:t>nên sử dụng (phiên bản gốc UML </a:t>
            </a:r>
            <a:r>
              <a:rPr sz="2800">
                <a:solidFill>
                  <a:srgbClr val="FF0000"/>
                </a:solidFill>
                <a:latin typeface="Times New Roman" panose="02020603050405020304" pitchFamily="18" charset="0"/>
                <a:cs typeface="Times New Roman" panose="02020603050405020304" pitchFamily="18" charset="0"/>
              </a:rPr>
              <a:t>không</a:t>
            </a:r>
            <a:r>
              <a:rPr sz="2800" spc="-190">
                <a:solidFill>
                  <a:srgbClr val="FF0000"/>
                </a:solidFill>
                <a:latin typeface="Times New Roman" panose="02020603050405020304" pitchFamily="18" charset="0"/>
                <a:cs typeface="Times New Roman" panose="02020603050405020304" pitchFamily="18" charset="0"/>
              </a:rPr>
              <a:t> </a:t>
            </a:r>
            <a:r>
              <a:rPr sz="2800" spc="-5">
                <a:solidFill>
                  <a:srgbClr val="FF0000"/>
                </a:solidFill>
                <a:latin typeface="Times New Roman" panose="02020603050405020304" pitchFamily="18" charset="0"/>
                <a:cs typeface="Times New Roman" panose="02020603050405020304" pitchFamily="18" charset="0"/>
              </a:rPr>
              <a:t>đưa</a:t>
            </a:r>
            <a:r>
              <a:rPr lang="en-US" sz="2800">
                <a:latin typeface="Times New Roman" panose="02020603050405020304" pitchFamily="18" charset="0"/>
                <a:cs typeface="Times New Roman" panose="02020603050405020304" pitchFamily="18" charset="0"/>
              </a:rPr>
              <a:t> </a:t>
            </a:r>
            <a:r>
              <a:rPr sz="2800">
                <a:solidFill>
                  <a:srgbClr val="FF0000"/>
                </a:solidFill>
                <a:latin typeface="Times New Roman" panose="02020603050405020304" pitchFamily="18" charset="0"/>
                <a:cs typeface="Times New Roman" panose="02020603050405020304" pitchFamily="18" charset="0"/>
              </a:rPr>
              <a:t>vào)</a:t>
            </a:r>
            <a:endParaRPr sz="280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3599101470"/>
              </p:ext>
            </p:extLst>
          </p:nvPr>
        </p:nvGraphicFramePr>
        <p:xfrm>
          <a:off x="4953001" y="3002281"/>
          <a:ext cx="1752600" cy="563245"/>
        </p:xfrm>
        <a:graphic>
          <a:graphicData uri="http://schemas.openxmlformats.org/drawingml/2006/table">
            <a:tbl>
              <a:tblPr firstRow="1" bandRow="1">
                <a:tableStyleId>{2D5ABB26-0587-4C30-8999-92F81FD0307C}</a:tableStyleId>
              </a:tblPr>
              <a:tblGrid>
                <a:gridCol w="1752600">
                  <a:extLst>
                    <a:ext uri="{9D8B030D-6E8A-4147-A177-3AD203B41FA5}">
                      <a16:colId xmlns:a16="http://schemas.microsoft.com/office/drawing/2014/main" val="20000"/>
                    </a:ext>
                  </a:extLst>
                </a:gridCol>
              </a:tblGrid>
              <a:tr h="309245">
                <a:tc>
                  <a:txBody>
                    <a:bodyPr/>
                    <a:lstStyle/>
                    <a:p>
                      <a:pPr marL="229235">
                        <a:lnSpc>
                          <a:spcPts val="2000"/>
                        </a:lnSpc>
                        <a:spcBef>
                          <a:spcPts val="335"/>
                        </a:spcBef>
                      </a:pPr>
                      <a:r>
                        <a:rPr lang="en-US" sz="1800" spc="-5">
                          <a:latin typeface="Arial"/>
                          <a:cs typeface="Arial"/>
                        </a:rPr>
                        <a:t>  </a:t>
                      </a:r>
                      <a:r>
                        <a:rPr sz="1800" spc="-5">
                          <a:latin typeface="Arial"/>
                          <a:cs typeface="Arial"/>
                        </a:rPr>
                        <a:t>Giáo</a:t>
                      </a:r>
                      <a:r>
                        <a:rPr sz="1800" spc="-20">
                          <a:latin typeface="Arial"/>
                          <a:cs typeface="Arial"/>
                        </a:rPr>
                        <a:t> </a:t>
                      </a:r>
                      <a:r>
                        <a:rPr sz="1800" spc="-15" dirty="0">
                          <a:latin typeface="Arial"/>
                          <a:cs typeface="Arial"/>
                        </a:rPr>
                        <a:t>Viên</a:t>
                      </a:r>
                      <a:endParaRPr sz="1800">
                        <a:latin typeface="Arial"/>
                        <a:cs typeface="Arial"/>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175122052"/>
              </p:ext>
            </p:extLst>
          </p:nvPr>
        </p:nvGraphicFramePr>
        <p:xfrm>
          <a:off x="8305800" y="2971800"/>
          <a:ext cx="2362200" cy="563245"/>
        </p:xfrm>
        <a:graphic>
          <a:graphicData uri="http://schemas.openxmlformats.org/drawingml/2006/table">
            <a:tbl>
              <a:tblPr firstRow="1" bandRow="1">
                <a:tableStyleId>{2D5ABB26-0587-4C30-8999-92F81FD0307C}</a:tableStyleId>
              </a:tblPr>
              <a:tblGrid>
                <a:gridCol w="2362200">
                  <a:extLst>
                    <a:ext uri="{9D8B030D-6E8A-4147-A177-3AD203B41FA5}">
                      <a16:colId xmlns:a16="http://schemas.microsoft.com/office/drawing/2014/main" val="20000"/>
                    </a:ext>
                  </a:extLst>
                </a:gridCol>
              </a:tblGrid>
              <a:tr h="309245">
                <a:tc>
                  <a:txBody>
                    <a:bodyPr/>
                    <a:lstStyle/>
                    <a:p>
                      <a:pPr marL="308610">
                        <a:lnSpc>
                          <a:spcPts val="1995"/>
                        </a:lnSpc>
                        <a:spcBef>
                          <a:spcPts val="340"/>
                        </a:spcBef>
                      </a:pPr>
                      <a:r>
                        <a:rPr sz="1800" spc="-5" dirty="0">
                          <a:latin typeface="Arial"/>
                          <a:cs typeface="Arial"/>
                        </a:rPr>
                        <a:t>Nhà </a:t>
                      </a:r>
                      <a:r>
                        <a:rPr sz="1800" spc="-10" dirty="0">
                          <a:latin typeface="Arial"/>
                          <a:cs typeface="Arial"/>
                        </a:rPr>
                        <a:t>Nghiên </a:t>
                      </a:r>
                      <a:r>
                        <a:rPr sz="1800" spc="-5" dirty="0">
                          <a:latin typeface="Arial"/>
                          <a:cs typeface="Arial"/>
                        </a:rPr>
                        <a:t>Cứu</a:t>
                      </a:r>
                      <a:endParaRPr sz="1800">
                        <a:latin typeface="Arial"/>
                        <a:cs typeface="Arial"/>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3555935448"/>
              </p:ext>
            </p:extLst>
          </p:nvPr>
        </p:nvGraphicFramePr>
        <p:xfrm>
          <a:off x="6629400" y="4251960"/>
          <a:ext cx="2819400" cy="562610"/>
        </p:xfrm>
        <a:graphic>
          <a:graphicData uri="http://schemas.openxmlformats.org/drawingml/2006/table">
            <a:tbl>
              <a:tblPr firstRow="1" bandRow="1">
                <a:tableStyleId>{2D5ABB26-0587-4C30-8999-92F81FD0307C}</a:tableStyleId>
              </a:tblPr>
              <a:tblGrid>
                <a:gridCol w="2819400">
                  <a:extLst>
                    <a:ext uri="{9D8B030D-6E8A-4147-A177-3AD203B41FA5}">
                      <a16:colId xmlns:a16="http://schemas.microsoft.com/office/drawing/2014/main" val="20000"/>
                    </a:ext>
                  </a:extLst>
                </a:gridCol>
              </a:tblGrid>
              <a:tr h="307340">
                <a:tc>
                  <a:txBody>
                    <a:bodyPr/>
                    <a:lstStyle/>
                    <a:p>
                      <a:pPr marL="367030">
                        <a:lnSpc>
                          <a:spcPts val="1989"/>
                        </a:lnSpc>
                        <a:spcBef>
                          <a:spcPts val="335"/>
                        </a:spcBef>
                      </a:pPr>
                      <a:r>
                        <a:rPr sz="1800" spc="-5" dirty="0">
                          <a:latin typeface="Arial"/>
                          <a:cs typeface="Arial"/>
                        </a:rPr>
                        <a:t>Gviên </a:t>
                      </a:r>
                      <a:r>
                        <a:rPr sz="1800" dirty="0">
                          <a:latin typeface="Arial"/>
                          <a:cs typeface="Arial"/>
                        </a:rPr>
                        <a:t>– </a:t>
                      </a:r>
                      <a:r>
                        <a:rPr sz="1800" spc="-10" dirty="0">
                          <a:latin typeface="Arial"/>
                          <a:cs typeface="Arial"/>
                        </a:rPr>
                        <a:t>Nhà</a:t>
                      </a:r>
                      <a:r>
                        <a:rPr sz="1800" spc="-15" dirty="0">
                          <a:latin typeface="Arial"/>
                          <a:cs typeface="Arial"/>
                        </a:rPr>
                        <a:t> </a:t>
                      </a:r>
                      <a:r>
                        <a:rPr sz="1800" spc="-10" dirty="0">
                          <a:latin typeface="Arial"/>
                          <a:cs typeface="Arial"/>
                        </a:rPr>
                        <a:t>NgCứu</a:t>
                      </a:r>
                      <a:endParaRPr sz="1800">
                        <a:latin typeface="Arial"/>
                        <a:cs typeface="Arial"/>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2875">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7"/>
          <p:cNvSpPr/>
          <p:nvPr/>
        </p:nvSpPr>
        <p:spPr>
          <a:xfrm>
            <a:off x="8673085" y="3583051"/>
            <a:ext cx="274320" cy="323215"/>
          </a:xfrm>
          <a:custGeom>
            <a:avLst/>
            <a:gdLst/>
            <a:ahLst/>
            <a:cxnLst/>
            <a:rect l="l" t="t" r="r" b="b"/>
            <a:pathLst>
              <a:path w="274320" h="323214">
                <a:moveTo>
                  <a:pt x="273812" y="0"/>
                </a:moveTo>
                <a:lnTo>
                  <a:pt x="187325" y="323088"/>
                </a:lnTo>
                <a:lnTo>
                  <a:pt x="0" y="192024"/>
                </a:lnTo>
                <a:lnTo>
                  <a:pt x="273812" y="0"/>
                </a:lnTo>
                <a:close/>
              </a:path>
            </a:pathLst>
          </a:custGeom>
          <a:ln w="3175">
            <a:solidFill>
              <a:srgbClr val="000000"/>
            </a:solidFill>
          </a:ln>
        </p:spPr>
        <p:txBody>
          <a:bodyPr wrap="square" lIns="0" tIns="0" rIns="0" bIns="0" rtlCol="0"/>
          <a:lstStyle/>
          <a:p>
            <a:endParaRPr/>
          </a:p>
        </p:txBody>
      </p:sp>
      <p:sp>
        <p:nvSpPr>
          <p:cNvPr id="8" name="object 8"/>
          <p:cNvSpPr/>
          <p:nvPr/>
        </p:nvSpPr>
        <p:spPr>
          <a:xfrm>
            <a:off x="8427849" y="3842386"/>
            <a:ext cx="335915" cy="410845"/>
          </a:xfrm>
          <a:custGeom>
            <a:avLst/>
            <a:gdLst/>
            <a:ahLst/>
            <a:cxnLst/>
            <a:rect l="l" t="t" r="r" b="b"/>
            <a:pathLst>
              <a:path w="335914" h="410845">
                <a:moveTo>
                  <a:pt x="335534" y="0"/>
                </a:moveTo>
                <a:lnTo>
                  <a:pt x="0" y="410463"/>
                </a:lnTo>
              </a:path>
            </a:pathLst>
          </a:custGeom>
          <a:ln w="9525">
            <a:solidFill>
              <a:srgbClr val="000000"/>
            </a:solidFill>
          </a:ln>
        </p:spPr>
        <p:txBody>
          <a:bodyPr wrap="square" lIns="0" tIns="0" rIns="0" bIns="0" rtlCol="0"/>
          <a:lstStyle/>
          <a:p>
            <a:endParaRPr/>
          </a:p>
        </p:txBody>
      </p:sp>
      <p:sp>
        <p:nvSpPr>
          <p:cNvPr id="9" name="object 9"/>
          <p:cNvSpPr/>
          <p:nvPr/>
        </p:nvSpPr>
        <p:spPr>
          <a:xfrm>
            <a:off x="6613272" y="3617213"/>
            <a:ext cx="306705" cy="299720"/>
          </a:xfrm>
          <a:custGeom>
            <a:avLst/>
            <a:gdLst/>
            <a:ahLst/>
            <a:cxnLst/>
            <a:rect l="l" t="t" r="r" b="b"/>
            <a:pathLst>
              <a:path w="306704" h="299720">
                <a:moveTo>
                  <a:pt x="0" y="0"/>
                </a:moveTo>
                <a:lnTo>
                  <a:pt x="306450" y="133984"/>
                </a:lnTo>
                <a:lnTo>
                  <a:pt x="148716" y="299465"/>
                </a:lnTo>
                <a:lnTo>
                  <a:pt x="0" y="0"/>
                </a:lnTo>
                <a:close/>
              </a:path>
            </a:pathLst>
          </a:custGeom>
          <a:ln w="3175">
            <a:solidFill>
              <a:srgbClr val="000000"/>
            </a:solidFill>
          </a:ln>
        </p:spPr>
        <p:txBody>
          <a:bodyPr wrap="square" lIns="0" tIns="0" rIns="0" bIns="0" rtlCol="0"/>
          <a:lstStyle/>
          <a:p>
            <a:endParaRPr/>
          </a:p>
        </p:txBody>
      </p:sp>
      <p:sp>
        <p:nvSpPr>
          <p:cNvPr id="10" name="object 10"/>
          <p:cNvSpPr/>
          <p:nvPr/>
        </p:nvSpPr>
        <p:spPr>
          <a:xfrm>
            <a:off x="6842125" y="3837559"/>
            <a:ext cx="355600" cy="393700"/>
          </a:xfrm>
          <a:custGeom>
            <a:avLst/>
            <a:gdLst/>
            <a:ahLst/>
            <a:cxnLst/>
            <a:rect l="l" t="t" r="r" b="b"/>
            <a:pathLst>
              <a:path w="355600" h="393700">
                <a:moveTo>
                  <a:pt x="0" y="0"/>
                </a:moveTo>
                <a:lnTo>
                  <a:pt x="355346" y="393318"/>
                </a:lnTo>
              </a:path>
            </a:pathLst>
          </a:custGeom>
          <a:ln w="9525">
            <a:solidFill>
              <a:srgbClr val="000000"/>
            </a:solidFill>
          </a:ln>
        </p:spPr>
        <p:txBody>
          <a:bodyPr wrap="square" lIns="0" tIns="0" rIns="0" bIns="0" rtlCol="0"/>
          <a:lstStyle/>
          <a:p>
            <a:endParaRPr/>
          </a:p>
        </p:txBody>
      </p:sp>
      <p:sp>
        <p:nvSpPr>
          <p:cNvPr id="12"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14" name="object 2"/>
          <p:cNvSpPr txBox="1">
            <a:spLocks/>
          </p:cNvSpPr>
          <p:nvPr/>
        </p:nvSpPr>
        <p:spPr bwMode="black">
          <a:xfrm>
            <a:off x="2209800" y="118978"/>
            <a:ext cx="7696200" cy="56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ctr" anchorCtr="0" compatLnSpc="1">
            <a:prstTxWarp prst="textNoShape">
              <a:avLst/>
            </a:prstTxWarp>
            <a:spAutoFit/>
          </a:bodyPr>
          <a:lstStyle>
            <a:lvl1pPr algn="ctr" rtl="0" eaLnBrk="1" fontAlgn="base" hangingPunct="1">
              <a:spcBef>
                <a:spcPct val="0"/>
              </a:spcBef>
              <a:spcAft>
                <a:spcPct val="0"/>
              </a:spcAft>
              <a:defRPr sz="3600" b="1">
                <a:solidFill>
                  <a:schemeClr val="bg1"/>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marL="12700">
              <a:spcBef>
                <a:spcPts val="100"/>
              </a:spcBef>
            </a:pPr>
            <a:r>
              <a:rPr lang="en-US" kern="0" dirty="0" err="1">
                <a:latin typeface="Times New Roman" panose="02020603050405020304" pitchFamily="18" charset="0"/>
                <a:cs typeface="Times New Roman" panose="02020603050405020304" pitchFamily="18" charset="0"/>
              </a:rPr>
              <a:t>Xác</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định</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mối</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kết</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hợp</a:t>
            </a:r>
            <a:r>
              <a:rPr lang="en-US" kern="0" dirty="0">
                <a:latin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cs typeface="Times New Roman" panose="02020603050405020304" pitchFamily="18" charset="0"/>
              </a:rPr>
              <a:t>giữa</a:t>
            </a:r>
            <a:r>
              <a:rPr lang="en-US" kern="0" dirty="0">
                <a:latin typeface="Times New Roman" panose="02020603050405020304" pitchFamily="18" charset="0"/>
                <a:cs typeface="Times New Roman" panose="02020603050405020304" pitchFamily="18" charset="0"/>
              </a:rPr>
              <a:t> </a:t>
            </a:r>
            <a:r>
              <a:rPr lang="en-US" kern="0" err="1">
                <a:latin typeface="Times New Roman" panose="02020603050405020304" pitchFamily="18" charset="0"/>
                <a:cs typeface="Times New Roman" panose="02020603050405020304" pitchFamily="18" charset="0"/>
              </a:rPr>
              <a:t>các</a:t>
            </a:r>
            <a:r>
              <a:rPr lang="en-US" kern="0">
                <a:latin typeface="Times New Roman" panose="02020603050405020304" pitchFamily="18" charset="0"/>
                <a:cs typeface="Times New Roman" panose="02020603050405020304" pitchFamily="18" charset="0"/>
              </a:rPr>
              <a:t> lớp (tt)</a:t>
            </a:r>
            <a:endParaRPr lang="en-US"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422504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14400"/>
            <a:ext cx="12192000" cy="2282162"/>
          </a:xfrm>
          <a:prstGeom prst="rect">
            <a:avLst/>
          </a:prstGeom>
        </p:spPr>
        <p:txBody>
          <a:bodyPr vert="horz" wrap="square" lIns="0" tIns="104139" rIns="0" bIns="0" rtlCol="0">
            <a:spAutoFit/>
          </a:bodyPr>
          <a:lstStyle/>
          <a:p>
            <a:pPr marL="355600" indent="-342900">
              <a:lnSpc>
                <a:spcPct val="120000"/>
              </a:lnSpc>
              <a:spcBef>
                <a:spcPts val="819"/>
              </a:spcBef>
              <a:buSzPct val="100000"/>
              <a:buFont typeface="Wingdings" panose="05000000000000000000" pitchFamily="2" charset="2"/>
              <a:buChar char="§"/>
              <a:tabLst>
                <a:tab pos="332740" algn="l"/>
                <a:tab pos="333375" algn="l"/>
              </a:tabLst>
            </a:pPr>
            <a:r>
              <a:rPr sz="2800" b="1" dirty="0">
                <a:solidFill>
                  <a:srgbClr val="FF0000"/>
                </a:solidFill>
                <a:latin typeface="Times New Roman" panose="02020603050405020304" pitchFamily="18" charset="0"/>
                <a:cs typeface="Times New Roman" panose="02020603050405020304" pitchFamily="18" charset="0"/>
              </a:rPr>
              <a:t>Nâng cấp mối kết hợp:</a:t>
            </a:r>
          </a:p>
          <a:p>
            <a:pPr marL="720725" lvl="1" indent="-342900">
              <a:lnSpc>
                <a:spcPct val="120000"/>
              </a:lnSpc>
              <a:spcBef>
                <a:spcPts val="605"/>
              </a:spcBef>
              <a:buSzPct val="100000"/>
              <a:buFont typeface="Arial" panose="020B0604020202020204" pitchFamily="34" charset="0"/>
              <a:buChar char="•"/>
            </a:pPr>
            <a:r>
              <a:rPr sz="2800" b="1" dirty="0">
                <a:solidFill>
                  <a:srgbClr val="C00000"/>
                </a:solidFill>
                <a:latin typeface="Times New Roman" panose="02020603050405020304" pitchFamily="18" charset="0"/>
                <a:cs typeface="Times New Roman" panose="02020603050405020304" pitchFamily="18" charset="0"/>
              </a:rPr>
              <a:t>Quan hệ thành phần (Compossition):</a:t>
            </a:r>
            <a:endParaRPr sz="2800" b="1" dirty="0">
              <a:latin typeface="Times New Roman" panose="02020603050405020304" pitchFamily="18" charset="0"/>
              <a:cs typeface="Times New Roman" panose="02020603050405020304" pitchFamily="18" charset="0"/>
            </a:endParaRPr>
          </a:p>
          <a:p>
            <a:pPr marL="966787" marR="5080" lvl="1" indent="-342900">
              <a:lnSpc>
                <a:spcPct val="120000"/>
              </a:lnSpc>
              <a:spcBef>
                <a:spcPts val="600"/>
              </a:spcBef>
              <a:buSzPct val="100000"/>
              <a:buFont typeface="Wingdings" panose="05000000000000000000" pitchFamily="2" charset="2"/>
              <a:buChar char="ü"/>
              <a:tabLst>
                <a:tab pos="653415" algn="l"/>
              </a:tabLst>
            </a:pPr>
            <a:r>
              <a:rPr lang="en-US" sz="2800">
                <a:solidFill>
                  <a:srgbClr val="006FC0"/>
                </a:solidFill>
                <a:latin typeface="Times New Roman" panose="02020603050405020304" pitchFamily="18" charset="0"/>
                <a:cs typeface="Times New Roman" panose="02020603050405020304" pitchFamily="18" charset="0"/>
              </a:rPr>
              <a:t> </a:t>
            </a:r>
            <a:r>
              <a:rPr sz="2800" b="1">
                <a:solidFill>
                  <a:srgbClr val="006FC0"/>
                </a:solidFill>
                <a:latin typeface="Times New Roman" panose="02020603050405020304" pitchFamily="18" charset="0"/>
                <a:cs typeface="Times New Roman" panose="02020603050405020304" pitchFamily="18" charset="0"/>
              </a:rPr>
              <a:t>Tập </a:t>
            </a:r>
            <a:r>
              <a:rPr sz="2800" b="1" dirty="0">
                <a:solidFill>
                  <a:srgbClr val="006FC0"/>
                </a:solidFill>
                <a:latin typeface="Times New Roman" panose="02020603050405020304" pitchFamily="18" charset="0"/>
                <a:cs typeface="Times New Roman" panose="02020603050405020304" pitchFamily="18" charset="0"/>
              </a:rPr>
              <a:t>hợp: </a:t>
            </a:r>
            <a:r>
              <a:rPr sz="2800" dirty="0">
                <a:latin typeface="Times New Roman" panose="02020603050405020304" pitchFamily="18" charset="0"/>
                <a:cs typeface="Times New Roman" panose="02020603050405020304" pitchFamily="18" charset="0"/>
              </a:rPr>
              <a:t>một đối tượng vật lý được hình thành từ các </a:t>
            </a:r>
            <a:r>
              <a:rPr sz="2800">
                <a:latin typeface="Times New Roman" panose="02020603050405020304" pitchFamily="18" charset="0"/>
                <a:cs typeface="Times New Roman" panose="02020603050405020304" pitchFamily="18" charset="0"/>
              </a:rPr>
              <a:t>đối tượng</a:t>
            </a: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vật </a:t>
            </a:r>
            <a:r>
              <a:rPr sz="2800" dirty="0">
                <a:latin typeface="Times New Roman" panose="02020603050405020304" pitchFamily="18" charset="0"/>
                <a:cs typeface="Times New Roman" panose="02020603050405020304" pitchFamily="18" charset="0"/>
              </a:rPr>
              <a:t>lý thành </a:t>
            </a:r>
            <a:r>
              <a:rPr sz="2800">
                <a:latin typeface="Times New Roman" panose="02020603050405020304" pitchFamily="18" charset="0"/>
                <a:cs typeface="Times New Roman" panose="02020603050405020304" pitchFamily="18" charset="0"/>
              </a:rPr>
              <a:t>phần khác</a:t>
            </a:r>
            <a:endParaRPr sz="2800" dirty="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1294535484"/>
              </p:ext>
            </p:extLst>
          </p:nvPr>
        </p:nvGraphicFramePr>
        <p:xfrm>
          <a:off x="1956816" y="3177540"/>
          <a:ext cx="1371600" cy="563245"/>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20000"/>
                    </a:ext>
                  </a:extLst>
                </a:gridCol>
              </a:tblGrid>
              <a:tr h="309245">
                <a:tc>
                  <a:txBody>
                    <a:bodyPr/>
                    <a:lstStyle/>
                    <a:p>
                      <a:pPr marL="261938" indent="-261938" algn="ctr">
                        <a:lnSpc>
                          <a:spcPts val="2000"/>
                        </a:lnSpc>
                        <a:spcBef>
                          <a:spcPts val="335"/>
                        </a:spcBef>
                      </a:pPr>
                      <a:r>
                        <a:rPr sz="1800" spc="-65" dirty="0">
                          <a:latin typeface="Times New Roman" panose="02020603050405020304" pitchFamily="18" charset="0"/>
                          <a:cs typeface="Times New Roman" panose="02020603050405020304" pitchFamily="18" charset="0"/>
                        </a:rPr>
                        <a:t>Toà</a:t>
                      </a:r>
                      <a:r>
                        <a:rPr sz="1800" spc="-40"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Nhà</a:t>
                      </a:r>
                      <a:endParaRPr sz="18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112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2875">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2135350874"/>
              </p:ext>
            </p:extLst>
          </p:nvPr>
        </p:nvGraphicFramePr>
        <p:xfrm>
          <a:off x="6909815" y="3121152"/>
          <a:ext cx="1828800" cy="563245"/>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0000"/>
                    </a:ext>
                  </a:extLst>
                </a:gridCol>
              </a:tblGrid>
              <a:tr h="309245">
                <a:tc>
                  <a:txBody>
                    <a:bodyPr/>
                    <a:lstStyle/>
                    <a:p>
                      <a:pPr marL="491490">
                        <a:lnSpc>
                          <a:spcPts val="1995"/>
                        </a:lnSpc>
                        <a:spcBef>
                          <a:spcPts val="340"/>
                        </a:spcBef>
                      </a:pPr>
                      <a:r>
                        <a:rPr sz="1800" spc="-10" dirty="0">
                          <a:latin typeface="Times New Roman" panose="02020603050405020304" pitchFamily="18" charset="0"/>
                          <a:cs typeface="Times New Roman" panose="02020603050405020304" pitchFamily="18" charset="0"/>
                        </a:rPr>
                        <a:t>Xe </a:t>
                      </a:r>
                      <a:r>
                        <a:rPr sz="1800" dirty="0">
                          <a:latin typeface="Times New Roman" panose="02020603050405020304" pitchFamily="18" charset="0"/>
                          <a:cs typeface="Times New Roman" panose="02020603050405020304" pitchFamily="18" charset="0"/>
                        </a:rPr>
                        <a:t>Ô</a:t>
                      </a:r>
                      <a:r>
                        <a:rPr sz="1800" spc="-35"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Tô</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p:nvPr/>
        </p:nvSpPr>
        <p:spPr>
          <a:xfrm>
            <a:off x="2491739" y="3762755"/>
            <a:ext cx="152400" cy="304800"/>
          </a:xfrm>
          <a:custGeom>
            <a:avLst/>
            <a:gdLst/>
            <a:ahLst/>
            <a:cxnLst/>
            <a:rect l="l" t="t" r="r" b="b"/>
            <a:pathLst>
              <a:path w="152400" h="304800">
                <a:moveTo>
                  <a:pt x="76200" y="0"/>
                </a:moveTo>
                <a:lnTo>
                  <a:pt x="0" y="152400"/>
                </a:lnTo>
                <a:lnTo>
                  <a:pt x="76200" y="304800"/>
                </a:lnTo>
                <a:lnTo>
                  <a:pt x="152400" y="152400"/>
                </a:lnTo>
                <a:lnTo>
                  <a:pt x="76200" y="0"/>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2491739" y="37627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7444740" y="4829555"/>
            <a:ext cx="1371600" cy="563880"/>
          </a:xfrm>
          <a:custGeom>
            <a:avLst/>
            <a:gdLst/>
            <a:ahLst/>
            <a:cxnLst/>
            <a:rect l="l" t="t" r="r" b="b"/>
            <a:pathLst>
              <a:path w="1371600" h="563879">
                <a:moveTo>
                  <a:pt x="0" y="563880"/>
                </a:moveTo>
                <a:lnTo>
                  <a:pt x="1371600" y="563880"/>
                </a:lnTo>
                <a:lnTo>
                  <a:pt x="1371600" y="0"/>
                </a:lnTo>
                <a:lnTo>
                  <a:pt x="0" y="0"/>
                </a:lnTo>
                <a:lnTo>
                  <a:pt x="0" y="56388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txBox="1"/>
          <p:nvPr/>
        </p:nvSpPr>
        <p:spPr>
          <a:xfrm>
            <a:off x="7444740" y="4829555"/>
            <a:ext cx="1371600" cy="309880"/>
          </a:xfrm>
          <a:prstGeom prst="rect">
            <a:avLst/>
          </a:prstGeom>
          <a:ln w="3175">
            <a:solidFill>
              <a:srgbClr val="000000"/>
            </a:solidFill>
          </a:ln>
        </p:spPr>
        <p:txBody>
          <a:bodyPr vert="horz" wrap="square" lIns="0" tIns="43180" rIns="0" bIns="0" rtlCol="0">
            <a:spAutoFit/>
          </a:bodyPr>
          <a:lstStyle/>
          <a:p>
            <a:pPr marL="249554">
              <a:lnSpc>
                <a:spcPts val="2095"/>
              </a:lnSpc>
              <a:spcBef>
                <a:spcPts val="340"/>
              </a:spcBef>
            </a:pPr>
            <a:r>
              <a:rPr spc="-5" dirty="0">
                <a:latin typeface="Times New Roman" panose="02020603050405020304" pitchFamily="18" charset="0"/>
                <a:cs typeface="Times New Roman" panose="02020603050405020304" pitchFamily="18" charset="0"/>
              </a:rPr>
              <a:t>Bánh</a:t>
            </a:r>
            <a:r>
              <a:rPr spc="-1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Xe</a:t>
            </a:r>
            <a:endParaRPr>
              <a:latin typeface="Times New Roman" panose="02020603050405020304" pitchFamily="18" charset="0"/>
              <a:cs typeface="Times New Roman" panose="02020603050405020304" pitchFamily="18" charset="0"/>
            </a:endParaRPr>
          </a:p>
        </p:txBody>
      </p:sp>
      <p:sp>
        <p:nvSpPr>
          <p:cNvPr id="10" name="object 10"/>
          <p:cNvSpPr/>
          <p:nvPr/>
        </p:nvSpPr>
        <p:spPr>
          <a:xfrm>
            <a:off x="7444740" y="5138929"/>
            <a:ext cx="1371600" cy="254635"/>
          </a:xfrm>
          <a:custGeom>
            <a:avLst/>
            <a:gdLst/>
            <a:ahLst/>
            <a:cxnLst/>
            <a:rect l="l" t="t" r="r" b="b"/>
            <a:pathLst>
              <a:path w="1371600" h="254635">
                <a:moveTo>
                  <a:pt x="0" y="254508"/>
                </a:moveTo>
                <a:lnTo>
                  <a:pt x="1371600" y="254508"/>
                </a:lnTo>
                <a:lnTo>
                  <a:pt x="1371600" y="0"/>
                </a:lnTo>
                <a:lnTo>
                  <a:pt x="0" y="0"/>
                </a:lnTo>
                <a:lnTo>
                  <a:pt x="0" y="2545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7444740" y="5251703"/>
            <a:ext cx="1371600" cy="142240"/>
          </a:xfrm>
          <a:custGeom>
            <a:avLst/>
            <a:gdLst/>
            <a:ahLst/>
            <a:cxnLst/>
            <a:rect l="l" t="t" r="r" b="b"/>
            <a:pathLst>
              <a:path w="1371600" h="142239">
                <a:moveTo>
                  <a:pt x="0" y="141732"/>
                </a:moveTo>
                <a:lnTo>
                  <a:pt x="1371600" y="141732"/>
                </a:lnTo>
                <a:lnTo>
                  <a:pt x="1371600" y="0"/>
                </a:lnTo>
                <a:lnTo>
                  <a:pt x="0" y="0"/>
                </a:lnTo>
                <a:lnTo>
                  <a:pt x="0" y="14173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7368540" y="3686555"/>
            <a:ext cx="152400" cy="304800"/>
          </a:xfrm>
          <a:custGeom>
            <a:avLst/>
            <a:gdLst/>
            <a:ahLst/>
            <a:cxnLst/>
            <a:rect l="l" t="t" r="r" b="b"/>
            <a:pathLst>
              <a:path w="152400" h="304800">
                <a:moveTo>
                  <a:pt x="76200" y="0"/>
                </a:moveTo>
                <a:lnTo>
                  <a:pt x="0" y="152400"/>
                </a:lnTo>
                <a:lnTo>
                  <a:pt x="76200" y="304800"/>
                </a:lnTo>
                <a:lnTo>
                  <a:pt x="152400" y="152400"/>
                </a:lnTo>
                <a:lnTo>
                  <a:pt x="76200" y="0"/>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7368540" y="36865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7749540" y="3686555"/>
            <a:ext cx="152400" cy="304800"/>
          </a:xfrm>
          <a:custGeom>
            <a:avLst/>
            <a:gdLst/>
            <a:ahLst/>
            <a:cxnLst/>
            <a:rect l="l" t="t" r="r" b="b"/>
            <a:pathLst>
              <a:path w="152400" h="304800">
                <a:moveTo>
                  <a:pt x="76200" y="0"/>
                </a:moveTo>
                <a:lnTo>
                  <a:pt x="0" y="152400"/>
                </a:lnTo>
                <a:lnTo>
                  <a:pt x="76200" y="304800"/>
                </a:lnTo>
                <a:lnTo>
                  <a:pt x="152400" y="152400"/>
                </a:lnTo>
                <a:lnTo>
                  <a:pt x="76200" y="0"/>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7749540" y="36865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8054340" y="3686555"/>
            <a:ext cx="152400" cy="304800"/>
          </a:xfrm>
          <a:custGeom>
            <a:avLst/>
            <a:gdLst/>
            <a:ahLst/>
            <a:cxnLst/>
            <a:rect l="l" t="t" r="r" b="b"/>
            <a:pathLst>
              <a:path w="152400" h="304800">
                <a:moveTo>
                  <a:pt x="76200" y="0"/>
                </a:moveTo>
                <a:lnTo>
                  <a:pt x="0" y="152400"/>
                </a:lnTo>
                <a:lnTo>
                  <a:pt x="76200" y="304800"/>
                </a:lnTo>
                <a:lnTo>
                  <a:pt x="152400" y="152400"/>
                </a:lnTo>
                <a:lnTo>
                  <a:pt x="76200" y="0"/>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p:nvPr/>
        </p:nvSpPr>
        <p:spPr>
          <a:xfrm>
            <a:off x="8054340" y="36865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7825740" y="3991355"/>
            <a:ext cx="0" cy="838200"/>
          </a:xfrm>
          <a:custGeom>
            <a:avLst/>
            <a:gdLst/>
            <a:ahLst/>
            <a:cxnLst/>
            <a:rect l="l" t="t" r="r" b="b"/>
            <a:pathLst>
              <a:path h="838200">
                <a:moveTo>
                  <a:pt x="0" y="0"/>
                </a:moveTo>
                <a:lnTo>
                  <a:pt x="0" y="838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txBox="1"/>
          <p:nvPr/>
        </p:nvSpPr>
        <p:spPr>
          <a:xfrm>
            <a:off x="2707945" y="3833876"/>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20" name="object 20"/>
          <p:cNvGraphicFramePr>
            <a:graphicFrameLocks noGrp="1"/>
          </p:cNvGraphicFramePr>
          <p:nvPr>
            <p:extLst>
              <p:ext uri="{D42A27DB-BD31-4B8C-83A1-F6EECF244321}">
                <p14:modId xmlns:p14="http://schemas.microsoft.com/office/powerpoint/2010/main" val="4189947068"/>
              </p:ext>
            </p:extLst>
          </p:nvPr>
        </p:nvGraphicFramePr>
        <p:xfrm>
          <a:off x="1956816" y="4067556"/>
          <a:ext cx="1371600" cy="1401445"/>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tblGrid>
              <a:tr h="838200">
                <a:tc>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a:txBody>
                    <a:bodyPr/>
                    <a:lstStyle/>
                    <a:p>
                      <a:pPr>
                        <a:lnSpc>
                          <a:spcPct val="100000"/>
                        </a:lnSpc>
                      </a:pPr>
                      <a:endParaRPr sz="1900">
                        <a:latin typeface="Times New Roman"/>
                        <a:cs typeface="Times New Roman"/>
                      </a:endParaRPr>
                    </a:p>
                    <a:p>
                      <a:pPr marL="93345">
                        <a:lnSpc>
                          <a:spcPct val="100000"/>
                        </a:lnSpc>
                        <a:spcBef>
                          <a:spcPts val="1690"/>
                        </a:spcBef>
                      </a:pPr>
                      <a:r>
                        <a:rPr sz="1800" i="1" spc="-35" smtClean="0">
                          <a:latin typeface="Arial"/>
                          <a:cs typeface="Arial"/>
                        </a:rPr>
                        <a:t>..*</a:t>
                      </a:r>
                      <a:endParaRPr sz="1800">
                        <a:latin typeface="Arial"/>
                        <a:cs typeface="Arial"/>
                      </a:endParaRPr>
                    </a:p>
                  </a:txBody>
                  <a:tcPr marL="0" marR="0" marT="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0"/>
                  </a:ext>
                </a:extLst>
              </a:tr>
              <a:tr h="309245">
                <a:tc gridSpan="2">
                  <a:txBody>
                    <a:bodyPr/>
                    <a:lstStyle/>
                    <a:p>
                      <a:pPr marL="358140">
                        <a:lnSpc>
                          <a:spcPts val="1995"/>
                        </a:lnSpc>
                        <a:spcBef>
                          <a:spcPts val="340"/>
                        </a:spcBef>
                      </a:pPr>
                      <a:r>
                        <a:rPr sz="1800" spc="-5" dirty="0">
                          <a:latin typeface="Times New Roman" panose="02020603050405020304" pitchFamily="18" charset="0"/>
                          <a:cs typeface="Times New Roman" panose="02020603050405020304" pitchFamily="18" charset="0"/>
                        </a:rPr>
                        <a:t>Phòng</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11239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41605">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21" name="object 21"/>
          <p:cNvSpPr txBox="1"/>
          <p:nvPr/>
        </p:nvSpPr>
        <p:spPr>
          <a:xfrm>
            <a:off x="7144004" y="3784854"/>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22" name="object 22"/>
          <p:cNvSpPr txBox="1"/>
          <p:nvPr/>
        </p:nvSpPr>
        <p:spPr>
          <a:xfrm>
            <a:off x="7601204" y="3861054"/>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23" name="object 23"/>
          <p:cNvSpPr txBox="1"/>
          <p:nvPr/>
        </p:nvSpPr>
        <p:spPr>
          <a:xfrm>
            <a:off x="8287258" y="3784854"/>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24" name="object 24"/>
          <p:cNvGraphicFramePr>
            <a:graphicFrameLocks noGrp="1"/>
          </p:cNvGraphicFramePr>
          <p:nvPr>
            <p:extLst>
              <p:ext uri="{D42A27DB-BD31-4B8C-83A1-F6EECF244321}">
                <p14:modId xmlns:p14="http://schemas.microsoft.com/office/powerpoint/2010/main" val="2551961641"/>
              </p:ext>
            </p:extLst>
          </p:nvPr>
        </p:nvGraphicFramePr>
        <p:xfrm>
          <a:off x="8125968" y="3991356"/>
          <a:ext cx="2438400" cy="1401445"/>
        </p:xfrm>
        <a:graphic>
          <a:graphicData uri="http://schemas.openxmlformats.org/drawingml/2006/table">
            <a:tbl>
              <a:tblPr firstRow="1" bandRow="1">
                <a:tableStyleId>{2D5ABB26-0587-4C30-8999-92F81FD0307C}</a:tableStyleId>
              </a:tblPr>
              <a:tblGrid>
                <a:gridCol w="10668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381000">
                <a:tc gridSpan="3">
                  <a:txBody>
                    <a:bodyPr/>
                    <a:lstStyle/>
                    <a:p>
                      <a:pPr>
                        <a:lnSpc>
                          <a:spcPct val="100000"/>
                        </a:lnSpc>
                      </a:pPr>
                      <a:endParaRPr sz="2000" dirty="0">
                        <a:latin typeface="Times New Roman"/>
                        <a:cs typeface="Times New Roman"/>
                      </a:endParaRPr>
                    </a:p>
                  </a:txBody>
                  <a:tcPr marL="0" marR="0" marT="0" marB="0">
                    <a:lnL w="9525">
                      <a:solidFill>
                        <a:srgbClr val="000000"/>
                      </a:solidFill>
                      <a:prstDash val="soli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57200">
                <a:tc gridSpan="2">
                  <a:txBody>
                    <a:bodyPr/>
                    <a:lstStyle/>
                    <a:p>
                      <a:pPr>
                        <a:lnSpc>
                          <a:spcPct val="100000"/>
                        </a:lnSpc>
                        <a:spcBef>
                          <a:spcPts val="875"/>
                        </a:spcBef>
                      </a:pPr>
                      <a:r>
                        <a:rPr sz="1800" i="1" spc="-75" dirty="0">
                          <a:latin typeface="Arial"/>
                          <a:cs typeface="Arial"/>
                        </a:rPr>
                        <a:t>..8</a:t>
                      </a:r>
                      <a:endParaRPr sz="1800">
                        <a:latin typeface="Arial"/>
                        <a:cs typeface="Arial"/>
                      </a:endParaRPr>
                    </a:p>
                  </a:txBody>
                  <a:tcPr marL="0" marR="0" marT="111125" marB="0">
                    <a:lnR w="9525">
                      <a:solidFill>
                        <a:srgbClr val="000000"/>
                      </a:solidFill>
                      <a:prstDash val="solid"/>
                    </a:lnR>
                  </a:tcPr>
                </a:tc>
                <a:tc hMerge="1">
                  <a:txBody>
                    <a:bodyPr/>
                    <a:lstStyle/>
                    <a:p>
                      <a:endParaRPr/>
                    </a:p>
                  </a:txBody>
                  <a:tcPr marL="0" marR="0" marT="0" marB="0"/>
                </a:tc>
                <a:tc>
                  <a:txBody>
                    <a:bodyPr/>
                    <a:lstStyle/>
                    <a:p>
                      <a:pPr marL="97790">
                        <a:lnSpc>
                          <a:spcPct val="100000"/>
                        </a:lnSpc>
                        <a:spcBef>
                          <a:spcPts val="275"/>
                        </a:spcBef>
                      </a:pPr>
                      <a:r>
                        <a:rPr sz="1800" i="1" dirty="0">
                          <a:latin typeface="Arial"/>
                          <a:cs typeface="Arial"/>
                        </a:rPr>
                        <a:t>1</a:t>
                      </a:r>
                      <a:endParaRPr sz="1800">
                        <a:latin typeface="Arial"/>
                        <a:cs typeface="Arial"/>
                      </a:endParaRPr>
                    </a:p>
                  </a:txBody>
                  <a:tcPr marL="0" marR="0" marT="34925"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1"/>
                  </a:ext>
                </a:extLst>
              </a:tr>
              <a:tr h="309245">
                <a:tc rowSpan="3">
                  <a:txBody>
                    <a:bodyPr/>
                    <a:lstStyle/>
                    <a:p>
                      <a:pPr>
                        <a:lnSpc>
                          <a:spcPct val="100000"/>
                        </a:lnSpc>
                      </a:pPr>
                      <a:endParaRPr sz="2000">
                        <a:latin typeface="Times New Roman"/>
                        <a:cs typeface="Times New Roman"/>
                      </a:endParaRPr>
                    </a:p>
                  </a:txBody>
                  <a:tcPr marL="0" marR="0" marT="0" marB="0">
                    <a:lnR w="3175">
                      <a:solidFill>
                        <a:srgbClr val="000000"/>
                      </a:solidFill>
                      <a:prstDash val="solid"/>
                    </a:lnR>
                  </a:tcPr>
                </a:tc>
                <a:tc gridSpan="2">
                  <a:txBody>
                    <a:bodyPr/>
                    <a:lstStyle/>
                    <a:p>
                      <a:pPr marL="229870">
                        <a:lnSpc>
                          <a:spcPts val="1995"/>
                        </a:lnSpc>
                        <a:spcBef>
                          <a:spcPts val="340"/>
                        </a:spcBef>
                      </a:pPr>
                      <a:r>
                        <a:rPr sz="1800" spc="-10" dirty="0">
                          <a:latin typeface="Times New Roman" panose="02020603050405020304" pitchFamily="18" charset="0"/>
                          <a:cs typeface="Times New Roman" panose="02020603050405020304" pitchFamily="18" charset="0"/>
                        </a:rPr>
                        <a:t>Động</a:t>
                      </a:r>
                      <a:r>
                        <a:rPr sz="1800" spc="-15"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Cơ</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12395">
                <a:tc vMerge="1">
                  <a:txBody>
                    <a:bodyPr/>
                    <a:lstStyle/>
                    <a:p>
                      <a:endParaRPr/>
                    </a:p>
                  </a:txBody>
                  <a:tcPr marL="0" marR="0" marT="0" marB="0">
                    <a:lnR w="3175">
                      <a:solidFill>
                        <a:srgbClr val="000000"/>
                      </a:solidFill>
                      <a:prstDash val="solid"/>
                    </a:lnR>
                  </a:tcPr>
                </a:tc>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r h="141605">
                <a:tc vMerge="1">
                  <a:txBody>
                    <a:bodyPr/>
                    <a:lstStyle/>
                    <a:p>
                      <a:endParaRPr/>
                    </a:p>
                  </a:txBody>
                  <a:tcPr marL="0" marR="0" marT="0" marB="0">
                    <a:lnR w="3175">
                      <a:solidFill>
                        <a:srgbClr val="000000"/>
                      </a:solidFill>
                      <a:prstDash val="solid"/>
                    </a:lnR>
                  </a:tcPr>
                </a:tc>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
        <p:nvSpPr>
          <p:cNvPr id="25" name="object 25"/>
          <p:cNvSpPr txBox="1"/>
          <p:nvPr/>
        </p:nvSpPr>
        <p:spPr>
          <a:xfrm>
            <a:off x="7982458" y="4470654"/>
            <a:ext cx="152400"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4</a:t>
            </a:r>
            <a:endParaRPr>
              <a:latin typeface="Times New Roman" panose="02020603050405020304" pitchFamily="18" charset="0"/>
              <a:cs typeface="Times New Roman" panose="02020603050405020304" pitchFamily="18" charset="0"/>
            </a:endParaRPr>
          </a:p>
        </p:txBody>
      </p:sp>
      <p:graphicFrame>
        <p:nvGraphicFramePr>
          <p:cNvPr id="26" name="object 26"/>
          <p:cNvGraphicFramePr>
            <a:graphicFrameLocks noGrp="1"/>
          </p:cNvGraphicFramePr>
          <p:nvPr>
            <p:extLst>
              <p:ext uri="{D42A27DB-BD31-4B8C-83A1-F6EECF244321}">
                <p14:modId xmlns:p14="http://schemas.microsoft.com/office/powerpoint/2010/main" val="2586003842"/>
              </p:ext>
            </p:extLst>
          </p:nvPr>
        </p:nvGraphicFramePr>
        <p:xfrm>
          <a:off x="5687567" y="3991356"/>
          <a:ext cx="1752600" cy="1401445"/>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tblGrid>
              <a:tr h="381000">
                <a:tc gridSpan="3">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57200">
                <a:tc>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gridSpan="2">
                  <a:txBody>
                    <a:bodyPr/>
                    <a:lstStyle/>
                    <a:p>
                      <a:pPr marL="97155">
                        <a:lnSpc>
                          <a:spcPct val="100000"/>
                        </a:lnSpc>
                        <a:spcBef>
                          <a:spcPts val="875"/>
                        </a:spcBef>
                      </a:pPr>
                      <a:r>
                        <a:rPr sz="1800" i="1" dirty="0">
                          <a:latin typeface="Arial"/>
                          <a:cs typeface="Arial"/>
                        </a:rPr>
                        <a:t>1</a:t>
                      </a:r>
                      <a:endParaRPr sz="1800">
                        <a:latin typeface="Arial"/>
                        <a:cs typeface="Arial"/>
                      </a:endParaRPr>
                    </a:p>
                  </a:txBody>
                  <a:tcPr marL="0" marR="0" marT="111125" marB="0">
                    <a:lnL w="9525">
                      <a:solidFill>
                        <a:srgbClr val="000000"/>
                      </a:solidFill>
                      <a:prstDash val="solid"/>
                    </a:lnL>
                    <a:lnT w="9525">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1"/>
                  </a:ext>
                </a:extLst>
              </a:tr>
              <a:tr h="309245">
                <a:tc gridSpan="2">
                  <a:txBody>
                    <a:bodyPr/>
                    <a:lstStyle/>
                    <a:p>
                      <a:pPr marL="195580">
                        <a:lnSpc>
                          <a:spcPts val="1995"/>
                        </a:lnSpc>
                        <a:spcBef>
                          <a:spcPts val="340"/>
                        </a:spcBef>
                      </a:pPr>
                      <a:r>
                        <a:rPr sz="1800" spc="-5" dirty="0">
                          <a:latin typeface="Times New Roman" panose="02020603050405020304" pitchFamily="18" charset="0"/>
                          <a:cs typeface="Times New Roman" panose="02020603050405020304" pitchFamily="18" charset="0"/>
                        </a:rPr>
                        <a:t>Thùng</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Xe</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rowSpan="3">
                  <a:txBody>
                    <a:bodyPr/>
                    <a:lstStyle/>
                    <a:p>
                      <a:pPr>
                        <a:lnSpc>
                          <a:spcPct val="100000"/>
                        </a:lnSpc>
                      </a:pPr>
                      <a:endParaRPr sz="2000">
                        <a:latin typeface="Times New Roman"/>
                        <a:cs typeface="Times New Roman"/>
                      </a:endParaRPr>
                    </a:p>
                  </a:txBody>
                  <a:tcPr marL="0" marR="0" marT="0" marB="0">
                    <a:lnL w="3175">
                      <a:solidFill>
                        <a:srgbClr val="000000"/>
                      </a:solidFill>
                      <a:prstDash val="solid"/>
                    </a:lnL>
                  </a:tcPr>
                </a:tc>
                <a:extLst>
                  <a:ext uri="{0D108BD9-81ED-4DB2-BD59-A6C34878D82A}">
                    <a16:rowId xmlns:a16="http://schemas.microsoft.com/office/drawing/2014/main" val="10002"/>
                  </a:ext>
                </a:extLst>
              </a:tr>
              <a:tr h="11239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vMerge="1">
                  <a:txBody>
                    <a:bodyPr/>
                    <a:lstStyle/>
                    <a:p>
                      <a:endParaRPr/>
                    </a:p>
                  </a:txBody>
                  <a:tcPr marL="0" marR="0" marT="0" marB="0">
                    <a:lnL w="3175">
                      <a:solidFill>
                        <a:srgbClr val="000000"/>
                      </a:solidFill>
                      <a:prstDash val="solid"/>
                    </a:lnL>
                  </a:tcPr>
                </a:tc>
                <a:extLst>
                  <a:ext uri="{0D108BD9-81ED-4DB2-BD59-A6C34878D82A}">
                    <a16:rowId xmlns:a16="http://schemas.microsoft.com/office/drawing/2014/main" val="10003"/>
                  </a:ext>
                </a:extLst>
              </a:tr>
              <a:tr h="141605">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vMerge="1">
                  <a:txBody>
                    <a:bodyPr/>
                    <a:lstStyle/>
                    <a:p>
                      <a:endParaRPr/>
                    </a:p>
                  </a:txBody>
                  <a:tcPr marL="0" marR="0" marT="0" marB="0">
                    <a:lnL w="3175">
                      <a:solidFill>
                        <a:srgbClr val="000000"/>
                      </a:solidFill>
                      <a:prstDash val="solid"/>
                    </a:lnL>
                  </a:tcPr>
                </a:tc>
                <a:extLst>
                  <a:ext uri="{0D108BD9-81ED-4DB2-BD59-A6C34878D82A}">
                    <a16:rowId xmlns:a16="http://schemas.microsoft.com/office/drawing/2014/main" val="10004"/>
                  </a:ext>
                </a:extLst>
              </a:tr>
            </a:tbl>
          </a:graphicData>
        </a:graphic>
      </p:graphicFrame>
      <p:graphicFrame>
        <p:nvGraphicFramePr>
          <p:cNvPr id="27" name="object 27"/>
          <p:cNvGraphicFramePr>
            <a:graphicFrameLocks noGrp="1"/>
          </p:cNvGraphicFramePr>
          <p:nvPr>
            <p:extLst>
              <p:ext uri="{D42A27DB-BD31-4B8C-83A1-F6EECF244321}">
                <p14:modId xmlns:p14="http://schemas.microsoft.com/office/powerpoint/2010/main" val="2116068809"/>
              </p:ext>
            </p:extLst>
          </p:nvPr>
        </p:nvGraphicFramePr>
        <p:xfrm>
          <a:off x="3735323" y="3189733"/>
          <a:ext cx="1447800" cy="563245"/>
        </p:xfrm>
        <a:graphic>
          <a:graphicData uri="http://schemas.openxmlformats.org/drawingml/2006/table">
            <a:tbl>
              <a:tblPr firstRow="1" bandRow="1">
                <a:tableStyleId>{2D5ABB26-0587-4C30-8999-92F81FD0307C}</a:tableStyleId>
              </a:tblPr>
              <a:tblGrid>
                <a:gridCol w="1447800">
                  <a:extLst>
                    <a:ext uri="{9D8B030D-6E8A-4147-A177-3AD203B41FA5}">
                      <a16:colId xmlns:a16="http://schemas.microsoft.com/office/drawing/2014/main" val="20000"/>
                    </a:ext>
                  </a:extLst>
                </a:gridCol>
              </a:tblGrid>
              <a:tr h="309245">
                <a:tc>
                  <a:txBody>
                    <a:bodyPr/>
                    <a:lstStyle/>
                    <a:p>
                      <a:pPr marL="200660">
                        <a:lnSpc>
                          <a:spcPts val="2000"/>
                        </a:lnSpc>
                        <a:spcBef>
                          <a:spcPts val="335"/>
                        </a:spcBef>
                      </a:pPr>
                      <a:r>
                        <a:rPr sz="1800" spc="-5" dirty="0">
                          <a:latin typeface="Times New Roman" panose="02020603050405020304" pitchFamily="18" charset="0"/>
                          <a:cs typeface="Times New Roman" panose="02020603050405020304" pitchFamily="18" charset="0"/>
                        </a:rPr>
                        <a:t>Đơn</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Hàng</a:t>
                      </a:r>
                      <a:endParaRPr sz="18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28" name="object 28"/>
          <p:cNvSpPr/>
          <p:nvPr/>
        </p:nvSpPr>
        <p:spPr>
          <a:xfrm>
            <a:off x="4320539" y="3762755"/>
            <a:ext cx="152400" cy="304800"/>
          </a:xfrm>
          <a:custGeom>
            <a:avLst/>
            <a:gdLst/>
            <a:ahLst/>
            <a:cxnLst/>
            <a:rect l="l" t="t" r="r" b="b"/>
            <a:pathLst>
              <a:path w="152400" h="304800">
                <a:moveTo>
                  <a:pt x="76200" y="0"/>
                </a:moveTo>
                <a:lnTo>
                  <a:pt x="0" y="152400"/>
                </a:lnTo>
                <a:lnTo>
                  <a:pt x="76200" y="304800"/>
                </a:lnTo>
                <a:lnTo>
                  <a:pt x="152400" y="152400"/>
                </a:lnTo>
                <a:lnTo>
                  <a:pt x="76200" y="0"/>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9" name="object 29"/>
          <p:cNvSpPr/>
          <p:nvPr/>
        </p:nvSpPr>
        <p:spPr>
          <a:xfrm>
            <a:off x="4320539" y="37627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0" name="object 30"/>
          <p:cNvSpPr txBox="1"/>
          <p:nvPr/>
        </p:nvSpPr>
        <p:spPr>
          <a:xfrm>
            <a:off x="4537076" y="3833876"/>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31" name="object 31"/>
          <p:cNvGraphicFramePr>
            <a:graphicFrameLocks noGrp="1"/>
          </p:cNvGraphicFramePr>
          <p:nvPr>
            <p:extLst>
              <p:ext uri="{D42A27DB-BD31-4B8C-83A1-F6EECF244321}">
                <p14:modId xmlns:p14="http://schemas.microsoft.com/office/powerpoint/2010/main" val="263309955"/>
              </p:ext>
            </p:extLst>
          </p:nvPr>
        </p:nvGraphicFramePr>
        <p:xfrm>
          <a:off x="3785616" y="4067556"/>
          <a:ext cx="1371600" cy="1401445"/>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tblGrid>
              <a:tr h="838200">
                <a:tc>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a:txBody>
                    <a:bodyPr/>
                    <a:lstStyle/>
                    <a:p>
                      <a:pPr>
                        <a:lnSpc>
                          <a:spcPct val="100000"/>
                        </a:lnSpc>
                      </a:pPr>
                      <a:endParaRPr sz="1900">
                        <a:latin typeface="Times New Roman"/>
                        <a:cs typeface="Times New Roman"/>
                      </a:endParaRPr>
                    </a:p>
                    <a:p>
                      <a:pPr marL="93980">
                        <a:lnSpc>
                          <a:spcPct val="100000"/>
                        </a:lnSpc>
                        <a:spcBef>
                          <a:spcPts val="1690"/>
                        </a:spcBef>
                      </a:pPr>
                      <a:r>
                        <a:rPr sz="1800" i="1" spc="-35" dirty="0">
                          <a:latin typeface="Arial"/>
                          <a:cs typeface="Arial"/>
                        </a:rPr>
                        <a:t>1..*</a:t>
                      </a:r>
                      <a:endParaRPr sz="1800">
                        <a:latin typeface="Arial"/>
                        <a:cs typeface="Arial"/>
                      </a:endParaRPr>
                    </a:p>
                  </a:txBody>
                  <a:tcPr marL="0" marR="0" marT="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0"/>
                  </a:ext>
                </a:extLst>
              </a:tr>
              <a:tr h="309245">
                <a:tc gridSpan="2">
                  <a:txBody>
                    <a:bodyPr/>
                    <a:lstStyle/>
                    <a:p>
                      <a:pPr marL="218440">
                        <a:lnSpc>
                          <a:spcPts val="1995"/>
                        </a:lnSpc>
                        <a:spcBef>
                          <a:spcPts val="340"/>
                        </a:spcBef>
                      </a:pPr>
                      <a:r>
                        <a:rPr sz="1800" spc="-10" dirty="0">
                          <a:latin typeface="Times New Roman" panose="02020603050405020304" pitchFamily="18" charset="0"/>
                          <a:cs typeface="Times New Roman" panose="02020603050405020304" pitchFamily="18" charset="0"/>
                        </a:rPr>
                        <a:t>Dòng</a:t>
                      </a:r>
                      <a:r>
                        <a:rPr sz="1800" spc="-15" dirty="0">
                          <a:latin typeface="Times New Roman" panose="02020603050405020304" pitchFamily="18" charset="0"/>
                          <a:cs typeface="Times New Roman" panose="02020603050405020304" pitchFamily="18" charset="0"/>
                        </a:rPr>
                        <a:t> </a:t>
                      </a:r>
                      <a:r>
                        <a:rPr sz="1800" spc="-5" dirty="0">
                          <a:latin typeface="Times New Roman" panose="02020603050405020304" pitchFamily="18" charset="0"/>
                          <a:cs typeface="Times New Roman" panose="02020603050405020304" pitchFamily="18" charset="0"/>
                        </a:rPr>
                        <a:t>HĐ</a:t>
                      </a:r>
                      <a:endParaRPr sz="1800">
                        <a:latin typeface="Times New Roman" panose="02020603050405020304" pitchFamily="18" charset="0"/>
                        <a:cs typeface="Times New Roman" panose="02020603050405020304" pitchFamily="18" charset="0"/>
                      </a:endParaRPr>
                    </a:p>
                  </a:txBody>
                  <a:tcPr marL="0" marR="0" marT="431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11239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41605">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cxnSp>
        <p:nvCxnSpPr>
          <p:cNvPr id="37" name="Straight Connector 36"/>
          <p:cNvCxnSpPr/>
          <p:nvPr/>
        </p:nvCxnSpPr>
        <p:spPr>
          <a:xfrm>
            <a:off x="8112320" y="4357048"/>
            <a:ext cx="1627632" cy="0"/>
          </a:xfrm>
          <a:prstGeom prst="line">
            <a:avLst/>
          </a:prstGeom>
          <a:ln>
            <a:solidFill>
              <a:srgbClr val="333300"/>
            </a:solidFill>
          </a:ln>
        </p:spPr>
        <p:style>
          <a:lnRef idx="1">
            <a:schemeClr val="accent1"/>
          </a:lnRef>
          <a:fillRef idx="0">
            <a:schemeClr val="accent1"/>
          </a:fillRef>
          <a:effectRef idx="0">
            <a:schemeClr val="accent1"/>
          </a:effectRef>
          <a:fontRef idx="minor">
            <a:schemeClr val="tx1"/>
          </a:fontRef>
        </p:style>
      </p:cxnSp>
      <p:sp>
        <p:nvSpPr>
          <p:cNvPr id="35" name="object 2"/>
          <p:cNvSpPr txBox="1">
            <a:spLocks noGrp="1"/>
          </p:cNvSpPr>
          <p:nvPr>
            <p:ph type="title"/>
          </p:nvPr>
        </p:nvSpPr>
        <p:spPr>
          <a:xfrm>
            <a:off x="2438400" y="122238"/>
            <a:ext cx="7391400" cy="56356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mối </a:t>
            </a:r>
            <a:r>
              <a:rPr>
                <a:latin typeface="Times New Roman" panose="02020603050405020304" pitchFamily="18" charset="0"/>
                <a:cs typeface="Times New Roman" panose="02020603050405020304" pitchFamily="18" charset="0"/>
              </a:rPr>
              <a:t>quan hệ</a:t>
            </a:r>
            <a:endParaRPr dirty="0">
              <a:latin typeface="Times New Roman" panose="02020603050405020304" pitchFamily="18" charset="0"/>
              <a:cs typeface="Times New Roman" panose="02020603050405020304" pitchFamily="18" charset="0"/>
            </a:endParaRPr>
          </a:p>
        </p:txBody>
      </p:sp>
      <p:sp>
        <p:nvSpPr>
          <p:cNvPr id="34"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41664110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1007695"/>
            <a:ext cx="12191999" cy="2261004"/>
          </a:xfrm>
          <a:prstGeom prst="rect">
            <a:avLst/>
          </a:prstGeom>
        </p:spPr>
        <p:txBody>
          <a:bodyPr vert="horz" wrap="square" lIns="0" tIns="95885" rIns="0" bIns="0" rtlCol="0">
            <a:spAutoFit/>
          </a:bodyPr>
          <a:lstStyle/>
          <a:p>
            <a:pPr marL="469900" indent="-457200" algn="just">
              <a:lnSpc>
                <a:spcPct val="120000"/>
              </a:lnSpc>
              <a:spcBef>
                <a:spcPts val="755"/>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Nâng </a:t>
            </a:r>
            <a:r>
              <a:rPr sz="2800" b="1" dirty="0">
                <a:solidFill>
                  <a:srgbClr val="FF0000"/>
                </a:solidFill>
                <a:latin typeface="Times New Roman" panose="02020603050405020304" pitchFamily="18" charset="0"/>
                <a:cs typeface="Times New Roman" panose="02020603050405020304" pitchFamily="18" charset="0"/>
              </a:rPr>
              <a:t>cấp mối kết</a:t>
            </a:r>
            <a:r>
              <a:rPr sz="2800" b="1" spc="1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hợp:</a:t>
            </a:r>
            <a:endParaRPr sz="2800" b="1">
              <a:solidFill>
                <a:srgbClr val="FF0000"/>
              </a:solidFill>
              <a:latin typeface="Times New Roman" panose="02020603050405020304" pitchFamily="18" charset="0"/>
              <a:cs typeface="Times New Roman" panose="02020603050405020304" pitchFamily="18" charset="0"/>
            </a:endParaRPr>
          </a:p>
          <a:p>
            <a:pPr marL="720725" lvl="1" indent="-342900" algn="just">
              <a:lnSpc>
                <a:spcPct val="120000"/>
              </a:lnSpc>
              <a:spcBef>
                <a:spcPts val="595"/>
              </a:spcBef>
              <a:buSzPct val="100000"/>
              <a:buFont typeface="Arial" panose="020B0604020202020204" pitchFamily="34" charset="0"/>
              <a:buChar char="•"/>
            </a:pPr>
            <a:r>
              <a:rPr sz="2800" b="1" spc="-10" dirty="0">
                <a:solidFill>
                  <a:srgbClr val="C00000"/>
                </a:solidFill>
                <a:latin typeface="Times New Roman" panose="02020603050405020304" pitchFamily="18" charset="0"/>
                <a:cs typeface="Times New Roman" panose="02020603050405020304" pitchFamily="18" charset="0"/>
              </a:rPr>
              <a:t>Xác </a:t>
            </a:r>
            <a:r>
              <a:rPr sz="2800" b="1" spc="-5" dirty="0">
                <a:solidFill>
                  <a:srgbClr val="C00000"/>
                </a:solidFill>
                <a:latin typeface="Times New Roman" panose="02020603050405020304" pitchFamily="18" charset="0"/>
                <a:cs typeface="Times New Roman" panose="02020603050405020304" pitchFamily="18" charset="0"/>
              </a:rPr>
              <a:t>định mối kết </a:t>
            </a:r>
            <a:r>
              <a:rPr sz="2800" b="1" spc="-10" dirty="0">
                <a:solidFill>
                  <a:srgbClr val="C00000"/>
                </a:solidFill>
                <a:latin typeface="Times New Roman" panose="02020603050405020304" pitchFamily="18" charset="0"/>
                <a:cs typeface="Times New Roman" panose="02020603050405020304" pitchFamily="18" charset="0"/>
              </a:rPr>
              <a:t>hợp </a:t>
            </a:r>
            <a:r>
              <a:rPr sz="2800" b="1" spc="-5">
                <a:solidFill>
                  <a:srgbClr val="C00000"/>
                </a:solidFill>
                <a:latin typeface="Times New Roman" panose="02020603050405020304" pitchFamily="18" charset="0"/>
                <a:cs typeface="Times New Roman" panose="02020603050405020304" pitchFamily="18" charset="0"/>
              </a:rPr>
              <a:t>thu nạp</a:t>
            </a:r>
            <a:r>
              <a:rPr lang="en-US" sz="2800" b="1" spc="-5">
                <a:solidFill>
                  <a:srgbClr val="C00000"/>
                </a:solidFill>
                <a:latin typeface="Times New Roman" panose="02020603050405020304" pitchFamily="18" charset="0"/>
                <a:cs typeface="Times New Roman" panose="02020603050405020304" pitchFamily="18" charset="0"/>
              </a:rPr>
              <a:t> </a:t>
            </a:r>
            <a:r>
              <a:rPr sz="2800" b="1" spc="-5">
                <a:solidFill>
                  <a:srgbClr val="C00000"/>
                </a:solidFill>
                <a:latin typeface="Times New Roman" panose="02020603050405020304" pitchFamily="18" charset="0"/>
                <a:cs typeface="Times New Roman" panose="02020603050405020304" pitchFamily="18" charset="0"/>
              </a:rPr>
              <a:t>(</a:t>
            </a:r>
            <a:r>
              <a:rPr sz="2800" b="1" spc="-5" dirty="0">
                <a:solidFill>
                  <a:srgbClr val="C00000"/>
                </a:solidFill>
                <a:latin typeface="Times New Roman" panose="02020603050405020304" pitchFamily="18" charset="0"/>
                <a:cs typeface="Times New Roman" panose="02020603050405020304" pitchFamily="18" charset="0"/>
              </a:rPr>
              <a:t>a-part-of,</a:t>
            </a:r>
            <a:r>
              <a:rPr sz="2800" b="1" spc="170" dirty="0">
                <a:solidFill>
                  <a:srgbClr val="C00000"/>
                </a:solidFill>
                <a:latin typeface="Times New Roman" panose="02020603050405020304" pitchFamily="18" charset="0"/>
                <a:cs typeface="Times New Roman" panose="02020603050405020304" pitchFamily="18" charset="0"/>
              </a:rPr>
              <a:t> </a:t>
            </a:r>
            <a:r>
              <a:rPr sz="2800" b="1" spc="-5" dirty="0">
                <a:solidFill>
                  <a:srgbClr val="C00000"/>
                </a:solidFill>
                <a:latin typeface="Times New Roman" panose="02020603050405020304" pitchFamily="18" charset="0"/>
                <a:cs typeface="Times New Roman" panose="02020603050405020304" pitchFamily="18" charset="0"/>
              </a:rPr>
              <a:t>aggregration)</a:t>
            </a:r>
            <a:endParaRPr sz="2800" b="1">
              <a:latin typeface="Times New Roman" panose="02020603050405020304" pitchFamily="18" charset="0"/>
              <a:cs typeface="Times New Roman" panose="02020603050405020304" pitchFamily="18" charset="0"/>
            </a:endParaRPr>
          </a:p>
          <a:p>
            <a:pPr marL="1041400" lvl="2" indent="-342900" algn="just">
              <a:lnSpc>
                <a:spcPct val="120000"/>
              </a:lnSpc>
              <a:spcBef>
                <a:spcPts val="509"/>
              </a:spcBef>
              <a:buSzPct val="100000"/>
              <a:buFont typeface="Wingdings" panose="05000000000000000000" pitchFamily="2" charset="2"/>
              <a:buChar char="ü"/>
            </a:pPr>
            <a:r>
              <a:rPr sz="2800" b="1" spc="-5" dirty="0">
                <a:solidFill>
                  <a:srgbClr val="006FC0"/>
                </a:solidFill>
                <a:latin typeface="Times New Roman" panose="02020603050405020304" pitchFamily="18" charset="0"/>
                <a:cs typeface="Times New Roman" panose="02020603050405020304" pitchFamily="18" charset="0"/>
              </a:rPr>
              <a:t>Vật </a:t>
            </a:r>
            <a:r>
              <a:rPr sz="2800" b="1" dirty="0">
                <a:solidFill>
                  <a:srgbClr val="006FC0"/>
                </a:solidFill>
                <a:latin typeface="Times New Roman" panose="02020603050405020304" pitchFamily="18" charset="0"/>
                <a:cs typeface="Times New Roman" panose="02020603050405020304" pitchFamily="18" charset="0"/>
              </a:rPr>
              <a:t>chứa: </a:t>
            </a:r>
            <a:r>
              <a:rPr sz="2800" dirty="0">
                <a:latin typeface="Times New Roman" panose="02020603050405020304" pitchFamily="18" charset="0"/>
                <a:cs typeface="Times New Roman" panose="02020603050405020304" pitchFamily="18" charset="0"/>
              </a:rPr>
              <a:t>một </a:t>
            </a:r>
            <a:r>
              <a:rPr sz="2800">
                <a:latin typeface="Times New Roman" panose="02020603050405020304" pitchFamily="18" charset="0"/>
                <a:cs typeface="Times New Roman" panose="02020603050405020304" pitchFamily="18" charset="0"/>
              </a:rPr>
              <a:t>đối </a:t>
            </a:r>
            <a:r>
              <a:rPr lang="en-US" sz="2800">
                <a:latin typeface="Times New Roman" panose="02020603050405020304" pitchFamily="18" charset="0"/>
                <a:cs typeface="Times New Roman" panose="02020603050405020304" pitchFamily="18" charset="0"/>
              </a:rPr>
              <a:t>tượng</a:t>
            </a:r>
            <a:r>
              <a:rPr sz="280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vật lý </a:t>
            </a:r>
            <a:r>
              <a:rPr sz="2800" dirty="0">
                <a:latin typeface="Times New Roman" panose="02020603050405020304" pitchFamily="18" charset="0"/>
                <a:cs typeface="Times New Roman" panose="02020603050405020304" pitchFamily="18" charset="0"/>
              </a:rPr>
              <a:t>chứa đựng các </a:t>
            </a:r>
            <a:r>
              <a:rPr sz="2800">
                <a:latin typeface="Times New Roman" panose="02020603050405020304" pitchFamily="18" charset="0"/>
                <a:cs typeface="Times New Roman" panose="02020603050405020304" pitchFamily="18" charset="0"/>
              </a:rPr>
              <a:t>thành</a:t>
            </a:r>
            <a:r>
              <a:rPr sz="2800" spc="-185">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phần</a:t>
            </a:r>
            <a:r>
              <a:rPr lang="en-US" sz="2800">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nhưng </a:t>
            </a:r>
            <a:r>
              <a:rPr sz="2800" dirty="0">
                <a:latin typeface="Times New Roman" panose="02020603050405020304" pitchFamily="18" charset="0"/>
                <a:cs typeface="Times New Roman" panose="02020603050405020304" pitchFamily="18" charset="0"/>
              </a:rPr>
              <a:t>không được cấu tạo bởi các </a:t>
            </a:r>
            <a:r>
              <a:rPr sz="2800">
                <a:latin typeface="Times New Roman" panose="02020603050405020304" pitchFamily="18" charset="0"/>
                <a:cs typeface="Times New Roman" panose="02020603050405020304" pitchFamily="18" charset="0"/>
              </a:rPr>
              <a:t>thành</a:t>
            </a:r>
            <a:r>
              <a:rPr sz="2800" spc="-15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phần</a:t>
            </a:r>
          </a:p>
        </p:txBody>
      </p:sp>
      <p:graphicFrame>
        <p:nvGraphicFramePr>
          <p:cNvPr id="4" name="object 4"/>
          <p:cNvGraphicFramePr>
            <a:graphicFrameLocks noGrp="1"/>
          </p:cNvGraphicFramePr>
          <p:nvPr>
            <p:extLst>
              <p:ext uri="{D42A27DB-BD31-4B8C-83A1-F6EECF244321}">
                <p14:modId xmlns:p14="http://schemas.microsoft.com/office/powerpoint/2010/main" val="3462616086"/>
              </p:ext>
            </p:extLst>
          </p:nvPr>
        </p:nvGraphicFramePr>
        <p:xfrm>
          <a:off x="2625852" y="3380233"/>
          <a:ext cx="1371600" cy="563245"/>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20000"/>
                    </a:ext>
                  </a:extLst>
                </a:gridCol>
              </a:tblGrid>
              <a:tr h="309245">
                <a:tc>
                  <a:txBody>
                    <a:bodyPr/>
                    <a:lstStyle/>
                    <a:p>
                      <a:pPr marL="193675">
                        <a:lnSpc>
                          <a:spcPts val="2000"/>
                        </a:lnSpc>
                        <a:spcBef>
                          <a:spcPts val="335"/>
                        </a:spcBef>
                      </a:pPr>
                      <a:r>
                        <a:rPr sz="2000" spc="-5" dirty="0">
                          <a:latin typeface="Times New Roman" panose="02020603050405020304" pitchFamily="18" charset="0"/>
                          <a:cs typeface="Times New Roman" panose="02020603050405020304" pitchFamily="18" charset="0"/>
                        </a:rPr>
                        <a:t>Container</a:t>
                      </a:r>
                      <a:endParaRPr sz="20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112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2875">
                <a:tc>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extLst>
              <p:ext uri="{D42A27DB-BD31-4B8C-83A1-F6EECF244321}">
                <p14:modId xmlns:p14="http://schemas.microsoft.com/office/powerpoint/2010/main" val="100932529"/>
              </p:ext>
            </p:extLst>
          </p:nvPr>
        </p:nvGraphicFramePr>
        <p:xfrm>
          <a:off x="6816852" y="3311653"/>
          <a:ext cx="1828800" cy="563245"/>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0000"/>
                    </a:ext>
                  </a:extLst>
                </a:gridCol>
              </a:tblGrid>
              <a:tr h="309245">
                <a:tc>
                  <a:txBody>
                    <a:bodyPr/>
                    <a:lstStyle/>
                    <a:p>
                      <a:pPr marL="351155">
                        <a:lnSpc>
                          <a:spcPts val="2000"/>
                        </a:lnSpc>
                        <a:spcBef>
                          <a:spcPts val="335"/>
                        </a:spcBef>
                      </a:pPr>
                      <a:r>
                        <a:rPr sz="2000" spc="-5" dirty="0">
                          <a:latin typeface="Times New Roman" panose="02020603050405020304" pitchFamily="18" charset="0"/>
                          <a:cs typeface="Times New Roman" panose="02020603050405020304" pitchFamily="18" charset="0"/>
                        </a:rPr>
                        <a:t>Phòng</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Học</a:t>
                      </a:r>
                      <a:endParaRPr sz="20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12395">
                <a:tc>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41605">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p:nvPr/>
        </p:nvSpPr>
        <p:spPr>
          <a:xfrm>
            <a:off x="3124200" y="39532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7351776" y="5020055"/>
            <a:ext cx="1371600" cy="563880"/>
          </a:xfrm>
          <a:custGeom>
            <a:avLst/>
            <a:gdLst/>
            <a:ahLst/>
            <a:cxnLst/>
            <a:rect l="l" t="t" r="r" b="b"/>
            <a:pathLst>
              <a:path w="1371600" h="563879">
                <a:moveTo>
                  <a:pt x="0" y="563880"/>
                </a:moveTo>
                <a:lnTo>
                  <a:pt x="1371600" y="563880"/>
                </a:lnTo>
                <a:lnTo>
                  <a:pt x="1371600" y="0"/>
                </a:lnTo>
                <a:lnTo>
                  <a:pt x="0" y="0"/>
                </a:lnTo>
                <a:lnTo>
                  <a:pt x="0" y="56388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txBox="1"/>
          <p:nvPr/>
        </p:nvSpPr>
        <p:spPr>
          <a:xfrm>
            <a:off x="7351776" y="5020055"/>
            <a:ext cx="1371600" cy="309880"/>
          </a:xfrm>
          <a:prstGeom prst="rect">
            <a:avLst/>
          </a:prstGeom>
          <a:ln w="3175">
            <a:solidFill>
              <a:srgbClr val="000000"/>
            </a:solidFill>
          </a:ln>
        </p:spPr>
        <p:txBody>
          <a:bodyPr vert="horz" wrap="square" lIns="0" tIns="42545" rIns="0" bIns="0" rtlCol="0">
            <a:spAutoFit/>
          </a:bodyPr>
          <a:lstStyle/>
          <a:p>
            <a:pPr marL="1905" algn="ctr">
              <a:lnSpc>
                <a:spcPts val="2100"/>
              </a:lnSpc>
              <a:spcBef>
                <a:spcPts val="335"/>
              </a:spcBef>
            </a:pPr>
            <a:r>
              <a:rPr dirty="0">
                <a:latin typeface="Times New Roman" panose="02020603050405020304" pitchFamily="18" charset="0"/>
                <a:cs typeface="Times New Roman" panose="02020603050405020304" pitchFamily="18" charset="0"/>
              </a:rPr>
              <a:t>Ghế</a:t>
            </a:r>
            <a:endParaRPr>
              <a:latin typeface="Times New Roman" panose="02020603050405020304" pitchFamily="18" charset="0"/>
              <a:cs typeface="Times New Roman" panose="02020603050405020304" pitchFamily="18" charset="0"/>
            </a:endParaRPr>
          </a:p>
        </p:txBody>
      </p:sp>
      <p:sp>
        <p:nvSpPr>
          <p:cNvPr id="9" name="object 9"/>
          <p:cNvSpPr/>
          <p:nvPr/>
        </p:nvSpPr>
        <p:spPr>
          <a:xfrm>
            <a:off x="7351776" y="5329429"/>
            <a:ext cx="1371600" cy="254635"/>
          </a:xfrm>
          <a:custGeom>
            <a:avLst/>
            <a:gdLst/>
            <a:ahLst/>
            <a:cxnLst/>
            <a:rect l="l" t="t" r="r" b="b"/>
            <a:pathLst>
              <a:path w="1371600" h="254635">
                <a:moveTo>
                  <a:pt x="0" y="254508"/>
                </a:moveTo>
                <a:lnTo>
                  <a:pt x="1371600" y="254508"/>
                </a:lnTo>
                <a:lnTo>
                  <a:pt x="1371600" y="0"/>
                </a:lnTo>
                <a:lnTo>
                  <a:pt x="0" y="0"/>
                </a:lnTo>
                <a:lnTo>
                  <a:pt x="0" y="2545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p:nvPr/>
        </p:nvSpPr>
        <p:spPr>
          <a:xfrm>
            <a:off x="7351776" y="5440679"/>
            <a:ext cx="1371600" cy="143510"/>
          </a:xfrm>
          <a:custGeom>
            <a:avLst/>
            <a:gdLst/>
            <a:ahLst/>
            <a:cxnLst/>
            <a:rect l="l" t="t" r="r" b="b"/>
            <a:pathLst>
              <a:path w="1371600" h="143510">
                <a:moveTo>
                  <a:pt x="0" y="143256"/>
                </a:moveTo>
                <a:lnTo>
                  <a:pt x="1371600" y="143256"/>
                </a:lnTo>
                <a:lnTo>
                  <a:pt x="1371600" y="0"/>
                </a:lnTo>
                <a:lnTo>
                  <a:pt x="0" y="0"/>
                </a:lnTo>
                <a:lnTo>
                  <a:pt x="0" y="14325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7275576" y="38770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7656576" y="38770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7961376" y="3877055"/>
            <a:ext cx="152400" cy="304800"/>
          </a:xfrm>
          <a:custGeom>
            <a:avLst/>
            <a:gdLst/>
            <a:ahLst/>
            <a:cxnLst/>
            <a:rect l="l" t="t" r="r" b="b"/>
            <a:pathLst>
              <a:path w="152400" h="304800">
                <a:moveTo>
                  <a:pt x="0" y="152400"/>
                </a:moveTo>
                <a:lnTo>
                  <a:pt x="76200" y="0"/>
                </a:lnTo>
                <a:lnTo>
                  <a:pt x="152400" y="152400"/>
                </a:lnTo>
                <a:lnTo>
                  <a:pt x="76200" y="304800"/>
                </a:lnTo>
                <a:lnTo>
                  <a:pt x="0" y="152400"/>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7732776" y="4181855"/>
            <a:ext cx="0" cy="838200"/>
          </a:xfrm>
          <a:custGeom>
            <a:avLst/>
            <a:gdLst/>
            <a:ahLst/>
            <a:cxnLst/>
            <a:rect l="l" t="t" r="r" b="b"/>
            <a:pathLst>
              <a:path h="838200">
                <a:moveTo>
                  <a:pt x="0" y="0"/>
                </a:moveTo>
                <a:lnTo>
                  <a:pt x="0" y="83820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txBox="1"/>
          <p:nvPr/>
        </p:nvSpPr>
        <p:spPr>
          <a:xfrm>
            <a:off x="3376930" y="4024121"/>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16" name="object 16"/>
          <p:cNvGraphicFramePr>
            <a:graphicFrameLocks noGrp="1"/>
          </p:cNvGraphicFramePr>
          <p:nvPr>
            <p:extLst>
              <p:ext uri="{D42A27DB-BD31-4B8C-83A1-F6EECF244321}">
                <p14:modId xmlns:p14="http://schemas.microsoft.com/office/powerpoint/2010/main" val="1294766843"/>
              </p:ext>
            </p:extLst>
          </p:nvPr>
        </p:nvGraphicFramePr>
        <p:xfrm>
          <a:off x="2514600" y="4258056"/>
          <a:ext cx="1600200" cy="1401445"/>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838200">
                <a:tc>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a:txBody>
                    <a:bodyPr/>
                    <a:lstStyle/>
                    <a:p>
                      <a:pPr>
                        <a:lnSpc>
                          <a:spcPct val="100000"/>
                        </a:lnSpc>
                      </a:pPr>
                      <a:endParaRPr sz="1900">
                        <a:latin typeface="Times New Roman"/>
                        <a:cs typeface="Times New Roman"/>
                      </a:endParaRPr>
                    </a:p>
                    <a:p>
                      <a:pPr marL="93345">
                        <a:lnSpc>
                          <a:spcPct val="100000"/>
                        </a:lnSpc>
                        <a:spcBef>
                          <a:spcPts val="1685"/>
                        </a:spcBef>
                      </a:pPr>
                      <a:r>
                        <a:rPr sz="1800" i="1" spc="-35" dirty="0">
                          <a:latin typeface="Arial"/>
                          <a:cs typeface="Arial"/>
                        </a:rPr>
                        <a:t>1..*</a:t>
                      </a:r>
                      <a:endParaRPr sz="1800">
                        <a:latin typeface="Arial"/>
                        <a:cs typeface="Arial"/>
                      </a:endParaRPr>
                    </a:p>
                  </a:txBody>
                  <a:tcPr marL="0" marR="0" marT="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0"/>
                  </a:ext>
                </a:extLst>
              </a:tr>
              <a:tr h="309245">
                <a:tc gridSpan="2">
                  <a:txBody>
                    <a:bodyPr/>
                    <a:lstStyle/>
                    <a:p>
                      <a:pPr marL="288290">
                        <a:lnSpc>
                          <a:spcPts val="2000"/>
                        </a:lnSpc>
                        <a:spcBef>
                          <a:spcPts val="335"/>
                        </a:spcBef>
                      </a:pPr>
                      <a:r>
                        <a:rPr sz="2000" spc="-5" dirty="0">
                          <a:latin typeface="Times New Roman" panose="02020603050405020304" pitchFamily="18" charset="0"/>
                          <a:cs typeface="Times New Roman" panose="02020603050405020304" pitchFamily="18" charset="0"/>
                        </a:rPr>
                        <a:t>Hàng</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Hoá</a:t>
                      </a:r>
                      <a:endParaRPr sz="20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11112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42875">
                <a:tc gridSpan="2">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17" name="object 17"/>
          <p:cNvSpPr txBox="1"/>
          <p:nvPr/>
        </p:nvSpPr>
        <p:spPr>
          <a:xfrm>
            <a:off x="6898640" y="3974415"/>
            <a:ext cx="379730" cy="300355"/>
          </a:xfrm>
          <a:prstGeom prst="rect">
            <a:avLst/>
          </a:prstGeom>
        </p:spPr>
        <p:txBody>
          <a:bodyPr vert="horz" wrap="square" lIns="0" tIns="12700" rIns="0" bIns="0" rtlCol="0">
            <a:spAutoFit/>
          </a:bodyPr>
          <a:lstStyle/>
          <a:p>
            <a:pPr marL="12700">
              <a:spcBef>
                <a:spcPts val="100"/>
              </a:spcBef>
            </a:pPr>
            <a:r>
              <a:rPr i="1" spc="-60" dirty="0">
                <a:latin typeface="Times New Roman" panose="02020603050405020304" pitchFamily="18" charset="0"/>
                <a:cs typeface="Times New Roman" panose="02020603050405020304" pitchFamily="18" charset="0"/>
              </a:rPr>
              <a:t>0..1</a:t>
            </a:r>
            <a:endParaRPr>
              <a:latin typeface="Times New Roman" panose="02020603050405020304" pitchFamily="18" charset="0"/>
              <a:cs typeface="Times New Roman" panose="02020603050405020304" pitchFamily="18" charset="0"/>
            </a:endParaRPr>
          </a:p>
        </p:txBody>
      </p:sp>
      <p:sp>
        <p:nvSpPr>
          <p:cNvPr id="18" name="object 18"/>
          <p:cNvSpPr txBox="1"/>
          <p:nvPr/>
        </p:nvSpPr>
        <p:spPr>
          <a:xfrm>
            <a:off x="7508494" y="4051172"/>
            <a:ext cx="379730" cy="299720"/>
          </a:xfrm>
          <a:prstGeom prst="rect">
            <a:avLst/>
          </a:prstGeom>
        </p:spPr>
        <p:txBody>
          <a:bodyPr vert="horz" wrap="square" lIns="0" tIns="12700" rIns="0" bIns="0" rtlCol="0">
            <a:spAutoFit/>
          </a:bodyPr>
          <a:lstStyle/>
          <a:p>
            <a:pPr marL="12700">
              <a:spcBef>
                <a:spcPts val="100"/>
              </a:spcBef>
            </a:pPr>
            <a:r>
              <a:rPr i="1" spc="-75" dirty="0">
                <a:latin typeface="Times New Roman" panose="02020603050405020304" pitchFamily="18" charset="0"/>
                <a:cs typeface="Times New Roman" panose="02020603050405020304" pitchFamily="18" charset="0"/>
              </a:rPr>
              <a:t>0..</a:t>
            </a: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19" name="object 19"/>
          <p:cNvSpPr txBox="1"/>
          <p:nvPr/>
        </p:nvSpPr>
        <p:spPr>
          <a:xfrm>
            <a:off x="8194293" y="3974415"/>
            <a:ext cx="379730" cy="300355"/>
          </a:xfrm>
          <a:prstGeom prst="rect">
            <a:avLst/>
          </a:prstGeom>
        </p:spPr>
        <p:txBody>
          <a:bodyPr vert="horz" wrap="square" lIns="0" tIns="12700" rIns="0" bIns="0" rtlCol="0">
            <a:spAutoFit/>
          </a:bodyPr>
          <a:lstStyle/>
          <a:p>
            <a:pPr marL="12700">
              <a:spcBef>
                <a:spcPts val="100"/>
              </a:spcBef>
            </a:pPr>
            <a:r>
              <a:rPr i="1" spc="-60" dirty="0">
                <a:latin typeface="Times New Roman" panose="02020603050405020304" pitchFamily="18" charset="0"/>
                <a:cs typeface="Times New Roman" panose="02020603050405020304" pitchFamily="18" charset="0"/>
              </a:rPr>
              <a:t>0..1</a:t>
            </a:r>
            <a:endParaRPr>
              <a:latin typeface="Times New Roman" panose="02020603050405020304" pitchFamily="18" charset="0"/>
              <a:cs typeface="Times New Roman" panose="02020603050405020304" pitchFamily="18" charset="0"/>
            </a:endParaRPr>
          </a:p>
        </p:txBody>
      </p:sp>
      <p:graphicFrame>
        <p:nvGraphicFramePr>
          <p:cNvPr id="20" name="object 20"/>
          <p:cNvGraphicFramePr>
            <a:graphicFrameLocks noGrp="1"/>
          </p:cNvGraphicFramePr>
          <p:nvPr>
            <p:extLst>
              <p:ext uri="{D42A27DB-BD31-4B8C-83A1-F6EECF244321}">
                <p14:modId xmlns:p14="http://schemas.microsoft.com/office/powerpoint/2010/main" val="2222217463"/>
              </p:ext>
            </p:extLst>
          </p:nvPr>
        </p:nvGraphicFramePr>
        <p:xfrm>
          <a:off x="8033004" y="4181856"/>
          <a:ext cx="2438400" cy="1401445"/>
        </p:xfrm>
        <a:graphic>
          <a:graphicData uri="http://schemas.openxmlformats.org/drawingml/2006/table">
            <a:tbl>
              <a:tblPr firstRow="1" bandRow="1">
                <a:tableStyleId>{2D5ABB26-0587-4C30-8999-92F81FD0307C}</a:tableStyleId>
              </a:tblPr>
              <a:tblGrid>
                <a:gridCol w="10668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381000">
                <a:tc gridSpan="3">
                  <a:txBody>
                    <a:bodyPr/>
                    <a:lstStyle/>
                    <a:p>
                      <a:pPr>
                        <a:lnSpc>
                          <a:spcPct val="100000"/>
                        </a:lnSpc>
                      </a:pPr>
                      <a:endParaRPr sz="2000">
                        <a:latin typeface="Times New Roman"/>
                        <a:cs typeface="Times New Roman"/>
                      </a:endParaRPr>
                    </a:p>
                  </a:txBody>
                  <a:tcPr marL="0" marR="0" marT="0" marB="0">
                    <a:lnL w="9525">
                      <a:solidFill>
                        <a:srgbClr val="000000"/>
                      </a:solidFill>
                      <a:prstDash val="soli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57200">
                <a:tc gridSpan="2">
                  <a:txBody>
                    <a:bodyPr/>
                    <a:lstStyle/>
                    <a:p>
                      <a:pPr>
                        <a:lnSpc>
                          <a:spcPct val="100000"/>
                        </a:lnSpc>
                        <a:spcBef>
                          <a:spcPts val="869"/>
                        </a:spcBef>
                      </a:pPr>
                      <a:r>
                        <a:rPr sz="1800" i="1" spc="-45" dirty="0">
                          <a:latin typeface="Arial"/>
                          <a:cs typeface="Arial"/>
                        </a:rPr>
                        <a:t>..*</a:t>
                      </a:r>
                      <a:endParaRPr sz="1800">
                        <a:latin typeface="Arial"/>
                        <a:cs typeface="Arial"/>
                      </a:endParaRPr>
                    </a:p>
                  </a:txBody>
                  <a:tcPr marL="0" marR="0" marT="110489" marB="0">
                    <a:lnR w="9525">
                      <a:solidFill>
                        <a:srgbClr val="000000"/>
                      </a:solidFill>
                      <a:prstDash val="solid"/>
                    </a:lnR>
                  </a:tcPr>
                </a:tc>
                <a:tc hMerge="1">
                  <a:txBody>
                    <a:bodyPr/>
                    <a:lstStyle/>
                    <a:p>
                      <a:endParaRPr/>
                    </a:p>
                  </a:txBody>
                  <a:tcPr marL="0" marR="0" marT="0" marB="0"/>
                </a:tc>
                <a:tc>
                  <a:txBody>
                    <a:bodyPr/>
                    <a:lstStyle/>
                    <a:p>
                      <a:pPr marL="97790">
                        <a:lnSpc>
                          <a:spcPct val="100000"/>
                        </a:lnSpc>
                        <a:spcBef>
                          <a:spcPts val="270"/>
                        </a:spcBef>
                      </a:pPr>
                      <a:r>
                        <a:rPr sz="1800" i="1" spc="-60" dirty="0">
                          <a:latin typeface="Arial"/>
                          <a:cs typeface="Arial"/>
                        </a:rPr>
                        <a:t>0..1</a:t>
                      </a:r>
                      <a:endParaRPr sz="1800">
                        <a:latin typeface="Arial"/>
                        <a:cs typeface="Arial"/>
                      </a:endParaRPr>
                    </a:p>
                  </a:txBody>
                  <a:tcPr marL="0" marR="0" marT="3429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1"/>
                  </a:ext>
                </a:extLst>
              </a:tr>
              <a:tr h="309245">
                <a:tc rowSpan="3">
                  <a:txBody>
                    <a:bodyPr/>
                    <a:lstStyle/>
                    <a:p>
                      <a:pPr>
                        <a:lnSpc>
                          <a:spcPct val="100000"/>
                        </a:lnSpc>
                      </a:pPr>
                      <a:endParaRPr sz="2000">
                        <a:latin typeface="Times New Roman"/>
                        <a:cs typeface="Times New Roman"/>
                      </a:endParaRPr>
                    </a:p>
                  </a:txBody>
                  <a:tcPr marL="0" marR="0" marT="0" marB="0">
                    <a:lnR w="3175">
                      <a:solidFill>
                        <a:srgbClr val="000000"/>
                      </a:solidFill>
                      <a:prstDash val="solid"/>
                    </a:lnR>
                  </a:tcPr>
                </a:tc>
                <a:tc gridSpan="2">
                  <a:txBody>
                    <a:bodyPr/>
                    <a:lstStyle/>
                    <a:p>
                      <a:pPr marL="234315">
                        <a:lnSpc>
                          <a:spcPts val="2000"/>
                        </a:lnSpc>
                        <a:spcBef>
                          <a:spcPts val="335"/>
                        </a:spcBef>
                      </a:pPr>
                      <a:r>
                        <a:rPr sz="2000" spc="-5" dirty="0">
                          <a:latin typeface="Times New Roman" panose="02020603050405020304" pitchFamily="18" charset="0"/>
                          <a:cs typeface="Times New Roman" panose="02020603050405020304" pitchFamily="18" charset="0"/>
                        </a:rPr>
                        <a:t>Projector</a:t>
                      </a:r>
                      <a:endParaRPr sz="20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11125">
                <a:tc vMerge="1">
                  <a:txBody>
                    <a:bodyPr/>
                    <a:lstStyle/>
                    <a:p>
                      <a:endParaRPr/>
                    </a:p>
                  </a:txBody>
                  <a:tcPr marL="0" marR="0" marT="0" marB="0">
                    <a:lnR w="3175">
                      <a:solidFill>
                        <a:srgbClr val="000000"/>
                      </a:solidFill>
                      <a:prstDash val="solid"/>
                    </a:lnR>
                  </a:tcPr>
                </a:tc>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r h="142875">
                <a:tc vMerge="1">
                  <a:txBody>
                    <a:bodyPr/>
                    <a:lstStyle/>
                    <a:p>
                      <a:endParaRPr/>
                    </a:p>
                  </a:txBody>
                  <a:tcPr marL="0" marR="0" marT="0" marB="0">
                    <a:lnR w="3175">
                      <a:solidFill>
                        <a:srgbClr val="000000"/>
                      </a:solidFill>
                      <a:prstDash val="solid"/>
                    </a:lnR>
                  </a:tcPr>
                </a:tc>
                <a:tc gridSpan="2">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
        <p:nvSpPr>
          <p:cNvPr id="21" name="object 21"/>
          <p:cNvSpPr txBox="1"/>
          <p:nvPr/>
        </p:nvSpPr>
        <p:spPr>
          <a:xfrm>
            <a:off x="7889494" y="4660772"/>
            <a:ext cx="152400"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0</a:t>
            </a:r>
            <a:endParaRPr>
              <a:latin typeface="Times New Roman" panose="02020603050405020304" pitchFamily="18" charset="0"/>
              <a:cs typeface="Times New Roman" panose="02020603050405020304" pitchFamily="18" charset="0"/>
            </a:endParaRPr>
          </a:p>
        </p:txBody>
      </p:sp>
      <p:graphicFrame>
        <p:nvGraphicFramePr>
          <p:cNvPr id="22" name="object 22"/>
          <p:cNvGraphicFramePr>
            <a:graphicFrameLocks noGrp="1"/>
          </p:cNvGraphicFramePr>
          <p:nvPr>
            <p:extLst>
              <p:ext uri="{D42A27DB-BD31-4B8C-83A1-F6EECF244321}">
                <p14:modId xmlns:p14="http://schemas.microsoft.com/office/powerpoint/2010/main" val="3655633343"/>
              </p:ext>
            </p:extLst>
          </p:nvPr>
        </p:nvGraphicFramePr>
        <p:xfrm>
          <a:off x="5594603" y="4181856"/>
          <a:ext cx="1752600" cy="1401445"/>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tblGrid>
              <a:tr h="381000">
                <a:tc gridSpan="3">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57200">
                <a:tc>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gridSpan="2">
                  <a:txBody>
                    <a:bodyPr/>
                    <a:lstStyle/>
                    <a:p>
                      <a:pPr marL="97155">
                        <a:lnSpc>
                          <a:spcPct val="100000"/>
                        </a:lnSpc>
                        <a:spcBef>
                          <a:spcPts val="869"/>
                        </a:spcBef>
                      </a:pPr>
                      <a:r>
                        <a:rPr sz="1800" i="1" spc="-35" dirty="0">
                          <a:latin typeface="Arial"/>
                          <a:cs typeface="Arial"/>
                        </a:rPr>
                        <a:t>0..*</a:t>
                      </a:r>
                      <a:endParaRPr sz="1800">
                        <a:latin typeface="Arial"/>
                        <a:cs typeface="Arial"/>
                      </a:endParaRPr>
                    </a:p>
                  </a:txBody>
                  <a:tcPr marL="0" marR="0" marT="110489" marB="0">
                    <a:lnL w="9525">
                      <a:solidFill>
                        <a:srgbClr val="000000"/>
                      </a:solidFill>
                      <a:prstDash val="solid"/>
                    </a:lnL>
                    <a:lnT w="9525">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1"/>
                  </a:ext>
                </a:extLst>
              </a:tr>
              <a:tr h="309245">
                <a:tc gridSpan="2">
                  <a:txBody>
                    <a:bodyPr/>
                    <a:lstStyle/>
                    <a:p>
                      <a:pPr marL="12065" algn="ctr">
                        <a:lnSpc>
                          <a:spcPts val="2000"/>
                        </a:lnSpc>
                        <a:spcBef>
                          <a:spcPts val="335"/>
                        </a:spcBef>
                      </a:pPr>
                      <a:r>
                        <a:rPr sz="2000" spc="-5" dirty="0">
                          <a:latin typeface="Times New Roman" panose="02020603050405020304" pitchFamily="18" charset="0"/>
                          <a:cs typeface="Times New Roman" panose="02020603050405020304" pitchFamily="18" charset="0"/>
                        </a:rPr>
                        <a:t>Bàn</a:t>
                      </a:r>
                      <a:endParaRPr sz="20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rowSpan="3">
                  <a:txBody>
                    <a:bodyPr/>
                    <a:lstStyle/>
                    <a:p>
                      <a:pPr>
                        <a:lnSpc>
                          <a:spcPct val="100000"/>
                        </a:lnSpc>
                      </a:pPr>
                      <a:endParaRPr sz="2000">
                        <a:latin typeface="Times New Roman"/>
                        <a:cs typeface="Times New Roman"/>
                      </a:endParaRPr>
                    </a:p>
                  </a:txBody>
                  <a:tcPr marL="0" marR="0" marT="0" marB="0">
                    <a:lnL w="3175">
                      <a:solidFill>
                        <a:srgbClr val="000000"/>
                      </a:solidFill>
                      <a:prstDash val="solid"/>
                    </a:lnL>
                  </a:tcPr>
                </a:tc>
                <a:extLst>
                  <a:ext uri="{0D108BD9-81ED-4DB2-BD59-A6C34878D82A}">
                    <a16:rowId xmlns:a16="http://schemas.microsoft.com/office/drawing/2014/main" val="10002"/>
                  </a:ext>
                </a:extLst>
              </a:tr>
              <a:tr h="11112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vMerge="1">
                  <a:txBody>
                    <a:bodyPr/>
                    <a:lstStyle/>
                    <a:p>
                      <a:endParaRPr/>
                    </a:p>
                  </a:txBody>
                  <a:tcPr marL="0" marR="0" marT="0" marB="0">
                    <a:lnL w="3175">
                      <a:solidFill>
                        <a:srgbClr val="000000"/>
                      </a:solidFill>
                      <a:prstDash val="solid"/>
                    </a:lnL>
                  </a:tcPr>
                </a:tc>
                <a:extLst>
                  <a:ext uri="{0D108BD9-81ED-4DB2-BD59-A6C34878D82A}">
                    <a16:rowId xmlns:a16="http://schemas.microsoft.com/office/drawing/2014/main" val="10003"/>
                  </a:ext>
                </a:extLst>
              </a:tr>
              <a:tr h="142875">
                <a:tc gridSpan="2">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tc vMerge="1">
                  <a:txBody>
                    <a:bodyPr/>
                    <a:lstStyle/>
                    <a:p>
                      <a:endParaRPr/>
                    </a:p>
                  </a:txBody>
                  <a:tcPr marL="0" marR="0" marT="0" marB="0">
                    <a:lnL w="3175">
                      <a:solidFill>
                        <a:srgbClr val="000000"/>
                      </a:solidFill>
                      <a:prstDash val="solid"/>
                    </a:lnL>
                  </a:tcPr>
                </a:tc>
                <a:extLst>
                  <a:ext uri="{0D108BD9-81ED-4DB2-BD59-A6C34878D82A}">
                    <a16:rowId xmlns:a16="http://schemas.microsoft.com/office/drawing/2014/main" val="10004"/>
                  </a:ext>
                </a:extLst>
              </a:tr>
            </a:tbl>
          </a:graphicData>
        </a:graphic>
      </p:graphicFrame>
      <p:cxnSp>
        <p:nvCxnSpPr>
          <p:cNvPr id="25" name="Straight Connector 24"/>
          <p:cNvCxnSpPr/>
          <p:nvPr/>
        </p:nvCxnSpPr>
        <p:spPr>
          <a:xfrm>
            <a:off x="8033005" y="4539576"/>
            <a:ext cx="1568195" cy="0"/>
          </a:xfrm>
          <a:prstGeom prst="line">
            <a:avLst/>
          </a:prstGeom>
          <a:ln>
            <a:solidFill>
              <a:srgbClr val="333300"/>
            </a:solidFill>
          </a:ln>
        </p:spPr>
        <p:style>
          <a:lnRef idx="1">
            <a:schemeClr val="dk1"/>
          </a:lnRef>
          <a:fillRef idx="0">
            <a:schemeClr val="dk1"/>
          </a:fillRef>
          <a:effectRef idx="0">
            <a:schemeClr val="dk1"/>
          </a:effectRef>
          <a:fontRef idx="minor">
            <a:schemeClr val="tx1"/>
          </a:fontRef>
        </p:style>
      </p:cxnSp>
      <p:sp>
        <p:nvSpPr>
          <p:cNvPr id="27" name="object 2"/>
          <p:cNvSpPr txBox="1">
            <a:spLocks noGrp="1"/>
          </p:cNvSpPr>
          <p:nvPr>
            <p:ph type="title"/>
          </p:nvPr>
        </p:nvSpPr>
        <p:spPr>
          <a:xfrm>
            <a:off x="2438400" y="122238"/>
            <a:ext cx="7391400" cy="56356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mối </a:t>
            </a:r>
            <a:r>
              <a:rPr>
                <a:latin typeface="Times New Roman" panose="02020603050405020304" pitchFamily="18" charset="0"/>
                <a:cs typeface="Times New Roman" panose="02020603050405020304" pitchFamily="18" charset="0"/>
              </a:rPr>
              <a:t>quan hệ</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2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95952291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048000" y="3552444"/>
            <a:ext cx="1600200" cy="563880"/>
          </a:xfrm>
          <a:custGeom>
            <a:avLst/>
            <a:gdLst/>
            <a:ahLst/>
            <a:cxnLst/>
            <a:rect l="l" t="t" r="r" b="b"/>
            <a:pathLst>
              <a:path w="1600200" h="563879">
                <a:moveTo>
                  <a:pt x="0" y="563879"/>
                </a:moveTo>
                <a:lnTo>
                  <a:pt x="1600200" y="563879"/>
                </a:lnTo>
                <a:lnTo>
                  <a:pt x="1600200" y="0"/>
                </a:lnTo>
                <a:lnTo>
                  <a:pt x="0" y="0"/>
                </a:lnTo>
                <a:lnTo>
                  <a:pt x="0" y="56387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 name="object 4"/>
          <p:cNvSpPr txBox="1"/>
          <p:nvPr/>
        </p:nvSpPr>
        <p:spPr>
          <a:xfrm>
            <a:off x="3048000" y="3552444"/>
            <a:ext cx="1600200" cy="311624"/>
          </a:xfrm>
          <a:prstGeom prst="rect">
            <a:avLst/>
          </a:prstGeom>
          <a:ln w="3175">
            <a:solidFill>
              <a:srgbClr val="000000"/>
            </a:solidFill>
          </a:ln>
        </p:spPr>
        <p:txBody>
          <a:bodyPr vert="horz" wrap="square" lIns="0" tIns="41910" rIns="0" bIns="0" rtlCol="0">
            <a:spAutoFit/>
          </a:bodyPr>
          <a:lstStyle/>
          <a:p>
            <a:pPr marL="233679">
              <a:lnSpc>
                <a:spcPts val="2090"/>
              </a:lnSpc>
              <a:spcBef>
                <a:spcPts val="330"/>
              </a:spcBef>
            </a:pPr>
            <a:r>
              <a:rPr spc="-5" dirty="0">
                <a:latin typeface="Times New Roman" panose="02020603050405020304" pitchFamily="18" charset="0"/>
                <a:cs typeface="Times New Roman" panose="02020603050405020304" pitchFamily="18" charset="0"/>
              </a:rPr>
              <a:t>Phòng</a:t>
            </a:r>
            <a:r>
              <a:rPr spc="-15" dirty="0">
                <a:latin typeface="Times New Roman" panose="02020603050405020304" pitchFamily="18" charset="0"/>
                <a:cs typeface="Times New Roman" panose="02020603050405020304" pitchFamily="18" charset="0"/>
              </a:rPr>
              <a:t> </a:t>
            </a:r>
            <a:r>
              <a:rPr spc="-5" dirty="0">
                <a:latin typeface="Times New Roman" panose="02020603050405020304" pitchFamily="18" charset="0"/>
                <a:cs typeface="Times New Roman" panose="02020603050405020304" pitchFamily="18" charset="0"/>
              </a:rPr>
              <a:t>Ban</a:t>
            </a:r>
            <a:endParaRPr>
              <a:latin typeface="Times New Roman" panose="02020603050405020304" pitchFamily="18" charset="0"/>
              <a:cs typeface="Times New Roman" panose="02020603050405020304" pitchFamily="18" charset="0"/>
            </a:endParaRPr>
          </a:p>
        </p:txBody>
      </p:sp>
      <p:sp>
        <p:nvSpPr>
          <p:cNvPr id="5" name="object 5"/>
          <p:cNvSpPr/>
          <p:nvPr/>
        </p:nvSpPr>
        <p:spPr>
          <a:xfrm>
            <a:off x="3048000" y="3860291"/>
            <a:ext cx="1600200" cy="256540"/>
          </a:xfrm>
          <a:custGeom>
            <a:avLst/>
            <a:gdLst/>
            <a:ahLst/>
            <a:cxnLst/>
            <a:rect l="l" t="t" r="r" b="b"/>
            <a:pathLst>
              <a:path w="1600200" h="256539">
                <a:moveTo>
                  <a:pt x="0" y="256031"/>
                </a:moveTo>
                <a:lnTo>
                  <a:pt x="1600200" y="256031"/>
                </a:lnTo>
                <a:lnTo>
                  <a:pt x="1600200" y="0"/>
                </a:lnTo>
                <a:lnTo>
                  <a:pt x="0" y="0"/>
                </a:lnTo>
                <a:lnTo>
                  <a:pt x="0" y="2560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3048000" y="3973067"/>
            <a:ext cx="1600200" cy="143510"/>
          </a:xfrm>
          <a:custGeom>
            <a:avLst/>
            <a:gdLst/>
            <a:ahLst/>
            <a:cxnLst/>
            <a:rect l="l" t="t" r="r" b="b"/>
            <a:pathLst>
              <a:path w="1600200" h="143510">
                <a:moveTo>
                  <a:pt x="0" y="143255"/>
                </a:moveTo>
                <a:lnTo>
                  <a:pt x="1600200" y="143255"/>
                </a:lnTo>
                <a:lnTo>
                  <a:pt x="1600200" y="0"/>
                </a:lnTo>
                <a:lnTo>
                  <a:pt x="0" y="0"/>
                </a:lnTo>
                <a:lnTo>
                  <a:pt x="0" y="1432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3657600" y="4123944"/>
            <a:ext cx="152400" cy="304800"/>
          </a:xfrm>
          <a:custGeom>
            <a:avLst/>
            <a:gdLst/>
            <a:ahLst/>
            <a:cxnLst/>
            <a:rect l="l" t="t" r="r" b="b"/>
            <a:pathLst>
              <a:path w="152400" h="304800">
                <a:moveTo>
                  <a:pt x="0" y="152399"/>
                </a:moveTo>
                <a:lnTo>
                  <a:pt x="76200" y="0"/>
                </a:lnTo>
                <a:lnTo>
                  <a:pt x="152400" y="152399"/>
                </a:lnTo>
                <a:lnTo>
                  <a:pt x="76200" y="304799"/>
                </a:lnTo>
                <a:lnTo>
                  <a:pt x="0" y="152399"/>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txBox="1"/>
          <p:nvPr/>
        </p:nvSpPr>
        <p:spPr>
          <a:xfrm>
            <a:off x="3873246" y="4194429"/>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9" name="object 9"/>
          <p:cNvGraphicFramePr>
            <a:graphicFrameLocks noGrp="1"/>
          </p:cNvGraphicFramePr>
          <p:nvPr>
            <p:extLst>
              <p:ext uri="{D42A27DB-BD31-4B8C-83A1-F6EECF244321}">
                <p14:modId xmlns:p14="http://schemas.microsoft.com/office/powerpoint/2010/main" val="2282938700"/>
              </p:ext>
            </p:extLst>
          </p:nvPr>
        </p:nvGraphicFramePr>
        <p:xfrm>
          <a:off x="3046475" y="4428744"/>
          <a:ext cx="1600200" cy="1400810"/>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838200">
                <a:tc>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a:txBody>
                    <a:bodyPr/>
                    <a:lstStyle/>
                    <a:p>
                      <a:pPr>
                        <a:lnSpc>
                          <a:spcPct val="100000"/>
                        </a:lnSpc>
                      </a:pPr>
                      <a:endParaRPr sz="1900">
                        <a:latin typeface="Times New Roman"/>
                        <a:cs typeface="Times New Roman"/>
                      </a:endParaRPr>
                    </a:p>
                    <a:p>
                      <a:pPr marL="92710">
                        <a:lnSpc>
                          <a:spcPct val="100000"/>
                        </a:lnSpc>
                        <a:spcBef>
                          <a:spcPts val="1685"/>
                        </a:spcBef>
                      </a:pPr>
                      <a:r>
                        <a:rPr sz="1800" i="1" spc="-35" dirty="0">
                          <a:latin typeface="Arial"/>
                          <a:cs typeface="Arial"/>
                        </a:rPr>
                        <a:t>0..*</a:t>
                      </a:r>
                      <a:endParaRPr sz="1800">
                        <a:latin typeface="Arial"/>
                        <a:cs typeface="Arial"/>
                      </a:endParaRPr>
                    </a:p>
                  </a:txBody>
                  <a:tcPr marL="0" marR="0" marT="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0"/>
                  </a:ext>
                </a:extLst>
              </a:tr>
              <a:tr h="307340">
                <a:tc gridSpan="2">
                  <a:txBody>
                    <a:bodyPr/>
                    <a:lstStyle/>
                    <a:p>
                      <a:pPr marL="270510">
                        <a:lnSpc>
                          <a:spcPts val="1989"/>
                        </a:lnSpc>
                        <a:spcBef>
                          <a:spcPts val="335"/>
                        </a:spcBef>
                      </a:pPr>
                      <a:r>
                        <a:rPr sz="1800" spc="-5" dirty="0">
                          <a:latin typeface="Times New Roman" panose="02020603050405020304" pitchFamily="18" charset="0"/>
                          <a:cs typeface="Times New Roman" panose="02020603050405020304" pitchFamily="18" charset="0"/>
                        </a:rPr>
                        <a:t>Nhân</a:t>
                      </a:r>
                      <a:r>
                        <a:rPr sz="1800" spc="-15" dirty="0">
                          <a:latin typeface="Times New Roman" panose="02020603050405020304" pitchFamily="18" charset="0"/>
                          <a:cs typeface="Times New Roman" panose="02020603050405020304" pitchFamily="18" charset="0"/>
                        </a:rPr>
                        <a:t> Viên</a:t>
                      </a:r>
                      <a:endParaRPr sz="18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11239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42875">
                <a:tc gridSpan="2">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10" name="object 10"/>
          <p:cNvSpPr/>
          <p:nvPr/>
        </p:nvSpPr>
        <p:spPr>
          <a:xfrm>
            <a:off x="7620000" y="3476244"/>
            <a:ext cx="1600200" cy="563880"/>
          </a:xfrm>
          <a:custGeom>
            <a:avLst/>
            <a:gdLst/>
            <a:ahLst/>
            <a:cxnLst/>
            <a:rect l="l" t="t" r="r" b="b"/>
            <a:pathLst>
              <a:path w="1600200" h="563879">
                <a:moveTo>
                  <a:pt x="0" y="563879"/>
                </a:moveTo>
                <a:lnTo>
                  <a:pt x="1600200" y="563879"/>
                </a:lnTo>
                <a:lnTo>
                  <a:pt x="1600200" y="0"/>
                </a:lnTo>
                <a:lnTo>
                  <a:pt x="0" y="0"/>
                </a:lnTo>
                <a:lnTo>
                  <a:pt x="0" y="56387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txBox="1"/>
          <p:nvPr/>
        </p:nvSpPr>
        <p:spPr>
          <a:xfrm>
            <a:off x="7620000" y="3476244"/>
            <a:ext cx="1600200" cy="311624"/>
          </a:xfrm>
          <a:prstGeom prst="rect">
            <a:avLst/>
          </a:prstGeom>
          <a:ln w="3175">
            <a:solidFill>
              <a:srgbClr val="000000"/>
            </a:solidFill>
          </a:ln>
        </p:spPr>
        <p:txBody>
          <a:bodyPr vert="horz" wrap="square" lIns="0" tIns="41910" rIns="0" bIns="0" rtlCol="0">
            <a:spAutoFit/>
          </a:bodyPr>
          <a:lstStyle/>
          <a:p>
            <a:pPr marL="330835">
              <a:lnSpc>
                <a:spcPts val="2090"/>
              </a:lnSpc>
              <a:spcBef>
                <a:spcPts val="330"/>
              </a:spcBef>
            </a:pPr>
            <a:r>
              <a:rPr spc="-5" dirty="0">
                <a:latin typeface="Times New Roman" panose="02020603050405020304" pitchFamily="18" charset="0"/>
                <a:cs typeface="Times New Roman" panose="02020603050405020304" pitchFamily="18" charset="0"/>
              </a:rPr>
              <a:t>Đội</a:t>
            </a:r>
            <a:r>
              <a:rPr spc="-10" dirty="0">
                <a:latin typeface="Times New Roman" panose="02020603050405020304" pitchFamily="18" charset="0"/>
                <a:cs typeface="Times New Roman" panose="02020603050405020304" pitchFamily="18" charset="0"/>
              </a:rPr>
              <a:t> </a:t>
            </a:r>
            <a:r>
              <a:rPr spc="-5" dirty="0">
                <a:latin typeface="Times New Roman" panose="02020603050405020304" pitchFamily="18" charset="0"/>
                <a:cs typeface="Times New Roman" panose="02020603050405020304" pitchFamily="18" charset="0"/>
              </a:rPr>
              <a:t>Bóng</a:t>
            </a:r>
            <a:endParaRPr>
              <a:latin typeface="Times New Roman" panose="02020603050405020304" pitchFamily="18" charset="0"/>
              <a:cs typeface="Times New Roman" panose="02020603050405020304" pitchFamily="18" charset="0"/>
            </a:endParaRPr>
          </a:p>
        </p:txBody>
      </p:sp>
      <p:sp>
        <p:nvSpPr>
          <p:cNvPr id="12" name="object 12"/>
          <p:cNvSpPr/>
          <p:nvPr/>
        </p:nvSpPr>
        <p:spPr>
          <a:xfrm>
            <a:off x="7620000" y="3784091"/>
            <a:ext cx="1600200" cy="256540"/>
          </a:xfrm>
          <a:custGeom>
            <a:avLst/>
            <a:gdLst/>
            <a:ahLst/>
            <a:cxnLst/>
            <a:rect l="l" t="t" r="r" b="b"/>
            <a:pathLst>
              <a:path w="1600200" h="256539">
                <a:moveTo>
                  <a:pt x="0" y="256031"/>
                </a:moveTo>
                <a:lnTo>
                  <a:pt x="1600200" y="256031"/>
                </a:lnTo>
                <a:lnTo>
                  <a:pt x="1600200" y="0"/>
                </a:lnTo>
                <a:lnTo>
                  <a:pt x="0" y="0"/>
                </a:lnTo>
                <a:lnTo>
                  <a:pt x="0" y="2560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7620000" y="3896867"/>
            <a:ext cx="1600200" cy="143510"/>
          </a:xfrm>
          <a:custGeom>
            <a:avLst/>
            <a:gdLst/>
            <a:ahLst/>
            <a:cxnLst/>
            <a:rect l="l" t="t" r="r" b="b"/>
            <a:pathLst>
              <a:path w="1600200" h="143510">
                <a:moveTo>
                  <a:pt x="0" y="143255"/>
                </a:moveTo>
                <a:lnTo>
                  <a:pt x="1600200" y="143255"/>
                </a:lnTo>
                <a:lnTo>
                  <a:pt x="1600200" y="0"/>
                </a:lnTo>
                <a:lnTo>
                  <a:pt x="0" y="0"/>
                </a:lnTo>
                <a:lnTo>
                  <a:pt x="0" y="1432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8229600" y="4047744"/>
            <a:ext cx="152400" cy="304800"/>
          </a:xfrm>
          <a:custGeom>
            <a:avLst/>
            <a:gdLst/>
            <a:ahLst/>
            <a:cxnLst/>
            <a:rect l="l" t="t" r="r" b="b"/>
            <a:pathLst>
              <a:path w="152400" h="304800">
                <a:moveTo>
                  <a:pt x="0" y="152399"/>
                </a:moveTo>
                <a:lnTo>
                  <a:pt x="76200" y="0"/>
                </a:lnTo>
                <a:lnTo>
                  <a:pt x="152400" y="152399"/>
                </a:lnTo>
                <a:lnTo>
                  <a:pt x="76200" y="304799"/>
                </a:lnTo>
                <a:lnTo>
                  <a:pt x="0" y="152399"/>
                </a:lnTo>
                <a:close/>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txBox="1"/>
          <p:nvPr/>
        </p:nvSpPr>
        <p:spPr>
          <a:xfrm>
            <a:off x="8446135" y="4118229"/>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graphicFrame>
        <p:nvGraphicFramePr>
          <p:cNvPr id="16" name="object 16"/>
          <p:cNvGraphicFramePr>
            <a:graphicFrameLocks noGrp="1"/>
          </p:cNvGraphicFramePr>
          <p:nvPr>
            <p:extLst>
              <p:ext uri="{D42A27DB-BD31-4B8C-83A1-F6EECF244321}">
                <p14:modId xmlns:p14="http://schemas.microsoft.com/office/powerpoint/2010/main" val="3781954651"/>
              </p:ext>
            </p:extLst>
          </p:nvPr>
        </p:nvGraphicFramePr>
        <p:xfrm>
          <a:off x="7618476" y="4352544"/>
          <a:ext cx="1600200" cy="1400810"/>
        </p:xfrm>
        <a:graphic>
          <a:graphicData uri="http://schemas.openxmlformats.org/drawingml/2006/table">
            <a:tbl>
              <a:tblPr firstRow="1" bandRow="1">
                <a:tableStyleId>{2D5ABB26-0587-4C30-8999-92F81FD0307C}</a:tableStyleId>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838200">
                <a:tc>
                  <a:txBody>
                    <a:bodyPr/>
                    <a:lstStyle/>
                    <a:p>
                      <a:pPr>
                        <a:lnSpc>
                          <a:spcPct val="100000"/>
                        </a:lnSpc>
                      </a:pPr>
                      <a:endParaRPr sz="2000">
                        <a:latin typeface="Times New Roman"/>
                        <a:cs typeface="Times New Roman"/>
                      </a:endParaRPr>
                    </a:p>
                  </a:txBody>
                  <a:tcPr marL="0" marR="0" marT="0" marB="0">
                    <a:lnR w="9525">
                      <a:solidFill>
                        <a:srgbClr val="000000"/>
                      </a:solidFill>
                      <a:prstDash val="solid"/>
                    </a:lnR>
                    <a:lnB w="3175">
                      <a:solidFill>
                        <a:srgbClr val="000000"/>
                      </a:solidFill>
                      <a:prstDash val="solid"/>
                    </a:lnB>
                  </a:tcPr>
                </a:tc>
                <a:tc>
                  <a:txBody>
                    <a:bodyPr/>
                    <a:lstStyle/>
                    <a:p>
                      <a:pPr>
                        <a:lnSpc>
                          <a:spcPct val="100000"/>
                        </a:lnSpc>
                      </a:pPr>
                      <a:endParaRPr sz="1900">
                        <a:latin typeface="Times New Roman"/>
                        <a:cs typeface="Times New Roman"/>
                      </a:endParaRPr>
                    </a:p>
                    <a:p>
                      <a:pPr marL="93980">
                        <a:lnSpc>
                          <a:spcPct val="100000"/>
                        </a:lnSpc>
                        <a:spcBef>
                          <a:spcPts val="1685"/>
                        </a:spcBef>
                      </a:pPr>
                      <a:r>
                        <a:rPr sz="1800" i="1" spc="-35" dirty="0">
                          <a:latin typeface="Arial"/>
                          <a:cs typeface="Arial"/>
                        </a:rPr>
                        <a:t>0..*</a:t>
                      </a:r>
                      <a:endParaRPr sz="1800">
                        <a:latin typeface="Arial"/>
                        <a:cs typeface="Arial"/>
                      </a:endParaRPr>
                    </a:p>
                  </a:txBody>
                  <a:tcPr marL="0" marR="0" marT="0" marB="0">
                    <a:lnL w="9525">
                      <a:solidFill>
                        <a:srgbClr val="000000"/>
                      </a:solidFill>
                      <a:prstDash val="solid"/>
                    </a:lnL>
                    <a:lnB w="3175">
                      <a:solidFill>
                        <a:srgbClr val="000000"/>
                      </a:solidFill>
                      <a:prstDash val="solid"/>
                    </a:lnB>
                  </a:tcPr>
                </a:tc>
                <a:extLst>
                  <a:ext uri="{0D108BD9-81ED-4DB2-BD59-A6C34878D82A}">
                    <a16:rowId xmlns:a16="http://schemas.microsoft.com/office/drawing/2014/main" val="10000"/>
                  </a:ext>
                </a:extLst>
              </a:tr>
              <a:tr h="307340">
                <a:tc gridSpan="2">
                  <a:txBody>
                    <a:bodyPr/>
                    <a:lstStyle/>
                    <a:p>
                      <a:pPr marL="363855">
                        <a:lnSpc>
                          <a:spcPts val="1989"/>
                        </a:lnSpc>
                        <a:spcBef>
                          <a:spcPts val="335"/>
                        </a:spcBef>
                      </a:pPr>
                      <a:r>
                        <a:rPr lang="en-US" sz="1800" spc="-5">
                          <a:latin typeface="Times New Roman" panose="02020603050405020304" pitchFamily="18" charset="0"/>
                          <a:cs typeface="Times New Roman" panose="02020603050405020304" pitchFamily="18" charset="0"/>
                        </a:rPr>
                        <a:t>  </a:t>
                      </a:r>
                      <a:r>
                        <a:rPr sz="1800" spc="-5">
                          <a:latin typeface="Times New Roman" panose="02020603050405020304" pitchFamily="18" charset="0"/>
                          <a:cs typeface="Times New Roman" panose="02020603050405020304" pitchFamily="18" charset="0"/>
                        </a:rPr>
                        <a:t>Cầu</a:t>
                      </a:r>
                      <a:r>
                        <a:rPr sz="1800" spc="-45">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Thủ</a:t>
                      </a:r>
                      <a:endParaRPr sz="1800">
                        <a:latin typeface="Times New Roman" panose="02020603050405020304" pitchFamily="18" charset="0"/>
                        <a:cs typeface="Times New Roman" panose="02020603050405020304" pitchFamily="18" charset="0"/>
                      </a:endParaRPr>
                    </a:p>
                  </a:txBody>
                  <a:tcPr marL="0" marR="0" marT="4254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112395">
                <a:tc gridSpan="2">
                  <a:txBody>
                    <a:bodyPr/>
                    <a:lstStyle/>
                    <a:p>
                      <a:pPr>
                        <a:lnSpc>
                          <a:spcPct val="100000"/>
                        </a:lnSpc>
                      </a:pPr>
                      <a:endParaRPr sz="5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42875">
                <a:tc gridSpan="2">
                  <a:txBody>
                    <a:bodyPr/>
                    <a:lstStyle/>
                    <a:p>
                      <a:pPr>
                        <a:lnSpc>
                          <a:spcPct val="100000"/>
                        </a:lnSpc>
                      </a:pPr>
                      <a:endParaRPr sz="8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17" name="object 17"/>
          <p:cNvSpPr txBox="1"/>
          <p:nvPr/>
        </p:nvSpPr>
        <p:spPr>
          <a:xfrm>
            <a:off x="5565776" y="4824476"/>
            <a:ext cx="1025525" cy="299720"/>
          </a:xfrm>
          <a:prstGeom prst="rect">
            <a:avLst/>
          </a:prstGeom>
        </p:spPr>
        <p:txBody>
          <a:bodyPr vert="horz" wrap="square" lIns="0" tIns="12700" rIns="0" bIns="0" rtlCol="0">
            <a:spAutoFit/>
          </a:bodyPr>
          <a:lstStyle/>
          <a:p>
            <a:pPr marL="12700">
              <a:spcBef>
                <a:spcPts val="100"/>
              </a:spcBef>
            </a:pPr>
            <a:r>
              <a:rPr spc="-5" dirty="0">
                <a:solidFill>
                  <a:srgbClr val="FF3300"/>
                </a:solidFill>
                <a:latin typeface="Times New Roman" panose="02020603050405020304" pitchFamily="18" charset="0"/>
                <a:cs typeface="Times New Roman" panose="02020603050405020304" pitchFamily="18" charset="0"/>
              </a:rPr>
              <a:t>Lớp </a:t>
            </a:r>
            <a:r>
              <a:rPr spc="-5">
                <a:solidFill>
                  <a:srgbClr val="FF3300"/>
                </a:solidFill>
                <a:latin typeface="Times New Roman" panose="02020603050405020304" pitchFamily="18" charset="0"/>
                <a:cs typeface="Times New Roman" panose="02020603050405020304" pitchFamily="18" charset="0"/>
              </a:rPr>
              <a:t>vật</a:t>
            </a:r>
            <a:r>
              <a:rPr spc="-80">
                <a:solidFill>
                  <a:srgbClr val="FF3300"/>
                </a:solidFill>
                <a:latin typeface="Times New Roman" panose="02020603050405020304" pitchFamily="18" charset="0"/>
                <a:cs typeface="Times New Roman" panose="02020603050405020304" pitchFamily="18" charset="0"/>
              </a:rPr>
              <a:t> </a:t>
            </a:r>
            <a:r>
              <a:rPr spc="-5">
                <a:solidFill>
                  <a:srgbClr val="FF3300"/>
                </a:solidFill>
                <a:latin typeface="Times New Roman" panose="02020603050405020304" pitchFamily="18" charset="0"/>
                <a:cs typeface="Times New Roman" panose="02020603050405020304" pitchFamily="18" charset="0"/>
              </a:rPr>
              <a:t>lý</a:t>
            </a:r>
            <a:endParaRPr>
              <a:latin typeface="Times New Roman" panose="02020603050405020304" pitchFamily="18" charset="0"/>
              <a:cs typeface="Times New Roman" panose="02020603050405020304" pitchFamily="18" charset="0"/>
            </a:endParaRPr>
          </a:p>
        </p:txBody>
      </p:sp>
      <p:sp>
        <p:nvSpPr>
          <p:cNvPr id="18" name="object 18"/>
          <p:cNvSpPr/>
          <p:nvPr/>
        </p:nvSpPr>
        <p:spPr>
          <a:xfrm>
            <a:off x="4572001" y="5108322"/>
            <a:ext cx="1221105" cy="329565"/>
          </a:xfrm>
          <a:custGeom>
            <a:avLst/>
            <a:gdLst/>
            <a:ahLst/>
            <a:cxnLst/>
            <a:rect l="l" t="t" r="r" b="b"/>
            <a:pathLst>
              <a:path w="1221104" h="329564">
                <a:moveTo>
                  <a:pt x="1217676" y="0"/>
                </a:moveTo>
                <a:lnTo>
                  <a:pt x="1168400" y="12318"/>
                </a:lnTo>
                <a:lnTo>
                  <a:pt x="1171448" y="24637"/>
                </a:lnTo>
                <a:lnTo>
                  <a:pt x="1220724" y="12318"/>
                </a:lnTo>
                <a:lnTo>
                  <a:pt x="1217676" y="0"/>
                </a:lnTo>
                <a:close/>
              </a:path>
              <a:path w="1221104" h="329564">
                <a:moveTo>
                  <a:pt x="1131442" y="21589"/>
                </a:moveTo>
                <a:lnTo>
                  <a:pt x="1082166" y="33908"/>
                </a:lnTo>
                <a:lnTo>
                  <a:pt x="1085214" y="46227"/>
                </a:lnTo>
                <a:lnTo>
                  <a:pt x="1134490" y="33908"/>
                </a:lnTo>
                <a:lnTo>
                  <a:pt x="1131442" y="21589"/>
                </a:lnTo>
                <a:close/>
              </a:path>
              <a:path w="1221104" h="329564">
                <a:moveTo>
                  <a:pt x="1045210" y="43179"/>
                </a:moveTo>
                <a:lnTo>
                  <a:pt x="995934" y="55498"/>
                </a:lnTo>
                <a:lnTo>
                  <a:pt x="998982" y="67817"/>
                </a:lnTo>
                <a:lnTo>
                  <a:pt x="1048258" y="55498"/>
                </a:lnTo>
                <a:lnTo>
                  <a:pt x="1045210" y="43179"/>
                </a:lnTo>
                <a:close/>
              </a:path>
              <a:path w="1221104" h="329564">
                <a:moveTo>
                  <a:pt x="958976" y="64769"/>
                </a:moveTo>
                <a:lnTo>
                  <a:pt x="909701" y="77088"/>
                </a:lnTo>
                <a:lnTo>
                  <a:pt x="912749" y="89407"/>
                </a:lnTo>
                <a:lnTo>
                  <a:pt x="962025" y="77088"/>
                </a:lnTo>
                <a:lnTo>
                  <a:pt x="958976" y="64769"/>
                </a:lnTo>
                <a:close/>
              </a:path>
              <a:path w="1221104" h="329564">
                <a:moveTo>
                  <a:pt x="872616" y="86359"/>
                </a:moveTo>
                <a:lnTo>
                  <a:pt x="823340" y="98678"/>
                </a:lnTo>
                <a:lnTo>
                  <a:pt x="826515" y="110997"/>
                </a:lnTo>
                <a:lnTo>
                  <a:pt x="875791" y="98678"/>
                </a:lnTo>
                <a:lnTo>
                  <a:pt x="872616" y="86359"/>
                </a:lnTo>
                <a:close/>
              </a:path>
              <a:path w="1221104" h="329564">
                <a:moveTo>
                  <a:pt x="786384" y="107822"/>
                </a:moveTo>
                <a:lnTo>
                  <a:pt x="737108" y="120141"/>
                </a:lnTo>
                <a:lnTo>
                  <a:pt x="740283" y="132460"/>
                </a:lnTo>
                <a:lnTo>
                  <a:pt x="789559" y="120141"/>
                </a:lnTo>
                <a:lnTo>
                  <a:pt x="786384" y="107822"/>
                </a:lnTo>
                <a:close/>
              </a:path>
              <a:path w="1221104" h="329564">
                <a:moveTo>
                  <a:pt x="700151" y="129412"/>
                </a:moveTo>
                <a:lnTo>
                  <a:pt x="650875" y="141731"/>
                </a:lnTo>
                <a:lnTo>
                  <a:pt x="653923" y="154050"/>
                </a:lnTo>
                <a:lnTo>
                  <a:pt x="703326" y="141731"/>
                </a:lnTo>
                <a:lnTo>
                  <a:pt x="700151" y="129412"/>
                </a:lnTo>
                <a:close/>
              </a:path>
              <a:path w="1221104" h="329564">
                <a:moveTo>
                  <a:pt x="613917" y="151002"/>
                </a:moveTo>
                <a:lnTo>
                  <a:pt x="564641" y="163321"/>
                </a:lnTo>
                <a:lnTo>
                  <a:pt x="567689" y="175640"/>
                </a:lnTo>
                <a:lnTo>
                  <a:pt x="616965" y="163321"/>
                </a:lnTo>
                <a:lnTo>
                  <a:pt x="613917" y="151002"/>
                </a:lnTo>
                <a:close/>
              </a:path>
              <a:path w="1221104" h="329564">
                <a:moveTo>
                  <a:pt x="527685" y="172592"/>
                </a:moveTo>
                <a:lnTo>
                  <a:pt x="478409" y="184911"/>
                </a:lnTo>
                <a:lnTo>
                  <a:pt x="481457" y="197230"/>
                </a:lnTo>
                <a:lnTo>
                  <a:pt x="530733" y="184911"/>
                </a:lnTo>
                <a:lnTo>
                  <a:pt x="527685" y="172592"/>
                </a:lnTo>
                <a:close/>
              </a:path>
              <a:path w="1221104" h="329564">
                <a:moveTo>
                  <a:pt x="441451" y="194055"/>
                </a:moveTo>
                <a:lnTo>
                  <a:pt x="392175" y="206374"/>
                </a:lnTo>
                <a:lnTo>
                  <a:pt x="395224" y="218693"/>
                </a:lnTo>
                <a:lnTo>
                  <a:pt x="444500" y="206374"/>
                </a:lnTo>
                <a:lnTo>
                  <a:pt x="441451" y="194055"/>
                </a:lnTo>
                <a:close/>
              </a:path>
              <a:path w="1221104" h="329564">
                <a:moveTo>
                  <a:pt x="355219" y="215645"/>
                </a:moveTo>
                <a:lnTo>
                  <a:pt x="305942" y="227964"/>
                </a:lnTo>
                <a:lnTo>
                  <a:pt x="308990" y="240283"/>
                </a:lnTo>
                <a:lnTo>
                  <a:pt x="358266" y="227964"/>
                </a:lnTo>
                <a:lnTo>
                  <a:pt x="355219" y="215645"/>
                </a:lnTo>
                <a:close/>
              </a:path>
              <a:path w="1221104" h="329564">
                <a:moveTo>
                  <a:pt x="268986" y="237235"/>
                </a:moveTo>
                <a:lnTo>
                  <a:pt x="219710" y="249554"/>
                </a:lnTo>
                <a:lnTo>
                  <a:pt x="222758" y="261873"/>
                </a:lnTo>
                <a:lnTo>
                  <a:pt x="272034" y="249554"/>
                </a:lnTo>
                <a:lnTo>
                  <a:pt x="268986" y="237235"/>
                </a:lnTo>
                <a:close/>
              </a:path>
              <a:path w="1221104" h="329564">
                <a:moveTo>
                  <a:pt x="182752" y="258825"/>
                </a:moveTo>
                <a:lnTo>
                  <a:pt x="133476" y="271144"/>
                </a:lnTo>
                <a:lnTo>
                  <a:pt x="136525" y="283463"/>
                </a:lnTo>
                <a:lnTo>
                  <a:pt x="185800" y="271144"/>
                </a:lnTo>
                <a:lnTo>
                  <a:pt x="182752" y="258825"/>
                </a:lnTo>
                <a:close/>
              </a:path>
              <a:path w="1221104" h="329564">
                <a:moveTo>
                  <a:pt x="64643" y="255523"/>
                </a:moveTo>
                <a:lnTo>
                  <a:pt x="0" y="311022"/>
                </a:lnTo>
                <a:lnTo>
                  <a:pt x="83185" y="329564"/>
                </a:lnTo>
                <a:lnTo>
                  <a:pt x="76219" y="301751"/>
                </a:lnTo>
                <a:lnTo>
                  <a:pt x="63118" y="301751"/>
                </a:lnTo>
                <a:lnTo>
                  <a:pt x="60070" y="289432"/>
                </a:lnTo>
                <a:lnTo>
                  <a:pt x="72372" y="286389"/>
                </a:lnTo>
                <a:lnTo>
                  <a:pt x="64643" y="255523"/>
                </a:lnTo>
                <a:close/>
              </a:path>
              <a:path w="1221104" h="329564">
                <a:moveTo>
                  <a:pt x="72372" y="286389"/>
                </a:moveTo>
                <a:lnTo>
                  <a:pt x="60070" y="289432"/>
                </a:lnTo>
                <a:lnTo>
                  <a:pt x="63118" y="301751"/>
                </a:lnTo>
                <a:lnTo>
                  <a:pt x="75455" y="298700"/>
                </a:lnTo>
                <a:lnTo>
                  <a:pt x="72372" y="286389"/>
                </a:lnTo>
                <a:close/>
              </a:path>
              <a:path w="1221104" h="329564">
                <a:moveTo>
                  <a:pt x="75455" y="298700"/>
                </a:moveTo>
                <a:lnTo>
                  <a:pt x="63118" y="301751"/>
                </a:lnTo>
                <a:lnTo>
                  <a:pt x="76219" y="301751"/>
                </a:lnTo>
                <a:lnTo>
                  <a:pt x="75455" y="298700"/>
                </a:lnTo>
                <a:close/>
              </a:path>
              <a:path w="1221104" h="329564">
                <a:moveTo>
                  <a:pt x="96519" y="280415"/>
                </a:moveTo>
                <a:lnTo>
                  <a:pt x="72372" y="286389"/>
                </a:lnTo>
                <a:lnTo>
                  <a:pt x="75455" y="298700"/>
                </a:lnTo>
                <a:lnTo>
                  <a:pt x="99568" y="292734"/>
                </a:lnTo>
                <a:lnTo>
                  <a:pt x="96519" y="280415"/>
                </a:lnTo>
                <a:close/>
              </a:path>
            </a:pathLst>
          </a:custGeom>
          <a:solidFill>
            <a:srgbClr val="FF0066"/>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6247129" y="5108321"/>
            <a:ext cx="1449070" cy="332740"/>
          </a:xfrm>
          <a:custGeom>
            <a:avLst/>
            <a:gdLst/>
            <a:ahLst/>
            <a:cxnLst/>
            <a:rect l="l" t="t" r="r" b="b"/>
            <a:pathLst>
              <a:path w="1449070" h="332739">
                <a:moveTo>
                  <a:pt x="2540" y="0"/>
                </a:moveTo>
                <a:lnTo>
                  <a:pt x="0" y="12445"/>
                </a:lnTo>
                <a:lnTo>
                  <a:pt x="49657" y="22859"/>
                </a:lnTo>
                <a:lnTo>
                  <a:pt x="52324" y="10413"/>
                </a:lnTo>
                <a:lnTo>
                  <a:pt x="2540" y="0"/>
                </a:lnTo>
                <a:close/>
              </a:path>
              <a:path w="1449070" h="332739">
                <a:moveTo>
                  <a:pt x="89535" y="18287"/>
                </a:moveTo>
                <a:lnTo>
                  <a:pt x="86995" y="30733"/>
                </a:lnTo>
                <a:lnTo>
                  <a:pt x="136652" y="41274"/>
                </a:lnTo>
                <a:lnTo>
                  <a:pt x="139319" y="28828"/>
                </a:lnTo>
                <a:lnTo>
                  <a:pt x="89535" y="18287"/>
                </a:lnTo>
                <a:close/>
              </a:path>
              <a:path w="1449070" h="332739">
                <a:moveTo>
                  <a:pt x="176530" y="36575"/>
                </a:moveTo>
                <a:lnTo>
                  <a:pt x="173990" y="49021"/>
                </a:lnTo>
                <a:lnTo>
                  <a:pt x="223647" y="59562"/>
                </a:lnTo>
                <a:lnTo>
                  <a:pt x="226314" y="47116"/>
                </a:lnTo>
                <a:lnTo>
                  <a:pt x="176530" y="36575"/>
                </a:lnTo>
                <a:close/>
              </a:path>
              <a:path w="1449070" h="332739">
                <a:moveTo>
                  <a:pt x="263525" y="54990"/>
                </a:moveTo>
                <a:lnTo>
                  <a:pt x="260985" y="67436"/>
                </a:lnTo>
                <a:lnTo>
                  <a:pt x="310642" y="77850"/>
                </a:lnTo>
                <a:lnTo>
                  <a:pt x="313309" y="65404"/>
                </a:lnTo>
                <a:lnTo>
                  <a:pt x="263525" y="54990"/>
                </a:lnTo>
                <a:close/>
              </a:path>
              <a:path w="1449070" h="332739">
                <a:moveTo>
                  <a:pt x="350520" y="73278"/>
                </a:moveTo>
                <a:lnTo>
                  <a:pt x="347980" y="85724"/>
                </a:lnTo>
                <a:lnTo>
                  <a:pt x="397637" y="96138"/>
                </a:lnTo>
                <a:lnTo>
                  <a:pt x="400304" y="83692"/>
                </a:lnTo>
                <a:lnTo>
                  <a:pt x="350520" y="73278"/>
                </a:lnTo>
                <a:close/>
              </a:path>
              <a:path w="1449070" h="332739">
                <a:moveTo>
                  <a:pt x="437515" y="91566"/>
                </a:moveTo>
                <a:lnTo>
                  <a:pt x="434975" y="104012"/>
                </a:lnTo>
                <a:lnTo>
                  <a:pt x="484632" y="114426"/>
                </a:lnTo>
                <a:lnTo>
                  <a:pt x="487299" y="101980"/>
                </a:lnTo>
                <a:lnTo>
                  <a:pt x="437515" y="91566"/>
                </a:lnTo>
                <a:close/>
              </a:path>
              <a:path w="1449070" h="332739">
                <a:moveTo>
                  <a:pt x="524510" y="109854"/>
                </a:moveTo>
                <a:lnTo>
                  <a:pt x="521970" y="122300"/>
                </a:lnTo>
                <a:lnTo>
                  <a:pt x="571627" y="132841"/>
                </a:lnTo>
                <a:lnTo>
                  <a:pt x="574294" y="120395"/>
                </a:lnTo>
                <a:lnTo>
                  <a:pt x="524510" y="109854"/>
                </a:lnTo>
                <a:close/>
              </a:path>
              <a:path w="1449070" h="332739">
                <a:moveTo>
                  <a:pt x="611505" y="128269"/>
                </a:moveTo>
                <a:lnTo>
                  <a:pt x="608965" y="140588"/>
                </a:lnTo>
                <a:lnTo>
                  <a:pt x="658622" y="151129"/>
                </a:lnTo>
                <a:lnTo>
                  <a:pt x="661289" y="138683"/>
                </a:lnTo>
                <a:lnTo>
                  <a:pt x="611505" y="128269"/>
                </a:lnTo>
                <a:close/>
              </a:path>
              <a:path w="1449070" h="332739">
                <a:moveTo>
                  <a:pt x="698500" y="146557"/>
                </a:moveTo>
                <a:lnTo>
                  <a:pt x="695960" y="159003"/>
                </a:lnTo>
                <a:lnTo>
                  <a:pt x="745617" y="169417"/>
                </a:lnTo>
                <a:lnTo>
                  <a:pt x="748284" y="156971"/>
                </a:lnTo>
                <a:lnTo>
                  <a:pt x="698500" y="146557"/>
                </a:lnTo>
                <a:close/>
              </a:path>
              <a:path w="1449070" h="332739">
                <a:moveTo>
                  <a:pt x="785495" y="164845"/>
                </a:moveTo>
                <a:lnTo>
                  <a:pt x="782955" y="177291"/>
                </a:lnTo>
                <a:lnTo>
                  <a:pt x="832612" y="187705"/>
                </a:lnTo>
                <a:lnTo>
                  <a:pt x="835279" y="175259"/>
                </a:lnTo>
                <a:lnTo>
                  <a:pt x="785495" y="164845"/>
                </a:lnTo>
                <a:close/>
              </a:path>
              <a:path w="1449070" h="332739">
                <a:moveTo>
                  <a:pt x="872490" y="183133"/>
                </a:moveTo>
                <a:lnTo>
                  <a:pt x="869950" y="195579"/>
                </a:lnTo>
                <a:lnTo>
                  <a:pt x="919607" y="205993"/>
                </a:lnTo>
                <a:lnTo>
                  <a:pt x="922274" y="193674"/>
                </a:lnTo>
                <a:lnTo>
                  <a:pt x="872490" y="183133"/>
                </a:lnTo>
                <a:close/>
              </a:path>
              <a:path w="1449070" h="332739">
                <a:moveTo>
                  <a:pt x="959485" y="201421"/>
                </a:moveTo>
                <a:lnTo>
                  <a:pt x="956945" y="213867"/>
                </a:lnTo>
                <a:lnTo>
                  <a:pt x="1006602" y="224408"/>
                </a:lnTo>
                <a:lnTo>
                  <a:pt x="1009269" y="211962"/>
                </a:lnTo>
                <a:lnTo>
                  <a:pt x="959485" y="201421"/>
                </a:lnTo>
                <a:close/>
              </a:path>
              <a:path w="1449070" h="332739">
                <a:moveTo>
                  <a:pt x="1046480" y="219836"/>
                </a:moveTo>
                <a:lnTo>
                  <a:pt x="1043940" y="232155"/>
                </a:lnTo>
                <a:lnTo>
                  <a:pt x="1093597" y="242696"/>
                </a:lnTo>
                <a:lnTo>
                  <a:pt x="1096264" y="230250"/>
                </a:lnTo>
                <a:lnTo>
                  <a:pt x="1046480" y="219836"/>
                </a:lnTo>
                <a:close/>
              </a:path>
              <a:path w="1449070" h="332739">
                <a:moveTo>
                  <a:pt x="1133475" y="238124"/>
                </a:moveTo>
                <a:lnTo>
                  <a:pt x="1130808" y="250570"/>
                </a:lnTo>
                <a:lnTo>
                  <a:pt x="1180592" y="260984"/>
                </a:lnTo>
                <a:lnTo>
                  <a:pt x="1183259" y="248538"/>
                </a:lnTo>
                <a:lnTo>
                  <a:pt x="1133475" y="238124"/>
                </a:lnTo>
                <a:close/>
              </a:path>
              <a:path w="1449070" h="332739">
                <a:moveTo>
                  <a:pt x="1220470" y="256412"/>
                </a:moveTo>
                <a:lnTo>
                  <a:pt x="1217803" y="268858"/>
                </a:lnTo>
                <a:lnTo>
                  <a:pt x="1267587" y="279272"/>
                </a:lnTo>
                <a:lnTo>
                  <a:pt x="1270254" y="266826"/>
                </a:lnTo>
                <a:lnTo>
                  <a:pt x="1220470" y="256412"/>
                </a:lnTo>
                <a:close/>
              </a:path>
              <a:path w="1449070" h="332739">
                <a:moveTo>
                  <a:pt x="1307465" y="274700"/>
                </a:moveTo>
                <a:lnTo>
                  <a:pt x="1304798" y="287146"/>
                </a:lnTo>
                <a:lnTo>
                  <a:pt x="1354582" y="297560"/>
                </a:lnTo>
                <a:lnTo>
                  <a:pt x="1357122" y="285241"/>
                </a:lnTo>
                <a:lnTo>
                  <a:pt x="1307465" y="274700"/>
                </a:lnTo>
                <a:close/>
              </a:path>
              <a:path w="1449070" h="332739">
                <a:moveTo>
                  <a:pt x="1382395" y="258063"/>
                </a:moveTo>
                <a:lnTo>
                  <a:pt x="1366647" y="332612"/>
                </a:lnTo>
                <a:lnTo>
                  <a:pt x="1449070" y="311022"/>
                </a:lnTo>
                <a:lnTo>
                  <a:pt x="1382395" y="258063"/>
                </a:lnTo>
                <a:close/>
              </a:path>
            </a:pathLst>
          </a:custGeom>
          <a:solidFill>
            <a:srgbClr val="FF0066"/>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txBox="1"/>
          <p:nvPr/>
        </p:nvSpPr>
        <p:spPr>
          <a:xfrm>
            <a:off x="0" y="923827"/>
            <a:ext cx="12192000" cy="2333331"/>
          </a:xfrm>
          <a:prstGeom prst="rect">
            <a:avLst/>
          </a:prstGeom>
        </p:spPr>
        <p:txBody>
          <a:bodyPr vert="horz" wrap="square" lIns="0" tIns="95885" rIns="0" bIns="0" rtlCol="0">
            <a:spAutoFit/>
          </a:bodyPr>
          <a:lstStyle/>
          <a:p>
            <a:pPr marL="355600" indent="-342900">
              <a:spcBef>
                <a:spcPts val="755"/>
              </a:spcBef>
              <a:buSzPct val="100000"/>
              <a:buFont typeface="Wingdings" panose="05000000000000000000" pitchFamily="2" charset="2"/>
              <a:buChar char="§"/>
              <a:tabLst>
                <a:tab pos="465138" algn="l"/>
              </a:tabLst>
            </a:pPr>
            <a:r>
              <a:rPr sz="2800" b="1" spc="-5" dirty="0">
                <a:solidFill>
                  <a:srgbClr val="FF0000"/>
                </a:solidFill>
                <a:latin typeface="Times New Roman" panose="02020603050405020304" pitchFamily="18" charset="0"/>
                <a:cs typeface="Times New Roman" panose="02020603050405020304" pitchFamily="18" charset="0"/>
              </a:rPr>
              <a:t>Nâng </a:t>
            </a:r>
            <a:r>
              <a:rPr sz="2800" b="1" dirty="0">
                <a:solidFill>
                  <a:srgbClr val="FF0000"/>
                </a:solidFill>
                <a:latin typeface="Times New Roman" panose="02020603050405020304" pitchFamily="18" charset="0"/>
                <a:cs typeface="Times New Roman" panose="02020603050405020304" pitchFamily="18" charset="0"/>
              </a:rPr>
              <a:t>cấp mối kết</a:t>
            </a:r>
            <a:r>
              <a:rPr sz="2800" b="1" spc="1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hợp:</a:t>
            </a:r>
            <a:endParaRPr sz="2800" b="1">
              <a:solidFill>
                <a:srgbClr val="FF0000"/>
              </a:solidFill>
              <a:latin typeface="Times New Roman" panose="02020603050405020304" pitchFamily="18" charset="0"/>
              <a:cs typeface="Times New Roman" panose="02020603050405020304" pitchFamily="18" charset="0"/>
            </a:endParaRPr>
          </a:p>
          <a:p>
            <a:pPr marL="720725" lvl="1" indent="-342900">
              <a:spcBef>
                <a:spcPts val="595"/>
              </a:spcBef>
              <a:buSzPct val="100000"/>
              <a:buFont typeface="Arial" panose="020B0604020202020204" pitchFamily="34" charset="0"/>
              <a:buChar char="•"/>
            </a:pPr>
            <a:r>
              <a:rPr sz="2800" b="1" spc="-10" dirty="0">
                <a:solidFill>
                  <a:srgbClr val="C00000"/>
                </a:solidFill>
                <a:latin typeface="Times New Roman" panose="02020603050405020304" pitchFamily="18" charset="0"/>
                <a:cs typeface="Times New Roman" panose="02020603050405020304" pitchFamily="18" charset="0"/>
              </a:rPr>
              <a:t>Xác </a:t>
            </a:r>
            <a:r>
              <a:rPr sz="2800" b="1" spc="-5" dirty="0">
                <a:solidFill>
                  <a:srgbClr val="C00000"/>
                </a:solidFill>
                <a:latin typeface="Times New Roman" panose="02020603050405020304" pitchFamily="18" charset="0"/>
                <a:cs typeface="Times New Roman" panose="02020603050405020304" pitchFamily="18" charset="0"/>
              </a:rPr>
              <a:t>định </a:t>
            </a:r>
            <a:r>
              <a:rPr sz="2800" b="1" spc="-5">
                <a:solidFill>
                  <a:srgbClr val="C00000"/>
                </a:solidFill>
                <a:latin typeface="Times New Roman" panose="02020603050405020304" pitchFamily="18" charset="0"/>
                <a:cs typeface="Times New Roman" panose="02020603050405020304" pitchFamily="18" charset="0"/>
              </a:rPr>
              <a:t>mối kết </a:t>
            </a:r>
            <a:r>
              <a:rPr sz="2800" b="1" spc="-10">
                <a:solidFill>
                  <a:srgbClr val="C00000"/>
                </a:solidFill>
                <a:latin typeface="Times New Roman" panose="02020603050405020304" pitchFamily="18" charset="0"/>
                <a:cs typeface="Times New Roman" panose="02020603050405020304" pitchFamily="18" charset="0"/>
              </a:rPr>
              <a:t>hợp</a:t>
            </a:r>
            <a:r>
              <a:rPr lang="en-US" sz="2800" b="1" spc="-10">
                <a:solidFill>
                  <a:srgbClr val="C00000"/>
                </a:solidFill>
                <a:latin typeface="Times New Roman" panose="02020603050405020304" pitchFamily="18" charset="0"/>
                <a:cs typeface="Times New Roman" panose="02020603050405020304" pitchFamily="18" charset="0"/>
              </a:rPr>
              <a:t> </a:t>
            </a:r>
            <a:r>
              <a:rPr sz="2800" b="1" spc="-5">
                <a:solidFill>
                  <a:srgbClr val="C00000"/>
                </a:solidFill>
                <a:latin typeface="Times New Roman" panose="02020603050405020304" pitchFamily="18" charset="0"/>
                <a:cs typeface="Times New Roman" panose="02020603050405020304" pitchFamily="18" charset="0"/>
              </a:rPr>
              <a:t>(a-part-of</a:t>
            </a:r>
            <a:r>
              <a:rPr sz="2800" b="1" spc="-5" dirty="0">
                <a:solidFill>
                  <a:srgbClr val="C00000"/>
                </a:solidFill>
                <a:latin typeface="Times New Roman" panose="02020603050405020304" pitchFamily="18" charset="0"/>
                <a:cs typeface="Times New Roman" panose="02020603050405020304" pitchFamily="18" charset="0"/>
              </a:rPr>
              <a:t>,</a:t>
            </a:r>
            <a:r>
              <a:rPr sz="2800" b="1" spc="180" dirty="0">
                <a:solidFill>
                  <a:srgbClr val="C00000"/>
                </a:solidFill>
                <a:latin typeface="Times New Roman" panose="02020603050405020304" pitchFamily="18" charset="0"/>
                <a:cs typeface="Times New Roman" panose="02020603050405020304" pitchFamily="18" charset="0"/>
              </a:rPr>
              <a:t> </a:t>
            </a:r>
            <a:r>
              <a:rPr sz="2800" b="1" spc="-5" dirty="0">
                <a:solidFill>
                  <a:srgbClr val="C00000"/>
                </a:solidFill>
                <a:latin typeface="Times New Roman" panose="02020603050405020304" pitchFamily="18" charset="0"/>
                <a:cs typeface="Times New Roman" panose="02020603050405020304" pitchFamily="18" charset="0"/>
              </a:rPr>
              <a:t>aggregration)</a:t>
            </a:r>
            <a:endParaRPr sz="2800" b="1">
              <a:latin typeface="Times New Roman" panose="02020603050405020304" pitchFamily="18" charset="0"/>
              <a:cs typeface="Times New Roman" panose="02020603050405020304" pitchFamily="18" charset="0"/>
            </a:endParaRPr>
          </a:p>
          <a:p>
            <a:pPr marL="1039812" lvl="2" indent="-342900">
              <a:spcBef>
                <a:spcPts val="509"/>
              </a:spcBef>
              <a:buSzPct val="100000"/>
              <a:buFont typeface="Wingdings" panose="05000000000000000000" pitchFamily="2" charset="2"/>
              <a:buChar char="ü"/>
            </a:pPr>
            <a:r>
              <a:rPr sz="2800" b="1">
                <a:solidFill>
                  <a:srgbClr val="006FC0"/>
                </a:solidFill>
                <a:latin typeface="Times New Roman" panose="02020603050405020304" pitchFamily="18" charset="0"/>
                <a:cs typeface="Times New Roman" panose="02020603050405020304" pitchFamily="18" charset="0"/>
              </a:rPr>
              <a:t>Tập hợp – thành viên</a:t>
            </a:r>
            <a:r>
              <a:rPr sz="2800" b="1">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một </a:t>
            </a:r>
            <a:r>
              <a:rPr sz="2800" dirty="0">
                <a:latin typeface="Times New Roman" panose="02020603050405020304" pitchFamily="18" charset="0"/>
                <a:cs typeface="Times New Roman" panose="02020603050405020304" pitchFamily="18" charset="0"/>
              </a:rPr>
              <a:t>đối tượng khái </a:t>
            </a:r>
            <a:r>
              <a:rPr sz="2800" spc="-5" dirty="0">
                <a:latin typeface="Times New Roman" panose="02020603050405020304" pitchFamily="18" charset="0"/>
                <a:cs typeface="Times New Roman" panose="02020603050405020304" pitchFamily="18" charset="0"/>
              </a:rPr>
              <a:t>niệm </a:t>
            </a:r>
            <a:r>
              <a:rPr sz="2800" dirty="0">
                <a:latin typeface="Times New Roman" panose="02020603050405020304" pitchFamily="18" charset="0"/>
                <a:cs typeface="Times New Roman" panose="02020603050405020304" pitchFamily="18" charset="0"/>
              </a:rPr>
              <a:t>chứa </a:t>
            </a:r>
            <a:r>
              <a:rPr sz="2800">
                <a:latin typeface="Times New Roman" panose="02020603050405020304" pitchFamily="18" charset="0"/>
                <a:cs typeface="Times New Roman" panose="02020603050405020304" pitchFamily="18" charset="0"/>
              </a:rPr>
              <a:t>các</a:t>
            </a:r>
            <a:r>
              <a:rPr sz="2800" spc="-190">
                <a:latin typeface="Times New Roman" panose="02020603050405020304" pitchFamily="18" charset="0"/>
                <a:cs typeface="Times New Roman" panose="02020603050405020304" pitchFamily="18" charset="0"/>
              </a:rPr>
              <a:t> </a:t>
            </a:r>
            <a:r>
              <a:rPr lang="en-US" sz="2800" spc="-19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thành</a:t>
            </a:r>
            <a:r>
              <a:rPr lang="en-US" sz="2800">
                <a:latin typeface="Times New Roman" panose="02020603050405020304" pitchFamily="18" charset="0"/>
                <a:cs typeface="Times New Roman" panose="02020603050405020304" pitchFamily="18" charset="0"/>
              </a:rPr>
              <a:t> phần có thể vật </a:t>
            </a:r>
            <a:r>
              <a:rPr lang="en-US" sz="2800" spc="-5">
                <a:latin typeface="Times New Roman" panose="02020603050405020304" pitchFamily="18" charset="0"/>
                <a:cs typeface="Times New Roman" panose="02020603050405020304" pitchFamily="18" charset="0"/>
              </a:rPr>
              <a:t>lý </a:t>
            </a:r>
            <a:r>
              <a:rPr lang="en-US" sz="2800">
                <a:latin typeface="Times New Roman" panose="02020603050405020304" pitchFamily="18" charset="0"/>
                <a:cs typeface="Times New Roman" panose="02020603050405020304" pitchFamily="18" charset="0"/>
              </a:rPr>
              <a:t>hoặc khái</a:t>
            </a:r>
            <a:r>
              <a:rPr lang="en-US" sz="2800" spc="-140">
                <a:latin typeface="Times New Roman" panose="02020603050405020304" pitchFamily="18" charset="0"/>
                <a:cs typeface="Times New Roman" panose="02020603050405020304" pitchFamily="18" charset="0"/>
              </a:rPr>
              <a:t> </a:t>
            </a:r>
            <a:r>
              <a:rPr lang="en-US" sz="2800" spc="-5">
                <a:latin typeface="Times New Roman" panose="02020603050405020304" pitchFamily="18" charset="0"/>
                <a:cs typeface="Times New Roman" panose="02020603050405020304" pitchFamily="18" charset="0"/>
              </a:rPr>
              <a:t>niệm</a:t>
            </a:r>
            <a:endParaRPr lang="en-US" sz="2800">
              <a:latin typeface="Times New Roman" panose="02020603050405020304" pitchFamily="18" charset="0"/>
              <a:cs typeface="Times New Roman" panose="02020603050405020304" pitchFamily="18" charset="0"/>
            </a:endParaRPr>
          </a:p>
          <a:p>
            <a:pPr marL="926465" lvl="2" indent="-228600">
              <a:spcBef>
                <a:spcPts val="509"/>
              </a:spcBef>
              <a:buClr>
                <a:srgbClr val="DD8046"/>
              </a:buClr>
              <a:buSzPct val="75000"/>
              <a:buFont typeface="Wingdings"/>
              <a:buChar char=""/>
              <a:tabLst>
                <a:tab pos="927100" algn="l"/>
              </a:tabLst>
            </a:pPr>
            <a:endParaRPr sz="2000">
              <a:latin typeface="Arial"/>
              <a:cs typeface="Arial"/>
            </a:endParaRPr>
          </a:p>
        </p:txBody>
      </p:sp>
      <p:sp>
        <p:nvSpPr>
          <p:cNvPr id="21" name="object 21"/>
          <p:cNvSpPr/>
          <p:nvPr/>
        </p:nvSpPr>
        <p:spPr>
          <a:xfrm>
            <a:off x="4495800" y="3369499"/>
            <a:ext cx="1524890" cy="400242"/>
          </a:xfrm>
          <a:custGeom>
            <a:avLst/>
            <a:gdLst/>
            <a:ahLst/>
            <a:cxnLst/>
            <a:rect l="l" t="t" r="r" b="b"/>
            <a:pathLst>
              <a:path w="1525270" h="261620">
                <a:moveTo>
                  <a:pt x="1523111" y="0"/>
                </a:moveTo>
                <a:lnTo>
                  <a:pt x="1472819" y="7492"/>
                </a:lnTo>
                <a:lnTo>
                  <a:pt x="1474724" y="20065"/>
                </a:lnTo>
                <a:lnTo>
                  <a:pt x="1524889" y="12445"/>
                </a:lnTo>
                <a:lnTo>
                  <a:pt x="1523111" y="0"/>
                </a:lnTo>
                <a:close/>
              </a:path>
              <a:path w="1525270" h="261620">
                <a:moveTo>
                  <a:pt x="1435100" y="13080"/>
                </a:moveTo>
                <a:lnTo>
                  <a:pt x="1384935" y="20700"/>
                </a:lnTo>
                <a:lnTo>
                  <a:pt x="1386839" y="33274"/>
                </a:lnTo>
                <a:lnTo>
                  <a:pt x="1437004" y="25653"/>
                </a:lnTo>
                <a:lnTo>
                  <a:pt x="1435100" y="13080"/>
                </a:lnTo>
                <a:close/>
              </a:path>
              <a:path w="1525270" h="261620">
                <a:moveTo>
                  <a:pt x="1347215" y="26288"/>
                </a:moveTo>
                <a:lnTo>
                  <a:pt x="1297051" y="33908"/>
                </a:lnTo>
                <a:lnTo>
                  <a:pt x="1298828" y="46354"/>
                </a:lnTo>
                <a:lnTo>
                  <a:pt x="1349121" y="38862"/>
                </a:lnTo>
                <a:lnTo>
                  <a:pt x="1347215" y="26288"/>
                </a:lnTo>
                <a:close/>
              </a:path>
              <a:path w="1525270" h="261620">
                <a:moveTo>
                  <a:pt x="1259332" y="39496"/>
                </a:moveTo>
                <a:lnTo>
                  <a:pt x="1209039" y="46989"/>
                </a:lnTo>
                <a:lnTo>
                  <a:pt x="1210945" y="59562"/>
                </a:lnTo>
                <a:lnTo>
                  <a:pt x="1261237" y="52069"/>
                </a:lnTo>
                <a:lnTo>
                  <a:pt x="1259332" y="39496"/>
                </a:lnTo>
                <a:close/>
              </a:path>
              <a:path w="1525270" h="261620">
                <a:moveTo>
                  <a:pt x="1171448" y="52704"/>
                </a:moveTo>
                <a:lnTo>
                  <a:pt x="1121155" y="60198"/>
                </a:lnTo>
                <a:lnTo>
                  <a:pt x="1123061" y="72770"/>
                </a:lnTo>
                <a:lnTo>
                  <a:pt x="1173226" y="65277"/>
                </a:lnTo>
                <a:lnTo>
                  <a:pt x="1171448" y="52704"/>
                </a:lnTo>
                <a:close/>
              </a:path>
              <a:path w="1525270" h="261620">
                <a:moveTo>
                  <a:pt x="1083437" y="65912"/>
                </a:moveTo>
                <a:lnTo>
                  <a:pt x="1033272" y="73405"/>
                </a:lnTo>
                <a:lnTo>
                  <a:pt x="1035176" y="85978"/>
                </a:lnTo>
                <a:lnTo>
                  <a:pt x="1085341" y="78486"/>
                </a:lnTo>
                <a:lnTo>
                  <a:pt x="1083437" y="65912"/>
                </a:lnTo>
                <a:close/>
              </a:path>
              <a:path w="1525270" h="261620">
                <a:moveTo>
                  <a:pt x="995552" y="79120"/>
                </a:moveTo>
                <a:lnTo>
                  <a:pt x="945261" y="86613"/>
                </a:lnTo>
                <a:lnTo>
                  <a:pt x="947165" y="99186"/>
                </a:lnTo>
                <a:lnTo>
                  <a:pt x="997458" y="91566"/>
                </a:lnTo>
                <a:lnTo>
                  <a:pt x="995552" y="79120"/>
                </a:lnTo>
                <a:close/>
              </a:path>
              <a:path w="1525270" h="261620">
                <a:moveTo>
                  <a:pt x="907669" y="92201"/>
                </a:moveTo>
                <a:lnTo>
                  <a:pt x="857376" y="99821"/>
                </a:lnTo>
                <a:lnTo>
                  <a:pt x="859282" y="112394"/>
                </a:lnTo>
                <a:lnTo>
                  <a:pt x="909574" y="104774"/>
                </a:lnTo>
                <a:lnTo>
                  <a:pt x="907669" y="92201"/>
                </a:lnTo>
                <a:close/>
              </a:path>
              <a:path w="1525270" h="261620">
                <a:moveTo>
                  <a:pt x="819785" y="105409"/>
                </a:moveTo>
                <a:lnTo>
                  <a:pt x="769492" y="113029"/>
                </a:lnTo>
                <a:lnTo>
                  <a:pt x="771398" y="125475"/>
                </a:lnTo>
                <a:lnTo>
                  <a:pt x="821563" y="117982"/>
                </a:lnTo>
                <a:lnTo>
                  <a:pt x="819785" y="105409"/>
                </a:lnTo>
                <a:close/>
              </a:path>
              <a:path w="1525270" h="261620">
                <a:moveTo>
                  <a:pt x="731774" y="118617"/>
                </a:moveTo>
                <a:lnTo>
                  <a:pt x="681609" y="126110"/>
                </a:lnTo>
                <a:lnTo>
                  <a:pt x="683513" y="138683"/>
                </a:lnTo>
                <a:lnTo>
                  <a:pt x="733678" y="131190"/>
                </a:lnTo>
                <a:lnTo>
                  <a:pt x="731774" y="118617"/>
                </a:lnTo>
                <a:close/>
              </a:path>
              <a:path w="1525270" h="261620">
                <a:moveTo>
                  <a:pt x="643889" y="131825"/>
                </a:moveTo>
                <a:lnTo>
                  <a:pt x="593598" y="139318"/>
                </a:lnTo>
                <a:lnTo>
                  <a:pt x="595502" y="151891"/>
                </a:lnTo>
                <a:lnTo>
                  <a:pt x="645795" y="144398"/>
                </a:lnTo>
                <a:lnTo>
                  <a:pt x="643889" y="131825"/>
                </a:lnTo>
                <a:close/>
              </a:path>
              <a:path w="1525270" h="261620">
                <a:moveTo>
                  <a:pt x="556005" y="145033"/>
                </a:moveTo>
                <a:lnTo>
                  <a:pt x="505713" y="152526"/>
                </a:lnTo>
                <a:lnTo>
                  <a:pt x="507619" y="165099"/>
                </a:lnTo>
                <a:lnTo>
                  <a:pt x="557911" y="157606"/>
                </a:lnTo>
                <a:lnTo>
                  <a:pt x="556005" y="145033"/>
                </a:lnTo>
                <a:close/>
              </a:path>
              <a:path w="1525270" h="261620">
                <a:moveTo>
                  <a:pt x="468122" y="158241"/>
                </a:moveTo>
                <a:lnTo>
                  <a:pt x="417829" y="165734"/>
                </a:lnTo>
                <a:lnTo>
                  <a:pt x="419735" y="178307"/>
                </a:lnTo>
                <a:lnTo>
                  <a:pt x="469900" y="170687"/>
                </a:lnTo>
                <a:lnTo>
                  <a:pt x="468122" y="158241"/>
                </a:lnTo>
                <a:close/>
              </a:path>
              <a:path w="1525270" h="261620">
                <a:moveTo>
                  <a:pt x="380111" y="171322"/>
                </a:moveTo>
                <a:lnTo>
                  <a:pt x="329946" y="178942"/>
                </a:lnTo>
                <a:lnTo>
                  <a:pt x="331850" y="191515"/>
                </a:lnTo>
                <a:lnTo>
                  <a:pt x="382015" y="183895"/>
                </a:lnTo>
                <a:lnTo>
                  <a:pt x="380111" y="171322"/>
                </a:lnTo>
                <a:close/>
              </a:path>
              <a:path w="1525270" h="261620">
                <a:moveTo>
                  <a:pt x="292226" y="184530"/>
                </a:moveTo>
                <a:lnTo>
                  <a:pt x="241935" y="192150"/>
                </a:lnTo>
                <a:lnTo>
                  <a:pt x="243839" y="204596"/>
                </a:lnTo>
                <a:lnTo>
                  <a:pt x="294132" y="197103"/>
                </a:lnTo>
                <a:lnTo>
                  <a:pt x="292226" y="184530"/>
                </a:lnTo>
                <a:close/>
              </a:path>
              <a:path w="1525270" h="261620">
                <a:moveTo>
                  <a:pt x="204343" y="197738"/>
                </a:moveTo>
                <a:lnTo>
                  <a:pt x="154050" y="205231"/>
                </a:lnTo>
                <a:lnTo>
                  <a:pt x="155956" y="217804"/>
                </a:lnTo>
                <a:lnTo>
                  <a:pt x="206248" y="210311"/>
                </a:lnTo>
                <a:lnTo>
                  <a:pt x="204343" y="197738"/>
                </a:lnTo>
                <a:close/>
              </a:path>
              <a:path w="1525270" h="261620">
                <a:moveTo>
                  <a:pt x="69723" y="185800"/>
                </a:moveTo>
                <a:lnTo>
                  <a:pt x="0" y="234822"/>
                </a:lnTo>
                <a:lnTo>
                  <a:pt x="81025" y="261238"/>
                </a:lnTo>
                <a:lnTo>
                  <a:pt x="76497" y="231012"/>
                </a:lnTo>
                <a:lnTo>
                  <a:pt x="68072" y="231012"/>
                </a:lnTo>
                <a:lnTo>
                  <a:pt x="66167" y="218439"/>
                </a:lnTo>
                <a:lnTo>
                  <a:pt x="74428" y="217209"/>
                </a:lnTo>
                <a:lnTo>
                  <a:pt x="69723" y="185800"/>
                </a:lnTo>
                <a:close/>
              </a:path>
              <a:path w="1525270" h="261620">
                <a:moveTo>
                  <a:pt x="74428" y="217209"/>
                </a:moveTo>
                <a:lnTo>
                  <a:pt x="66167" y="218439"/>
                </a:lnTo>
                <a:lnTo>
                  <a:pt x="68072" y="231012"/>
                </a:lnTo>
                <a:lnTo>
                  <a:pt x="76312" y="229782"/>
                </a:lnTo>
                <a:lnTo>
                  <a:pt x="74428" y="217209"/>
                </a:lnTo>
                <a:close/>
              </a:path>
              <a:path w="1525270" h="261620">
                <a:moveTo>
                  <a:pt x="76312" y="229782"/>
                </a:moveTo>
                <a:lnTo>
                  <a:pt x="68072" y="231012"/>
                </a:lnTo>
                <a:lnTo>
                  <a:pt x="76497" y="231012"/>
                </a:lnTo>
                <a:lnTo>
                  <a:pt x="76312" y="229782"/>
                </a:lnTo>
                <a:close/>
              </a:path>
              <a:path w="1525270" h="261620">
                <a:moveTo>
                  <a:pt x="116458" y="210946"/>
                </a:moveTo>
                <a:lnTo>
                  <a:pt x="74428" y="217209"/>
                </a:lnTo>
                <a:lnTo>
                  <a:pt x="76312" y="229782"/>
                </a:lnTo>
                <a:lnTo>
                  <a:pt x="118237" y="223519"/>
                </a:lnTo>
                <a:lnTo>
                  <a:pt x="116458" y="210946"/>
                </a:lnTo>
                <a:close/>
              </a:path>
            </a:pathLst>
          </a:custGeom>
          <a:solidFill>
            <a:srgbClr val="FF0066"/>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p:nvPr/>
        </p:nvSpPr>
        <p:spPr>
          <a:xfrm>
            <a:off x="6247130" y="3363597"/>
            <a:ext cx="1525651" cy="329945"/>
          </a:xfrm>
          <a:custGeom>
            <a:avLst/>
            <a:gdLst/>
            <a:ahLst/>
            <a:cxnLst/>
            <a:rect l="l" t="t" r="r" b="b"/>
            <a:pathLst>
              <a:path w="1525270" h="261620">
                <a:moveTo>
                  <a:pt x="1777" y="0"/>
                </a:moveTo>
                <a:lnTo>
                  <a:pt x="0" y="12445"/>
                </a:lnTo>
                <a:lnTo>
                  <a:pt x="50164" y="20065"/>
                </a:lnTo>
                <a:lnTo>
                  <a:pt x="52069" y="7492"/>
                </a:lnTo>
                <a:lnTo>
                  <a:pt x="1777" y="0"/>
                </a:lnTo>
                <a:close/>
              </a:path>
              <a:path w="1525270" h="261620">
                <a:moveTo>
                  <a:pt x="89788" y="13080"/>
                </a:moveTo>
                <a:lnTo>
                  <a:pt x="87884" y="25653"/>
                </a:lnTo>
                <a:lnTo>
                  <a:pt x="138049" y="33274"/>
                </a:lnTo>
                <a:lnTo>
                  <a:pt x="139953" y="20700"/>
                </a:lnTo>
                <a:lnTo>
                  <a:pt x="89788" y="13080"/>
                </a:lnTo>
                <a:close/>
              </a:path>
              <a:path w="1525270" h="261620">
                <a:moveTo>
                  <a:pt x="177673" y="26288"/>
                </a:moveTo>
                <a:lnTo>
                  <a:pt x="175767" y="38862"/>
                </a:lnTo>
                <a:lnTo>
                  <a:pt x="226060" y="46354"/>
                </a:lnTo>
                <a:lnTo>
                  <a:pt x="227837" y="33908"/>
                </a:lnTo>
                <a:lnTo>
                  <a:pt x="177673" y="26288"/>
                </a:lnTo>
                <a:close/>
              </a:path>
              <a:path w="1525270" h="261620">
                <a:moveTo>
                  <a:pt x="265556" y="39496"/>
                </a:moveTo>
                <a:lnTo>
                  <a:pt x="263651" y="52069"/>
                </a:lnTo>
                <a:lnTo>
                  <a:pt x="313943" y="59562"/>
                </a:lnTo>
                <a:lnTo>
                  <a:pt x="315849" y="46989"/>
                </a:lnTo>
                <a:lnTo>
                  <a:pt x="265556" y="39496"/>
                </a:lnTo>
                <a:close/>
              </a:path>
              <a:path w="1525270" h="261620">
                <a:moveTo>
                  <a:pt x="353440" y="52704"/>
                </a:moveTo>
                <a:lnTo>
                  <a:pt x="351663" y="65277"/>
                </a:lnTo>
                <a:lnTo>
                  <a:pt x="401827" y="72770"/>
                </a:lnTo>
                <a:lnTo>
                  <a:pt x="403733" y="60198"/>
                </a:lnTo>
                <a:lnTo>
                  <a:pt x="353440" y="52704"/>
                </a:lnTo>
                <a:close/>
              </a:path>
              <a:path w="1525270" h="261620">
                <a:moveTo>
                  <a:pt x="441451" y="65912"/>
                </a:moveTo>
                <a:lnTo>
                  <a:pt x="439547" y="78486"/>
                </a:lnTo>
                <a:lnTo>
                  <a:pt x="489712" y="85978"/>
                </a:lnTo>
                <a:lnTo>
                  <a:pt x="491616" y="73405"/>
                </a:lnTo>
                <a:lnTo>
                  <a:pt x="441451" y="65912"/>
                </a:lnTo>
                <a:close/>
              </a:path>
              <a:path w="1525270" h="261620">
                <a:moveTo>
                  <a:pt x="529336" y="79120"/>
                </a:moveTo>
                <a:lnTo>
                  <a:pt x="527430" y="91566"/>
                </a:lnTo>
                <a:lnTo>
                  <a:pt x="577723" y="99187"/>
                </a:lnTo>
                <a:lnTo>
                  <a:pt x="579627" y="86613"/>
                </a:lnTo>
                <a:lnTo>
                  <a:pt x="529336" y="79120"/>
                </a:lnTo>
                <a:close/>
              </a:path>
              <a:path w="1525270" h="261620">
                <a:moveTo>
                  <a:pt x="617219" y="92201"/>
                </a:moveTo>
                <a:lnTo>
                  <a:pt x="615314" y="104775"/>
                </a:lnTo>
                <a:lnTo>
                  <a:pt x="665606" y="112394"/>
                </a:lnTo>
                <a:lnTo>
                  <a:pt x="667512" y="99821"/>
                </a:lnTo>
                <a:lnTo>
                  <a:pt x="617219" y="92201"/>
                </a:lnTo>
                <a:close/>
              </a:path>
              <a:path w="1525270" h="261620">
                <a:moveTo>
                  <a:pt x="705103" y="105409"/>
                </a:moveTo>
                <a:lnTo>
                  <a:pt x="703326" y="117982"/>
                </a:lnTo>
                <a:lnTo>
                  <a:pt x="753490" y="125475"/>
                </a:lnTo>
                <a:lnTo>
                  <a:pt x="755396" y="113029"/>
                </a:lnTo>
                <a:lnTo>
                  <a:pt x="705103" y="105409"/>
                </a:lnTo>
                <a:close/>
              </a:path>
              <a:path w="1525270" h="261620">
                <a:moveTo>
                  <a:pt x="793114" y="118617"/>
                </a:moveTo>
                <a:lnTo>
                  <a:pt x="791210" y="131190"/>
                </a:lnTo>
                <a:lnTo>
                  <a:pt x="841375" y="138683"/>
                </a:lnTo>
                <a:lnTo>
                  <a:pt x="843279" y="126111"/>
                </a:lnTo>
                <a:lnTo>
                  <a:pt x="793114" y="118617"/>
                </a:lnTo>
                <a:close/>
              </a:path>
              <a:path w="1525270" h="261620">
                <a:moveTo>
                  <a:pt x="880999" y="131825"/>
                </a:moveTo>
                <a:lnTo>
                  <a:pt x="879093" y="144399"/>
                </a:lnTo>
                <a:lnTo>
                  <a:pt x="929386" y="151891"/>
                </a:lnTo>
                <a:lnTo>
                  <a:pt x="931290" y="139318"/>
                </a:lnTo>
                <a:lnTo>
                  <a:pt x="880999" y="131825"/>
                </a:lnTo>
                <a:close/>
              </a:path>
              <a:path w="1525270" h="261620">
                <a:moveTo>
                  <a:pt x="968883" y="145033"/>
                </a:moveTo>
                <a:lnTo>
                  <a:pt x="966977" y="157606"/>
                </a:lnTo>
                <a:lnTo>
                  <a:pt x="1017269" y="165100"/>
                </a:lnTo>
                <a:lnTo>
                  <a:pt x="1019175" y="152526"/>
                </a:lnTo>
                <a:lnTo>
                  <a:pt x="968883" y="145033"/>
                </a:lnTo>
                <a:close/>
              </a:path>
              <a:path w="1525270" h="261620">
                <a:moveTo>
                  <a:pt x="1056766" y="158241"/>
                </a:moveTo>
                <a:lnTo>
                  <a:pt x="1054989" y="170687"/>
                </a:lnTo>
                <a:lnTo>
                  <a:pt x="1105153" y="178307"/>
                </a:lnTo>
                <a:lnTo>
                  <a:pt x="1107059" y="165734"/>
                </a:lnTo>
                <a:lnTo>
                  <a:pt x="1056766" y="158241"/>
                </a:lnTo>
                <a:close/>
              </a:path>
              <a:path w="1525270" h="261620">
                <a:moveTo>
                  <a:pt x="1144777" y="171323"/>
                </a:moveTo>
                <a:lnTo>
                  <a:pt x="1142873" y="183895"/>
                </a:lnTo>
                <a:lnTo>
                  <a:pt x="1193038" y="191515"/>
                </a:lnTo>
                <a:lnTo>
                  <a:pt x="1194942" y="178942"/>
                </a:lnTo>
                <a:lnTo>
                  <a:pt x="1144777" y="171323"/>
                </a:lnTo>
                <a:close/>
              </a:path>
              <a:path w="1525270" h="261620">
                <a:moveTo>
                  <a:pt x="1232662" y="184530"/>
                </a:moveTo>
                <a:lnTo>
                  <a:pt x="1230756" y="197103"/>
                </a:lnTo>
                <a:lnTo>
                  <a:pt x="1281049" y="204723"/>
                </a:lnTo>
                <a:lnTo>
                  <a:pt x="1282953" y="192150"/>
                </a:lnTo>
                <a:lnTo>
                  <a:pt x="1232662" y="184530"/>
                </a:lnTo>
                <a:close/>
              </a:path>
              <a:path w="1525270" h="261620">
                <a:moveTo>
                  <a:pt x="1320546" y="197738"/>
                </a:moveTo>
                <a:lnTo>
                  <a:pt x="1318640" y="210311"/>
                </a:lnTo>
                <a:lnTo>
                  <a:pt x="1368933" y="217804"/>
                </a:lnTo>
                <a:lnTo>
                  <a:pt x="1370838" y="205231"/>
                </a:lnTo>
                <a:lnTo>
                  <a:pt x="1320546" y="197738"/>
                </a:lnTo>
                <a:close/>
              </a:path>
              <a:path w="1525270" h="261620">
                <a:moveTo>
                  <a:pt x="1448576" y="229782"/>
                </a:moveTo>
                <a:lnTo>
                  <a:pt x="1443863" y="261238"/>
                </a:lnTo>
                <a:lnTo>
                  <a:pt x="1524889" y="234822"/>
                </a:lnTo>
                <a:lnTo>
                  <a:pt x="1519470" y="231012"/>
                </a:lnTo>
                <a:lnTo>
                  <a:pt x="1456816" y="231012"/>
                </a:lnTo>
                <a:lnTo>
                  <a:pt x="1448576" y="229782"/>
                </a:lnTo>
                <a:close/>
              </a:path>
              <a:path w="1525270" h="261620">
                <a:moveTo>
                  <a:pt x="1450460" y="217209"/>
                </a:moveTo>
                <a:lnTo>
                  <a:pt x="1448576" y="229782"/>
                </a:lnTo>
                <a:lnTo>
                  <a:pt x="1456816" y="231012"/>
                </a:lnTo>
                <a:lnTo>
                  <a:pt x="1458722" y="218439"/>
                </a:lnTo>
                <a:lnTo>
                  <a:pt x="1450460" y="217209"/>
                </a:lnTo>
                <a:close/>
              </a:path>
              <a:path w="1525270" h="261620">
                <a:moveTo>
                  <a:pt x="1455165" y="185800"/>
                </a:moveTo>
                <a:lnTo>
                  <a:pt x="1450460" y="217209"/>
                </a:lnTo>
                <a:lnTo>
                  <a:pt x="1458722" y="218439"/>
                </a:lnTo>
                <a:lnTo>
                  <a:pt x="1456816" y="231012"/>
                </a:lnTo>
                <a:lnTo>
                  <a:pt x="1519470" y="231012"/>
                </a:lnTo>
                <a:lnTo>
                  <a:pt x="1455165" y="185800"/>
                </a:lnTo>
                <a:close/>
              </a:path>
              <a:path w="1525270" h="261620">
                <a:moveTo>
                  <a:pt x="1408429" y="210946"/>
                </a:moveTo>
                <a:lnTo>
                  <a:pt x="1406652" y="223519"/>
                </a:lnTo>
                <a:lnTo>
                  <a:pt x="1448576" y="229782"/>
                </a:lnTo>
                <a:lnTo>
                  <a:pt x="1450460" y="217209"/>
                </a:lnTo>
                <a:lnTo>
                  <a:pt x="1408429" y="210946"/>
                </a:lnTo>
                <a:close/>
              </a:path>
            </a:pathLst>
          </a:custGeom>
          <a:solidFill>
            <a:srgbClr val="FF0066"/>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6" name="object 2"/>
          <p:cNvSpPr txBox="1">
            <a:spLocks noGrp="1"/>
          </p:cNvSpPr>
          <p:nvPr>
            <p:ph type="title"/>
          </p:nvPr>
        </p:nvSpPr>
        <p:spPr>
          <a:xfrm>
            <a:off x="2438400" y="122238"/>
            <a:ext cx="7391400" cy="56356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mối </a:t>
            </a:r>
            <a:r>
              <a:rPr>
                <a:latin typeface="Times New Roman" panose="02020603050405020304" pitchFamily="18" charset="0"/>
                <a:cs typeface="Times New Roman" panose="02020603050405020304" pitchFamily="18" charset="0"/>
              </a:rPr>
              <a:t>quan hệ</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24"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
        <p:nvSpPr>
          <p:cNvPr id="27" name="object 17"/>
          <p:cNvSpPr txBox="1"/>
          <p:nvPr/>
        </p:nvSpPr>
        <p:spPr>
          <a:xfrm>
            <a:off x="5468494" y="3020707"/>
            <a:ext cx="1503170" cy="289823"/>
          </a:xfrm>
          <a:prstGeom prst="rect">
            <a:avLst/>
          </a:prstGeom>
        </p:spPr>
        <p:txBody>
          <a:bodyPr vert="horz" wrap="square" lIns="0" tIns="12700" rIns="0" bIns="0" rtlCol="0">
            <a:spAutoFit/>
          </a:bodyPr>
          <a:lstStyle/>
          <a:p>
            <a:pPr marL="12700">
              <a:spcBef>
                <a:spcPts val="100"/>
              </a:spcBef>
            </a:pPr>
            <a:r>
              <a:rPr spc="-5">
                <a:solidFill>
                  <a:srgbClr val="FF3300"/>
                </a:solidFill>
                <a:latin typeface="Times New Roman" panose="02020603050405020304" pitchFamily="18" charset="0"/>
                <a:cs typeface="Times New Roman" panose="02020603050405020304" pitchFamily="18" charset="0"/>
              </a:rPr>
              <a:t>Lớp </a:t>
            </a:r>
            <a:r>
              <a:rPr lang="en-US" spc="-5">
                <a:solidFill>
                  <a:srgbClr val="FF3300"/>
                </a:solidFill>
                <a:latin typeface="Times New Roman" panose="02020603050405020304" pitchFamily="18" charset="0"/>
                <a:cs typeface="Times New Roman" panose="02020603050405020304" pitchFamily="18" charset="0"/>
              </a:rPr>
              <a:t>khái niệm</a:t>
            </a:r>
            <a:endParaRPr>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33156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82308"/>
            <a:ext cx="12192000" cy="527709"/>
          </a:xfrm>
          <a:prstGeom prst="rect">
            <a:avLst/>
          </a:prstGeom>
        </p:spPr>
        <p:txBody>
          <a:bodyPr vert="horz" wrap="square" lIns="0" tIns="95885" rIns="0" bIns="0" rtlCol="0">
            <a:spAutoFit/>
          </a:bodyPr>
          <a:lstStyle/>
          <a:p>
            <a:pPr marL="231775" indent="-219075">
              <a:spcBef>
                <a:spcPts val="755"/>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Nâng </a:t>
            </a:r>
            <a:r>
              <a:rPr sz="2800" b="1" dirty="0">
                <a:solidFill>
                  <a:srgbClr val="FF0000"/>
                </a:solidFill>
                <a:latin typeface="Times New Roman" panose="02020603050405020304" pitchFamily="18" charset="0"/>
                <a:cs typeface="Times New Roman" panose="02020603050405020304" pitchFamily="18" charset="0"/>
              </a:rPr>
              <a:t>cấp mối kết </a:t>
            </a:r>
            <a:r>
              <a:rPr sz="2800" b="1" spc="-5">
                <a:solidFill>
                  <a:srgbClr val="FF0000"/>
                </a:solidFill>
                <a:latin typeface="Times New Roman" panose="02020603050405020304" pitchFamily="18" charset="0"/>
                <a:cs typeface="Times New Roman" panose="02020603050405020304" pitchFamily="18" charset="0"/>
              </a:rPr>
              <a:t>hợp:</a:t>
            </a:r>
            <a:endParaRPr sz="2800" b="1">
              <a:solidFill>
                <a:srgbClr val="FF0000"/>
              </a:solidFill>
              <a:latin typeface="Times New Roman" panose="02020603050405020304" pitchFamily="18" charset="0"/>
              <a:cs typeface="Times New Roman" panose="02020603050405020304" pitchFamily="18" charset="0"/>
            </a:endParaRPr>
          </a:p>
        </p:txBody>
      </p:sp>
      <p:sp>
        <p:nvSpPr>
          <p:cNvPr id="4" name="object 4"/>
          <p:cNvSpPr/>
          <p:nvPr/>
        </p:nvSpPr>
        <p:spPr>
          <a:xfrm>
            <a:off x="5774436" y="2668523"/>
            <a:ext cx="1412875" cy="561340"/>
          </a:xfrm>
          <a:custGeom>
            <a:avLst/>
            <a:gdLst/>
            <a:ahLst/>
            <a:cxnLst/>
            <a:rect l="l" t="t" r="r" b="b"/>
            <a:pathLst>
              <a:path w="1412875" h="561339">
                <a:moveTo>
                  <a:pt x="0" y="560831"/>
                </a:moveTo>
                <a:lnTo>
                  <a:pt x="1412748" y="560831"/>
                </a:lnTo>
                <a:lnTo>
                  <a:pt x="1412748" y="0"/>
                </a:lnTo>
                <a:lnTo>
                  <a:pt x="0" y="0"/>
                </a:lnTo>
                <a:lnTo>
                  <a:pt x="0" y="5608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5774436" y="2668523"/>
            <a:ext cx="1412875" cy="311624"/>
          </a:xfrm>
          <a:prstGeom prst="rect">
            <a:avLst/>
          </a:prstGeom>
          <a:ln w="3175">
            <a:solidFill>
              <a:srgbClr val="000000"/>
            </a:solidFill>
          </a:ln>
        </p:spPr>
        <p:txBody>
          <a:bodyPr vert="horz" wrap="square" lIns="0" tIns="41910" rIns="0" bIns="0" rtlCol="0">
            <a:spAutoFit/>
          </a:bodyPr>
          <a:lstStyle/>
          <a:p>
            <a:pPr marL="184785">
              <a:lnSpc>
                <a:spcPts val="2095"/>
              </a:lnSpc>
              <a:spcBef>
                <a:spcPts val="330"/>
              </a:spcBef>
            </a:pPr>
            <a:r>
              <a:rPr spc="-5" dirty="0">
                <a:latin typeface="Times New Roman" panose="02020603050405020304" pitchFamily="18" charset="0"/>
                <a:cs typeface="Times New Roman" panose="02020603050405020304" pitchFamily="18" charset="0"/>
              </a:rPr>
              <a:t>NgânHàng</a:t>
            </a:r>
            <a:endParaRPr>
              <a:latin typeface="Times New Roman" panose="02020603050405020304" pitchFamily="18" charset="0"/>
              <a:cs typeface="Times New Roman" panose="02020603050405020304" pitchFamily="18" charset="0"/>
            </a:endParaRPr>
          </a:p>
        </p:txBody>
      </p:sp>
      <p:sp>
        <p:nvSpPr>
          <p:cNvPr id="6" name="object 6"/>
          <p:cNvSpPr/>
          <p:nvPr/>
        </p:nvSpPr>
        <p:spPr>
          <a:xfrm>
            <a:off x="5774436" y="2976373"/>
            <a:ext cx="1412875" cy="253365"/>
          </a:xfrm>
          <a:custGeom>
            <a:avLst/>
            <a:gdLst/>
            <a:ahLst/>
            <a:cxnLst/>
            <a:rect l="l" t="t" r="r" b="b"/>
            <a:pathLst>
              <a:path w="1412875" h="253364">
                <a:moveTo>
                  <a:pt x="0" y="252984"/>
                </a:moveTo>
                <a:lnTo>
                  <a:pt x="1412748" y="252984"/>
                </a:lnTo>
                <a:lnTo>
                  <a:pt x="1412748" y="0"/>
                </a:lnTo>
                <a:lnTo>
                  <a:pt x="0" y="0"/>
                </a:lnTo>
                <a:lnTo>
                  <a:pt x="0" y="25298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5774436" y="3087623"/>
            <a:ext cx="1412875" cy="142240"/>
          </a:xfrm>
          <a:custGeom>
            <a:avLst/>
            <a:gdLst/>
            <a:ahLst/>
            <a:cxnLst/>
            <a:rect l="l" t="t" r="r" b="b"/>
            <a:pathLst>
              <a:path w="1412875" h="142239">
                <a:moveTo>
                  <a:pt x="0" y="141732"/>
                </a:moveTo>
                <a:lnTo>
                  <a:pt x="1412748" y="141732"/>
                </a:lnTo>
                <a:lnTo>
                  <a:pt x="1412748" y="0"/>
                </a:lnTo>
                <a:lnTo>
                  <a:pt x="0" y="0"/>
                </a:lnTo>
                <a:lnTo>
                  <a:pt x="0" y="14173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3558539" y="3998976"/>
            <a:ext cx="1490980" cy="561340"/>
          </a:xfrm>
          <a:custGeom>
            <a:avLst/>
            <a:gdLst/>
            <a:ahLst/>
            <a:cxnLst/>
            <a:rect l="l" t="t" r="r" b="b"/>
            <a:pathLst>
              <a:path w="1490979" h="561339">
                <a:moveTo>
                  <a:pt x="0" y="560832"/>
                </a:moveTo>
                <a:lnTo>
                  <a:pt x="1490472" y="560832"/>
                </a:lnTo>
                <a:lnTo>
                  <a:pt x="1490472" y="0"/>
                </a:lnTo>
                <a:lnTo>
                  <a:pt x="0" y="0"/>
                </a:lnTo>
                <a:lnTo>
                  <a:pt x="0" y="56083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txBox="1"/>
          <p:nvPr/>
        </p:nvSpPr>
        <p:spPr>
          <a:xfrm>
            <a:off x="3558539" y="3998976"/>
            <a:ext cx="1490980" cy="311624"/>
          </a:xfrm>
          <a:prstGeom prst="rect">
            <a:avLst/>
          </a:prstGeom>
          <a:ln w="3175">
            <a:solidFill>
              <a:srgbClr val="000000"/>
            </a:solidFill>
          </a:ln>
        </p:spPr>
        <p:txBody>
          <a:bodyPr vert="horz" wrap="square" lIns="0" tIns="41910" rIns="0" bIns="0" rtlCol="0">
            <a:spAutoFit/>
          </a:bodyPr>
          <a:lstStyle/>
          <a:p>
            <a:pPr marL="179070">
              <a:lnSpc>
                <a:spcPts val="2080"/>
              </a:lnSpc>
              <a:spcBef>
                <a:spcPts val="330"/>
              </a:spcBef>
            </a:pPr>
            <a:r>
              <a:rPr spc="-5" dirty="0">
                <a:latin typeface="Times New Roman" panose="02020603050405020304" pitchFamily="18" charset="0"/>
                <a:cs typeface="Times New Roman" panose="02020603050405020304" pitchFamily="18" charset="0"/>
              </a:rPr>
              <a:t>KháchHàng</a:t>
            </a:r>
            <a:endParaRPr>
              <a:latin typeface="Times New Roman" panose="02020603050405020304" pitchFamily="18" charset="0"/>
              <a:cs typeface="Times New Roman" panose="02020603050405020304" pitchFamily="18" charset="0"/>
            </a:endParaRPr>
          </a:p>
        </p:txBody>
      </p:sp>
      <p:sp>
        <p:nvSpPr>
          <p:cNvPr id="10" name="object 10"/>
          <p:cNvSpPr/>
          <p:nvPr/>
        </p:nvSpPr>
        <p:spPr>
          <a:xfrm>
            <a:off x="3558539" y="4305301"/>
            <a:ext cx="1490980" cy="254635"/>
          </a:xfrm>
          <a:custGeom>
            <a:avLst/>
            <a:gdLst/>
            <a:ahLst/>
            <a:cxnLst/>
            <a:rect l="l" t="t" r="r" b="b"/>
            <a:pathLst>
              <a:path w="1490979" h="254635">
                <a:moveTo>
                  <a:pt x="0" y="254507"/>
                </a:moveTo>
                <a:lnTo>
                  <a:pt x="1490472" y="254507"/>
                </a:lnTo>
                <a:lnTo>
                  <a:pt x="1490472"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3558539" y="4419601"/>
            <a:ext cx="1490980" cy="140335"/>
          </a:xfrm>
          <a:custGeom>
            <a:avLst/>
            <a:gdLst/>
            <a:ahLst/>
            <a:cxnLst/>
            <a:rect l="l" t="t" r="r" b="b"/>
            <a:pathLst>
              <a:path w="1490979" h="140335">
                <a:moveTo>
                  <a:pt x="0" y="140207"/>
                </a:moveTo>
                <a:lnTo>
                  <a:pt x="1490472" y="140207"/>
                </a:lnTo>
                <a:lnTo>
                  <a:pt x="1490472" y="0"/>
                </a:lnTo>
                <a:lnTo>
                  <a:pt x="0" y="0"/>
                </a:lnTo>
                <a:lnTo>
                  <a:pt x="0" y="1402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3706367" y="5564123"/>
            <a:ext cx="1195070" cy="562610"/>
          </a:xfrm>
          <a:custGeom>
            <a:avLst/>
            <a:gdLst/>
            <a:ahLst/>
            <a:cxnLst/>
            <a:rect l="l" t="t" r="r" b="b"/>
            <a:pathLst>
              <a:path w="1195070" h="562610">
                <a:moveTo>
                  <a:pt x="0" y="562355"/>
                </a:moveTo>
                <a:lnTo>
                  <a:pt x="1194816" y="562355"/>
                </a:lnTo>
                <a:lnTo>
                  <a:pt x="1194816" y="0"/>
                </a:lnTo>
                <a:lnTo>
                  <a:pt x="0" y="0"/>
                </a:lnTo>
                <a:lnTo>
                  <a:pt x="0" y="5623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txBox="1"/>
          <p:nvPr/>
        </p:nvSpPr>
        <p:spPr>
          <a:xfrm>
            <a:off x="3706367" y="5564123"/>
            <a:ext cx="1195070" cy="288290"/>
          </a:xfrm>
          <a:prstGeom prst="rect">
            <a:avLst/>
          </a:prstGeom>
          <a:ln w="3175">
            <a:solidFill>
              <a:srgbClr val="000000"/>
            </a:solidFill>
          </a:ln>
        </p:spPr>
        <p:txBody>
          <a:bodyPr vert="horz" wrap="square" lIns="0" tIns="42545" rIns="0" bIns="0" rtlCol="0">
            <a:spAutoFit/>
          </a:bodyPr>
          <a:lstStyle/>
          <a:p>
            <a:pPr marL="135255">
              <a:lnSpc>
                <a:spcPts val="1930"/>
              </a:lnSpc>
              <a:spcBef>
                <a:spcPts val="335"/>
              </a:spcBef>
            </a:pPr>
            <a:r>
              <a:rPr spc="-5" dirty="0">
                <a:latin typeface="Times New Roman" panose="02020603050405020304" pitchFamily="18" charset="0"/>
                <a:cs typeface="Times New Roman" panose="02020603050405020304" pitchFamily="18" charset="0"/>
              </a:rPr>
              <a:t>TàiKhoản</a:t>
            </a:r>
            <a:endParaRPr>
              <a:latin typeface="Times New Roman" panose="02020603050405020304" pitchFamily="18" charset="0"/>
              <a:cs typeface="Times New Roman" panose="02020603050405020304" pitchFamily="18" charset="0"/>
            </a:endParaRPr>
          </a:p>
        </p:txBody>
      </p:sp>
      <p:sp>
        <p:nvSpPr>
          <p:cNvPr id="14" name="object 14"/>
          <p:cNvSpPr/>
          <p:nvPr/>
        </p:nvSpPr>
        <p:spPr>
          <a:xfrm>
            <a:off x="3706367" y="5871972"/>
            <a:ext cx="1195070" cy="254635"/>
          </a:xfrm>
          <a:custGeom>
            <a:avLst/>
            <a:gdLst/>
            <a:ahLst/>
            <a:cxnLst/>
            <a:rect l="l" t="t" r="r" b="b"/>
            <a:pathLst>
              <a:path w="1195070" h="254635">
                <a:moveTo>
                  <a:pt x="0" y="254507"/>
                </a:moveTo>
                <a:lnTo>
                  <a:pt x="1194816" y="254507"/>
                </a:lnTo>
                <a:lnTo>
                  <a:pt x="1194816"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3706367" y="5984747"/>
            <a:ext cx="1195070" cy="142240"/>
          </a:xfrm>
          <a:custGeom>
            <a:avLst/>
            <a:gdLst/>
            <a:ahLst/>
            <a:cxnLst/>
            <a:rect l="l" t="t" r="r" b="b"/>
            <a:pathLst>
              <a:path w="1195070" h="142239">
                <a:moveTo>
                  <a:pt x="0" y="141731"/>
                </a:moveTo>
                <a:lnTo>
                  <a:pt x="1194816" y="141731"/>
                </a:lnTo>
                <a:lnTo>
                  <a:pt x="1194816"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p:nvPr/>
        </p:nvSpPr>
        <p:spPr>
          <a:xfrm>
            <a:off x="8331707" y="5564123"/>
            <a:ext cx="1196340" cy="562610"/>
          </a:xfrm>
          <a:custGeom>
            <a:avLst/>
            <a:gdLst/>
            <a:ahLst/>
            <a:cxnLst/>
            <a:rect l="l" t="t" r="r" b="b"/>
            <a:pathLst>
              <a:path w="1196340" h="562610">
                <a:moveTo>
                  <a:pt x="0" y="562355"/>
                </a:moveTo>
                <a:lnTo>
                  <a:pt x="1196340" y="562355"/>
                </a:lnTo>
                <a:lnTo>
                  <a:pt x="1196340" y="0"/>
                </a:lnTo>
                <a:lnTo>
                  <a:pt x="0" y="0"/>
                </a:lnTo>
                <a:lnTo>
                  <a:pt x="0" y="5623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7" name="object 17"/>
          <p:cNvSpPr txBox="1"/>
          <p:nvPr/>
        </p:nvSpPr>
        <p:spPr>
          <a:xfrm>
            <a:off x="8331707" y="5564123"/>
            <a:ext cx="1196340" cy="288290"/>
          </a:xfrm>
          <a:prstGeom prst="rect">
            <a:avLst/>
          </a:prstGeom>
          <a:ln w="3175">
            <a:solidFill>
              <a:srgbClr val="000000"/>
            </a:solidFill>
          </a:ln>
        </p:spPr>
        <p:txBody>
          <a:bodyPr vert="horz" wrap="square" lIns="0" tIns="42545" rIns="0" bIns="0" rtlCol="0">
            <a:spAutoFit/>
          </a:bodyPr>
          <a:lstStyle/>
          <a:p>
            <a:pPr marL="156210">
              <a:lnSpc>
                <a:spcPts val="1930"/>
              </a:lnSpc>
              <a:spcBef>
                <a:spcPts val="335"/>
              </a:spcBef>
            </a:pPr>
            <a:r>
              <a:rPr spc="-5" dirty="0">
                <a:latin typeface="Times New Roman" panose="02020603050405020304" pitchFamily="18" charset="0"/>
                <a:cs typeface="Times New Roman" panose="02020603050405020304" pitchFamily="18" charset="0"/>
              </a:rPr>
              <a:t>GiaoDịch</a:t>
            </a:r>
            <a:endParaRPr>
              <a:latin typeface="Times New Roman" panose="02020603050405020304" pitchFamily="18" charset="0"/>
              <a:cs typeface="Times New Roman" panose="02020603050405020304" pitchFamily="18" charset="0"/>
            </a:endParaRPr>
          </a:p>
        </p:txBody>
      </p:sp>
      <p:sp>
        <p:nvSpPr>
          <p:cNvPr id="18" name="object 18"/>
          <p:cNvSpPr/>
          <p:nvPr/>
        </p:nvSpPr>
        <p:spPr>
          <a:xfrm>
            <a:off x="8331707" y="5871972"/>
            <a:ext cx="1196340" cy="254635"/>
          </a:xfrm>
          <a:custGeom>
            <a:avLst/>
            <a:gdLst/>
            <a:ahLst/>
            <a:cxnLst/>
            <a:rect l="l" t="t" r="r" b="b"/>
            <a:pathLst>
              <a:path w="1196340" h="254635">
                <a:moveTo>
                  <a:pt x="0" y="254507"/>
                </a:moveTo>
                <a:lnTo>
                  <a:pt x="1196340" y="254507"/>
                </a:lnTo>
                <a:lnTo>
                  <a:pt x="1196340" y="0"/>
                </a:lnTo>
                <a:lnTo>
                  <a:pt x="0" y="0"/>
                </a:lnTo>
                <a:lnTo>
                  <a:pt x="0" y="25450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8331707" y="5984747"/>
            <a:ext cx="1196340" cy="142240"/>
          </a:xfrm>
          <a:custGeom>
            <a:avLst/>
            <a:gdLst/>
            <a:ahLst/>
            <a:cxnLst/>
            <a:rect l="l" t="t" r="r" b="b"/>
            <a:pathLst>
              <a:path w="1196340" h="142239">
                <a:moveTo>
                  <a:pt x="0" y="141731"/>
                </a:moveTo>
                <a:lnTo>
                  <a:pt x="1196340" y="141731"/>
                </a:lnTo>
                <a:lnTo>
                  <a:pt x="1196340" y="0"/>
                </a:lnTo>
                <a:lnTo>
                  <a:pt x="0" y="0"/>
                </a:lnTo>
                <a:lnTo>
                  <a:pt x="0" y="14173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6620255" y="5852159"/>
            <a:ext cx="1706880" cy="0"/>
          </a:xfrm>
          <a:custGeom>
            <a:avLst/>
            <a:gdLst/>
            <a:ahLst/>
            <a:cxnLst/>
            <a:rect l="l" t="t" r="r" b="b"/>
            <a:pathLst>
              <a:path w="1706879">
                <a:moveTo>
                  <a:pt x="0" y="0"/>
                </a:moveTo>
                <a:lnTo>
                  <a:pt x="1706879" y="0"/>
                </a:lnTo>
              </a:path>
            </a:pathLst>
          </a:custGeom>
          <a:ln w="15240">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4917948" y="5852159"/>
            <a:ext cx="1702435" cy="0"/>
          </a:xfrm>
          <a:custGeom>
            <a:avLst/>
            <a:gdLst/>
            <a:ahLst/>
            <a:cxnLst/>
            <a:rect l="l" t="t" r="r" b="b"/>
            <a:pathLst>
              <a:path w="1702435">
                <a:moveTo>
                  <a:pt x="1702307" y="0"/>
                </a:moveTo>
                <a:lnTo>
                  <a:pt x="0" y="0"/>
                </a:lnTo>
              </a:path>
            </a:pathLst>
          </a:custGeom>
          <a:ln w="15240">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txBox="1"/>
          <p:nvPr/>
        </p:nvSpPr>
        <p:spPr>
          <a:xfrm>
            <a:off x="6465824" y="5427065"/>
            <a:ext cx="3168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Có</a:t>
            </a:r>
            <a:endParaRPr>
              <a:latin typeface="Times New Roman" panose="02020603050405020304" pitchFamily="18" charset="0"/>
              <a:cs typeface="Times New Roman" panose="02020603050405020304" pitchFamily="18" charset="0"/>
            </a:endParaRPr>
          </a:p>
        </p:txBody>
      </p:sp>
      <p:sp>
        <p:nvSpPr>
          <p:cNvPr id="23" name="object 23"/>
          <p:cNvSpPr/>
          <p:nvPr/>
        </p:nvSpPr>
        <p:spPr>
          <a:xfrm>
            <a:off x="4312921" y="5065776"/>
            <a:ext cx="1905" cy="494030"/>
          </a:xfrm>
          <a:custGeom>
            <a:avLst/>
            <a:gdLst/>
            <a:ahLst/>
            <a:cxnLst/>
            <a:rect l="l" t="t" r="r" b="b"/>
            <a:pathLst>
              <a:path w="1905" h="494029">
                <a:moveTo>
                  <a:pt x="0" y="0"/>
                </a:moveTo>
                <a:lnTo>
                  <a:pt x="1524" y="493776"/>
                </a:lnTo>
              </a:path>
            </a:pathLst>
          </a:custGeom>
          <a:ln w="12192">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4" name="object 24"/>
          <p:cNvSpPr/>
          <p:nvPr/>
        </p:nvSpPr>
        <p:spPr>
          <a:xfrm>
            <a:off x="4312921" y="4576571"/>
            <a:ext cx="1905" cy="489584"/>
          </a:xfrm>
          <a:custGeom>
            <a:avLst/>
            <a:gdLst/>
            <a:ahLst/>
            <a:cxnLst/>
            <a:rect l="l" t="t" r="r" b="b"/>
            <a:pathLst>
              <a:path w="1905" h="489585">
                <a:moveTo>
                  <a:pt x="0" y="489203"/>
                </a:moveTo>
                <a:lnTo>
                  <a:pt x="1524" y="0"/>
                </a:lnTo>
              </a:path>
            </a:pathLst>
          </a:custGeom>
          <a:ln w="12192">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5" name="object 25"/>
          <p:cNvSpPr/>
          <p:nvPr/>
        </p:nvSpPr>
        <p:spPr>
          <a:xfrm>
            <a:off x="3124200" y="5844540"/>
            <a:ext cx="533400" cy="0"/>
          </a:xfrm>
          <a:custGeom>
            <a:avLst/>
            <a:gdLst/>
            <a:ahLst/>
            <a:cxnLst/>
            <a:rect l="l" t="t" r="r" b="b"/>
            <a:pathLst>
              <a:path w="533400">
                <a:moveTo>
                  <a:pt x="0" y="0"/>
                </a:moveTo>
                <a:lnTo>
                  <a:pt x="533400" y="0"/>
                </a:lnTo>
              </a:path>
            </a:pathLst>
          </a:custGeom>
          <a:ln w="15240">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6" name="object 26"/>
          <p:cNvSpPr/>
          <p:nvPr/>
        </p:nvSpPr>
        <p:spPr>
          <a:xfrm>
            <a:off x="3124200" y="2948939"/>
            <a:ext cx="0" cy="2895600"/>
          </a:xfrm>
          <a:custGeom>
            <a:avLst/>
            <a:gdLst/>
            <a:ahLst/>
            <a:cxnLst/>
            <a:rect l="l" t="t" r="r" b="b"/>
            <a:pathLst>
              <a:path h="2895600">
                <a:moveTo>
                  <a:pt x="0" y="2895600"/>
                </a:moveTo>
                <a:lnTo>
                  <a:pt x="0" y="0"/>
                </a:lnTo>
              </a:path>
            </a:pathLst>
          </a:custGeom>
          <a:ln w="15240">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7" name="object 27"/>
          <p:cNvSpPr/>
          <p:nvPr/>
        </p:nvSpPr>
        <p:spPr>
          <a:xfrm>
            <a:off x="3124200" y="2948939"/>
            <a:ext cx="2286000" cy="0"/>
          </a:xfrm>
          <a:custGeom>
            <a:avLst/>
            <a:gdLst/>
            <a:ahLst/>
            <a:cxnLst/>
            <a:rect l="l" t="t" r="r" b="b"/>
            <a:pathLst>
              <a:path w="2286000">
                <a:moveTo>
                  <a:pt x="0" y="0"/>
                </a:moveTo>
                <a:lnTo>
                  <a:pt x="2286000" y="0"/>
                </a:lnTo>
              </a:path>
            </a:pathLst>
          </a:custGeom>
          <a:ln w="15240">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8" name="object 28"/>
          <p:cNvSpPr txBox="1"/>
          <p:nvPr/>
        </p:nvSpPr>
        <p:spPr>
          <a:xfrm>
            <a:off x="3294633" y="3115817"/>
            <a:ext cx="660400" cy="299720"/>
          </a:xfrm>
          <a:prstGeom prst="rect">
            <a:avLst/>
          </a:prstGeom>
        </p:spPr>
        <p:txBody>
          <a:bodyPr vert="horz" wrap="square" lIns="0" tIns="12700" rIns="0" bIns="0" rtlCol="0">
            <a:spAutoFit/>
          </a:bodyPr>
          <a:lstStyle/>
          <a:p>
            <a:pPr marL="12700">
              <a:spcBef>
                <a:spcPts val="100"/>
              </a:spcBef>
            </a:pPr>
            <a:r>
              <a:rPr i="1" dirty="0">
                <a:latin typeface="Times New Roman" panose="02020603050405020304" pitchFamily="18" charset="0"/>
                <a:cs typeface="Times New Roman" panose="02020603050405020304" pitchFamily="18" charset="0"/>
              </a:rPr>
              <a:t>Th</a:t>
            </a:r>
            <a:r>
              <a:rPr i="1" spc="-10" dirty="0">
                <a:latin typeface="Times New Roman" panose="02020603050405020304" pitchFamily="18" charset="0"/>
                <a:cs typeface="Times New Roman" panose="02020603050405020304" pitchFamily="18" charset="0"/>
              </a:rPr>
              <a:t>u</a:t>
            </a:r>
            <a:r>
              <a:rPr i="1" spc="-5" dirty="0">
                <a:latin typeface="Times New Roman" panose="02020603050405020304" pitchFamily="18" charset="0"/>
                <a:cs typeface="Times New Roman" panose="02020603050405020304" pitchFamily="18" charset="0"/>
              </a:rPr>
              <a:t>ộc</a:t>
            </a:r>
            <a:endParaRPr>
              <a:latin typeface="Times New Roman" panose="02020603050405020304" pitchFamily="18" charset="0"/>
              <a:cs typeface="Times New Roman" panose="02020603050405020304" pitchFamily="18" charset="0"/>
            </a:endParaRPr>
          </a:p>
        </p:txBody>
      </p:sp>
      <p:sp>
        <p:nvSpPr>
          <p:cNvPr id="29" name="object 29"/>
          <p:cNvSpPr txBox="1"/>
          <p:nvPr/>
        </p:nvSpPr>
        <p:spPr>
          <a:xfrm>
            <a:off x="7776465" y="5561787"/>
            <a:ext cx="353695" cy="299720"/>
          </a:xfrm>
          <a:prstGeom prst="rect">
            <a:avLst/>
          </a:prstGeom>
        </p:spPr>
        <p:txBody>
          <a:bodyPr vert="horz" wrap="square" lIns="0" tIns="12700" rIns="0" bIns="0" rtlCol="0">
            <a:spAutoFit/>
          </a:bodyPr>
          <a:lstStyle/>
          <a:p>
            <a:pPr marL="12700">
              <a:spcBef>
                <a:spcPts val="100"/>
              </a:spcBef>
            </a:pPr>
            <a:r>
              <a:rPr i="1" spc="-35" dirty="0">
                <a:latin typeface="Times New Roman" panose="02020603050405020304" pitchFamily="18" charset="0"/>
                <a:cs typeface="Times New Roman" panose="02020603050405020304" pitchFamily="18" charset="0"/>
              </a:rPr>
              <a:t>0..*</a:t>
            </a:r>
            <a:endParaRPr>
              <a:latin typeface="Times New Roman" panose="02020603050405020304" pitchFamily="18" charset="0"/>
              <a:cs typeface="Times New Roman" panose="02020603050405020304" pitchFamily="18" charset="0"/>
            </a:endParaRPr>
          </a:p>
        </p:txBody>
      </p:sp>
      <p:sp>
        <p:nvSpPr>
          <p:cNvPr id="30" name="object 30"/>
          <p:cNvSpPr txBox="1"/>
          <p:nvPr/>
        </p:nvSpPr>
        <p:spPr>
          <a:xfrm>
            <a:off x="5109210" y="5866587"/>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31" name="object 31"/>
          <p:cNvSpPr txBox="1"/>
          <p:nvPr/>
        </p:nvSpPr>
        <p:spPr>
          <a:xfrm>
            <a:off x="4382517" y="4944111"/>
            <a:ext cx="443865" cy="612775"/>
          </a:xfrm>
          <a:prstGeom prst="rect">
            <a:avLst/>
          </a:prstGeom>
        </p:spPr>
        <p:txBody>
          <a:bodyPr vert="horz" wrap="square" lIns="0" tIns="31750" rIns="0" bIns="0" rtlCol="0">
            <a:spAutoFit/>
          </a:bodyPr>
          <a:lstStyle/>
          <a:p>
            <a:pPr marL="12700">
              <a:spcBef>
                <a:spcPts val="250"/>
              </a:spcBef>
            </a:pPr>
            <a:r>
              <a:rPr i="1" spc="-5" dirty="0">
                <a:latin typeface="Times New Roman" panose="02020603050405020304" pitchFamily="18" charset="0"/>
                <a:cs typeface="Times New Roman" panose="02020603050405020304" pitchFamily="18" charset="0"/>
              </a:rPr>
              <a:t>C</a:t>
            </a:r>
            <a:r>
              <a:rPr i="1" spc="-10" dirty="0">
                <a:latin typeface="Times New Roman" panose="02020603050405020304" pitchFamily="18" charset="0"/>
                <a:cs typeface="Times New Roman" panose="02020603050405020304" pitchFamily="18" charset="0"/>
              </a:rPr>
              <a:t>ủ</a:t>
            </a:r>
            <a:r>
              <a:rPr i="1" dirty="0">
                <a:latin typeface="Times New Roman" panose="02020603050405020304" pitchFamily="18" charset="0"/>
                <a:cs typeface="Times New Roman" panose="02020603050405020304" pitchFamily="18" charset="0"/>
              </a:rPr>
              <a:t>a</a:t>
            </a:r>
            <a:endParaRPr>
              <a:latin typeface="Times New Roman" panose="02020603050405020304" pitchFamily="18" charset="0"/>
              <a:cs typeface="Times New Roman" panose="02020603050405020304" pitchFamily="18" charset="0"/>
            </a:endParaRPr>
          </a:p>
          <a:p>
            <a:pPr marL="52705">
              <a:spcBef>
                <a:spcPts val="150"/>
              </a:spcBef>
            </a:pPr>
            <a:r>
              <a:rPr i="1" spc="-35"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32" name="object 32"/>
          <p:cNvSpPr txBox="1"/>
          <p:nvPr/>
        </p:nvSpPr>
        <p:spPr>
          <a:xfrm>
            <a:off x="4118230" y="4570553"/>
            <a:ext cx="151765" cy="300355"/>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33" name="object 33"/>
          <p:cNvSpPr txBox="1"/>
          <p:nvPr/>
        </p:nvSpPr>
        <p:spPr>
          <a:xfrm>
            <a:off x="7544118" y="3020033"/>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34" name="object 34"/>
          <p:cNvSpPr txBox="1"/>
          <p:nvPr/>
        </p:nvSpPr>
        <p:spPr>
          <a:xfrm>
            <a:off x="7928865" y="3885057"/>
            <a:ext cx="353695" cy="299720"/>
          </a:xfrm>
          <a:prstGeom prst="rect">
            <a:avLst/>
          </a:prstGeom>
        </p:spPr>
        <p:txBody>
          <a:bodyPr vert="horz" wrap="square" lIns="0" tIns="12700" rIns="0" bIns="0" rtlCol="0">
            <a:spAutoFit/>
          </a:bodyPr>
          <a:lstStyle/>
          <a:p>
            <a:pPr marL="12700">
              <a:spcBef>
                <a:spcPts val="100"/>
              </a:spcBef>
            </a:pPr>
            <a:r>
              <a:rPr i="1" spc="-35"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35" name="object 35"/>
          <p:cNvSpPr txBox="1"/>
          <p:nvPr/>
        </p:nvSpPr>
        <p:spPr>
          <a:xfrm>
            <a:off x="5231267" y="3001417"/>
            <a:ext cx="151765" cy="299720"/>
          </a:xfrm>
          <a:prstGeom prst="rect">
            <a:avLst/>
          </a:prstGeom>
        </p:spPr>
        <p:txBody>
          <a:bodyPr vert="horz" wrap="square" lIns="0" tIns="12700" rIns="0" bIns="0" rtlCol="0">
            <a:spAutoFit/>
          </a:bodyPr>
          <a:lstStyle/>
          <a:p>
            <a:pPr marL="12700">
              <a:spcBef>
                <a:spcPts val="100"/>
              </a:spcBef>
            </a:pPr>
            <a:r>
              <a:rPr i="1"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36" name="object 36"/>
          <p:cNvSpPr txBox="1"/>
          <p:nvPr/>
        </p:nvSpPr>
        <p:spPr>
          <a:xfrm>
            <a:off x="3280030" y="5485587"/>
            <a:ext cx="353695" cy="299720"/>
          </a:xfrm>
          <a:prstGeom prst="rect">
            <a:avLst/>
          </a:prstGeom>
        </p:spPr>
        <p:txBody>
          <a:bodyPr vert="horz" wrap="square" lIns="0" tIns="12700" rIns="0" bIns="0" rtlCol="0">
            <a:spAutoFit/>
          </a:bodyPr>
          <a:lstStyle/>
          <a:p>
            <a:pPr marL="12700">
              <a:spcBef>
                <a:spcPts val="100"/>
              </a:spcBef>
            </a:pPr>
            <a:r>
              <a:rPr i="1" spc="-35"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37" name="object 37"/>
          <p:cNvSpPr/>
          <p:nvPr/>
        </p:nvSpPr>
        <p:spPr>
          <a:xfrm>
            <a:off x="7209344" y="2872740"/>
            <a:ext cx="410656" cy="127483"/>
          </a:xfrm>
          <a:custGeom>
            <a:avLst/>
            <a:gdLst/>
            <a:ahLst/>
            <a:cxnLst/>
            <a:rect l="l" t="t" r="r" b="b"/>
            <a:pathLst>
              <a:path w="381000" h="152400">
                <a:moveTo>
                  <a:pt x="0" y="76200"/>
                </a:moveTo>
                <a:lnTo>
                  <a:pt x="190500" y="0"/>
                </a:lnTo>
                <a:lnTo>
                  <a:pt x="381000" y="76200"/>
                </a:lnTo>
                <a:lnTo>
                  <a:pt x="190500" y="152400"/>
                </a:lnTo>
                <a:lnTo>
                  <a:pt x="0" y="76200"/>
                </a:lnTo>
                <a:close/>
              </a:path>
            </a:pathLst>
          </a:custGeom>
          <a:ln w="15240">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aphicFrame>
        <p:nvGraphicFramePr>
          <p:cNvPr id="38" name="object 38"/>
          <p:cNvGraphicFramePr>
            <a:graphicFrameLocks noGrp="1"/>
          </p:cNvGraphicFramePr>
          <p:nvPr>
            <p:extLst>
              <p:ext uri="{D42A27DB-BD31-4B8C-83A1-F6EECF244321}">
                <p14:modId xmlns:p14="http://schemas.microsoft.com/office/powerpoint/2010/main" val="2953961555"/>
              </p:ext>
            </p:extLst>
          </p:nvPr>
        </p:nvGraphicFramePr>
        <p:xfrm>
          <a:off x="7612380" y="2941321"/>
          <a:ext cx="1868805" cy="1609725"/>
        </p:xfrm>
        <a:graphic>
          <a:graphicData uri="http://schemas.openxmlformats.org/drawingml/2006/table">
            <a:tbl>
              <a:tblPr firstRow="1" bandRow="1">
                <a:tableStyleId>{2D5ABB26-0587-4C30-8999-92F81FD0307C}</a:tableStyleId>
              </a:tblPr>
              <a:tblGrid>
                <a:gridCol w="751205">
                  <a:extLst>
                    <a:ext uri="{9D8B030D-6E8A-4147-A177-3AD203B41FA5}">
                      <a16:colId xmlns:a16="http://schemas.microsoft.com/office/drawing/2014/main" val="20000"/>
                    </a:ext>
                  </a:extLst>
                </a:gridCol>
                <a:gridCol w="544195">
                  <a:extLst>
                    <a:ext uri="{9D8B030D-6E8A-4147-A177-3AD203B41FA5}">
                      <a16:colId xmlns:a16="http://schemas.microsoft.com/office/drawing/2014/main" val="20001"/>
                    </a:ext>
                  </a:extLst>
                </a:gridCol>
                <a:gridCol w="573405">
                  <a:extLst>
                    <a:ext uri="{9D8B030D-6E8A-4147-A177-3AD203B41FA5}">
                      <a16:colId xmlns:a16="http://schemas.microsoft.com/office/drawing/2014/main" val="20002"/>
                    </a:ext>
                  </a:extLst>
                </a:gridCol>
              </a:tblGrid>
              <a:tr h="1049655">
                <a:tc gridSpan="2">
                  <a:txBody>
                    <a:bodyPr/>
                    <a:lstStyle/>
                    <a:p>
                      <a:pPr>
                        <a:lnSpc>
                          <a:spcPct val="100000"/>
                        </a:lnSpc>
                      </a:pPr>
                      <a:endParaRPr sz="2000">
                        <a:latin typeface="Times New Roman"/>
                        <a:cs typeface="Times New Roman"/>
                      </a:endParaRPr>
                    </a:p>
                    <a:p>
                      <a:pPr marL="557530">
                        <a:lnSpc>
                          <a:spcPct val="100000"/>
                        </a:lnSpc>
                        <a:spcBef>
                          <a:spcPts val="1515"/>
                        </a:spcBef>
                      </a:pPr>
                      <a:r>
                        <a:rPr sz="1800" i="1" spc="-5" dirty="0">
                          <a:latin typeface="Arial"/>
                          <a:cs typeface="Arial"/>
                        </a:rPr>
                        <a:t>Thuộc</a:t>
                      </a:r>
                      <a:endParaRPr sz="1800">
                        <a:latin typeface="Arial"/>
                        <a:cs typeface="Arial"/>
                      </a:endParaRPr>
                    </a:p>
                  </a:txBody>
                  <a:tcPr marL="0" marR="0" marT="0" marB="0">
                    <a:lnR w="19050">
                      <a:solidFill>
                        <a:srgbClr val="000000"/>
                      </a:solidFill>
                      <a:prstDash val="solid"/>
                    </a:lnR>
                    <a:lnT w="19050">
                      <a:solidFill>
                        <a:srgbClr val="000000"/>
                      </a:solidFill>
                      <a:prstDash val="solid"/>
                    </a:lnT>
                  </a:tcPr>
                </a:tc>
                <a:tc hMerge="1">
                  <a:txBody>
                    <a:bodyPr/>
                    <a:lstStyle/>
                    <a:p>
                      <a:endParaRPr/>
                    </a:p>
                  </a:txBody>
                  <a:tcPr marL="0" marR="0" marT="0" marB="0"/>
                </a:tc>
                <a:tc>
                  <a:txBody>
                    <a:bodyPr/>
                    <a:lstStyle/>
                    <a:p>
                      <a:pPr>
                        <a:lnSpc>
                          <a:spcPct val="100000"/>
                        </a:lnSpc>
                      </a:pPr>
                      <a:endParaRPr sz="2000">
                        <a:latin typeface="Times New Roman"/>
                        <a:cs typeface="Times New Roman"/>
                      </a:endParaRPr>
                    </a:p>
                  </a:txBody>
                  <a:tcPr marL="0" marR="0" marT="0" marB="0">
                    <a:lnL w="19050">
                      <a:solidFill>
                        <a:srgbClr val="000000"/>
                      </a:solidFill>
                      <a:prstDash val="solid"/>
                    </a:lnL>
                    <a:lnB w="3175">
                      <a:solidFill>
                        <a:srgbClr val="000000"/>
                      </a:solidFill>
                      <a:prstDash val="solid"/>
                    </a:lnB>
                  </a:tcPr>
                </a:tc>
                <a:extLst>
                  <a:ext uri="{0D108BD9-81ED-4DB2-BD59-A6C34878D82A}">
                    <a16:rowId xmlns:a16="http://schemas.microsoft.com/office/drawing/2014/main" val="10000"/>
                  </a:ext>
                </a:extLst>
              </a:tr>
              <a:tr h="306070">
                <a:tc rowSpan="3">
                  <a:txBody>
                    <a:bodyPr/>
                    <a:lstStyle/>
                    <a:p>
                      <a:pPr>
                        <a:lnSpc>
                          <a:spcPct val="100000"/>
                        </a:lnSpc>
                      </a:pPr>
                      <a:endParaRPr sz="2000">
                        <a:latin typeface="Times New Roman"/>
                        <a:cs typeface="Times New Roman"/>
                      </a:endParaRPr>
                    </a:p>
                  </a:txBody>
                  <a:tcPr marL="0" marR="0" marT="0" marB="0">
                    <a:lnR w="3175">
                      <a:solidFill>
                        <a:srgbClr val="000000"/>
                      </a:solidFill>
                      <a:prstDash val="solid"/>
                    </a:lnR>
                  </a:tcPr>
                </a:tc>
                <a:tc gridSpan="2">
                  <a:txBody>
                    <a:bodyPr/>
                    <a:lstStyle/>
                    <a:p>
                      <a:pPr marL="115888" indent="0" algn="l">
                        <a:lnSpc>
                          <a:spcPts val="1980"/>
                        </a:lnSpc>
                        <a:spcBef>
                          <a:spcPts val="330"/>
                        </a:spcBef>
                      </a:pPr>
                      <a:r>
                        <a:rPr sz="1800" spc="-30" dirty="0">
                          <a:latin typeface="Times New Roman" panose="02020603050405020304" pitchFamily="18" charset="0"/>
                          <a:cs typeface="Times New Roman" panose="02020603050405020304" pitchFamily="18" charset="0"/>
                        </a:rPr>
                        <a:t>MáyATM</a:t>
                      </a:r>
                      <a:endParaRPr sz="1800">
                        <a:latin typeface="Times New Roman" panose="02020603050405020304" pitchFamily="18" charset="0"/>
                        <a:cs typeface="Times New Roman" panose="02020603050405020304" pitchFamily="18" charset="0"/>
                      </a:endParaRPr>
                    </a:p>
                  </a:txBody>
                  <a:tcPr marL="0" marR="0" marT="4191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114300">
                <a:tc vMerge="1">
                  <a:txBody>
                    <a:bodyPr/>
                    <a:lstStyle/>
                    <a:p>
                      <a:endParaRPr/>
                    </a:p>
                  </a:txBody>
                  <a:tcPr marL="0" marR="0" marT="0" marB="0">
                    <a:lnR w="3175">
                      <a:solidFill>
                        <a:srgbClr val="000000"/>
                      </a:solidFill>
                      <a:prstDash val="solid"/>
                    </a:lnR>
                  </a:tcPr>
                </a:tc>
                <a:tc gridSpan="2">
                  <a:txBody>
                    <a:bodyPr/>
                    <a:lstStyle/>
                    <a:p>
                      <a:pPr>
                        <a:lnSpc>
                          <a:spcPct val="100000"/>
                        </a:lnSpc>
                      </a:pPr>
                      <a:endParaRPr sz="6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139700">
                <a:tc vMerge="1">
                  <a:txBody>
                    <a:bodyPr/>
                    <a:lstStyle/>
                    <a:p>
                      <a:endParaRPr/>
                    </a:p>
                  </a:txBody>
                  <a:tcPr marL="0" marR="0" marT="0" marB="0">
                    <a:lnR w="3175">
                      <a:solidFill>
                        <a:srgbClr val="000000"/>
                      </a:solidFill>
                      <a:prstDash val="solid"/>
                    </a:lnR>
                  </a:tcPr>
                </a:tc>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39" name="object 39"/>
          <p:cNvSpPr/>
          <p:nvPr/>
        </p:nvSpPr>
        <p:spPr>
          <a:xfrm>
            <a:off x="5410200" y="2872739"/>
            <a:ext cx="381000" cy="152400"/>
          </a:xfrm>
          <a:custGeom>
            <a:avLst/>
            <a:gdLst/>
            <a:ahLst/>
            <a:cxnLst/>
            <a:rect l="l" t="t" r="r" b="b"/>
            <a:pathLst>
              <a:path w="381000" h="152400">
                <a:moveTo>
                  <a:pt x="0" y="76200"/>
                </a:moveTo>
                <a:lnTo>
                  <a:pt x="190500" y="0"/>
                </a:lnTo>
                <a:lnTo>
                  <a:pt x="381000" y="76200"/>
                </a:lnTo>
                <a:lnTo>
                  <a:pt x="190500" y="152400"/>
                </a:lnTo>
                <a:lnTo>
                  <a:pt x="0" y="76200"/>
                </a:lnTo>
                <a:close/>
              </a:path>
            </a:pathLst>
          </a:custGeom>
          <a:ln w="15240">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2" name="object 2"/>
          <p:cNvSpPr txBox="1">
            <a:spLocks noGrp="1"/>
          </p:cNvSpPr>
          <p:nvPr>
            <p:ph type="title"/>
          </p:nvPr>
        </p:nvSpPr>
        <p:spPr>
          <a:xfrm>
            <a:off x="2438400" y="122238"/>
            <a:ext cx="7391400" cy="563562"/>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mối </a:t>
            </a:r>
            <a:r>
              <a:rPr>
                <a:latin typeface="Times New Roman" panose="02020603050405020304" pitchFamily="18" charset="0"/>
                <a:cs typeface="Times New Roman" panose="02020603050405020304" pitchFamily="18" charset="0"/>
              </a:rPr>
              <a:t>quan hệ</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41"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7514547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600"/>
            <a:ext cx="12192000" cy="5513048"/>
          </a:xfrm>
          <a:prstGeom prst="rect">
            <a:avLst/>
          </a:prstGeom>
        </p:spPr>
        <p:txBody>
          <a:bodyPr vert="horz" wrap="square" lIns="0" tIns="59690" rIns="0" bIns="0" rtlCol="0">
            <a:spAutoFit/>
          </a:bodyPr>
          <a:lstStyle/>
          <a:p>
            <a:pPr marL="355600" indent="-342900" algn="just">
              <a:lnSpc>
                <a:spcPct val="150000"/>
              </a:lnSpc>
              <a:spcBef>
                <a:spcPts val="470"/>
              </a:spcBef>
              <a:buSzPct val="100000"/>
              <a:buFont typeface="Wingdings" panose="05000000000000000000" pitchFamily="2" charset="2"/>
              <a:buChar char="§"/>
              <a:tabLst>
                <a:tab pos="332105" algn="l"/>
                <a:tab pos="332740" algn="l"/>
              </a:tabLst>
            </a:pPr>
            <a:r>
              <a:rPr sz="2800" b="1" dirty="0">
                <a:solidFill>
                  <a:srgbClr val="FF0000"/>
                </a:solidFill>
                <a:latin typeface="Times New Roman" panose="02020603050405020304" pitchFamily="18" charset="0"/>
                <a:cs typeface="Times New Roman" panose="02020603050405020304" pitchFamily="18" charset="0"/>
              </a:rPr>
              <a:t>Câu hỏi:</a:t>
            </a:r>
          </a:p>
          <a:p>
            <a:pPr marL="378460" lvl="1" algn="just">
              <a:lnSpc>
                <a:spcPct val="150000"/>
              </a:lnSpc>
              <a:spcBef>
                <a:spcPts val="335"/>
              </a:spcBef>
              <a:buClr>
                <a:srgbClr val="93B6D2"/>
              </a:buClr>
              <a:buSzPct val="68181"/>
              <a:tabLst>
                <a:tab pos="653415" algn="l"/>
              </a:tabLst>
            </a:pPr>
            <a:r>
              <a:rPr sz="2800" dirty="0">
                <a:latin typeface="Times New Roman" panose="02020603050405020304" pitchFamily="18" charset="0"/>
                <a:cs typeface="Times New Roman" panose="02020603050405020304" pitchFamily="18" charset="0"/>
              </a:rPr>
              <a:t>Thông tin gì về đối tượng sẽ được </a:t>
            </a:r>
            <a:r>
              <a:rPr sz="2800">
                <a:latin typeface="Times New Roman" panose="02020603050405020304" pitchFamily="18" charset="0"/>
                <a:cs typeface="Times New Roman" panose="02020603050405020304" pitchFamily="18" charset="0"/>
              </a:rPr>
              <a:t>quản lý?</a:t>
            </a:r>
            <a:endParaRPr sz="2800" dirty="0">
              <a:latin typeface="Times New Roman" panose="02020603050405020304" pitchFamily="18" charset="0"/>
              <a:cs typeface="Times New Roman" panose="02020603050405020304" pitchFamily="18" charset="0"/>
            </a:endParaRPr>
          </a:p>
          <a:p>
            <a:pPr marL="355600" indent="-342900" algn="just">
              <a:lnSpc>
                <a:spcPct val="150000"/>
              </a:lnSpc>
              <a:spcBef>
                <a:spcPts val="409"/>
              </a:spcBef>
              <a:buSzPct val="100000"/>
              <a:buFont typeface="Wingdings" panose="05000000000000000000" pitchFamily="2" charset="2"/>
              <a:buChar char="§"/>
              <a:tabLst>
                <a:tab pos="332105" algn="l"/>
                <a:tab pos="332740" algn="l"/>
              </a:tabLst>
            </a:pPr>
            <a:r>
              <a:rPr sz="2800" b="1" dirty="0">
                <a:solidFill>
                  <a:srgbClr val="FF0000"/>
                </a:solidFill>
                <a:latin typeface="Times New Roman" panose="02020603050405020304" pitchFamily="18" charset="0"/>
                <a:cs typeface="Times New Roman" panose="02020603050405020304" pitchFamily="18" charset="0"/>
              </a:rPr>
              <a:t>Nguyên tắc:</a:t>
            </a:r>
          </a:p>
          <a:p>
            <a:pPr marL="835025" lvl="1" indent="-457200" algn="just">
              <a:lnSpc>
                <a:spcPct val="150000"/>
              </a:lnSpc>
              <a:spcBef>
                <a:spcPts val="345"/>
              </a:spcBef>
              <a:buSzPct val="100000"/>
              <a:buFont typeface="Arial" panose="020B0604020202020204" pitchFamily="34" charset="0"/>
              <a:buChar char="•"/>
            </a:pPr>
            <a:r>
              <a:rPr sz="2800" dirty="0">
                <a:latin typeface="Times New Roman" panose="02020603050405020304" pitchFamily="18" charset="0"/>
                <a:cs typeface="Times New Roman" panose="02020603050405020304" pitchFamily="18" charset="0"/>
              </a:rPr>
              <a:t>Tên: </a:t>
            </a:r>
            <a:r>
              <a:rPr sz="2800" b="1" dirty="0">
                <a:solidFill>
                  <a:schemeClr val="tx2"/>
                </a:solidFill>
                <a:latin typeface="Times New Roman" panose="02020603050405020304" pitchFamily="18" charset="0"/>
                <a:cs typeface="Times New Roman" panose="02020603050405020304" pitchFamily="18" charset="0"/>
              </a:rPr>
              <a:t>danh từ; cụm danh từ</a:t>
            </a:r>
          </a:p>
          <a:p>
            <a:pPr marL="835025" marR="22225" lvl="1" indent="-457200" algn="just">
              <a:lnSpc>
                <a:spcPct val="150000"/>
              </a:lnSpc>
              <a:spcBef>
                <a:spcPts val="630"/>
              </a:spcBef>
              <a:buSzPct val="100000"/>
              <a:buFont typeface="Arial" panose="020B0604020202020204" pitchFamily="34" charset="0"/>
              <a:buChar char="•"/>
            </a:pPr>
            <a:r>
              <a:rPr sz="2800" dirty="0">
                <a:latin typeface="Times New Roman" panose="02020603050405020304" pitchFamily="18" charset="0"/>
                <a:cs typeface="Times New Roman" panose="02020603050405020304" pitchFamily="18" charset="0"/>
              </a:rPr>
              <a:t>Đơn giản: chỉ dùng đủ thuộc tính để diễn đạt trạng </a:t>
            </a:r>
            <a:r>
              <a:rPr sz="2800">
                <a:latin typeface="Times New Roman" panose="02020603050405020304" pitchFamily="18" charset="0"/>
                <a:cs typeface="Times New Roman" panose="02020603050405020304" pitchFamily="18" charset="0"/>
              </a:rPr>
              <a:t>thái đối</a:t>
            </a: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tượng </a:t>
            </a:r>
            <a:r>
              <a:rPr sz="2800" dirty="0">
                <a:latin typeface="Times New Roman" panose="02020603050405020304" pitchFamily="18" charset="0"/>
                <a:cs typeface="Times New Roman" panose="02020603050405020304" pitchFamily="18" charset="0"/>
              </a:rPr>
              <a:t>ở giai đoạn phân tích (thuộc tính sẽ được </a:t>
            </a:r>
            <a:r>
              <a:rPr sz="2800">
                <a:latin typeface="Times New Roman" panose="02020603050405020304" pitchFamily="18" charset="0"/>
                <a:cs typeface="Times New Roman" panose="02020603050405020304" pitchFamily="18" charset="0"/>
              </a:rPr>
              <a:t>bổ sung</a:t>
            </a: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chi </a:t>
            </a:r>
            <a:r>
              <a:rPr sz="2800" dirty="0">
                <a:latin typeface="Times New Roman" panose="02020603050405020304" pitchFamily="18" charset="0"/>
                <a:cs typeface="Times New Roman" panose="02020603050405020304" pitchFamily="18" charset="0"/>
              </a:rPr>
              <a:t>tiết hơn ở các giai đoạn tiếp </a:t>
            </a:r>
            <a:r>
              <a:rPr sz="2800">
                <a:latin typeface="Times New Roman" panose="02020603050405020304" pitchFamily="18" charset="0"/>
                <a:cs typeface="Times New Roman" panose="02020603050405020304" pitchFamily="18" charset="0"/>
              </a:rPr>
              <a:t>theo)</a:t>
            </a:r>
            <a:endParaRPr sz="2800" dirty="0">
              <a:latin typeface="Times New Roman" panose="02020603050405020304" pitchFamily="18" charset="0"/>
              <a:cs typeface="Times New Roman" panose="02020603050405020304" pitchFamily="18" charset="0"/>
            </a:endParaRPr>
          </a:p>
          <a:p>
            <a:pPr marL="835025" lvl="1" indent="-457200" algn="just">
              <a:lnSpc>
                <a:spcPct val="150000"/>
              </a:lnSpc>
              <a:spcBef>
                <a:spcPts val="295"/>
              </a:spcBef>
              <a:buSzPct val="100000"/>
              <a:buFont typeface="Arial" panose="020B0604020202020204" pitchFamily="34" charset="0"/>
              <a:buChar char="•"/>
            </a:pPr>
            <a:r>
              <a:rPr sz="2800" dirty="0">
                <a:latin typeface="Times New Roman" panose="02020603050405020304" pitchFamily="18" charset="0"/>
                <a:cs typeface="Times New Roman" panose="02020603050405020304" pitchFamily="18" charset="0"/>
              </a:rPr>
              <a:t>Không quá quan tâm về việc phải khám phá hết </a:t>
            </a:r>
            <a:r>
              <a:rPr sz="2800">
                <a:latin typeface="Times New Roman" panose="02020603050405020304" pitchFamily="18" charset="0"/>
                <a:cs typeface="Times New Roman" panose="02020603050405020304" pitchFamily="18" charset="0"/>
              </a:rPr>
              <a:t>thuộc tính</a:t>
            </a:r>
            <a:endParaRPr sz="2800" dirty="0">
              <a:latin typeface="Times New Roman" panose="02020603050405020304" pitchFamily="18" charset="0"/>
              <a:cs typeface="Times New Roman" panose="02020603050405020304" pitchFamily="18" charset="0"/>
            </a:endParaRPr>
          </a:p>
          <a:p>
            <a:pPr marL="835025" lvl="1" indent="-457200" algn="just">
              <a:lnSpc>
                <a:spcPct val="150000"/>
              </a:lnSpc>
              <a:spcBef>
                <a:spcPts val="335"/>
              </a:spcBef>
              <a:buSzPct val="100000"/>
              <a:buFont typeface="Arial" panose="020B0604020202020204" pitchFamily="34" charset="0"/>
              <a:buChar char="•"/>
            </a:pPr>
            <a:r>
              <a:rPr sz="2800" dirty="0">
                <a:latin typeface="Times New Roman" panose="02020603050405020304" pitchFamily="18" charset="0"/>
                <a:cs typeface="Times New Roman" panose="02020603050405020304" pitchFamily="18" charset="0"/>
              </a:rPr>
              <a:t>Không quan tâm đến các thuộc tính mô tả cài đặt </a:t>
            </a:r>
            <a:r>
              <a:rPr sz="2800">
                <a:latin typeface="Times New Roman" panose="02020603050405020304" pitchFamily="18" charset="0"/>
                <a:cs typeface="Times New Roman" panose="02020603050405020304" pitchFamily="18" charset="0"/>
              </a:rPr>
              <a:t>của đối</a:t>
            </a:r>
            <a:r>
              <a:rPr lang="en-US" sz="2800">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tượng</a:t>
            </a:r>
            <a:endParaRPr sz="2800" dirty="0">
              <a:latin typeface="Times New Roman" panose="02020603050405020304" pitchFamily="18" charset="0"/>
              <a:cs typeface="Times New Roman" panose="02020603050405020304" pitchFamily="18" charset="0"/>
            </a:endParaRPr>
          </a:p>
        </p:txBody>
      </p:sp>
      <p:sp>
        <p:nvSpPr>
          <p:cNvPr id="6" name="object 2"/>
          <p:cNvSpPr txBox="1">
            <a:spLocks noGrp="1"/>
          </p:cNvSpPr>
          <p:nvPr>
            <p:ph type="title"/>
          </p:nvPr>
        </p:nvSpPr>
        <p:spPr>
          <a:xfrm>
            <a:off x="2700759" y="111760"/>
            <a:ext cx="6928613" cy="574040"/>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a:t>
            </a:r>
            <a:r>
              <a:rPr>
                <a:latin typeface="Times New Roman" panose="02020603050405020304" pitchFamily="18" charset="0"/>
                <a:cs typeface="Times New Roman" panose="02020603050405020304" pitchFamily="18" charset="0"/>
              </a:rPr>
              <a:t>thuộc tính</a:t>
            </a:r>
            <a:endParaRPr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1057795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 y="914401"/>
            <a:ext cx="12115800" cy="2621230"/>
          </a:xfrm>
          <a:prstGeom prst="rect">
            <a:avLst/>
          </a:prstGeom>
        </p:spPr>
        <p:txBody>
          <a:bodyPr vert="horz" wrap="square" lIns="0" tIns="96520" rIns="0" bIns="0" rtlCol="0">
            <a:spAutoFit/>
          </a:bodyPr>
          <a:lstStyle/>
          <a:p>
            <a:pPr marL="355600" indent="-342900">
              <a:spcBef>
                <a:spcPts val="760"/>
              </a:spcBef>
              <a:buSzPct val="100000"/>
              <a:buFont typeface="Wingdings" panose="05000000000000000000" pitchFamily="2" charset="2"/>
              <a:buChar char="§"/>
              <a:tabLst>
                <a:tab pos="332740" algn="l"/>
                <a:tab pos="333375" algn="l"/>
              </a:tabLst>
            </a:pPr>
            <a:r>
              <a:rPr sz="2800" b="1" spc="-5" dirty="0">
                <a:solidFill>
                  <a:srgbClr val="FF0000"/>
                </a:solidFill>
                <a:latin typeface="Times New Roman" panose="02020603050405020304" pitchFamily="18" charset="0"/>
                <a:cs typeface="Times New Roman" panose="02020603050405020304" pitchFamily="18" charset="0"/>
              </a:rPr>
              <a:t>Ví dụ: </a:t>
            </a:r>
            <a:r>
              <a:rPr sz="2800" b="1" spc="-5">
                <a:solidFill>
                  <a:srgbClr val="FF0000"/>
                </a:solidFill>
                <a:latin typeface="Times New Roman" panose="02020603050405020304" pitchFamily="18" charset="0"/>
                <a:cs typeface="Times New Roman" panose="02020603050405020304" pitchFamily="18" charset="0"/>
              </a:rPr>
              <a:t>hệ </a:t>
            </a:r>
            <a:r>
              <a:rPr sz="2800" b="1">
                <a:solidFill>
                  <a:srgbClr val="FF0000"/>
                </a:solidFill>
                <a:latin typeface="Times New Roman" panose="02020603050405020304" pitchFamily="18" charset="0"/>
                <a:cs typeface="Times New Roman" panose="02020603050405020304" pitchFamily="18" charset="0"/>
              </a:rPr>
              <a:t>thống</a:t>
            </a:r>
            <a:r>
              <a:rPr lang="en-US" sz="2800" b="1">
                <a:solidFill>
                  <a:srgbClr val="FF0000"/>
                </a:solidFill>
                <a:latin typeface="Times New Roman" panose="02020603050405020304" pitchFamily="18" charset="0"/>
                <a:cs typeface="Times New Roman" panose="02020603050405020304" pitchFamily="18" charset="0"/>
              </a:rPr>
              <a:t> </a:t>
            </a:r>
            <a:r>
              <a:rPr sz="2800" b="1" spc="-135">
                <a:solidFill>
                  <a:srgbClr val="FF0000"/>
                </a:solidFill>
                <a:latin typeface="Times New Roman" panose="02020603050405020304" pitchFamily="18" charset="0"/>
                <a:cs typeface="Times New Roman" panose="02020603050405020304" pitchFamily="18" charset="0"/>
              </a:rPr>
              <a:t> </a:t>
            </a:r>
            <a:r>
              <a:rPr sz="2800" b="1" spc="-65" dirty="0">
                <a:solidFill>
                  <a:srgbClr val="FF0000"/>
                </a:solidFill>
                <a:latin typeface="Times New Roman" panose="02020603050405020304" pitchFamily="18" charset="0"/>
                <a:cs typeface="Times New Roman" panose="02020603050405020304" pitchFamily="18" charset="0"/>
              </a:rPr>
              <a:t>ATM</a:t>
            </a:r>
            <a:endParaRPr sz="2800" b="1">
              <a:solidFill>
                <a:srgbClr val="FF0000"/>
              </a:solidFill>
              <a:latin typeface="Times New Roman" panose="02020603050405020304" pitchFamily="18" charset="0"/>
              <a:cs typeface="Times New Roman" panose="02020603050405020304" pitchFamily="18" charset="0"/>
            </a:endParaRPr>
          </a:p>
          <a:p>
            <a:pPr marL="835025" marR="5080" indent="-457200" algn="just">
              <a:lnSpc>
                <a:spcPct val="150000"/>
              </a:lnSpc>
              <a:spcBef>
                <a:spcPts val="595"/>
              </a:spcBef>
              <a:buFont typeface="Arial" panose="020B0604020202020204" pitchFamily="34" charset="0"/>
              <a:buChar char="•"/>
            </a:pPr>
            <a:r>
              <a:rPr sz="2800" spc="-10">
                <a:latin typeface="Times New Roman" panose="02020603050405020304" pitchFamily="18" charset="0"/>
                <a:cs typeface="Times New Roman" panose="02020603050405020304" pitchFamily="18" charset="0"/>
              </a:rPr>
              <a:t>Lớp </a:t>
            </a:r>
            <a:r>
              <a:rPr sz="2800" spc="-5" dirty="0">
                <a:latin typeface="Times New Roman" panose="02020603050405020304" pitchFamily="18" charset="0"/>
                <a:cs typeface="Times New Roman" panose="02020603050405020304" pitchFamily="18" charset="0"/>
              </a:rPr>
              <a:t>Khách Hàng: Phân tích lần lượt tất </a:t>
            </a:r>
            <a:r>
              <a:rPr sz="2800" dirty="0">
                <a:latin typeface="Times New Roman" panose="02020603050405020304" pitchFamily="18" charset="0"/>
                <a:cs typeface="Times New Roman" panose="02020603050405020304" pitchFamily="18" charset="0"/>
              </a:rPr>
              <a:t>cả </a:t>
            </a:r>
            <a:r>
              <a:rPr sz="2800" spc="-5">
                <a:latin typeface="Times New Roman" panose="02020603050405020304" pitchFamily="18" charset="0"/>
                <a:cs typeface="Times New Roman" panose="02020603050405020304" pitchFamily="18" charset="0"/>
              </a:rPr>
              <a:t>các </a:t>
            </a:r>
            <a:r>
              <a:rPr lang="en-US" sz="2800" spc="-5">
                <a:latin typeface="Times New Roman" panose="02020603050405020304" pitchFamily="18" charset="0"/>
                <a:cs typeface="Times New Roman" panose="02020603050405020304" pitchFamily="18" charset="0"/>
              </a:rPr>
              <a:t>Use Case</a:t>
            </a:r>
            <a:r>
              <a:rPr lang="en-US" sz="2800" spc="-105">
                <a:latin typeface="Times New Roman" panose="02020603050405020304" pitchFamily="18" charset="0"/>
                <a:cs typeface="Times New Roman" panose="02020603050405020304" pitchFamily="18" charset="0"/>
              </a:rPr>
              <a:t> </a:t>
            </a:r>
            <a:r>
              <a:rPr sz="2800">
                <a:latin typeface="Times New Roman" panose="02020603050405020304" pitchFamily="18" charset="0"/>
                <a:cs typeface="Times New Roman" panose="02020603050405020304" pitchFamily="18" charset="0"/>
              </a:rPr>
              <a:t>có </a:t>
            </a:r>
            <a:r>
              <a:rPr sz="2800" spc="-5" dirty="0">
                <a:latin typeface="Times New Roman" panose="02020603050405020304" pitchFamily="18" charset="0"/>
                <a:cs typeface="Times New Roman" panose="02020603050405020304" pitchFamily="18" charset="0"/>
              </a:rPr>
              <a:t>liên quan đến </a:t>
            </a:r>
            <a:r>
              <a:rPr sz="2800" spc="-10" dirty="0">
                <a:latin typeface="Times New Roman" panose="02020603050405020304" pitchFamily="18" charset="0"/>
                <a:cs typeface="Times New Roman" panose="02020603050405020304" pitchFamily="18" charset="0"/>
              </a:rPr>
              <a:t>lớp </a:t>
            </a:r>
            <a:r>
              <a:rPr sz="2800" spc="-5" dirty="0">
                <a:latin typeface="Times New Roman" panose="02020603050405020304" pitchFamily="18" charset="0"/>
                <a:cs typeface="Times New Roman" panose="02020603050405020304" pitchFamily="18" charset="0"/>
              </a:rPr>
              <a:t>Khách Hàng như là: </a:t>
            </a:r>
            <a:r>
              <a:rPr sz="2800" spc="-10" dirty="0">
                <a:latin typeface="Times New Roman" panose="02020603050405020304" pitchFamily="18" charset="0"/>
                <a:cs typeface="Times New Roman" panose="02020603050405020304" pitchFamily="18" charset="0"/>
              </a:rPr>
              <a:t>“Đăng </a:t>
            </a:r>
            <a:r>
              <a:rPr sz="2800" spc="-5">
                <a:latin typeface="Times New Roman" panose="02020603050405020304" pitchFamily="18" charset="0"/>
                <a:cs typeface="Times New Roman" panose="02020603050405020304" pitchFamily="18" charset="0"/>
              </a:rPr>
              <a:t>nhập”,</a:t>
            </a:r>
            <a:r>
              <a:rPr lang="en-US" sz="2800" spc="-5">
                <a:latin typeface="Times New Roman" panose="02020603050405020304" pitchFamily="18" charset="0"/>
                <a:cs typeface="Times New Roman" panose="02020603050405020304" pitchFamily="18" charset="0"/>
              </a:rPr>
              <a:t> </a:t>
            </a:r>
            <a:r>
              <a:rPr sz="2800" spc="-10">
                <a:latin typeface="Times New Roman" panose="02020603050405020304" pitchFamily="18" charset="0"/>
                <a:cs typeface="Times New Roman" panose="02020603050405020304" pitchFamily="18" charset="0"/>
              </a:rPr>
              <a:t>“</a:t>
            </a:r>
            <a:r>
              <a:rPr sz="2800" spc="-10" dirty="0">
                <a:latin typeface="Times New Roman" panose="02020603050405020304" pitchFamily="18" charset="0"/>
                <a:cs typeface="Times New Roman" panose="02020603050405020304" pitchFamily="18" charset="0"/>
              </a:rPr>
              <a:t>Xử </a:t>
            </a:r>
            <a:r>
              <a:rPr sz="2800" spc="-5" dirty="0">
                <a:latin typeface="Times New Roman" panose="02020603050405020304" pitchFamily="18" charset="0"/>
                <a:cs typeface="Times New Roman" panose="02020603050405020304" pitchFamily="18" charset="0"/>
              </a:rPr>
              <a:t>lý PIN không </a:t>
            </a:r>
            <a:r>
              <a:rPr sz="2800" spc="-10" dirty="0">
                <a:latin typeface="Times New Roman" panose="02020603050405020304" pitchFamily="18" charset="0"/>
                <a:cs typeface="Times New Roman" panose="02020603050405020304" pitchFamily="18" charset="0"/>
              </a:rPr>
              <a:t>hợp </a:t>
            </a:r>
            <a:r>
              <a:rPr sz="2800" spc="-5" dirty="0">
                <a:latin typeface="Times New Roman" panose="02020603050405020304" pitchFamily="18" charset="0"/>
                <a:cs typeface="Times New Roman" panose="02020603050405020304" pitchFamily="18" charset="0"/>
              </a:rPr>
              <a:t>lệ</a:t>
            </a:r>
            <a:r>
              <a:rPr sz="2800" spc="-5">
                <a:latin typeface="Times New Roman" panose="02020603050405020304" pitchFamily="18" charset="0"/>
                <a:cs typeface="Times New Roman" panose="02020603050405020304" pitchFamily="18" charset="0"/>
              </a:rPr>
              <a:t>”. </a:t>
            </a:r>
            <a:endParaRPr lang="en-US" sz="2800" spc="-5">
              <a:latin typeface="Times New Roman" panose="02020603050405020304" pitchFamily="18" charset="0"/>
              <a:cs typeface="Times New Roman" panose="02020603050405020304" pitchFamily="18" charset="0"/>
            </a:endParaRPr>
          </a:p>
          <a:p>
            <a:pPr marL="835025" marR="5080" indent="-457200" algn="just">
              <a:lnSpc>
                <a:spcPct val="150000"/>
              </a:lnSpc>
              <a:spcBef>
                <a:spcPts val="595"/>
              </a:spcBef>
              <a:buFont typeface="Arial" panose="020B0604020202020204" pitchFamily="34" charset="0"/>
              <a:buChar char="•"/>
            </a:pPr>
            <a:r>
              <a:rPr sz="2800" spc="-5">
                <a:latin typeface="Times New Roman" panose="02020603050405020304" pitchFamily="18" charset="0"/>
                <a:cs typeface="Times New Roman" panose="02020603050405020304" pitchFamily="18" charset="0"/>
              </a:rPr>
              <a:t>Các </a:t>
            </a:r>
            <a:r>
              <a:rPr sz="2800" spc="-5" dirty="0">
                <a:latin typeface="Times New Roman" panose="02020603050405020304" pitchFamily="18" charset="0"/>
                <a:cs typeface="Times New Roman" panose="02020603050405020304" pitchFamily="18" charset="0"/>
              </a:rPr>
              <a:t>thuộc tính của </a:t>
            </a:r>
            <a:r>
              <a:rPr sz="2800" spc="-10">
                <a:latin typeface="Times New Roman" panose="02020603050405020304" pitchFamily="18" charset="0"/>
                <a:cs typeface="Times New Roman" panose="02020603050405020304" pitchFamily="18" charset="0"/>
              </a:rPr>
              <a:t>lớp </a:t>
            </a:r>
            <a:r>
              <a:rPr sz="2800" spc="-5">
                <a:latin typeface="Times New Roman" panose="02020603050405020304" pitchFamily="18" charset="0"/>
                <a:cs typeface="Times New Roman" panose="02020603050405020304" pitchFamily="18" charset="0"/>
              </a:rPr>
              <a:t>khách</a:t>
            </a:r>
            <a:r>
              <a:rPr lang="en-US" sz="2800" spc="-5">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hàng </a:t>
            </a:r>
            <a:r>
              <a:rPr sz="2800" spc="-5" dirty="0">
                <a:latin typeface="Times New Roman" panose="02020603050405020304" pitchFamily="18" charset="0"/>
                <a:cs typeface="Times New Roman" panose="02020603050405020304" pitchFamily="18" charset="0"/>
              </a:rPr>
              <a:t>như</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sau:</a:t>
            </a:r>
            <a:endParaRPr sz="280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3502456415"/>
              </p:ext>
            </p:extLst>
          </p:nvPr>
        </p:nvGraphicFramePr>
        <p:xfrm>
          <a:off x="6934200" y="3797572"/>
          <a:ext cx="2971800" cy="2284255"/>
        </p:xfrm>
        <a:graphic>
          <a:graphicData uri="http://schemas.openxmlformats.org/drawingml/2006/table">
            <a:tbl>
              <a:tblPr firstRow="1" bandRow="1">
                <a:tableStyleId>{2D5ABB26-0587-4C30-8999-92F81FD0307C}</a:tableStyleId>
              </a:tblPr>
              <a:tblGrid>
                <a:gridCol w="2971800">
                  <a:extLst>
                    <a:ext uri="{9D8B030D-6E8A-4147-A177-3AD203B41FA5}">
                      <a16:colId xmlns:a16="http://schemas.microsoft.com/office/drawing/2014/main" val="20000"/>
                    </a:ext>
                  </a:extLst>
                </a:gridCol>
              </a:tblGrid>
              <a:tr h="423705">
                <a:tc>
                  <a:txBody>
                    <a:bodyPr/>
                    <a:lstStyle/>
                    <a:p>
                      <a:pPr marL="267970" algn="ctr">
                        <a:lnSpc>
                          <a:spcPts val="2080"/>
                        </a:lnSpc>
                        <a:spcBef>
                          <a:spcPts val="350"/>
                        </a:spcBef>
                      </a:pPr>
                      <a:r>
                        <a:rPr sz="1800" b="1" spc="-5" dirty="0">
                          <a:latin typeface="Times New Roman" panose="02020603050405020304" pitchFamily="18" charset="0"/>
                          <a:cs typeface="Times New Roman" panose="02020603050405020304" pitchFamily="18" charset="0"/>
                        </a:rPr>
                        <a:t>KháchHàng</a:t>
                      </a:r>
                      <a:endParaRPr sz="1800">
                        <a:latin typeface="Times New Roman" panose="02020603050405020304" pitchFamily="18" charset="0"/>
                        <a:cs typeface="Times New Roman" panose="02020603050405020304" pitchFamily="18" charset="0"/>
                      </a:endParaRPr>
                    </a:p>
                  </a:txBody>
                  <a:tcPr marL="0" marR="0" marT="444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1575079">
                <a:tc>
                  <a:txBody>
                    <a:bodyPr/>
                    <a:lstStyle/>
                    <a:p>
                      <a:pPr marL="153670" marR="539115" algn="just">
                        <a:lnSpc>
                          <a:spcPct val="100000"/>
                        </a:lnSpc>
                        <a:spcBef>
                          <a:spcPts val="470"/>
                        </a:spcBef>
                      </a:pPr>
                      <a:r>
                        <a:rPr lang="en-US" sz="2400">
                          <a:latin typeface="Times New Roman" panose="02020603050405020304" pitchFamily="18" charset="0"/>
                          <a:cs typeface="Times New Roman" panose="02020603050405020304" pitchFamily="18" charset="0"/>
                        </a:rPr>
                        <a:t>T</a:t>
                      </a:r>
                      <a:r>
                        <a:rPr sz="2400">
                          <a:latin typeface="Times New Roman" panose="02020603050405020304" pitchFamily="18" charset="0"/>
                          <a:cs typeface="Times New Roman" panose="02020603050405020304" pitchFamily="18" charset="0"/>
                        </a:rPr>
                        <a:t>ê</a:t>
                      </a:r>
                      <a:r>
                        <a:rPr sz="2400" spc="-10">
                          <a:latin typeface="Times New Roman" panose="02020603050405020304" pitchFamily="18" charset="0"/>
                          <a:cs typeface="Times New Roman" panose="02020603050405020304" pitchFamily="18" charset="0"/>
                        </a:rPr>
                        <a:t>n</a:t>
                      </a:r>
                      <a:r>
                        <a:rPr lang="en-US" sz="2400" spc="0">
                          <a:latin typeface="Times New Roman" panose="02020603050405020304" pitchFamily="18" charset="0"/>
                          <a:cs typeface="Times New Roman" panose="02020603050405020304" pitchFamily="18" charset="0"/>
                        </a:rPr>
                        <a:t>k</a:t>
                      </a:r>
                      <a:r>
                        <a:rPr sz="2400" spc="-10">
                          <a:latin typeface="Times New Roman" panose="02020603050405020304" pitchFamily="18" charset="0"/>
                          <a:cs typeface="Times New Roman" panose="02020603050405020304" pitchFamily="18" charset="0"/>
                        </a:rPr>
                        <a:t>h</a:t>
                      </a:r>
                      <a:r>
                        <a:rPr sz="2400">
                          <a:latin typeface="Times New Roman" panose="02020603050405020304" pitchFamily="18" charset="0"/>
                          <a:cs typeface="Times New Roman" panose="02020603050405020304" pitchFamily="18" charset="0"/>
                        </a:rPr>
                        <a:t>ác</a:t>
                      </a:r>
                      <a:r>
                        <a:rPr sz="2400" spc="-10">
                          <a:latin typeface="Times New Roman" panose="02020603050405020304" pitchFamily="18" charset="0"/>
                          <a:cs typeface="Times New Roman" panose="02020603050405020304" pitchFamily="18" charset="0"/>
                        </a:rPr>
                        <a:t>h</a:t>
                      </a:r>
                      <a:r>
                        <a:rPr lang="en-US" sz="2400" spc="0">
                          <a:latin typeface="Times New Roman" panose="02020603050405020304" pitchFamily="18" charset="0"/>
                          <a:cs typeface="Times New Roman" panose="02020603050405020304" pitchFamily="18" charset="0"/>
                        </a:rPr>
                        <a:t>h</a:t>
                      </a:r>
                      <a:r>
                        <a:rPr sz="2400" spc="-10">
                          <a:latin typeface="Times New Roman" panose="02020603050405020304" pitchFamily="18" charset="0"/>
                          <a:cs typeface="Times New Roman" panose="02020603050405020304" pitchFamily="18" charset="0"/>
                        </a:rPr>
                        <a:t>à</a:t>
                      </a:r>
                      <a:r>
                        <a:rPr sz="2400">
                          <a:latin typeface="Times New Roman" panose="02020603050405020304" pitchFamily="18" charset="0"/>
                          <a:cs typeface="Times New Roman" panose="02020603050405020304" pitchFamily="18" charset="0"/>
                        </a:rPr>
                        <a:t>ng</a:t>
                      </a:r>
                      <a:r>
                        <a:rPr lang="en-US" sz="2400">
                          <a:latin typeface="Times New Roman" panose="02020603050405020304" pitchFamily="18" charset="0"/>
                          <a:cs typeface="Times New Roman" panose="02020603050405020304" pitchFamily="18" charset="0"/>
                        </a:rPr>
                        <a:t> </a:t>
                      </a:r>
                      <a:r>
                        <a:rPr lang="en-US" sz="2400" spc="-10">
                          <a:latin typeface="Times New Roman" panose="02020603050405020304" pitchFamily="18" charset="0"/>
                          <a:cs typeface="Times New Roman" panose="02020603050405020304" pitchFamily="18" charset="0"/>
                        </a:rPr>
                        <a:t>H</a:t>
                      </a:r>
                      <a:r>
                        <a:rPr sz="2400" spc="-10">
                          <a:latin typeface="Times New Roman" panose="02020603050405020304" pitchFamily="18" charset="0"/>
                          <a:cs typeface="Times New Roman" panose="02020603050405020304" pitchFamily="18" charset="0"/>
                        </a:rPr>
                        <a:t>ọ</a:t>
                      </a:r>
                      <a:r>
                        <a:rPr lang="en-US" sz="2400" spc="-10">
                          <a:latin typeface="Times New Roman" panose="02020603050405020304" pitchFamily="18" charset="0"/>
                          <a:cs typeface="Times New Roman" panose="02020603050405020304" pitchFamily="18" charset="0"/>
                        </a:rPr>
                        <a:t>k</a:t>
                      </a:r>
                      <a:r>
                        <a:rPr sz="2400" spc="-10">
                          <a:latin typeface="Times New Roman" panose="02020603050405020304" pitchFamily="18" charset="0"/>
                          <a:cs typeface="Times New Roman" panose="02020603050405020304" pitchFamily="18" charset="0"/>
                        </a:rPr>
                        <a:t>hách</a:t>
                      </a:r>
                      <a:r>
                        <a:rPr lang="en-US" sz="2400" spc="-10">
                          <a:latin typeface="Times New Roman" panose="02020603050405020304" pitchFamily="18" charset="0"/>
                          <a:cs typeface="Times New Roman" panose="02020603050405020304" pitchFamily="18" charset="0"/>
                        </a:rPr>
                        <a:t>h</a:t>
                      </a:r>
                      <a:r>
                        <a:rPr sz="2400" spc="-10">
                          <a:latin typeface="Times New Roman" panose="02020603050405020304" pitchFamily="18" charset="0"/>
                          <a:cs typeface="Times New Roman" panose="02020603050405020304" pitchFamily="18" charset="0"/>
                        </a:rPr>
                        <a:t>àng</a:t>
                      </a:r>
                      <a:r>
                        <a:rPr lang="en-US" sz="2400" spc="-10">
                          <a:latin typeface="Times New Roman" panose="02020603050405020304" pitchFamily="18" charset="0"/>
                          <a:cs typeface="Times New Roman" panose="02020603050405020304" pitchFamily="18" charset="0"/>
                        </a:rPr>
                        <a:t> </a:t>
                      </a:r>
                    </a:p>
                    <a:p>
                      <a:pPr marL="153670" marR="539115" algn="just">
                        <a:lnSpc>
                          <a:spcPct val="100000"/>
                        </a:lnSpc>
                        <a:spcBef>
                          <a:spcPts val="470"/>
                        </a:spcBef>
                      </a:pPr>
                      <a:r>
                        <a:rPr lang="en-US" sz="2400">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ãP</a:t>
                      </a:r>
                      <a:r>
                        <a:rPr lang="en-US" sz="2400">
                          <a:latin typeface="Times New Roman" panose="02020603050405020304" pitchFamily="18" charset="0"/>
                          <a:cs typeface="Times New Roman" panose="02020603050405020304" pitchFamily="18" charset="0"/>
                        </a:rPr>
                        <a:t>in</a:t>
                      </a:r>
                      <a:endParaRPr sz="2400">
                        <a:latin typeface="Times New Roman" panose="02020603050405020304" pitchFamily="18" charset="0"/>
                        <a:cs typeface="Times New Roman" panose="02020603050405020304" pitchFamily="18" charset="0"/>
                      </a:endParaRPr>
                    </a:p>
                    <a:p>
                      <a:pPr marL="153670" algn="just">
                        <a:lnSpc>
                          <a:spcPct val="100000"/>
                        </a:lnSpc>
                      </a:pPr>
                      <a:r>
                        <a:rPr lang="en-US" sz="2400" spc="-5">
                          <a:latin typeface="Times New Roman" panose="02020603050405020304" pitchFamily="18" charset="0"/>
                          <a:cs typeface="Times New Roman" panose="02020603050405020304" pitchFamily="18" charset="0"/>
                        </a:rPr>
                        <a:t>S</a:t>
                      </a:r>
                      <a:r>
                        <a:rPr sz="2400" spc="-5">
                          <a:latin typeface="Times New Roman" panose="02020603050405020304" pitchFamily="18" charset="0"/>
                          <a:cs typeface="Times New Roman" panose="02020603050405020304" pitchFamily="18" charset="0"/>
                        </a:rPr>
                        <a:t>ố</a:t>
                      </a:r>
                      <a:r>
                        <a:rPr lang="en-US" sz="2400" spc="-5">
                          <a:latin typeface="Times New Roman" panose="02020603050405020304" pitchFamily="18" charset="0"/>
                          <a:cs typeface="Times New Roman" panose="02020603050405020304" pitchFamily="18" charset="0"/>
                        </a:rPr>
                        <a:t>t</a:t>
                      </a:r>
                      <a:r>
                        <a:rPr sz="2400" spc="-5">
                          <a:latin typeface="Times New Roman" panose="02020603050405020304" pitchFamily="18" charset="0"/>
                          <a:cs typeface="Times New Roman" panose="02020603050405020304" pitchFamily="18" charset="0"/>
                        </a:rPr>
                        <a:t>hẻ</a:t>
                      </a:r>
                      <a:endParaRPr sz="2400">
                        <a:latin typeface="Times New Roman" panose="02020603050405020304" pitchFamily="18" charset="0"/>
                        <a:cs typeface="Times New Roman" panose="02020603050405020304" pitchFamily="18" charset="0"/>
                      </a:endParaRPr>
                    </a:p>
                  </a:txBody>
                  <a:tcPr marL="0" marR="0" marT="5969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211015">
                <a:tc>
                  <a:txBody>
                    <a:bodyPr/>
                    <a:lstStyle/>
                    <a:p>
                      <a:pPr>
                        <a:lnSpc>
                          <a:spcPct val="100000"/>
                        </a:lnSpc>
                      </a:pPr>
                      <a:endParaRPr sz="1800">
                        <a:latin typeface="Times New Roman" panose="02020603050405020304" pitchFamily="18" charset="0"/>
                        <a:cs typeface="Times New Roman" panose="02020603050405020304" pitchFamily="18" charset="0"/>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2"/>
          <p:cNvSpPr txBox="1">
            <a:spLocks noGrp="1"/>
          </p:cNvSpPr>
          <p:nvPr>
            <p:ph type="title"/>
          </p:nvPr>
        </p:nvSpPr>
        <p:spPr>
          <a:xfrm>
            <a:off x="2700759" y="111760"/>
            <a:ext cx="6928613" cy="574040"/>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a:t>
            </a:r>
            <a:r>
              <a:rPr>
                <a:latin typeface="Times New Roman" panose="02020603050405020304" pitchFamily="18" charset="0"/>
                <a:cs typeface="Times New Roman" panose="02020603050405020304" pitchFamily="18" charset="0"/>
              </a:rPr>
              <a:t>thuộc tính</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6"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6032849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5849" y="1070395"/>
            <a:ext cx="3281860" cy="382156"/>
          </a:xfrm>
          <a:prstGeom prst="rect">
            <a:avLst/>
          </a:prstGeom>
        </p:spPr>
        <p:txBody>
          <a:bodyPr vert="horz" wrap="square" lIns="0" tIns="12700" rIns="0" bIns="0" rtlCol="0">
            <a:spAutoFit/>
          </a:bodyPr>
          <a:lstStyle/>
          <a:p>
            <a:pPr marL="12700">
              <a:spcBef>
                <a:spcPts val="100"/>
              </a:spcBef>
              <a:buClr>
                <a:srgbClr val="DD8046"/>
              </a:buClr>
              <a:buSzPct val="60416"/>
              <a:tabLst>
                <a:tab pos="332105" algn="l"/>
                <a:tab pos="332740" algn="l"/>
              </a:tabLst>
            </a:pPr>
            <a:r>
              <a:rPr sz="2400" b="1" dirty="0">
                <a:solidFill>
                  <a:srgbClr val="FF0000"/>
                </a:solidFill>
                <a:latin typeface="Times New Roman" panose="02020603050405020304" pitchFamily="18" charset="0"/>
                <a:cs typeface="Times New Roman" panose="02020603050405020304" pitchFamily="18" charset="0"/>
              </a:rPr>
              <a:t>Ví </a:t>
            </a:r>
            <a:r>
              <a:rPr sz="2400" b="1" spc="-5" dirty="0">
                <a:solidFill>
                  <a:srgbClr val="FF0000"/>
                </a:solidFill>
                <a:latin typeface="Times New Roman" panose="02020603050405020304" pitchFamily="18" charset="0"/>
                <a:cs typeface="Times New Roman" panose="02020603050405020304" pitchFamily="18" charset="0"/>
              </a:rPr>
              <a:t>dụ: </a:t>
            </a:r>
            <a:r>
              <a:rPr sz="2400" b="1" spc="-5">
                <a:solidFill>
                  <a:srgbClr val="FF0000"/>
                </a:solidFill>
                <a:latin typeface="Times New Roman" panose="02020603050405020304" pitchFamily="18" charset="0"/>
                <a:cs typeface="Times New Roman" panose="02020603050405020304" pitchFamily="18" charset="0"/>
              </a:rPr>
              <a:t>hệ </a:t>
            </a:r>
            <a:r>
              <a:rPr sz="2400" b="1">
                <a:solidFill>
                  <a:srgbClr val="FF0000"/>
                </a:solidFill>
                <a:latin typeface="Times New Roman" panose="02020603050405020304" pitchFamily="18" charset="0"/>
                <a:cs typeface="Times New Roman" panose="02020603050405020304" pitchFamily="18" charset="0"/>
              </a:rPr>
              <a:t>thống</a:t>
            </a:r>
            <a:r>
              <a:rPr lang="en-US" sz="2400" b="1">
                <a:solidFill>
                  <a:srgbClr val="FF0000"/>
                </a:solidFill>
                <a:latin typeface="Times New Roman" panose="02020603050405020304" pitchFamily="18" charset="0"/>
                <a:cs typeface="Times New Roman" panose="02020603050405020304" pitchFamily="18" charset="0"/>
              </a:rPr>
              <a:t> </a:t>
            </a:r>
            <a:r>
              <a:rPr sz="2400" b="1" spc="-229">
                <a:solidFill>
                  <a:srgbClr val="FF0000"/>
                </a:solidFill>
                <a:latin typeface="Times New Roman" panose="02020603050405020304" pitchFamily="18" charset="0"/>
                <a:cs typeface="Times New Roman" panose="02020603050405020304" pitchFamily="18" charset="0"/>
              </a:rPr>
              <a:t> </a:t>
            </a:r>
            <a:r>
              <a:rPr sz="2400" b="1" spc="-65" dirty="0">
                <a:solidFill>
                  <a:srgbClr val="FF0000"/>
                </a:solidFill>
                <a:latin typeface="Times New Roman" panose="02020603050405020304" pitchFamily="18" charset="0"/>
                <a:cs typeface="Times New Roman" panose="02020603050405020304" pitchFamily="18" charset="0"/>
              </a:rPr>
              <a:t>ATM</a:t>
            </a:r>
            <a:endParaRPr sz="2400" b="1">
              <a:solidFill>
                <a:srgbClr val="FF0000"/>
              </a:solidFill>
              <a:latin typeface="Times New Roman" panose="02020603050405020304" pitchFamily="18" charset="0"/>
              <a:cs typeface="Times New Roman" panose="02020603050405020304" pitchFamily="18" charset="0"/>
            </a:endParaRPr>
          </a:p>
        </p:txBody>
      </p:sp>
      <p:sp>
        <p:nvSpPr>
          <p:cNvPr id="4" name="object 4"/>
          <p:cNvSpPr/>
          <p:nvPr/>
        </p:nvSpPr>
        <p:spPr>
          <a:xfrm>
            <a:off x="6369673" y="5959282"/>
            <a:ext cx="1292860" cy="428625"/>
          </a:xfrm>
          <a:custGeom>
            <a:avLst/>
            <a:gdLst/>
            <a:ahLst/>
            <a:cxnLst/>
            <a:rect l="l" t="t" r="r" b="b"/>
            <a:pathLst>
              <a:path w="1292860" h="428625">
                <a:moveTo>
                  <a:pt x="0" y="428244"/>
                </a:moveTo>
                <a:lnTo>
                  <a:pt x="1292352" y="428244"/>
                </a:lnTo>
                <a:lnTo>
                  <a:pt x="1292352" y="0"/>
                </a:lnTo>
                <a:lnTo>
                  <a:pt x="0" y="0"/>
                </a:lnTo>
                <a:lnTo>
                  <a:pt x="0" y="42824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6369673" y="5959282"/>
            <a:ext cx="1292860" cy="238527"/>
          </a:xfrm>
          <a:prstGeom prst="rect">
            <a:avLst/>
          </a:prstGeom>
          <a:ln w="3175">
            <a:solidFill>
              <a:srgbClr val="000000"/>
            </a:solidFill>
          </a:ln>
        </p:spPr>
        <p:txBody>
          <a:bodyPr vert="horz" wrap="square" lIns="0" tIns="33020" rIns="0" bIns="0" rtlCol="0">
            <a:spAutoFit/>
          </a:bodyPr>
          <a:lstStyle/>
          <a:p>
            <a:pPr marL="111760">
              <a:lnSpc>
                <a:spcPts val="1585"/>
              </a:lnSpc>
              <a:spcBef>
                <a:spcPts val="260"/>
              </a:spcBef>
            </a:pP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GiaoDịchRút</a:t>
            </a:r>
            <a:endParaRPr sz="1400">
              <a:latin typeface="Times New Roman" panose="02020603050405020304" pitchFamily="18" charset="0"/>
              <a:cs typeface="Times New Roman" panose="02020603050405020304" pitchFamily="18" charset="0"/>
            </a:endParaRPr>
          </a:p>
        </p:txBody>
      </p:sp>
      <p:sp>
        <p:nvSpPr>
          <p:cNvPr id="6" name="object 6"/>
          <p:cNvSpPr/>
          <p:nvPr/>
        </p:nvSpPr>
        <p:spPr>
          <a:xfrm>
            <a:off x="6369673" y="6193978"/>
            <a:ext cx="1292860" cy="193675"/>
          </a:xfrm>
          <a:custGeom>
            <a:avLst/>
            <a:gdLst/>
            <a:ahLst/>
            <a:cxnLst/>
            <a:rect l="l" t="t" r="r" b="b"/>
            <a:pathLst>
              <a:path w="1292860" h="193675">
                <a:moveTo>
                  <a:pt x="0" y="193547"/>
                </a:moveTo>
                <a:lnTo>
                  <a:pt x="1292352" y="193547"/>
                </a:lnTo>
                <a:lnTo>
                  <a:pt x="1292352" y="0"/>
                </a:lnTo>
                <a:lnTo>
                  <a:pt x="0" y="0"/>
                </a:lnTo>
                <a:lnTo>
                  <a:pt x="0" y="19354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6369673" y="6279323"/>
            <a:ext cx="1292860" cy="108585"/>
          </a:xfrm>
          <a:custGeom>
            <a:avLst/>
            <a:gdLst/>
            <a:ahLst/>
            <a:cxnLst/>
            <a:rect l="l" t="t" r="r" b="b"/>
            <a:pathLst>
              <a:path w="1292860" h="108584">
                <a:moveTo>
                  <a:pt x="0" y="108203"/>
                </a:moveTo>
                <a:lnTo>
                  <a:pt x="1292352" y="108203"/>
                </a:lnTo>
                <a:lnTo>
                  <a:pt x="1292352" y="0"/>
                </a:lnTo>
                <a:lnTo>
                  <a:pt x="0" y="0"/>
                </a:lnTo>
                <a:lnTo>
                  <a:pt x="0" y="108203"/>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8428597" y="5959282"/>
            <a:ext cx="1292860" cy="428625"/>
          </a:xfrm>
          <a:custGeom>
            <a:avLst/>
            <a:gdLst/>
            <a:ahLst/>
            <a:cxnLst/>
            <a:rect l="l" t="t" r="r" b="b"/>
            <a:pathLst>
              <a:path w="1292859" h="428625">
                <a:moveTo>
                  <a:pt x="0" y="428244"/>
                </a:moveTo>
                <a:lnTo>
                  <a:pt x="1292352" y="428244"/>
                </a:lnTo>
                <a:lnTo>
                  <a:pt x="1292352" y="0"/>
                </a:lnTo>
                <a:lnTo>
                  <a:pt x="0" y="0"/>
                </a:lnTo>
                <a:lnTo>
                  <a:pt x="0" y="42824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9" name="object 9"/>
          <p:cNvSpPr txBox="1"/>
          <p:nvPr/>
        </p:nvSpPr>
        <p:spPr>
          <a:xfrm>
            <a:off x="8526895" y="5979501"/>
            <a:ext cx="1054100" cy="228268"/>
          </a:xfrm>
          <a:prstGeom prst="rect">
            <a:avLst/>
          </a:prstGeom>
        </p:spPr>
        <p:txBody>
          <a:bodyPr vert="horz" wrap="square" lIns="0" tIns="12700" rIns="0" bIns="0" rtlCol="0">
            <a:spAutoFit/>
          </a:bodyPr>
          <a:lstStyle/>
          <a:p>
            <a:pPr marL="12700">
              <a:spcBef>
                <a:spcPts val="100"/>
              </a:spcBef>
            </a:pP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GiaoDịchGởi</a:t>
            </a:r>
            <a:endParaRPr sz="1400">
              <a:latin typeface="Times New Roman" panose="02020603050405020304" pitchFamily="18" charset="0"/>
              <a:cs typeface="Times New Roman" panose="02020603050405020304" pitchFamily="18" charset="0"/>
            </a:endParaRPr>
          </a:p>
        </p:txBody>
      </p:sp>
      <p:sp>
        <p:nvSpPr>
          <p:cNvPr id="10" name="object 10"/>
          <p:cNvSpPr/>
          <p:nvPr/>
        </p:nvSpPr>
        <p:spPr>
          <a:xfrm>
            <a:off x="8428597" y="6193978"/>
            <a:ext cx="1292860" cy="193675"/>
          </a:xfrm>
          <a:custGeom>
            <a:avLst/>
            <a:gdLst/>
            <a:ahLst/>
            <a:cxnLst/>
            <a:rect l="l" t="t" r="r" b="b"/>
            <a:pathLst>
              <a:path w="1292859" h="193675">
                <a:moveTo>
                  <a:pt x="0" y="193547"/>
                </a:moveTo>
                <a:lnTo>
                  <a:pt x="1292352" y="193547"/>
                </a:lnTo>
                <a:lnTo>
                  <a:pt x="1292352" y="0"/>
                </a:lnTo>
                <a:lnTo>
                  <a:pt x="0" y="0"/>
                </a:lnTo>
                <a:lnTo>
                  <a:pt x="0" y="19354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1" name="object 11"/>
          <p:cNvSpPr/>
          <p:nvPr/>
        </p:nvSpPr>
        <p:spPr>
          <a:xfrm>
            <a:off x="8428597" y="6279323"/>
            <a:ext cx="1292860" cy="108585"/>
          </a:xfrm>
          <a:custGeom>
            <a:avLst/>
            <a:gdLst/>
            <a:ahLst/>
            <a:cxnLst/>
            <a:rect l="l" t="t" r="r" b="b"/>
            <a:pathLst>
              <a:path w="1292859" h="108584">
                <a:moveTo>
                  <a:pt x="0" y="108203"/>
                </a:moveTo>
                <a:lnTo>
                  <a:pt x="1292352" y="108203"/>
                </a:lnTo>
                <a:lnTo>
                  <a:pt x="1292352" y="0"/>
                </a:lnTo>
                <a:lnTo>
                  <a:pt x="0" y="0"/>
                </a:lnTo>
                <a:lnTo>
                  <a:pt x="0" y="108203"/>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2" name="object 12"/>
          <p:cNvSpPr/>
          <p:nvPr/>
        </p:nvSpPr>
        <p:spPr>
          <a:xfrm>
            <a:off x="3277478" y="2243772"/>
            <a:ext cx="1301750" cy="1169035"/>
          </a:xfrm>
          <a:custGeom>
            <a:avLst/>
            <a:gdLst/>
            <a:ahLst/>
            <a:cxnLst/>
            <a:rect l="l" t="t" r="r" b="b"/>
            <a:pathLst>
              <a:path w="1301750" h="1169035">
                <a:moveTo>
                  <a:pt x="0" y="1168908"/>
                </a:moveTo>
                <a:lnTo>
                  <a:pt x="1301496" y="1168908"/>
                </a:lnTo>
                <a:lnTo>
                  <a:pt x="1301496" y="0"/>
                </a:lnTo>
                <a:lnTo>
                  <a:pt x="0" y="0"/>
                </a:lnTo>
                <a:lnTo>
                  <a:pt x="0" y="11689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3277478" y="2478468"/>
            <a:ext cx="1301750" cy="934719"/>
          </a:xfrm>
          <a:custGeom>
            <a:avLst/>
            <a:gdLst/>
            <a:ahLst/>
            <a:cxnLst/>
            <a:rect l="l" t="t" r="r" b="b"/>
            <a:pathLst>
              <a:path w="1301750" h="934720">
                <a:moveTo>
                  <a:pt x="0" y="934212"/>
                </a:moveTo>
                <a:lnTo>
                  <a:pt x="1301496" y="934212"/>
                </a:lnTo>
                <a:lnTo>
                  <a:pt x="1301496" y="0"/>
                </a:lnTo>
                <a:lnTo>
                  <a:pt x="0" y="0"/>
                </a:lnTo>
                <a:lnTo>
                  <a:pt x="0" y="93421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3277478" y="3267898"/>
            <a:ext cx="1301750" cy="144780"/>
          </a:xfrm>
          <a:custGeom>
            <a:avLst/>
            <a:gdLst/>
            <a:ahLst/>
            <a:cxnLst/>
            <a:rect l="l" t="t" r="r" b="b"/>
            <a:pathLst>
              <a:path w="1301750" h="144779">
                <a:moveTo>
                  <a:pt x="0" y="144779"/>
                </a:moveTo>
                <a:lnTo>
                  <a:pt x="1301496" y="144779"/>
                </a:lnTo>
                <a:lnTo>
                  <a:pt x="1301496" y="0"/>
                </a:lnTo>
                <a:lnTo>
                  <a:pt x="0" y="0"/>
                </a:lnTo>
                <a:lnTo>
                  <a:pt x="0" y="14477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7131673" y="3741863"/>
            <a:ext cx="1668780" cy="1518285"/>
          </a:xfrm>
          <a:custGeom>
            <a:avLst/>
            <a:gdLst/>
            <a:ahLst/>
            <a:cxnLst/>
            <a:rect l="l" t="t" r="r" b="b"/>
            <a:pathLst>
              <a:path w="1668779" h="1518285">
                <a:moveTo>
                  <a:pt x="0" y="1517904"/>
                </a:moveTo>
                <a:lnTo>
                  <a:pt x="1668779" y="1517904"/>
                </a:lnTo>
                <a:lnTo>
                  <a:pt x="1668779" y="0"/>
                </a:lnTo>
                <a:lnTo>
                  <a:pt x="0" y="0"/>
                </a:lnTo>
                <a:lnTo>
                  <a:pt x="0" y="151790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txBox="1"/>
          <p:nvPr/>
        </p:nvSpPr>
        <p:spPr>
          <a:xfrm>
            <a:off x="7563093" y="3762945"/>
            <a:ext cx="758825" cy="228268"/>
          </a:xfrm>
          <a:prstGeom prst="rect">
            <a:avLst/>
          </a:prstGeom>
        </p:spPr>
        <p:txBody>
          <a:bodyPr vert="horz" wrap="square" lIns="0" tIns="12700" rIns="0" bIns="0" rtlCol="0">
            <a:spAutoFit/>
          </a:bodyPr>
          <a:lstStyle/>
          <a:p>
            <a:pPr marL="12700">
              <a:spcBef>
                <a:spcPts val="100"/>
              </a:spcBef>
            </a:pPr>
            <a:r>
              <a:rPr sz="1400" dirty="0">
                <a:latin typeface="Times New Roman" panose="02020603050405020304" pitchFamily="18" charset="0"/>
                <a:cs typeface="Times New Roman" panose="02020603050405020304" pitchFamily="18" charset="0"/>
              </a:rPr>
              <a:t>Giao</a:t>
            </a:r>
            <a:r>
              <a:rPr sz="1400" spc="-10" dirty="0">
                <a:latin typeface="Times New Roman" panose="02020603050405020304" pitchFamily="18" charset="0"/>
                <a:cs typeface="Times New Roman" panose="02020603050405020304" pitchFamily="18" charset="0"/>
              </a:rPr>
              <a:t>D</a:t>
            </a:r>
            <a:r>
              <a:rPr sz="1400" spc="-5" dirty="0">
                <a:latin typeface="Times New Roman" panose="02020603050405020304" pitchFamily="18" charset="0"/>
                <a:cs typeface="Times New Roman" panose="02020603050405020304" pitchFamily="18" charset="0"/>
              </a:rPr>
              <a:t>ị</a:t>
            </a:r>
            <a:r>
              <a:rPr sz="1400" dirty="0">
                <a:latin typeface="Times New Roman" panose="02020603050405020304" pitchFamily="18" charset="0"/>
                <a:cs typeface="Times New Roman" panose="02020603050405020304" pitchFamily="18" charset="0"/>
              </a:rPr>
              <a:t>ch</a:t>
            </a:r>
            <a:endParaRPr sz="1400">
              <a:latin typeface="Times New Roman" panose="02020603050405020304" pitchFamily="18" charset="0"/>
              <a:cs typeface="Times New Roman" panose="02020603050405020304" pitchFamily="18" charset="0"/>
            </a:endParaRPr>
          </a:p>
        </p:txBody>
      </p:sp>
      <p:sp>
        <p:nvSpPr>
          <p:cNvPr id="17" name="object 17"/>
          <p:cNvSpPr/>
          <p:nvPr/>
        </p:nvSpPr>
        <p:spPr>
          <a:xfrm>
            <a:off x="7131673" y="3976560"/>
            <a:ext cx="1668780" cy="1283335"/>
          </a:xfrm>
          <a:custGeom>
            <a:avLst/>
            <a:gdLst/>
            <a:ahLst/>
            <a:cxnLst/>
            <a:rect l="l" t="t" r="r" b="b"/>
            <a:pathLst>
              <a:path w="1668779" h="1283335">
                <a:moveTo>
                  <a:pt x="0" y="1283208"/>
                </a:moveTo>
                <a:lnTo>
                  <a:pt x="1668779" y="1283208"/>
                </a:lnTo>
                <a:lnTo>
                  <a:pt x="1668779" y="0"/>
                </a:lnTo>
                <a:lnTo>
                  <a:pt x="0" y="0"/>
                </a:lnTo>
                <a:lnTo>
                  <a:pt x="0" y="12832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8" name="object 18"/>
          <p:cNvSpPr/>
          <p:nvPr/>
        </p:nvSpPr>
        <p:spPr>
          <a:xfrm>
            <a:off x="7131673" y="5114986"/>
            <a:ext cx="1668780" cy="144780"/>
          </a:xfrm>
          <a:custGeom>
            <a:avLst/>
            <a:gdLst/>
            <a:ahLst/>
            <a:cxnLst/>
            <a:rect l="l" t="t" r="r" b="b"/>
            <a:pathLst>
              <a:path w="1668779" h="144779">
                <a:moveTo>
                  <a:pt x="0" y="144779"/>
                </a:moveTo>
                <a:lnTo>
                  <a:pt x="1668779" y="144779"/>
                </a:lnTo>
                <a:lnTo>
                  <a:pt x="1668779" y="0"/>
                </a:lnTo>
                <a:lnTo>
                  <a:pt x="0" y="0"/>
                </a:lnTo>
                <a:lnTo>
                  <a:pt x="0" y="14477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txBox="1"/>
          <p:nvPr/>
        </p:nvSpPr>
        <p:spPr>
          <a:xfrm>
            <a:off x="7164441" y="3977321"/>
            <a:ext cx="1439545" cy="1117600"/>
          </a:xfrm>
          <a:prstGeom prst="rect">
            <a:avLst/>
          </a:prstGeom>
        </p:spPr>
        <p:txBody>
          <a:bodyPr vert="horz" wrap="square" lIns="0" tIns="50800" rIns="0" bIns="0" rtlCol="0">
            <a:spAutoFit/>
          </a:bodyPr>
          <a:lstStyle/>
          <a:p>
            <a:pPr marL="13970" marR="5080">
              <a:lnSpc>
                <a:spcPct val="82400"/>
              </a:lnSpc>
              <a:spcBef>
                <a:spcPts val="400"/>
              </a:spcBef>
            </a:pPr>
            <a:r>
              <a:rPr sz="1400" spc="-5">
                <a:latin typeface="Times New Roman" panose="02020603050405020304" pitchFamily="18" charset="0"/>
                <a:cs typeface="Times New Roman" panose="02020603050405020304" pitchFamily="18" charset="0"/>
              </a:rPr>
              <a:t>giaoDịchID</a:t>
            </a: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ngàyGiaoDịch</a:t>
            </a:r>
            <a:r>
              <a:rPr lang="en-US" sz="1400" spc="-5">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t</a:t>
            </a:r>
            <a:r>
              <a:rPr sz="1400" spc="-5">
                <a:latin typeface="Times New Roman" panose="02020603050405020304" pitchFamily="18" charset="0"/>
                <a:cs typeface="Times New Roman" panose="02020603050405020304" pitchFamily="18" charset="0"/>
              </a:rPr>
              <a:t>hờiGian</a:t>
            </a:r>
            <a:r>
              <a:rPr sz="1400" spc="-15">
                <a:latin typeface="Times New Roman" panose="02020603050405020304" pitchFamily="18" charset="0"/>
                <a:cs typeface="Times New Roman" panose="02020603050405020304" pitchFamily="18" charset="0"/>
              </a:rPr>
              <a:t>G</a:t>
            </a:r>
            <a:r>
              <a:rPr sz="1400" spc="-5">
                <a:latin typeface="Times New Roman" panose="02020603050405020304" pitchFamily="18" charset="0"/>
                <a:cs typeface="Times New Roman" panose="02020603050405020304" pitchFamily="18" charset="0"/>
              </a:rPr>
              <a:t>iao</a:t>
            </a:r>
            <a:r>
              <a:rPr sz="1400" spc="-10">
                <a:latin typeface="Times New Roman" panose="02020603050405020304" pitchFamily="18" charset="0"/>
                <a:cs typeface="Times New Roman" panose="02020603050405020304" pitchFamily="18" charset="0"/>
              </a:rPr>
              <a:t>D</a:t>
            </a:r>
            <a:r>
              <a:rPr sz="1400" spc="-5">
                <a:latin typeface="Times New Roman" panose="02020603050405020304" pitchFamily="18" charset="0"/>
                <a:cs typeface="Times New Roman" panose="02020603050405020304" pitchFamily="18" charset="0"/>
              </a:rPr>
              <a:t>ị</a:t>
            </a:r>
            <a:r>
              <a:rPr sz="1400" spc="-10">
                <a:latin typeface="Times New Roman" panose="02020603050405020304" pitchFamily="18" charset="0"/>
                <a:cs typeface="Times New Roman" panose="02020603050405020304" pitchFamily="18" charset="0"/>
              </a:rPr>
              <a:t>c</a:t>
            </a:r>
            <a:r>
              <a:rPr sz="1400">
                <a:latin typeface="Times New Roman" panose="02020603050405020304" pitchFamily="18" charset="0"/>
                <a:cs typeface="Times New Roman" panose="02020603050405020304" pitchFamily="18" charset="0"/>
              </a:rPr>
              <a:t>h</a:t>
            </a:r>
            <a:r>
              <a:rPr lang="en-US" sz="1400">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loạiGiaoDịch</a:t>
            </a:r>
            <a:r>
              <a:rPr lang="en-US" sz="1400">
                <a:latin typeface="Times New Roman" panose="02020603050405020304" pitchFamily="18" charset="0"/>
                <a:cs typeface="Times New Roman" panose="02020603050405020304" pitchFamily="18" charset="0"/>
              </a:rPr>
              <a:t> </a:t>
            </a:r>
            <a:r>
              <a:rPr sz="1400" spc="-15">
                <a:latin typeface="Times New Roman" panose="02020603050405020304" pitchFamily="18" charset="0"/>
                <a:cs typeface="Times New Roman" panose="02020603050405020304" pitchFamily="18" charset="0"/>
              </a:rPr>
              <a:t>sốTiền</a:t>
            </a:r>
            <a:endParaRPr sz="1400">
              <a:latin typeface="Times New Roman" panose="02020603050405020304" pitchFamily="18" charset="0"/>
              <a:cs typeface="Times New Roman" panose="02020603050405020304" pitchFamily="18" charset="0"/>
            </a:endParaRPr>
          </a:p>
          <a:p>
            <a:pPr marL="12700">
              <a:lnSpc>
                <a:spcPts val="1375"/>
              </a:lnSpc>
            </a:pPr>
            <a:r>
              <a:rPr sz="1400" dirty="0">
                <a:latin typeface="Times New Roman" panose="02020603050405020304" pitchFamily="18" charset="0"/>
                <a:cs typeface="Times New Roman" panose="02020603050405020304" pitchFamily="18" charset="0"/>
              </a:rPr>
              <a:t>sốDư</a:t>
            </a:r>
            <a:endParaRPr sz="1400">
              <a:latin typeface="Times New Roman" panose="02020603050405020304" pitchFamily="18" charset="0"/>
              <a:cs typeface="Times New Roman" panose="02020603050405020304" pitchFamily="18" charset="0"/>
            </a:endParaRPr>
          </a:p>
        </p:txBody>
      </p:sp>
      <p:sp>
        <p:nvSpPr>
          <p:cNvPr id="20" name="object 20"/>
          <p:cNvSpPr/>
          <p:nvPr/>
        </p:nvSpPr>
        <p:spPr>
          <a:xfrm>
            <a:off x="7972923" y="5271960"/>
            <a:ext cx="1905" cy="422275"/>
          </a:xfrm>
          <a:custGeom>
            <a:avLst/>
            <a:gdLst/>
            <a:ahLst/>
            <a:cxnLst/>
            <a:rect l="l" t="t" r="r" b="b"/>
            <a:pathLst>
              <a:path w="1904" h="422275">
                <a:moveTo>
                  <a:pt x="0" y="422147"/>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7220066" y="5694106"/>
            <a:ext cx="1827530" cy="0"/>
          </a:xfrm>
          <a:custGeom>
            <a:avLst/>
            <a:gdLst/>
            <a:ahLst/>
            <a:cxnLst/>
            <a:rect l="l" t="t" r="r" b="b"/>
            <a:pathLst>
              <a:path w="1827529">
                <a:moveTo>
                  <a:pt x="0" y="0"/>
                </a:moveTo>
                <a:lnTo>
                  <a:pt x="1827276"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txBox="1"/>
          <p:nvPr/>
        </p:nvSpPr>
        <p:spPr>
          <a:xfrm>
            <a:off x="3511032" y="4026597"/>
            <a:ext cx="788035" cy="228268"/>
          </a:xfrm>
          <a:prstGeom prst="rect">
            <a:avLst/>
          </a:prstGeom>
        </p:spPr>
        <p:txBody>
          <a:bodyPr vert="horz" wrap="square" lIns="0" tIns="12700" rIns="0" bIns="0" rtlCol="0">
            <a:spAutoFit/>
          </a:bodyPr>
          <a:lstStyle/>
          <a:p>
            <a:pPr marL="12700">
              <a:spcBef>
                <a:spcPts val="100"/>
              </a:spcBef>
            </a:pP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TàiKhoản</a:t>
            </a:r>
            <a:endParaRPr sz="1400">
              <a:latin typeface="Times New Roman" panose="02020603050405020304" pitchFamily="18" charset="0"/>
              <a:cs typeface="Times New Roman" panose="02020603050405020304" pitchFamily="18" charset="0"/>
            </a:endParaRPr>
          </a:p>
        </p:txBody>
      </p:sp>
      <p:sp>
        <p:nvSpPr>
          <p:cNvPr id="23" name="object 23"/>
          <p:cNvSpPr txBox="1"/>
          <p:nvPr/>
        </p:nvSpPr>
        <p:spPr>
          <a:xfrm>
            <a:off x="3347709" y="4240973"/>
            <a:ext cx="1065530" cy="593725"/>
          </a:xfrm>
          <a:prstGeom prst="rect">
            <a:avLst/>
          </a:prstGeom>
        </p:spPr>
        <p:txBody>
          <a:bodyPr vert="horz" wrap="square" lIns="0" tIns="49530" rIns="0" bIns="0" rtlCol="0">
            <a:spAutoFit/>
          </a:bodyPr>
          <a:lstStyle/>
          <a:p>
            <a:pPr marL="12700" marR="5080">
              <a:lnSpc>
                <a:spcPct val="83000"/>
              </a:lnSpc>
              <a:spcBef>
                <a:spcPts val="390"/>
              </a:spcBef>
            </a:pPr>
            <a:r>
              <a:rPr sz="1400" spc="-5">
                <a:latin typeface="Times New Roman" panose="02020603050405020304" pitchFamily="18" charset="0"/>
                <a:cs typeface="Times New Roman" panose="02020603050405020304" pitchFamily="18" charset="0"/>
              </a:rPr>
              <a:t>sốTàiKhoản</a:t>
            </a: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loại</a:t>
            </a:r>
            <a:r>
              <a:rPr sz="1400" spc="-10">
                <a:latin typeface="Times New Roman" panose="02020603050405020304" pitchFamily="18" charset="0"/>
                <a:cs typeface="Times New Roman" panose="02020603050405020304" pitchFamily="18" charset="0"/>
              </a:rPr>
              <a:t>T</a:t>
            </a:r>
            <a:r>
              <a:rPr sz="1400" spc="-5">
                <a:latin typeface="Times New Roman" panose="02020603050405020304" pitchFamily="18" charset="0"/>
                <a:cs typeface="Times New Roman" panose="02020603050405020304" pitchFamily="18" charset="0"/>
              </a:rPr>
              <a:t>àiKho</a:t>
            </a:r>
            <a:r>
              <a:rPr sz="1400" spc="-10">
                <a:latin typeface="Times New Roman" panose="02020603050405020304" pitchFamily="18" charset="0"/>
                <a:cs typeface="Times New Roman" panose="02020603050405020304" pitchFamily="18" charset="0"/>
              </a:rPr>
              <a:t>ả</a:t>
            </a:r>
            <a:r>
              <a:rPr sz="1400">
                <a:latin typeface="Times New Roman" panose="02020603050405020304" pitchFamily="18" charset="0"/>
                <a:cs typeface="Times New Roman" panose="02020603050405020304" pitchFamily="18" charset="0"/>
              </a:rPr>
              <a:t>n</a:t>
            </a:r>
            <a:r>
              <a:rPr lang="en-US" sz="1400">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sốDư</a:t>
            </a:r>
            <a:endParaRPr sz="1400">
              <a:latin typeface="Times New Roman" panose="02020603050405020304" pitchFamily="18" charset="0"/>
              <a:cs typeface="Times New Roman" panose="02020603050405020304" pitchFamily="18" charset="0"/>
            </a:endParaRPr>
          </a:p>
        </p:txBody>
      </p:sp>
      <p:sp>
        <p:nvSpPr>
          <p:cNvPr id="24" name="object 24"/>
          <p:cNvSpPr txBox="1"/>
          <p:nvPr/>
        </p:nvSpPr>
        <p:spPr>
          <a:xfrm>
            <a:off x="4066657" y="3777296"/>
            <a:ext cx="125095" cy="228268"/>
          </a:xfrm>
          <a:prstGeom prst="rect">
            <a:avLst/>
          </a:prstGeom>
        </p:spPr>
        <p:txBody>
          <a:bodyPr vert="horz" wrap="square" lIns="0" tIns="12700" rIns="0" bIns="0" rtlCol="0">
            <a:spAutoFit/>
          </a:bodyPr>
          <a:lstStyle/>
          <a:p>
            <a:pPr marL="12700">
              <a:spcBef>
                <a:spcPts val="100"/>
              </a:spcBef>
            </a:pPr>
            <a:r>
              <a:rPr sz="1400"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p:txBody>
      </p:sp>
      <p:sp>
        <p:nvSpPr>
          <p:cNvPr id="25" name="object 25"/>
          <p:cNvSpPr txBox="1"/>
          <p:nvPr/>
        </p:nvSpPr>
        <p:spPr>
          <a:xfrm>
            <a:off x="3985884" y="3377430"/>
            <a:ext cx="313690" cy="491490"/>
          </a:xfrm>
          <a:prstGeom prst="rect">
            <a:avLst/>
          </a:prstGeom>
        </p:spPr>
        <p:txBody>
          <a:bodyPr vert="horz" wrap="square" lIns="0" tIns="31750" rIns="0" bIns="0" rtlCol="0">
            <a:spAutoFit/>
          </a:bodyPr>
          <a:lstStyle/>
          <a:p>
            <a:pPr marR="19685" algn="ctr">
              <a:spcBef>
                <a:spcPts val="250"/>
              </a:spcBef>
            </a:pPr>
            <a:r>
              <a:rPr sz="1400"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a:p>
            <a:pPr algn="ctr">
              <a:spcBef>
                <a:spcPts val="155"/>
              </a:spcBef>
            </a:pPr>
            <a:r>
              <a:rPr sz="1400" i="1" dirty="0">
                <a:latin typeface="Times New Roman" panose="02020603050405020304" pitchFamily="18" charset="0"/>
                <a:cs typeface="Times New Roman" panose="02020603050405020304" pitchFamily="18" charset="0"/>
              </a:rPr>
              <a:t>c</a:t>
            </a:r>
            <a:r>
              <a:rPr sz="1400" i="1" spc="-5" dirty="0">
                <a:latin typeface="Times New Roman" panose="02020603050405020304" pitchFamily="18" charset="0"/>
                <a:cs typeface="Times New Roman" panose="02020603050405020304" pitchFamily="18" charset="0"/>
              </a:rPr>
              <a:t>ủa</a:t>
            </a:r>
            <a:endParaRPr sz="1400">
              <a:latin typeface="Times New Roman" panose="02020603050405020304" pitchFamily="18" charset="0"/>
              <a:cs typeface="Times New Roman" panose="02020603050405020304" pitchFamily="18" charset="0"/>
            </a:endParaRPr>
          </a:p>
        </p:txBody>
      </p:sp>
      <p:sp>
        <p:nvSpPr>
          <p:cNvPr id="26" name="object 26"/>
          <p:cNvSpPr txBox="1"/>
          <p:nvPr/>
        </p:nvSpPr>
        <p:spPr>
          <a:xfrm>
            <a:off x="6734292" y="4539296"/>
            <a:ext cx="324485" cy="228268"/>
          </a:xfrm>
          <a:prstGeom prst="rect">
            <a:avLst/>
          </a:prstGeom>
        </p:spPr>
        <p:txBody>
          <a:bodyPr vert="horz" wrap="square" lIns="0" tIns="12700" rIns="0" bIns="0" rtlCol="0">
            <a:spAutoFit/>
          </a:bodyPr>
          <a:lstStyle/>
          <a:p>
            <a:pPr marL="12700">
              <a:spcBef>
                <a:spcPts val="100"/>
              </a:spcBef>
            </a:pPr>
            <a:r>
              <a:rPr sz="1400" dirty="0">
                <a:latin typeface="Times New Roman" panose="02020603050405020304" pitchFamily="18" charset="0"/>
                <a:cs typeface="Times New Roman" panose="02020603050405020304" pitchFamily="18" charset="0"/>
              </a:rPr>
              <a:t>0..n</a:t>
            </a:r>
            <a:endParaRPr sz="1400">
              <a:latin typeface="Times New Roman" panose="02020603050405020304" pitchFamily="18" charset="0"/>
              <a:cs typeface="Times New Roman" panose="02020603050405020304" pitchFamily="18" charset="0"/>
            </a:endParaRPr>
          </a:p>
        </p:txBody>
      </p:sp>
      <p:sp>
        <p:nvSpPr>
          <p:cNvPr id="27" name="object 27"/>
          <p:cNvSpPr txBox="1"/>
          <p:nvPr/>
        </p:nvSpPr>
        <p:spPr>
          <a:xfrm>
            <a:off x="4600438" y="4539296"/>
            <a:ext cx="125095" cy="228268"/>
          </a:xfrm>
          <a:prstGeom prst="rect">
            <a:avLst/>
          </a:prstGeom>
        </p:spPr>
        <p:txBody>
          <a:bodyPr vert="horz" wrap="square" lIns="0" tIns="12700" rIns="0" bIns="0" rtlCol="0">
            <a:spAutoFit/>
          </a:bodyPr>
          <a:lstStyle/>
          <a:p>
            <a:pPr marL="12700">
              <a:spcBef>
                <a:spcPts val="100"/>
              </a:spcBef>
            </a:pPr>
            <a:r>
              <a:rPr sz="1400"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p:txBody>
      </p:sp>
      <p:sp>
        <p:nvSpPr>
          <p:cNvPr id="28" name="object 28"/>
          <p:cNvSpPr txBox="1"/>
          <p:nvPr/>
        </p:nvSpPr>
        <p:spPr>
          <a:xfrm>
            <a:off x="5703813" y="4178997"/>
            <a:ext cx="215265" cy="228268"/>
          </a:xfrm>
          <a:prstGeom prst="rect">
            <a:avLst/>
          </a:prstGeom>
        </p:spPr>
        <p:txBody>
          <a:bodyPr vert="horz" wrap="square" lIns="0" tIns="12700" rIns="0" bIns="0" rtlCol="0">
            <a:spAutoFit/>
          </a:bodyPr>
          <a:lstStyle/>
          <a:p>
            <a:pPr marL="12700">
              <a:spcBef>
                <a:spcPts val="100"/>
              </a:spcBef>
            </a:pPr>
            <a:r>
              <a:rPr sz="1400" i="1" spc="5" dirty="0">
                <a:latin typeface="Times New Roman" panose="02020603050405020304" pitchFamily="18" charset="0"/>
                <a:cs typeface="Times New Roman" panose="02020603050405020304" pitchFamily="18" charset="0"/>
              </a:rPr>
              <a:t>có</a:t>
            </a:r>
            <a:endParaRPr sz="1400">
              <a:latin typeface="Times New Roman" panose="02020603050405020304" pitchFamily="18" charset="0"/>
              <a:cs typeface="Times New Roman" panose="02020603050405020304" pitchFamily="18" charset="0"/>
            </a:endParaRPr>
          </a:p>
        </p:txBody>
      </p:sp>
      <p:sp>
        <p:nvSpPr>
          <p:cNvPr id="29" name="object 29"/>
          <p:cNvSpPr txBox="1"/>
          <p:nvPr/>
        </p:nvSpPr>
        <p:spPr>
          <a:xfrm>
            <a:off x="3311132" y="1619313"/>
            <a:ext cx="2924810" cy="1649041"/>
          </a:xfrm>
          <a:prstGeom prst="rect">
            <a:avLst/>
          </a:prstGeom>
        </p:spPr>
        <p:txBody>
          <a:bodyPr vert="horz" wrap="square" lIns="0" tIns="13335" rIns="0" bIns="0" rtlCol="0">
            <a:spAutoFit/>
          </a:bodyPr>
          <a:lstStyle/>
          <a:p>
            <a:pPr marR="5080" algn="r">
              <a:spcBef>
                <a:spcPts val="105"/>
              </a:spcBef>
            </a:pPr>
            <a:r>
              <a:rPr sz="1400" spc="-10" dirty="0">
                <a:latin typeface="Times New Roman" panose="02020603050405020304" pitchFamily="18" charset="0"/>
                <a:cs typeface="Times New Roman" panose="02020603050405020304" pitchFamily="18" charset="0"/>
              </a:rPr>
              <a:t>N</a:t>
            </a:r>
            <a:r>
              <a:rPr sz="1400" dirty="0">
                <a:latin typeface="Times New Roman" panose="02020603050405020304" pitchFamily="18" charset="0"/>
                <a:cs typeface="Times New Roman" panose="02020603050405020304" pitchFamily="18" charset="0"/>
              </a:rPr>
              <a:t>gân</a:t>
            </a:r>
            <a:r>
              <a:rPr sz="1400" spc="-10" dirty="0">
                <a:latin typeface="Times New Roman" panose="02020603050405020304" pitchFamily="18" charset="0"/>
                <a:cs typeface="Times New Roman" panose="02020603050405020304" pitchFamily="18" charset="0"/>
              </a:rPr>
              <a:t>H</a:t>
            </a:r>
            <a:r>
              <a:rPr sz="1400" dirty="0">
                <a:latin typeface="Times New Roman" panose="02020603050405020304" pitchFamily="18" charset="0"/>
                <a:cs typeface="Times New Roman" panose="02020603050405020304" pitchFamily="18" charset="0"/>
              </a:rPr>
              <a:t>àng</a:t>
            </a:r>
            <a:endParaRPr sz="1400">
              <a:latin typeface="Times New Roman" panose="02020603050405020304" pitchFamily="18" charset="0"/>
              <a:cs typeface="Times New Roman" panose="02020603050405020304" pitchFamily="18" charset="0"/>
            </a:endParaRPr>
          </a:p>
          <a:p>
            <a:pPr>
              <a:lnSpc>
                <a:spcPct val="100000"/>
              </a:lnSpc>
            </a:pPr>
            <a:endParaRPr sz="1500">
              <a:latin typeface="Times New Roman" panose="02020603050405020304" pitchFamily="18" charset="0"/>
              <a:cs typeface="Times New Roman" panose="02020603050405020304" pitchFamily="18" charset="0"/>
            </a:endParaRPr>
          </a:p>
          <a:p>
            <a:pPr>
              <a:spcBef>
                <a:spcPts val="35"/>
              </a:spcBef>
            </a:pPr>
            <a:endParaRPr sz="1400">
              <a:latin typeface="Times New Roman" panose="02020603050405020304" pitchFamily="18" charset="0"/>
              <a:cs typeface="Times New Roman" panose="02020603050405020304" pitchFamily="18" charset="0"/>
            </a:endParaRPr>
          </a:p>
          <a:p>
            <a:pPr marL="12700" marR="1725930" indent="107314">
              <a:lnSpc>
                <a:spcPct val="101299"/>
              </a:lnSpc>
            </a:pPr>
            <a:r>
              <a:rPr lang="en-US" sz="1400">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KháchHàng</a:t>
            </a:r>
            <a:r>
              <a:rPr lang="en-US" sz="1400">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tênKháchHà</a:t>
            </a:r>
            <a:r>
              <a:rPr sz="1400" spc="-20">
                <a:latin typeface="Times New Roman" panose="02020603050405020304" pitchFamily="18" charset="0"/>
                <a:cs typeface="Times New Roman" panose="02020603050405020304" pitchFamily="18" charset="0"/>
              </a:rPr>
              <a:t>n</a:t>
            </a:r>
            <a:r>
              <a:rPr sz="1400">
                <a:latin typeface="Times New Roman" panose="02020603050405020304" pitchFamily="18" charset="0"/>
                <a:cs typeface="Times New Roman" panose="02020603050405020304" pitchFamily="18" charset="0"/>
              </a:rPr>
              <a:t>g</a:t>
            </a:r>
          </a:p>
          <a:p>
            <a:pPr marL="12700" marR="1774189">
              <a:lnSpc>
                <a:spcPts val="1380"/>
              </a:lnSpc>
              <a:spcBef>
                <a:spcPts val="5"/>
              </a:spcBef>
            </a:pPr>
            <a:r>
              <a:rPr sz="1400" spc="-5">
                <a:latin typeface="Times New Roman" panose="02020603050405020304" pitchFamily="18" charset="0"/>
                <a:cs typeface="Times New Roman" panose="02020603050405020304" pitchFamily="18" charset="0"/>
              </a:rPr>
              <a:t>họKháchHàn</a:t>
            </a:r>
            <a:r>
              <a:rPr sz="1400">
                <a:latin typeface="Times New Roman" panose="02020603050405020304" pitchFamily="18" charset="0"/>
                <a:cs typeface="Times New Roman" panose="02020603050405020304" pitchFamily="18" charset="0"/>
              </a:rPr>
              <a:t>g</a:t>
            </a:r>
            <a:r>
              <a:rPr lang="en-US" sz="1400">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mãPIN</a:t>
            </a:r>
          </a:p>
          <a:p>
            <a:pPr marL="12700">
              <a:lnSpc>
                <a:spcPts val="1375"/>
              </a:lnSpc>
            </a:pPr>
            <a:r>
              <a:rPr sz="1400" spc="-5" dirty="0">
                <a:latin typeface="Times New Roman" panose="02020603050405020304" pitchFamily="18" charset="0"/>
                <a:cs typeface="Times New Roman" panose="02020603050405020304" pitchFamily="18" charset="0"/>
              </a:rPr>
              <a:t>sốThẻ</a:t>
            </a:r>
            <a:endParaRPr sz="1400">
              <a:latin typeface="Times New Roman" panose="02020603050405020304" pitchFamily="18" charset="0"/>
              <a:cs typeface="Times New Roman" panose="02020603050405020304" pitchFamily="18" charset="0"/>
            </a:endParaRPr>
          </a:p>
        </p:txBody>
      </p:sp>
      <p:graphicFrame>
        <p:nvGraphicFramePr>
          <p:cNvPr id="30" name="object 30"/>
          <p:cNvGraphicFramePr>
            <a:graphicFrameLocks noGrp="1"/>
          </p:cNvGraphicFramePr>
          <p:nvPr>
            <p:extLst>
              <p:ext uri="{D42A27DB-BD31-4B8C-83A1-F6EECF244321}">
                <p14:modId xmlns:p14="http://schemas.microsoft.com/office/powerpoint/2010/main" val="1234291454"/>
              </p:ext>
            </p:extLst>
          </p:nvPr>
        </p:nvGraphicFramePr>
        <p:xfrm>
          <a:off x="7398373" y="2419030"/>
          <a:ext cx="1243330" cy="1041400"/>
        </p:xfrm>
        <a:graphic>
          <a:graphicData uri="http://schemas.openxmlformats.org/drawingml/2006/table">
            <a:tbl>
              <a:tblPr firstRow="1" bandRow="1">
                <a:tableStyleId>{2D5ABB26-0587-4C30-8999-92F81FD0307C}</a:tableStyleId>
              </a:tblPr>
              <a:tblGrid>
                <a:gridCol w="1243330">
                  <a:extLst>
                    <a:ext uri="{9D8B030D-6E8A-4147-A177-3AD203B41FA5}">
                      <a16:colId xmlns:a16="http://schemas.microsoft.com/office/drawing/2014/main" val="20000"/>
                    </a:ext>
                  </a:extLst>
                </a:gridCol>
              </a:tblGrid>
              <a:tr h="234315">
                <a:tc>
                  <a:txBody>
                    <a:bodyPr/>
                    <a:lstStyle/>
                    <a:p>
                      <a:pPr marL="158115">
                        <a:lnSpc>
                          <a:spcPts val="1485"/>
                        </a:lnSpc>
                        <a:spcBef>
                          <a:spcPts val="260"/>
                        </a:spcBef>
                      </a:pPr>
                      <a:r>
                        <a:rPr lang="en-US" sz="1400" spc="-20">
                          <a:latin typeface="Arial"/>
                          <a:cs typeface="Arial"/>
                        </a:rPr>
                        <a:t>   </a:t>
                      </a:r>
                      <a:r>
                        <a:rPr sz="1400" spc="-20">
                          <a:latin typeface="Arial"/>
                          <a:cs typeface="Arial"/>
                        </a:rPr>
                        <a:t>MáyATM</a:t>
                      </a:r>
                      <a:endParaRPr sz="1400">
                        <a:latin typeface="Arial"/>
                        <a:cs typeface="Arial"/>
                      </a:endParaRPr>
                    </a:p>
                  </a:txBody>
                  <a:tcPr marL="0" marR="0" marT="330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668655">
                <a:tc>
                  <a:txBody>
                    <a:bodyPr/>
                    <a:lstStyle/>
                    <a:p>
                      <a:pPr marL="6985" marR="86995" indent="40640">
                        <a:lnSpc>
                          <a:spcPct val="85600"/>
                        </a:lnSpc>
                        <a:spcBef>
                          <a:spcPts val="350"/>
                        </a:spcBef>
                      </a:pPr>
                      <a:r>
                        <a:rPr sz="1400" spc="-5">
                          <a:latin typeface="Arial"/>
                          <a:cs typeface="Arial"/>
                        </a:rPr>
                        <a:t>địaChỉ</a:t>
                      </a:r>
                      <a:r>
                        <a:rPr lang="en-US" sz="1400" spc="-5">
                          <a:latin typeface="Arial"/>
                          <a:cs typeface="Arial"/>
                        </a:rPr>
                        <a:t>   </a:t>
                      </a:r>
                      <a:r>
                        <a:rPr sz="1400" spc="-5">
                          <a:latin typeface="Arial"/>
                          <a:cs typeface="Arial"/>
                        </a:rPr>
                        <a:t>trạngThái</a:t>
                      </a:r>
                      <a:r>
                        <a:rPr lang="en-US" sz="1400" spc="-5">
                          <a:latin typeface="Arial"/>
                          <a:cs typeface="Arial"/>
                        </a:rPr>
                        <a:t> </a:t>
                      </a:r>
                      <a:r>
                        <a:rPr sz="1400">
                          <a:latin typeface="Arial"/>
                          <a:cs typeface="Arial"/>
                        </a:rPr>
                        <a:t>s</a:t>
                      </a:r>
                      <a:r>
                        <a:rPr sz="1400" spc="-5">
                          <a:latin typeface="Arial"/>
                          <a:cs typeface="Arial"/>
                        </a:rPr>
                        <a:t>ố</a:t>
                      </a:r>
                      <a:r>
                        <a:rPr sz="1400" spc="-55">
                          <a:latin typeface="Arial"/>
                          <a:cs typeface="Arial"/>
                        </a:rPr>
                        <a:t>T</a:t>
                      </a:r>
                      <a:r>
                        <a:rPr sz="1400" spc="-5">
                          <a:latin typeface="Arial"/>
                          <a:cs typeface="Arial"/>
                        </a:rPr>
                        <a:t>iền</a:t>
                      </a:r>
                      <a:r>
                        <a:rPr sz="1400" spc="-10">
                          <a:latin typeface="Arial"/>
                          <a:cs typeface="Arial"/>
                        </a:rPr>
                        <a:t>H</a:t>
                      </a:r>
                      <a:r>
                        <a:rPr sz="1400" spc="-5">
                          <a:latin typeface="Arial"/>
                          <a:cs typeface="Arial"/>
                        </a:rPr>
                        <a:t>iện</a:t>
                      </a:r>
                      <a:r>
                        <a:rPr sz="1400" spc="-10">
                          <a:latin typeface="Arial"/>
                          <a:cs typeface="Arial"/>
                        </a:rPr>
                        <a:t>T</a:t>
                      </a:r>
                      <a:r>
                        <a:rPr sz="1400" spc="-5">
                          <a:latin typeface="Arial"/>
                          <a:cs typeface="Arial"/>
                        </a:rPr>
                        <a:t>ại</a:t>
                      </a:r>
                      <a:endParaRPr sz="1400">
                        <a:latin typeface="Arial"/>
                        <a:cs typeface="Arial"/>
                      </a:endParaRPr>
                    </a:p>
                  </a:txBody>
                  <a:tcPr marL="0" marR="0" marT="4445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38430">
                <a:tc>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31" name="object 31"/>
          <p:cNvSpPr/>
          <p:nvPr/>
        </p:nvSpPr>
        <p:spPr>
          <a:xfrm>
            <a:off x="7863193" y="5270435"/>
            <a:ext cx="220980" cy="227076"/>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2" name="object 32"/>
          <p:cNvSpPr/>
          <p:nvPr/>
        </p:nvSpPr>
        <p:spPr>
          <a:xfrm>
            <a:off x="7220067" y="5694107"/>
            <a:ext cx="3175" cy="260985"/>
          </a:xfrm>
          <a:custGeom>
            <a:avLst/>
            <a:gdLst/>
            <a:ahLst/>
            <a:cxnLst/>
            <a:rect l="l" t="t" r="r" b="b"/>
            <a:pathLst>
              <a:path w="3175" h="260985">
                <a:moveTo>
                  <a:pt x="0" y="260604"/>
                </a:moveTo>
                <a:lnTo>
                  <a:pt x="3048"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3" name="object 33"/>
          <p:cNvSpPr/>
          <p:nvPr/>
        </p:nvSpPr>
        <p:spPr>
          <a:xfrm>
            <a:off x="9047343" y="5694106"/>
            <a:ext cx="1905" cy="265430"/>
          </a:xfrm>
          <a:custGeom>
            <a:avLst/>
            <a:gdLst/>
            <a:ahLst/>
            <a:cxnLst/>
            <a:rect l="l" t="t" r="r" b="b"/>
            <a:pathLst>
              <a:path w="1904" h="265429">
                <a:moveTo>
                  <a:pt x="0" y="265176"/>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4" name="object 34"/>
          <p:cNvSpPr/>
          <p:nvPr/>
        </p:nvSpPr>
        <p:spPr>
          <a:xfrm>
            <a:off x="3317103" y="4005515"/>
            <a:ext cx="1221105" cy="989330"/>
          </a:xfrm>
          <a:custGeom>
            <a:avLst/>
            <a:gdLst/>
            <a:ahLst/>
            <a:cxnLst/>
            <a:rect l="l" t="t" r="r" b="b"/>
            <a:pathLst>
              <a:path w="1221105" h="989329">
                <a:moveTo>
                  <a:pt x="0" y="989076"/>
                </a:moveTo>
                <a:lnTo>
                  <a:pt x="1220724" y="989076"/>
                </a:lnTo>
                <a:lnTo>
                  <a:pt x="1220724" y="0"/>
                </a:lnTo>
                <a:lnTo>
                  <a:pt x="0" y="0"/>
                </a:lnTo>
                <a:lnTo>
                  <a:pt x="0" y="98907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5" name="object 35"/>
          <p:cNvSpPr/>
          <p:nvPr/>
        </p:nvSpPr>
        <p:spPr>
          <a:xfrm>
            <a:off x="3317103" y="4241735"/>
            <a:ext cx="1221105" cy="753110"/>
          </a:xfrm>
          <a:custGeom>
            <a:avLst/>
            <a:gdLst/>
            <a:ahLst/>
            <a:cxnLst/>
            <a:rect l="l" t="t" r="r" b="b"/>
            <a:pathLst>
              <a:path w="1221105" h="753110">
                <a:moveTo>
                  <a:pt x="0" y="752855"/>
                </a:moveTo>
                <a:lnTo>
                  <a:pt x="1220724" y="752855"/>
                </a:lnTo>
                <a:lnTo>
                  <a:pt x="1220724" y="0"/>
                </a:lnTo>
                <a:lnTo>
                  <a:pt x="0" y="0"/>
                </a:lnTo>
                <a:lnTo>
                  <a:pt x="0" y="75285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6" name="object 36"/>
          <p:cNvSpPr/>
          <p:nvPr/>
        </p:nvSpPr>
        <p:spPr>
          <a:xfrm>
            <a:off x="3317103" y="4854384"/>
            <a:ext cx="1221105" cy="140335"/>
          </a:xfrm>
          <a:custGeom>
            <a:avLst/>
            <a:gdLst/>
            <a:ahLst/>
            <a:cxnLst/>
            <a:rect l="l" t="t" r="r" b="b"/>
            <a:pathLst>
              <a:path w="1221105" h="140335">
                <a:moveTo>
                  <a:pt x="0" y="140208"/>
                </a:moveTo>
                <a:lnTo>
                  <a:pt x="1220724" y="140208"/>
                </a:lnTo>
                <a:lnTo>
                  <a:pt x="1220724" y="0"/>
                </a:lnTo>
                <a:lnTo>
                  <a:pt x="0" y="0"/>
                </a:lnTo>
                <a:lnTo>
                  <a:pt x="0" y="1402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7" name="object 37"/>
          <p:cNvSpPr/>
          <p:nvPr/>
        </p:nvSpPr>
        <p:spPr>
          <a:xfrm>
            <a:off x="3934323" y="3711383"/>
            <a:ext cx="1905" cy="289560"/>
          </a:xfrm>
          <a:custGeom>
            <a:avLst/>
            <a:gdLst/>
            <a:ahLst/>
            <a:cxnLst/>
            <a:rect l="l" t="t" r="r" b="b"/>
            <a:pathLst>
              <a:path w="1905" h="289560">
                <a:moveTo>
                  <a:pt x="0" y="0"/>
                </a:moveTo>
                <a:lnTo>
                  <a:pt x="1524" y="28956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8" name="object 38"/>
          <p:cNvSpPr/>
          <p:nvPr/>
        </p:nvSpPr>
        <p:spPr>
          <a:xfrm>
            <a:off x="3934323" y="3423347"/>
            <a:ext cx="1905" cy="288290"/>
          </a:xfrm>
          <a:custGeom>
            <a:avLst/>
            <a:gdLst/>
            <a:ahLst/>
            <a:cxnLst/>
            <a:rect l="l" t="t" r="r" b="b"/>
            <a:pathLst>
              <a:path w="1905" h="288289">
                <a:moveTo>
                  <a:pt x="0" y="288035"/>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9" name="object 39"/>
          <p:cNvSpPr/>
          <p:nvPr/>
        </p:nvSpPr>
        <p:spPr>
          <a:xfrm>
            <a:off x="5839322" y="4506911"/>
            <a:ext cx="1287780" cy="1905"/>
          </a:xfrm>
          <a:custGeom>
            <a:avLst/>
            <a:gdLst/>
            <a:ahLst/>
            <a:cxnLst/>
            <a:rect l="l" t="t" r="r" b="b"/>
            <a:pathLst>
              <a:path w="1287779" h="1904">
                <a:moveTo>
                  <a:pt x="0" y="0"/>
                </a:moveTo>
                <a:lnTo>
                  <a:pt x="1287779" y="1523"/>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0" name="object 40"/>
          <p:cNvSpPr/>
          <p:nvPr/>
        </p:nvSpPr>
        <p:spPr>
          <a:xfrm>
            <a:off x="4553066" y="4506911"/>
            <a:ext cx="1286510" cy="1905"/>
          </a:xfrm>
          <a:custGeom>
            <a:avLst/>
            <a:gdLst/>
            <a:ahLst/>
            <a:cxnLst/>
            <a:rect l="l" t="t" r="r" b="b"/>
            <a:pathLst>
              <a:path w="1286510" h="1904">
                <a:moveTo>
                  <a:pt x="1286256" y="0"/>
                </a:moveTo>
                <a:lnTo>
                  <a:pt x="0" y="1523"/>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1" name="object 41"/>
          <p:cNvSpPr/>
          <p:nvPr/>
        </p:nvSpPr>
        <p:spPr>
          <a:xfrm>
            <a:off x="5211434" y="1599119"/>
            <a:ext cx="1233170" cy="429895"/>
          </a:xfrm>
          <a:custGeom>
            <a:avLst/>
            <a:gdLst/>
            <a:ahLst/>
            <a:cxnLst/>
            <a:rect l="l" t="t" r="r" b="b"/>
            <a:pathLst>
              <a:path w="1233170" h="429894">
                <a:moveTo>
                  <a:pt x="0" y="429767"/>
                </a:moveTo>
                <a:lnTo>
                  <a:pt x="1232915" y="429767"/>
                </a:lnTo>
                <a:lnTo>
                  <a:pt x="1232915" y="0"/>
                </a:lnTo>
                <a:lnTo>
                  <a:pt x="0" y="0"/>
                </a:lnTo>
                <a:lnTo>
                  <a:pt x="0" y="42976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2" name="object 42"/>
          <p:cNvSpPr/>
          <p:nvPr/>
        </p:nvSpPr>
        <p:spPr>
          <a:xfrm>
            <a:off x="5211434" y="1832290"/>
            <a:ext cx="1233170" cy="196850"/>
          </a:xfrm>
          <a:custGeom>
            <a:avLst/>
            <a:gdLst/>
            <a:ahLst/>
            <a:cxnLst/>
            <a:rect l="l" t="t" r="r" b="b"/>
            <a:pathLst>
              <a:path w="1233170" h="196850">
                <a:moveTo>
                  <a:pt x="0" y="196596"/>
                </a:moveTo>
                <a:lnTo>
                  <a:pt x="1232915" y="196596"/>
                </a:lnTo>
                <a:lnTo>
                  <a:pt x="1232915" y="0"/>
                </a:lnTo>
                <a:lnTo>
                  <a:pt x="0" y="0"/>
                </a:lnTo>
                <a:lnTo>
                  <a:pt x="0" y="19659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3" name="object 43"/>
          <p:cNvSpPr/>
          <p:nvPr/>
        </p:nvSpPr>
        <p:spPr>
          <a:xfrm>
            <a:off x="5211434" y="1919159"/>
            <a:ext cx="1233170" cy="109855"/>
          </a:xfrm>
          <a:custGeom>
            <a:avLst/>
            <a:gdLst/>
            <a:ahLst/>
            <a:cxnLst/>
            <a:rect l="l" t="t" r="r" b="b"/>
            <a:pathLst>
              <a:path w="1233170" h="109855">
                <a:moveTo>
                  <a:pt x="0" y="109728"/>
                </a:moveTo>
                <a:lnTo>
                  <a:pt x="1232915" y="109728"/>
                </a:lnTo>
                <a:lnTo>
                  <a:pt x="1232915" y="0"/>
                </a:lnTo>
                <a:lnTo>
                  <a:pt x="0" y="0"/>
                </a:lnTo>
                <a:lnTo>
                  <a:pt x="0" y="10972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4" name="object 44"/>
          <p:cNvSpPr/>
          <p:nvPr/>
        </p:nvSpPr>
        <p:spPr>
          <a:xfrm>
            <a:off x="6839066" y="2310828"/>
            <a:ext cx="554990" cy="277495"/>
          </a:xfrm>
          <a:custGeom>
            <a:avLst/>
            <a:gdLst/>
            <a:ahLst/>
            <a:cxnLst/>
            <a:rect l="l" t="t" r="r" b="b"/>
            <a:pathLst>
              <a:path w="554989" h="277494">
                <a:moveTo>
                  <a:pt x="0" y="0"/>
                </a:moveTo>
                <a:lnTo>
                  <a:pt x="554736" y="277368"/>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5" name="object 45"/>
          <p:cNvSpPr/>
          <p:nvPr/>
        </p:nvSpPr>
        <p:spPr>
          <a:xfrm>
            <a:off x="6510008" y="2135693"/>
            <a:ext cx="329566" cy="175642"/>
          </a:xfrm>
          <a:custGeom>
            <a:avLst/>
            <a:gdLst/>
            <a:ahLst/>
            <a:cxnLst/>
            <a:rect l="l" t="t" r="r" b="b"/>
            <a:pathLst>
              <a:path w="553720" h="271780">
                <a:moveTo>
                  <a:pt x="553212" y="271272"/>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6" name="object 46"/>
          <p:cNvSpPr/>
          <p:nvPr/>
        </p:nvSpPr>
        <p:spPr>
          <a:xfrm>
            <a:off x="6313350" y="2012547"/>
            <a:ext cx="224154" cy="111760"/>
          </a:xfrm>
          <a:custGeom>
            <a:avLst/>
            <a:gdLst/>
            <a:ahLst/>
            <a:cxnLst/>
            <a:rect l="l" t="t" r="r" b="b"/>
            <a:pathLst>
              <a:path w="224154" h="111760">
                <a:moveTo>
                  <a:pt x="0" y="0"/>
                </a:moveTo>
                <a:lnTo>
                  <a:pt x="154559" y="6985"/>
                </a:lnTo>
                <a:lnTo>
                  <a:pt x="224027" y="111251"/>
                </a:lnTo>
                <a:lnTo>
                  <a:pt x="74675" y="104267"/>
                </a:lnTo>
                <a:lnTo>
                  <a:pt x="0"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7" name="object 47"/>
          <p:cNvSpPr/>
          <p:nvPr/>
        </p:nvSpPr>
        <p:spPr>
          <a:xfrm>
            <a:off x="2812658" y="2441890"/>
            <a:ext cx="498475" cy="2062480"/>
          </a:xfrm>
          <a:custGeom>
            <a:avLst/>
            <a:gdLst/>
            <a:ahLst/>
            <a:cxnLst/>
            <a:rect l="l" t="t" r="r" b="b"/>
            <a:pathLst>
              <a:path w="498475" h="2062479">
                <a:moveTo>
                  <a:pt x="0" y="0"/>
                </a:moveTo>
                <a:lnTo>
                  <a:pt x="0" y="2061972"/>
                </a:lnTo>
                <a:lnTo>
                  <a:pt x="498348" y="2061972"/>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8" name="object 48"/>
          <p:cNvSpPr/>
          <p:nvPr/>
        </p:nvSpPr>
        <p:spPr>
          <a:xfrm>
            <a:off x="2812658" y="1812478"/>
            <a:ext cx="2395855" cy="629920"/>
          </a:xfrm>
          <a:custGeom>
            <a:avLst/>
            <a:gdLst/>
            <a:ahLst/>
            <a:cxnLst/>
            <a:rect l="l" t="t" r="r" b="b"/>
            <a:pathLst>
              <a:path w="2395854" h="629919">
                <a:moveTo>
                  <a:pt x="0" y="629412"/>
                </a:moveTo>
                <a:lnTo>
                  <a:pt x="0" y="0"/>
                </a:lnTo>
                <a:lnTo>
                  <a:pt x="2395728" y="3683"/>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9" name="object 49"/>
          <p:cNvSpPr/>
          <p:nvPr/>
        </p:nvSpPr>
        <p:spPr>
          <a:xfrm>
            <a:off x="4940162" y="1757615"/>
            <a:ext cx="268605" cy="113030"/>
          </a:xfrm>
          <a:custGeom>
            <a:avLst/>
            <a:gdLst/>
            <a:ahLst/>
            <a:cxnLst/>
            <a:rect l="l" t="t" r="r" b="b"/>
            <a:pathLst>
              <a:path w="268604" h="113030">
                <a:moveTo>
                  <a:pt x="133603" y="0"/>
                </a:moveTo>
                <a:lnTo>
                  <a:pt x="0" y="56387"/>
                </a:lnTo>
                <a:lnTo>
                  <a:pt x="133603" y="112775"/>
                </a:lnTo>
                <a:lnTo>
                  <a:pt x="268224" y="56387"/>
                </a:lnTo>
                <a:lnTo>
                  <a:pt x="133603" y="0"/>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0" name="object 50"/>
          <p:cNvSpPr/>
          <p:nvPr/>
        </p:nvSpPr>
        <p:spPr>
          <a:xfrm>
            <a:off x="4940162" y="1757615"/>
            <a:ext cx="268605" cy="113030"/>
          </a:xfrm>
          <a:custGeom>
            <a:avLst/>
            <a:gdLst/>
            <a:ahLst/>
            <a:cxnLst/>
            <a:rect l="l" t="t" r="r" b="b"/>
            <a:pathLst>
              <a:path w="268604" h="113030">
                <a:moveTo>
                  <a:pt x="268224" y="56387"/>
                </a:moveTo>
                <a:lnTo>
                  <a:pt x="133603" y="0"/>
                </a:lnTo>
                <a:lnTo>
                  <a:pt x="0" y="56387"/>
                </a:lnTo>
                <a:lnTo>
                  <a:pt x="133603" y="112775"/>
                </a:lnTo>
                <a:lnTo>
                  <a:pt x="268224" y="56387"/>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4" name="object 2"/>
          <p:cNvSpPr txBox="1">
            <a:spLocks noGrp="1"/>
          </p:cNvSpPr>
          <p:nvPr>
            <p:ph type="title"/>
          </p:nvPr>
        </p:nvSpPr>
        <p:spPr>
          <a:xfrm>
            <a:off x="2700759" y="111760"/>
            <a:ext cx="6928613" cy="574040"/>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a:t>
            </a:r>
            <a:r>
              <a:rPr>
                <a:latin typeface="Times New Roman" panose="02020603050405020304" pitchFamily="18" charset="0"/>
                <a:cs typeface="Times New Roman" panose="02020603050405020304" pitchFamily="18" charset="0"/>
              </a:rPr>
              <a:t>thuộc tính</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53"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6565632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601"/>
            <a:ext cx="12192000" cy="5518562"/>
          </a:xfrm>
          <a:prstGeom prst="rect">
            <a:avLst/>
          </a:prstGeom>
        </p:spPr>
        <p:txBody>
          <a:bodyPr vert="horz" wrap="square" lIns="0" tIns="59055" rIns="0" bIns="0" rtlCol="0">
            <a:spAutoFit/>
          </a:bodyPr>
          <a:lstStyle/>
          <a:p>
            <a:pPr marL="469900" indent="-457200" algn="just">
              <a:lnSpc>
                <a:spcPct val="120000"/>
              </a:lnSpc>
              <a:spcBef>
                <a:spcPts val="465"/>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Câu</a:t>
            </a:r>
            <a:r>
              <a:rPr sz="2800" b="1" spc="5"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hỏi:</a:t>
            </a:r>
            <a:endParaRPr sz="2800" b="1">
              <a:solidFill>
                <a:srgbClr val="FF0000"/>
              </a:solidFill>
              <a:latin typeface="Times New Roman" panose="02020603050405020304" pitchFamily="18" charset="0"/>
              <a:cs typeface="Times New Roman" panose="02020603050405020304" pitchFamily="18" charset="0"/>
            </a:endParaRPr>
          </a:p>
          <a:p>
            <a:pPr marL="378460" marR="5080" lvl="1" algn="just">
              <a:lnSpc>
                <a:spcPct val="120000"/>
              </a:lnSpc>
              <a:spcBef>
                <a:spcPts val="630"/>
              </a:spcBef>
              <a:buClr>
                <a:srgbClr val="93B6D2"/>
              </a:buClr>
              <a:buSzPct val="68181"/>
              <a:tabLst>
                <a:tab pos="653415" algn="l"/>
              </a:tabLst>
            </a:pPr>
            <a:r>
              <a:rPr sz="2800" spc="-5" dirty="0">
                <a:latin typeface="Times New Roman" panose="02020603050405020304" pitchFamily="18" charset="0"/>
                <a:cs typeface="Times New Roman" panose="02020603050405020304" pitchFamily="18" charset="0"/>
              </a:rPr>
              <a:t>Các đối tượng chịu trách nhiệm </a:t>
            </a:r>
            <a:r>
              <a:rPr sz="2800" spc="-10" dirty="0">
                <a:latin typeface="Times New Roman" panose="02020603050405020304" pitchFamily="18" charset="0"/>
                <a:cs typeface="Times New Roman" panose="02020603050405020304" pitchFamily="18" charset="0"/>
              </a:rPr>
              <a:t>xử </a:t>
            </a:r>
            <a:r>
              <a:rPr sz="2800" spc="-5" dirty="0">
                <a:latin typeface="Times New Roman" panose="02020603050405020304" pitchFamily="18" charset="0"/>
                <a:cs typeface="Times New Roman" panose="02020603050405020304" pitchFamily="18" charset="0"/>
              </a:rPr>
              <a:t>lý gì </a:t>
            </a:r>
            <a:r>
              <a:rPr sz="2800" spc="-10" dirty="0">
                <a:latin typeface="Times New Roman" panose="02020603050405020304" pitchFamily="18" charset="0"/>
                <a:cs typeface="Times New Roman" panose="02020603050405020304" pitchFamily="18" charset="0"/>
              </a:rPr>
              <a:t>về </a:t>
            </a:r>
            <a:r>
              <a:rPr sz="2800" spc="-5" dirty="0">
                <a:latin typeface="Times New Roman" panose="02020603050405020304" pitchFamily="18" charset="0"/>
                <a:cs typeface="Times New Roman" panose="02020603050405020304" pitchFamily="18" charset="0"/>
              </a:rPr>
              <a:t>thông tin </a:t>
            </a:r>
            <a:r>
              <a:rPr sz="2800" spc="-5">
                <a:latin typeface="Times New Roman" panose="02020603050405020304" pitchFamily="18" charset="0"/>
                <a:cs typeface="Times New Roman" panose="02020603050405020304" pitchFamily="18" charset="0"/>
              </a:rPr>
              <a:t>của </a:t>
            </a:r>
            <a:r>
              <a:rPr lang="en-US" sz="2800" spc="-5">
                <a:latin typeface="Times New Roman" panose="02020603050405020304" pitchFamily="18" charset="0"/>
                <a:cs typeface="Times New Roman" panose="02020603050405020304" pitchFamily="18" charset="0"/>
              </a:rPr>
              <a:t>nó </a:t>
            </a:r>
            <a:r>
              <a:rPr sz="2800" spc="-5">
                <a:latin typeface="Times New Roman" panose="02020603050405020304" pitchFamily="18" charset="0"/>
                <a:cs typeface="Times New Roman" panose="02020603050405020304" pitchFamily="18" charset="0"/>
              </a:rPr>
              <a:t>để </a:t>
            </a:r>
            <a:r>
              <a:rPr sz="2800" spc="-5" dirty="0">
                <a:latin typeface="Times New Roman" panose="02020603050405020304" pitchFamily="18" charset="0"/>
                <a:cs typeface="Times New Roman" panose="02020603050405020304" pitchFamily="18" charset="0"/>
              </a:rPr>
              <a:t>cung cấp dịch </a:t>
            </a:r>
            <a:r>
              <a:rPr sz="2800" spc="-10" dirty="0">
                <a:latin typeface="Times New Roman" panose="02020603050405020304" pitchFamily="18" charset="0"/>
                <a:cs typeface="Times New Roman" panose="02020603050405020304" pitchFamily="18" charset="0"/>
              </a:rPr>
              <a:t>vụ </a:t>
            </a:r>
            <a:r>
              <a:rPr sz="2800" spc="-5" dirty="0">
                <a:latin typeface="Times New Roman" panose="02020603050405020304" pitchFamily="18" charset="0"/>
                <a:cs typeface="Times New Roman" panose="02020603050405020304" pitchFamily="18" charset="0"/>
              </a:rPr>
              <a:t>cho hệ</a:t>
            </a:r>
            <a:r>
              <a:rPr sz="2800" spc="6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thống?</a:t>
            </a:r>
            <a:endParaRPr sz="2800">
              <a:latin typeface="Times New Roman" panose="02020603050405020304" pitchFamily="18" charset="0"/>
              <a:cs typeface="Times New Roman" panose="02020603050405020304" pitchFamily="18" charset="0"/>
            </a:endParaRPr>
          </a:p>
          <a:p>
            <a:pPr marL="469900" indent="-457200" algn="just">
              <a:lnSpc>
                <a:spcPct val="120000"/>
              </a:lnSpc>
              <a:spcBef>
                <a:spcPts val="370"/>
              </a:spcBef>
              <a:buSzPct val="100000"/>
              <a:buFont typeface="Wingdings" panose="05000000000000000000" pitchFamily="2" charset="2"/>
              <a:buChar char="§"/>
            </a:pPr>
            <a:r>
              <a:rPr sz="2800" b="1" spc="-5" dirty="0">
                <a:solidFill>
                  <a:srgbClr val="FF0000"/>
                </a:solidFill>
                <a:latin typeface="Times New Roman" panose="02020603050405020304" pitchFamily="18" charset="0"/>
                <a:cs typeface="Times New Roman" panose="02020603050405020304" pitchFamily="18" charset="0"/>
              </a:rPr>
              <a:t>Nguyên</a:t>
            </a:r>
            <a:r>
              <a:rPr sz="2800" b="1" spc="20" dirty="0">
                <a:solidFill>
                  <a:srgbClr val="FF0000"/>
                </a:solidFill>
                <a:latin typeface="Times New Roman" panose="02020603050405020304" pitchFamily="18" charset="0"/>
                <a:cs typeface="Times New Roman" panose="02020603050405020304" pitchFamily="18" charset="0"/>
              </a:rPr>
              <a:t> </a:t>
            </a:r>
            <a:r>
              <a:rPr sz="2800" b="1" spc="-5" dirty="0">
                <a:solidFill>
                  <a:srgbClr val="FF0000"/>
                </a:solidFill>
                <a:latin typeface="Times New Roman" panose="02020603050405020304" pitchFamily="18" charset="0"/>
                <a:cs typeface="Times New Roman" panose="02020603050405020304" pitchFamily="18" charset="0"/>
              </a:rPr>
              <a:t>tắc:</a:t>
            </a:r>
            <a:endParaRPr sz="2800" b="1">
              <a:solidFill>
                <a:srgbClr val="FF0000"/>
              </a:solidFill>
              <a:latin typeface="Times New Roman" panose="02020603050405020304" pitchFamily="18" charset="0"/>
              <a:cs typeface="Times New Roman" panose="02020603050405020304" pitchFamily="18" charset="0"/>
            </a:endParaRPr>
          </a:p>
          <a:p>
            <a:pPr marL="1292225" lvl="2" indent="-457200" algn="just">
              <a:lnSpc>
                <a:spcPct val="120000"/>
              </a:lnSpc>
              <a:spcBef>
                <a:spcPts val="350"/>
              </a:spcBef>
              <a:buSzPct val="100000"/>
              <a:buFont typeface="Arial" panose="020B0604020202020204" pitchFamily="34" charset="0"/>
              <a:buChar char="•"/>
            </a:pPr>
            <a:r>
              <a:rPr sz="2800" spc="-5" dirty="0">
                <a:latin typeface="Times New Roman" panose="02020603050405020304" pitchFamily="18" charset="0"/>
                <a:cs typeface="Times New Roman" panose="02020603050405020304" pitchFamily="18" charset="0"/>
              </a:rPr>
              <a:t>Tên: </a:t>
            </a:r>
            <a:r>
              <a:rPr sz="2800" b="1" spc="-5" dirty="0">
                <a:solidFill>
                  <a:schemeClr val="tx2"/>
                </a:solidFill>
                <a:latin typeface="Times New Roman" panose="02020603050405020304" pitchFamily="18" charset="0"/>
                <a:cs typeface="Times New Roman" panose="02020603050405020304" pitchFamily="18" charset="0"/>
              </a:rPr>
              <a:t>động từ + bổ</a:t>
            </a:r>
            <a:r>
              <a:rPr sz="2800" b="1" spc="45" dirty="0">
                <a:solidFill>
                  <a:schemeClr val="tx2"/>
                </a:solidFill>
                <a:latin typeface="Times New Roman" panose="02020603050405020304" pitchFamily="18" charset="0"/>
                <a:cs typeface="Times New Roman" panose="02020603050405020304" pitchFamily="18" charset="0"/>
              </a:rPr>
              <a:t> </a:t>
            </a:r>
            <a:r>
              <a:rPr sz="2800" b="1" spc="-5" dirty="0">
                <a:solidFill>
                  <a:schemeClr val="tx2"/>
                </a:solidFill>
                <a:latin typeface="Times New Roman" panose="02020603050405020304" pitchFamily="18" charset="0"/>
                <a:cs typeface="Times New Roman" panose="02020603050405020304" pitchFamily="18" charset="0"/>
              </a:rPr>
              <a:t>ngữ</a:t>
            </a:r>
            <a:endParaRPr sz="2800" b="1">
              <a:solidFill>
                <a:schemeClr val="tx2"/>
              </a:solidFill>
              <a:latin typeface="Times New Roman" panose="02020603050405020304" pitchFamily="18" charset="0"/>
              <a:cs typeface="Times New Roman" panose="02020603050405020304" pitchFamily="18" charset="0"/>
            </a:endParaRPr>
          </a:p>
          <a:p>
            <a:pPr marL="1292225" marR="70485" lvl="2" indent="-457200" algn="just">
              <a:lnSpc>
                <a:spcPct val="120000"/>
              </a:lnSpc>
              <a:spcBef>
                <a:spcPts val="630"/>
              </a:spcBef>
              <a:buSzPct val="100000"/>
              <a:buFont typeface="Arial" panose="020B0604020202020204" pitchFamily="34" charset="0"/>
              <a:buChar char="•"/>
            </a:pPr>
            <a:r>
              <a:rPr sz="2800" spc="-10" dirty="0">
                <a:latin typeface="Times New Roman" panose="02020603050405020304" pitchFamily="18" charset="0"/>
                <a:cs typeface="Times New Roman" panose="02020603050405020304" pitchFamily="18" charset="0"/>
              </a:rPr>
              <a:t>Chỉ </a:t>
            </a:r>
            <a:r>
              <a:rPr sz="2800" spc="-5" dirty="0">
                <a:latin typeface="Times New Roman" panose="02020603050405020304" pitchFamily="18" charset="0"/>
                <a:cs typeface="Times New Roman" panose="02020603050405020304" pitchFamily="18" charset="0"/>
              </a:rPr>
              <a:t>quan tâm đến các phương thức </a:t>
            </a:r>
            <a:r>
              <a:rPr sz="2800" dirty="0">
                <a:latin typeface="Times New Roman" panose="02020603050405020304" pitchFamily="18" charset="0"/>
                <a:cs typeface="Times New Roman" panose="02020603050405020304" pitchFamily="18" charset="0"/>
              </a:rPr>
              <a:t>có </a:t>
            </a:r>
            <a:r>
              <a:rPr sz="2800" spc="-5" dirty="0">
                <a:latin typeface="Times New Roman" panose="02020603050405020304" pitchFamily="18" charset="0"/>
                <a:cs typeface="Times New Roman" panose="02020603050405020304" pitchFamily="18" charset="0"/>
              </a:rPr>
              <a:t>phạm vi </a:t>
            </a:r>
            <a:r>
              <a:rPr sz="2800" spc="-5">
                <a:latin typeface="Times New Roman" panose="02020603050405020304" pitchFamily="18" charset="0"/>
                <a:cs typeface="Times New Roman" panose="02020603050405020304" pitchFamily="18" charset="0"/>
              </a:rPr>
              <a:t>toàn cục</a:t>
            </a:r>
            <a:r>
              <a:rPr lang="en-US" sz="2800" spc="-5">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a:t>
            </a:r>
            <a:r>
              <a:rPr sz="2800" spc="-5" dirty="0">
                <a:latin typeface="Times New Roman" panose="02020603050405020304" pitchFamily="18" charset="0"/>
                <a:cs typeface="Times New Roman" panose="02020603050405020304" pitchFamily="18" charset="0"/>
              </a:rPr>
              <a:t>public), các phương thức </a:t>
            </a:r>
            <a:r>
              <a:rPr sz="2800" dirty="0">
                <a:latin typeface="Times New Roman" panose="02020603050405020304" pitchFamily="18" charset="0"/>
                <a:cs typeface="Times New Roman" panose="02020603050405020304" pitchFamily="18" charset="0"/>
              </a:rPr>
              <a:t>có </a:t>
            </a:r>
            <a:r>
              <a:rPr sz="2800" spc="-5" dirty="0">
                <a:latin typeface="Times New Roman" panose="02020603050405020304" pitchFamily="18" charset="0"/>
                <a:cs typeface="Times New Roman" panose="02020603050405020304" pitchFamily="18" charset="0"/>
              </a:rPr>
              <a:t>phạm vi cục bộ </a:t>
            </a:r>
            <a:r>
              <a:rPr sz="2800" dirty="0">
                <a:latin typeface="Times New Roman" panose="02020603050405020304" pitchFamily="18" charset="0"/>
                <a:cs typeface="Times New Roman" panose="02020603050405020304" pitchFamily="18" charset="0"/>
              </a:rPr>
              <a:t>sẽ </a:t>
            </a:r>
            <a:r>
              <a:rPr sz="2800" spc="-5">
                <a:latin typeface="Times New Roman" panose="02020603050405020304" pitchFamily="18" charset="0"/>
                <a:cs typeface="Times New Roman" panose="02020603050405020304" pitchFamily="18" charset="0"/>
              </a:rPr>
              <a:t>được phát</a:t>
            </a:r>
            <a:r>
              <a:rPr lang="en-US" sz="2800" spc="-5">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hiện </a:t>
            </a:r>
            <a:r>
              <a:rPr sz="2800" spc="-5" dirty="0">
                <a:latin typeface="Times New Roman" panose="02020603050405020304" pitchFamily="18" charset="0"/>
                <a:cs typeface="Times New Roman" panose="02020603050405020304" pitchFamily="18" charset="0"/>
              </a:rPr>
              <a:t>trong giai đoạn thiết </a:t>
            </a:r>
            <a:r>
              <a:rPr sz="2800" dirty="0">
                <a:latin typeface="Times New Roman" panose="02020603050405020304" pitchFamily="18" charset="0"/>
                <a:cs typeface="Times New Roman" panose="02020603050405020304" pitchFamily="18" charset="0"/>
              </a:rPr>
              <a:t>kế </a:t>
            </a:r>
            <a:r>
              <a:rPr sz="2800" spc="-5" dirty="0">
                <a:latin typeface="Times New Roman" panose="02020603050405020304" pitchFamily="18" charset="0"/>
                <a:cs typeface="Times New Roman" panose="02020603050405020304" pitchFamily="18" charset="0"/>
              </a:rPr>
              <a:t>cài đặt (vd: </a:t>
            </a:r>
            <a:r>
              <a:rPr sz="2800" spc="-15" dirty="0">
                <a:latin typeface="Times New Roman" panose="02020603050405020304" pitchFamily="18" charset="0"/>
                <a:cs typeface="Times New Roman" panose="02020603050405020304" pitchFamily="18" charset="0"/>
              </a:rPr>
              <a:t>constructor</a:t>
            </a:r>
            <a:r>
              <a:rPr sz="2800" spc="-15">
                <a:latin typeface="Times New Roman" panose="02020603050405020304" pitchFamily="18" charset="0"/>
                <a:cs typeface="Times New Roman" panose="02020603050405020304" pitchFamily="18" charset="0"/>
              </a:rPr>
              <a:t>,</a:t>
            </a:r>
            <a:r>
              <a:rPr sz="2800" spc="130">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a:t>
            </a:r>
            <a:endParaRPr sz="2800">
              <a:latin typeface="Times New Roman" panose="02020603050405020304" pitchFamily="18" charset="0"/>
              <a:cs typeface="Times New Roman" panose="02020603050405020304" pitchFamily="18" charset="0"/>
            </a:endParaRPr>
          </a:p>
          <a:p>
            <a:pPr marL="1292225" marR="99695" lvl="2" indent="-457200" algn="just">
              <a:lnSpc>
                <a:spcPct val="120000"/>
              </a:lnSpc>
              <a:spcBef>
                <a:spcPts val="590"/>
              </a:spcBef>
              <a:buSzPct val="100000"/>
              <a:buFont typeface="Arial" panose="020B0604020202020204" pitchFamily="34" charset="0"/>
              <a:buChar char="•"/>
            </a:pPr>
            <a:r>
              <a:rPr sz="2800" spc="-5" dirty="0">
                <a:latin typeface="Times New Roman" panose="02020603050405020304" pitchFamily="18" charset="0"/>
                <a:cs typeface="Times New Roman" panose="02020603050405020304" pitchFamily="18" charset="0"/>
              </a:rPr>
              <a:t>Các phương thức chịu trách nhiệm </a:t>
            </a:r>
            <a:r>
              <a:rPr sz="2800" spc="-10" dirty="0">
                <a:latin typeface="Times New Roman" panose="02020603050405020304" pitchFamily="18" charset="0"/>
                <a:cs typeface="Times New Roman" panose="02020603050405020304" pitchFamily="18" charset="0"/>
              </a:rPr>
              <a:t>về </a:t>
            </a:r>
            <a:r>
              <a:rPr sz="2800" spc="-5" dirty="0">
                <a:latin typeface="Times New Roman" panose="02020603050405020304" pitchFamily="18" charset="0"/>
                <a:cs typeface="Times New Roman" panose="02020603050405020304" pitchFamily="18" charset="0"/>
              </a:rPr>
              <a:t>các thao tác </a:t>
            </a:r>
            <a:r>
              <a:rPr sz="2800" spc="-5">
                <a:latin typeface="Times New Roman" panose="02020603050405020304" pitchFamily="18" charset="0"/>
                <a:cs typeface="Times New Roman" panose="02020603050405020304" pitchFamily="18" charset="0"/>
              </a:rPr>
              <a:t>lên </a:t>
            </a:r>
            <a:r>
              <a:rPr sz="2800" spc="-145">
                <a:latin typeface="Times New Roman" panose="02020603050405020304" pitchFamily="18" charset="0"/>
                <a:cs typeface="Times New Roman" panose="02020603050405020304" pitchFamily="18" charset="0"/>
              </a:rPr>
              <a:t>các</a:t>
            </a:r>
            <a:r>
              <a:rPr lang="en-US" sz="2800" spc="-145">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thuộc </a:t>
            </a:r>
            <a:r>
              <a:rPr sz="2800" spc="-5" dirty="0">
                <a:latin typeface="Times New Roman" panose="02020603050405020304" pitchFamily="18" charset="0"/>
                <a:cs typeface="Times New Roman" panose="02020603050405020304" pitchFamily="18" charset="0"/>
              </a:rPr>
              <a:t>tính của đối tượng: truy vấn, cập nhật, đọc </a:t>
            </a:r>
            <a:r>
              <a:rPr sz="2800" spc="-10">
                <a:latin typeface="Times New Roman" panose="02020603050405020304" pitchFamily="18" charset="0"/>
                <a:cs typeface="Times New Roman" panose="02020603050405020304" pitchFamily="18" charset="0"/>
              </a:rPr>
              <a:t>và</a:t>
            </a:r>
            <a:r>
              <a:rPr sz="2800" spc="140">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ghi</a:t>
            </a:r>
            <a:endParaRPr sz="2800">
              <a:latin typeface="Times New Roman" panose="02020603050405020304" pitchFamily="18" charset="0"/>
              <a:cs typeface="Times New Roman" panose="02020603050405020304" pitchFamily="18" charset="0"/>
            </a:endParaRPr>
          </a:p>
        </p:txBody>
      </p:sp>
      <p:sp>
        <p:nvSpPr>
          <p:cNvPr id="6" name="object 2"/>
          <p:cNvSpPr txBox="1">
            <a:spLocks noGrp="1"/>
          </p:cNvSpPr>
          <p:nvPr>
            <p:ph type="title"/>
          </p:nvPr>
        </p:nvSpPr>
        <p:spPr>
          <a:xfrm>
            <a:off x="3058919" y="152400"/>
            <a:ext cx="6264161" cy="574040"/>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a:t>
            </a:r>
            <a:r>
              <a:rPr>
                <a:latin typeface="Times New Roman" panose="02020603050405020304" pitchFamily="18" charset="0"/>
                <a:cs typeface="Times New Roman" panose="02020603050405020304" pitchFamily="18" charset="0"/>
              </a:rPr>
              <a:t>phương thức</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5"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31433402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0" y="990600"/>
            <a:ext cx="12192000" cy="2674578"/>
          </a:xfrm>
          <a:prstGeom prst="rect">
            <a:avLst/>
          </a:prstGeom>
        </p:spPr>
        <p:txBody>
          <a:bodyPr vert="horz" wrap="square" lIns="0" tIns="12700" rIns="0" bIns="0" rtlCol="0">
            <a:spAutoFit/>
          </a:bodyPr>
          <a:lstStyle/>
          <a:p>
            <a:pPr marL="469900" indent="-457200" algn="just">
              <a:lnSpc>
                <a:spcPct val="150000"/>
              </a:lnSpc>
              <a:spcBef>
                <a:spcPts val="100"/>
              </a:spcBef>
              <a:buSzPct val="100000"/>
              <a:buFont typeface="Wingdings" panose="05000000000000000000" pitchFamily="2" charset="2"/>
              <a:buChar char="§"/>
              <a:tabLst>
                <a:tab pos="332740" algn="l"/>
                <a:tab pos="333375" algn="l"/>
              </a:tabLst>
            </a:pPr>
            <a:r>
              <a:rPr sz="2800" b="1" spc="-5" dirty="0">
                <a:solidFill>
                  <a:srgbClr val="FF0000"/>
                </a:solidFill>
                <a:latin typeface="Times New Roman" panose="02020603050405020304" pitchFamily="18" charset="0"/>
                <a:cs typeface="Times New Roman" panose="02020603050405020304" pitchFamily="18" charset="0"/>
              </a:rPr>
              <a:t>Xác định phương </a:t>
            </a:r>
            <a:r>
              <a:rPr sz="2800" b="1" dirty="0">
                <a:solidFill>
                  <a:srgbClr val="FF0000"/>
                </a:solidFill>
                <a:latin typeface="Times New Roman" panose="02020603050405020304" pitchFamily="18" charset="0"/>
                <a:cs typeface="Times New Roman" panose="02020603050405020304" pitchFamily="18" charset="0"/>
              </a:rPr>
              <a:t>thức </a:t>
            </a:r>
            <a:r>
              <a:rPr sz="2800" b="1" spc="-5" dirty="0">
                <a:solidFill>
                  <a:srgbClr val="FF0000"/>
                </a:solidFill>
                <a:latin typeface="Times New Roman" panose="02020603050405020304" pitchFamily="18" charset="0"/>
                <a:cs typeface="Times New Roman" panose="02020603050405020304" pitchFamily="18" charset="0"/>
              </a:rPr>
              <a:t>qua phân </a:t>
            </a:r>
            <a:r>
              <a:rPr sz="2800" b="1" dirty="0">
                <a:solidFill>
                  <a:srgbClr val="FF0000"/>
                </a:solidFill>
                <a:latin typeface="Times New Roman" panose="02020603050405020304" pitchFamily="18" charset="0"/>
                <a:cs typeface="Times New Roman" panose="02020603050405020304" pitchFamily="18" charset="0"/>
              </a:rPr>
              <a:t>tích </a:t>
            </a:r>
            <a:r>
              <a:rPr sz="2800" b="1" spc="-5" dirty="0">
                <a:solidFill>
                  <a:srgbClr val="FF0000"/>
                </a:solidFill>
                <a:latin typeface="Times New Roman" panose="02020603050405020304" pitchFamily="18" charset="0"/>
                <a:cs typeface="Times New Roman" panose="02020603050405020304" pitchFamily="18" charset="0"/>
              </a:rPr>
              <a:t>hoạt </a:t>
            </a:r>
            <a:r>
              <a:rPr sz="2800" b="1" spc="-5">
                <a:solidFill>
                  <a:srgbClr val="FF0000"/>
                </a:solidFill>
                <a:latin typeface="Times New Roman" panose="02020603050405020304" pitchFamily="18" charset="0"/>
                <a:cs typeface="Times New Roman" panose="02020603050405020304" pitchFamily="18" charset="0"/>
              </a:rPr>
              <a:t>động</a:t>
            </a:r>
            <a:r>
              <a:rPr sz="2800" b="1" spc="45">
                <a:solidFill>
                  <a:srgbClr val="FF0000"/>
                </a:solidFill>
                <a:latin typeface="Times New Roman" panose="02020603050405020304" pitchFamily="18" charset="0"/>
                <a:cs typeface="Times New Roman" panose="02020603050405020304" pitchFamily="18" charset="0"/>
              </a:rPr>
              <a:t> </a:t>
            </a:r>
            <a:r>
              <a:rPr lang="en-US" sz="2800" b="1">
                <a:solidFill>
                  <a:srgbClr val="FF0000"/>
                </a:solidFill>
                <a:latin typeface="Times New Roman" panose="02020603050405020304" pitchFamily="18" charset="0"/>
                <a:cs typeface="Times New Roman" panose="02020603050405020304" pitchFamily="18" charset="0"/>
              </a:rPr>
              <a:t>Use Case</a:t>
            </a:r>
            <a:r>
              <a:rPr sz="2800" b="1" spc="-5">
                <a:solidFill>
                  <a:srgbClr val="FF0000"/>
                </a:solidFill>
                <a:latin typeface="Times New Roman" panose="02020603050405020304" pitchFamily="18" charset="0"/>
                <a:cs typeface="Times New Roman" panose="02020603050405020304" pitchFamily="18" charset="0"/>
              </a:rPr>
              <a:t>:</a:t>
            </a:r>
            <a:endParaRPr sz="2800" b="1" dirty="0">
              <a:solidFill>
                <a:srgbClr val="FF0000"/>
              </a:solidFill>
              <a:latin typeface="Times New Roman" panose="02020603050405020304" pitchFamily="18" charset="0"/>
              <a:cs typeface="Times New Roman" panose="02020603050405020304" pitchFamily="18" charset="0"/>
            </a:endParaRPr>
          </a:p>
          <a:p>
            <a:pPr marL="835025" marR="5080" lvl="1" indent="-457200" algn="just">
              <a:lnSpc>
                <a:spcPct val="150000"/>
              </a:lnSpc>
              <a:spcBef>
                <a:spcPts val="595"/>
              </a:spcBef>
              <a:buSzPct val="100000"/>
              <a:buFont typeface="Arial" panose="020B0604020202020204" pitchFamily="34" charset="0"/>
              <a:buChar char="•"/>
            </a:pPr>
            <a:r>
              <a:rPr sz="2800" spc="-5" dirty="0">
                <a:latin typeface="Times New Roman" panose="02020603050405020304" pitchFamily="18" charset="0"/>
                <a:cs typeface="Times New Roman" panose="02020603050405020304" pitchFamily="18" charset="0"/>
              </a:rPr>
              <a:t>Phân tích các dòng thông điệp (message) trong </a:t>
            </a:r>
            <a:r>
              <a:rPr sz="2800" dirty="0">
                <a:latin typeface="Times New Roman" panose="02020603050405020304" pitchFamily="18" charset="0"/>
                <a:cs typeface="Times New Roman" panose="02020603050405020304" pitchFamily="18" charset="0"/>
              </a:rPr>
              <a:t>sơ </a:t>
            </a:r>
            <a:r>
              <a:rPr sz="2800" spc="-5">
                <a:latin typeface="Times New Roman" panose="02020603050405020304" pitchFamily="18" charset="0"/>
                <a:cs typeface="Times New Roman" panose="02020603050405020304" pitchFamily="18" charset="0"/>
              </a:rPr>
              <a:t>đồ </a:t>
            </a:r>
            <a:r>
              <a:rPr lang="en-US" sz="2800" spc="-5">
                <a:latin typeface="Times New Roman" panose="02020603050405020304" pitchFamily="18" charset="0"/>
                <a:cs typeface="Times New Roman" panose="02020603050405020304" pitchFamily="18" charset="0"/>
              </a:rPr>
              <a:t>tuần </a:t>
            </a:r>
            <a:r>
              <a:rPr sz="2800" spc="-5">
                <a:latin typeface="Times New Roman" panose="02020603050405020304" pitchFamily="18" charset="0"/>
                <a:cs typeface="Times New Roman" panose="02020603050405020304" pitchFamily="18" charset="0"/>
              </a:rPr>
              <a:t>tự </a:t>
            </a:r>
            <a:r>
              <a:rPr sz="2800" spc="-5" dirty="0">
                <a:latin typeface="Times New Roman" panose="02020603050405020304" pitchFamily="18" charset="0"/>
                <a:cs typeface="Times New Roman" panose="02020603050405020304" pitchFamily="18" charset="0"/>
              </a:rPr>
              <a:t>để xem </a:t>
            </a:r>
            <a:r>
              <a:rPr sz="2800" dirty="0">
                <a:latin typeface="Times New Roman" panose="02020603050405020304" pitchFamily="18" charset="0"/>
                <a:cs typeface="Times New Roman" panose="02020603050405020304" pitchFamily="18" charset="0"/>
              </a:rPr>
              <a:t>có </a:t>
            </a:r>
            <a:r>
              <a:rPr sz="2800" spc="-5" dirty="0">
                <a:latin typeface="Times New Roman" panose="02020603050405020304" pitchFamily="18" charset="0"/>
                <a:cs typeface="Times New Roman" panose="02020603050405020304" pitchFamily="18" charset="0"/>
              </a:rPr>
              <a:t>thể chuyển một hoạt động thành </a:t>
            </a:r>
            <a:r>
              <a:rPr sz="2800" spc="-5">
                <a:latin typeface="Times New Roman" panose="02020603050405020304" pitchFamily="18" charset="0"/>
                <a:cs typeface="Times New Roman" panose="02020603050405020304" pitchFamily="18" charset="0"/>
              </a:rPr>
              <a:t>một method</a:t>
            </a:r>
            <a:r>
              <a:rPr lang="en-US" sz="2800" spc="-5">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không</a:t>
            </a:r>
            <a:r>
              <a:rPr sz="2800" spc="-5"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marL="835025" lvl="1" indent="-457200" algn="just">
              <a:lnSpc>
                <a:spcPct val="150000"/>
              </a:lnSpc>
              <a:spcBef>
                <a:spcPts val="600"/>
              </a:spcBef>
              <a:buSzPct val="100000"/>
              <a:buFont typeface="Arial" panose="020B0604020202020204" pitchFamily="34" charset="0"/>
              <a:buChar char="•"/>
            </a:pPr>
            <a:r>
              <a:rPr sz="2800" spc="-10" dirty="0">
                <a:latin typeface="Times New Roman" panose="02020603050405020304" pitchFamily="18" charset="0"/>
                <a:cs typeface="Times New Roman" panose="02020603050405020304" pitchFamily="18" charset="0"/>
              </a:rPr>
              <a:t>Nếu </a:t>
            </a:r>
            <a:r>
              <a:rPr sz="2800" spc="-5" dirty="0">
                <a:latin typeface="Times New Roman" panose="02020603050405020304" pitchFamily="18" charset="0"/>
                <a:cs typeface="Times New Roman" panose="02020603050405020304" pitchFamily="18" charset="0"/>
              </a:rPr>
              <a:t>có, đặt tên cho phương thức ứng với hoạt </a:t>
            </a:r>
            <a:r>
              <a:rPr sz="2800" spc="-5">
                <a:latin typeface="Times New Roman" panose="02020603050405020304" pitchFamily="18" charset="0"/>
                <a:cs typeface="Times New Roman" panose="02020603050405020304" pitchFamily="18" charset="0"/>
              </a:rPr>
              <a:t>động</a:t>
            </a:r>
            <a:r>
              <a:rPr sz="2800" spc="130">
                <a:latin typeface="Times New Roman" panose="02020603050405020304" pitchFamily="18" charset="0"/>
                <a:cs typeface="Times New Roman" panose="02020603050405020304" pitchFamily="18" charset="0"/>
              </a:rPr>
              <a:t> </a:t>
            </a:r>
            <a:r>
              <a:rPr sz="2800" spc="-5">
                <a:latin typeface="Times New Roman" panose="02020603050405020304" pitchFamily="18" charset="0"/>
                <a:cs typeface="Times New Roman" panose="02020603050405020304" pitchFamily="18" charset="0"/>
              </a:rPr>
              <a:t>đó</a:t>
            </a:r>
            <a:endParaRPr sz="2800" dirty="0">
              <a:latin typeface="Times New Roman" panose="02020603050405020304" pitchFamily="18" charset="0"/>
              <a:cs typeface="Times New Roman" panose="02020603050405020304" pitchFamily="18" charset="0"/>
            </a:endParaRPr>
          </a:p>
        </p:txBody>
      </p:sp>
      <p:sp>
        <p:nvSpPr>
          <p:cNvPr id="6" name="object 2"/>
          <p:cNvSpPr txBox="1">
            <a:spLocks noGrp="1"/>
          </p:cNvSpPr>
          <p:nvPr>
            <p:ph type="title"/>
          </p:nvPr>
        </p:nvSpPr>
        <p:spPr>
          <a:xfrm>
            <a:off x="3058919" y="111760"/>
            <a:ext cx="6264161" cy="574040"/>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a:t>
            </a:r>
            <a:r>
              <a:rPr>
                <a:latin typeface="Times New Roman" panose="02020603050405020304" pitchFamily="18" charset="0"/>
                <a:cs typeface="Times New Roman" panose="02020603050405020304" pitchFamily="18" charset="0"/>
              </a:rPr>
              <a:t>phương thức</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0"/>
          </p:nvPr>
        </p:nvSpPr>
        <p:spPr>
          <a:xfrm>
            <a:off x="9296400" y="6567488"/>
            <a:ext cx="2895600" cy="290512"/>
          </a:xfrm>
        </p:spPr>
        <p:txBody>
          <a:bodyPr/>
          <a:lstStyle/>
          <a:p>
            <a:r>
              <a:rPr lang="en-US"/>
              <a:t>Lê Huỳnh Long - Viện CNTT và Điện, điện tử</a:t>
            </a:r>
          </a:p>
        </p:txBody>
      </p:sp>
    </p:spTree>
    <p:extLst>
      <p:ext uri="{BB962C8B-B14F-4D97-AF65-F5344CB8AC3E}">
        <p14:creationId xmlns:p14="http://schemas.microsoft.com/office/powerpoint/2010/main" val="39631543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5962" y="1093775"/>
            <a:ext cx="4730928" cy="665567"/>
          </a:xfrm>
          <a:prstGeom prst="rect">
            <a:avLst/>
          </a:prstGeom>
        </p:spPr>
        <p:txBody>
          <a:bodyPr vert="horz" wrap="square" lIns="0" tIns="49530" rIns="0" bIns="0" rtlCol="0">
            <a:spAutoFit/>
          </a:bodyPr>
          <a:lstStyle/>
          <a:p>
            <a:pPr marL="355600" marR="5080" indent="-342900">
              <a:lnSpc>
                <a:spcPts val="2380"/>
              </a:lnSpc>
              <a:spcBef>
                <a:spcPts val="390"/>
              </a:spcBef>
              <a:buSzPct val="100000"/>
              <a:buFont typeface="Wingdings" panose="05000000000000000000" pitchFamily="2" charset="2"/>
              <a:buChar char="§"/>
              <a:tabLst>
                <a:tab pos="332105" algn="l"/>
                <a:tab pos="332740" algn="l"/>
              </a:tabLst>
            </a:pPr>
            <a:r>
              <a:rPr sz="2200" b="1" spc="-10" dirty="0">
                <a:solidFill>
                  <a:srgbClr val="FF0000"/>
                </a:solidFill>
                <a:latin typeface="Times New Roman" panose="02020603050405020304" pitchFamily="18" charset="0"/>
                <a:cs typeface="Times New Roman" panose="02020603050405020304" pitchFamily="18" charset="0"/>
              </a:rPr>
              <a:t>Xác </a:t>
            </a:r>
            <a:r>
              <a:rPr sz="2200" b="1" spc="-5" dirty="0">
                <a:solidFill>
                  <a:srgbClr val="FF0000"/>
                </a:solidFill>
                <a:latin typeface="Times New Roman" panose="02020603050405020304" pitchFamily="18" charset="0"/>
                <a:cs typeface="Times New Roman" panose="02020603050405020304" pitchFamily="18" charset="0"/>
              </a:rPr>
              <a:t>định phương </a:t>
            </a:r>
            <a:r>
              <a:rPr sz="2200" b="1" spc="-5">
                <a:solidFill>
                  <a:srgbClr val="FF0000"/>
                </a:solidFill>
                <a:latin typeface="Times New Roman" panose="02020603050405020304" pitchFamily="18" charset="0"/>
                <a:cs typeface="Times New Roman" panose="02020603050405020304" pitchFamily="18" charset="0"/>
              </a:rPr>
              <a:t>thức qua</a:t>
            </a:r>
            <a:r>
              <a:rPr lang="en-US" sz="2200" b="1" spc="-5">
                <a:solidFill>
                  <a:srgbClr val="FF0000"/>
                </a:solidFill>
                <a:latin typeface="Times New Roman" panose="02020603050405020304" pitchFamily="18" charset="0"/>
                <a:cs typeface="Times New Roman" panose="02020603050405020304" pitchFamily="18" charset="0"/>
              </a:rPr>
              <a:t> </a:t>
            </a:r>
            <a:r>
              <a:rPr sz="2200" b="1">
                <a:solidFill>
                  <a:srgbClr val="FF0000"/>
                </a:solidFill>
                <a:latin typeface="Times New Roman" panose="02020603050405020304" pitchFamily="18" charset="0"/>
                <a:cs typeface="Times New Roman" panose="02020603050405020304" pitchFamily="18" charset="0"/>
              </a:rPr>
              <a:t>phân </a:t>
            </a:r>
            <a:r>
              <a:rPr sz="2200" b="1" spc="-5" dirty="0">
                <a:solidFill>
                  <a:srgbClr val="FF0000"/>
                </a:solidFill>
                <a:latin typeface="Times New Roman" panose="02020603050405020304" pitchFamily="18" charset="0"/>
                <a:cs typeface="Times New Roman" panose="02020603050405020304" pitchFamily="18" charset="0"/>
              </a:rPr>
              <a:t>tích hoạt </a:t>
            </a:r>
            <a:r>
              <a:rPr sz="2200" b="1">
                <a:solidFill>
                  <a:srgbClr val="FF0000"/>
                </a:solidFill>
                <a:latin typeface="Times New Roman" panose="02020603050405020304" pitchFamily="18" charset="0"/>
                <a:cs typeface="Times New Roman" panose="02020603050405020304" pitchFamily="18" charset="0"/>
              </a:rPr>
              <a:t>động</a:t>
            </a:r>
            <a:r>
              <a:rPr sz="2200" b="1" spc="-10">
                <a:solidFill>
                  <a:srgbClr val="FF0000"/>
                </a:solidFill>
                <a:latin typeface="Times New Roman" panose="02020603050405020304" pitchFamily="18" charset="0"/>
                <a:cs typeface="Times New Roman" panose="02020603050405020304" pitchFamily="18" charset="0"/>
              </a:rPr>
              <a:t> </a:t>
            </a:r>
            <a:r>
              <a:rPr sz="2200" b="1" spc="-5">
                <a:solidFill>
                  <a:srgbClr val="FF0000"/>
                </a:solidFill>
                <a:latin typeface="Times New Roman" panose="02020603050405020304" pitchFamily="18" charset="0"/>
                <a:cs typeface="Times New Roman" panose="02020603050405020304" pitchFamily="18" charset="0"/>
              </a:rPr>
              <a:t>use</a:t>
            </a:r>
            <a:r>
              <a:rPr lang="en-US" sz="2200" b="1" spc="-5">
                <a:solidFill>
                  <a:srgbClr val="FF0000"/>
                </a:solidFill>
                <a:latin typeface="Times New Roman" panose="02020603050405020304" pitchFamily="18" charset="0"/>
                <a:cs typeface="Times New Roman" panose="02020603050405020304" pitchFamily="18" charset="0"/>
              </a:rPr>
              <a:t> </a:t>
            </a:r>
            <a:r>
              <a:rPr lang="en-US" sz="2200" b="1">
                <a:solidFill>
                  <a:srgbClr val="FF0000"/>
                </a:solidFill>
                <a:latin typeface="Times New Roman" panose="02020603050405020304" pitchFamily="18" charset="0"/>
                <a:cs typeface="Times New Roman" panose="02020603050405020304" pitchFamily="18" charset="0"/>
              </a:rPr>
              <a:t>case:</a:t>
            </a:r>
          </a:p>
        </p:txBody>
      </p:sp>
      <p:sp>
        <p:nvSpPr>
          <p:cNvPr id="4" name="object 4"/>
          <p:cNvSpPr txBox="1"/>
          <p:nvPr/>
        </p:nvSpPr>
        <p:spPr>
          <a:xfrm>
            <a:off x="81214" y="2124056"/>
            <a:ext cx="2821940" cy="1065676"/>
          </a:xfrm>
          <a:prstGeom prst="rect">
            <a:avLst/>
          </a:prstGeom>
        </p:spPr>
        <p:txBody>
          <a:bodyPr vert="horz" wrap="square" lIns="0" tIns="69850" rIns="0" bIns="0" rtlCol="0">
            <a:spAutoFit/>
          </a:bodyPr>
          <a:lstStyle/>
          <a:p>
            <a:pPr marL="355600" indent="-342900">
              <a:spcBef>
                <a:spcPts val="445"/>
              </a:spcBef>
              <a:buSzPct val="100000"/>
              <a:buFont typeface="Arial" panose="020B0604020202020204" pitchFamily="34" charset="0"/>
              <a:buChar char="•"/>
              <a:tabLst>
                <a:tab pos="332105" algn="l"/>
                <a:tab pos="332740" algn="l"/>
              </a:tabLst>
            </a:pPr>
            <a:r>
              <a:rPr sz="2200" spc="-5">
                <a:solidFill>
                  <a:srgbClr val="006FC0"/>
                </a:solidFill>
                <a:latin typeface="Times New Roman" panose="02020603050405020304" pitchFamily="18" charset="0"/>
                <a:cs typeface="Times New Roman" panose="02020603050405020304" pitchFamily="18" charset="0"/>
              </a:rPr>
              <a:t>Ví </a:t>
            </a:r>
            <a:r>
              <a:rPr sz="2200" spc="-5" dirty="0">
                <a:solidFill>
                  <a:srgbClr val="006FC0"/>
                </a:solidFill>
                <a:latin typeface="Times New Roman" panose="02020603050405020304" pitchFamily="18" charset="0"/>
                <a:cs typeface="Times New Roman" panose="02020603050405020304" pitchFamily="18" charset="0"/>
              </a:rPr>
              <a:t>dụ: </a:t>
            </a:r>
            <a:r>
              <a:rPr sz="2200" spc="-10" dirty="0">
                <a:latin typeface="Times New Roman" panose="02020603050405020304" pitchFamily="18" charset="0"/>
                <a:cs typeface="Times New Roman" panose="02020603050405020304" pitchFamily="18" charset="0"/>
              </a:rPr>
              <a:t>lớp</a:t>
            </a:r>
            <a:r>
              <a:rPr sz="2200" spc="-6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TàiKhoản</a:t>
            </a:r>
            <a:endParaRPr sz="2200">
              <a:latin typeface="Times New Roman" panose="02020603050405020304" pitchFamily="18" charset="0"/>
              <a:cs typeface="Times New Roman" panose="02020603050405020304" pitchFamily="18" charset="0"/>
            </a:endParaRPr>
          </a:p>
          <a:p>
            <a:pPr marL="664210" lvl="1" indent="-285750">
              <a:spcBef>
                <a:spcPts val="390"/>
              </a:spcBef>
              <a:buSzPct val="100000"/>
              <a:buFont typeface="Wingdings" panose="05000000000000000000" pitchFamily="2" charset="2"/>
              <a:buChar char="ü"/>
              <a:tabLst>
                <a:tab pos="652780" algn="l"/>
                <a:tab pos="653415" algn="l"/>
              </a:tabLst>
            </a:pPr>
            <a:r>
              <a:rPr spc="-5" dirty="0">
                <a:latin typeface="Times New Roman" panose="02020603050405020304" pitchFamily="18" charset="0"/>
                <a:cs typeface="Times New Roman" panose="02020603050405020304" pitchFamily="18" charset="0"/>
              </a:rPr>
              <a:t>Rút</a:t>
            </a:r>
            <a:r>
              <a:rPr spc="-35"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Tiền</a:t>
            </a:r>
            <a:endParaRPr>
              <a:latin typeface="Times New Roman" panose="02020603050405020304" pitchFamily="18" charset="0"/>
              <a:cs typeface="Times New Roman" panose="02020603050405020304" pitchFamily="18" charset="0"/>
            </a:endParaRPr>
          </a:p>
          <a:p>
            <a:pPr marL="664210" lvl="1" indent="-285750">
              <a:spcBef>
                <a:spcPts val="384"/>
              </a:spcBef>
              <a:buSzPct val="100000"/>
              <a:buFont typeface="Wingdings" panose="05000000000000000000" pitchFamily="2" charset="2"/>
              <a:buChar char="ü"/>
              <a:tabLst>
                <a:tab pos="652780" algn="l"/>
                <a:tab pos="653415" algn="l"/>
              </a:tabLst>
            </a:pPr>
            <a:r>
              <a:rPr dirty="0">
                <a:latin typeface="Times New Roman" panose="02020603050405020304" pitchFamily="18" charset="0"/>
                <a:cs typeface="Times New Roman" panose="02020603050405020304" pitchFamily="18" charset="0"/>
              </a:rPr>
              <a:t>Gửi</a:t>
            </a:r>
            <a:r>
              <a:rPr spc="-45"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Tiền</a:t>
            </a:r>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61840" y="4805172"/>
            <a:ext cx="2873375" cy="299720"/>
          </a:xfrm>
          <a:prstGeom prst="rect">
            <a:avLst/>
          </a:prstGeom>
        </p:spPr>
        <p:txBody>
          <a:bodyPr vert="horz" wrap="square" lIns="0" tIns="12700" rIns="0" bIns="0" rtlCol="0">
            <a:spAutoFit/>
          </a:bodyPr>
          <a:lstStyle/>
          <a:p>
            <a:pPr marL="298450" indent="-285750">
              <a:spcBef>
                <a:spcPts val="100"/>
              </a:spcBef>
              <a:buFont typeface="Wingdings" panose="05000000000000000000" pitchFamily="2" charset="2"/>
              <a:buChar char="§"/>
              <a:tabLst>
                <a:tab pos="286385" algn="l"/>
              </a:tabLst>
            </a:pPr>
            <a:r>
              <a:rPr b="1" spc="-10">
                <a:solidFill>
                  <a:srgbClr val="FF0000"/>
                </a:solidFill>
                <a:latin typeface="Times New Roman" panose="02020603050405020304" pitchFamily="18" charset="0"/>
                <a:cs typeface="Times New Roman" panose="02020603050405020304" pitchFamily="18" charset="0"/>
              </a:rPr>
              <a:t>Xem </a:t>
            </a:r>
            <a:r>
              <a:rPr b="1" spc="-5" dirty="0">
                <a:solidFill>
                  <a:srgbClr val="FF0000"/>
                </a:solidFill>
                <a:latin typeface="Times New Roman" panose="02020603050405020304" pitchFamily="18" charset="0"/>
                <a:cs typeface="Times New Roman" panose="02020603050405020304" pitchFamily="18" charset="0"/>
              </a:rPr>
              <a:t>thông </a:t>
            </a:r>
            <a:r>
              <a:rPr b="1" spc="-25" dirty="0">
                <a:solidFill>
                  <a:srgbClr val="FF0000"/>
                </a:solidFill>
                <a:latin typeface="Times New Roman" panose="02020603050405020304" pitchFamily="18" charset="0"/>
                <a:cs typeface="Times New Roman" panose="02020603050405020304" pitchFamily="18" charset="0"/>
              </a:rPr>
              <a:t>Tin </a:t>
            </a:r>
            <a:r>
              <a:rPr b="1" dirty="0">
                <a:solidFill>
                  <a:srgbClr val="FF0000"/>
                </a:solidFill>
                <a:latin typeface="Times New Roman" panose="02020603050405020304" pitchFamily="18" charset="0"/>
                <a:cs typeface="Times New Roman" panose="02020603050405020304" pitchFamily="18" charset="0"/>
              </a:rPr>
              <a:t>Tài</a:t>
            </a:r>
            <a:r>
              <a:rPr b="1" spc="-85" dirty="0">
                <a:solidFill>
                  <a:srgbClr val="FF0000"/>
                </a:solidFill>
                <a:latin typeface="Times New Roman" panose="02020603050405020304" pitchFamily="18" charset="0"/>
                <a:cs typeface="Times New Roman" panose="02020603050405020304" pitchFamily="18" charset="0"/>
              </a:rPr>
              <a:t> </a:t>
            </a:r>
            <a:r>
              <a:rPr b="1" spc="-5" dirty="0">
                <a:solidFill>
                  <a:srgbClr val="FF0000"/>
                </a:solidFill>
                <a:latin typeface="Times New Roman" panose="02020603050405020304" pitchFamily="18" charset="0"/>
                <a:cs typeface="Times New Roman" panose="02020603050405020304" pitchFamily="18" charset="0"/>
              </a:rPr>
              <a:t>Khoản</a:t>
            </a:r>
            <a:endParaRPr b="1">
              <a:solidFill>
                <a:srgbClr val="FF0000"/>
              </a:solidFill>
              <a:latin typeface="Times New Roman" panose="02020603050405020304" pitchFamily="18" charset="0"/>
              <a:cs typeface="Times New Roman" panose="02020603050405020304" pitchFamily="18" charset="0"/>
            </a:endParaRPr>
          </a:p>
        </p:txBody>
      </p:sp>
      <p:sp>
        <p:nvSpPr>
          <p:cNvPr id="6" name="object 6"/>
          <p:cNvSpPr/>
          <p:nvPr/>
        </p:nvSpPr>
        <p:spPr>
          <a:xfrm>
            <a:off x="5065776" y="984503"/>
            <a:ext cx="1903730" cy="332740"/>
          </a:xfrm>
          <a:custGeom>
            <a:avLst/>
            <a:gdLst/>
            <a:ahLst/>
            <a:cxnLst/>
            <a:rect l="l" t="t" r="r" b="b"/>
            <a:pathLst>
              <a:path w="1903729" h="332740">
                <a:moveTo>
                  <a:pt x="0" y="332232"/>
                </a:moveTo>
                <a:lnTo>
                  <a:pt x="1903476" y="332232"/>
                </a:lnTo>
                <a:lnTo>
                  <a:pt x="1903476" y="0"/>
                </a:lnTo>
                <a:lnTo>
                  <a:pt x="0" y="0"/>
                </a:lnTo>
                <a:lnTo>
                  <a:pt x="0" y="332232"/>
                </a:lnTo>
                <a:close/>
              </a:path>
            </a:pathLst>
          </a:custGeom>
          <a:ln w="3175">
            <a:solidFill>
              <a:srgbClr val="000000"/>
            </a:solidFill>
          </a:ln>
        </p:spPr>
        <p:txBody>
          <a:bodyPr wrap="square" lIns="0" tIns="0" rIns="0" bIns="0" rtlCol="0"/>
          <a:lstStyle/>
          <a:p>
            <a:endParaRPr/>
          </a:p>
        </p:txBody>
      </p:sp>
      <p:sp>
        <p:nvSpPr>
          <p:cNvPr id="7" name="object 7"/>
          <p:cNvSpPr txBox="1"/>
          <p:nvPr/>
        </p:nvSpPr>
        <p:spPr>
          <a:xfrm>
            <a:off x="5065776" y="984504"/>
            <a:ext cx="1903730" cy="233397"/>
          </a:xfrm>
          <a:prstGeom prst="rect">
            <a:avLst/>
          </a:prstGeom>
          <a:ln w="3175">
            <a:solidFill>
              <a:srgbClr val="000000"/>
            </a:solidFill>
          </a:ln>
        </p:spPr>
        <p:txBody>
          <a:bodyPr vert="horz" wrap="square" lIns="0" tIns="17780" rIns="0" bIns="0" rtlCol="0">
            <a:spAutoFit/>
          </a:bodyPr>
          <a:lstStyle/>
          <a:p>
            <a:pPr marL="174625">
              <a:spcBef>
                <a:spcPts val="140"/>
              </a:spcBef>
            </a:pPr>
            <a:r>
              <a:rPr sz="1400" u="heavy" spc="-5" dirty="0">
                <a:uFill>
                  <a:solidFill>
                    <a:srgbClr val="000000"/>
                  </a:solidFill>
                </a:uFill>
                <a:latin typeface="Arial"/>
                <a:cs typeface="Arial"/>
              </a:rPr>
              <a:t> </a:t>
            </a:r>
            <a:r>
              <a:rPr sz="1400" u="heavy" dirty="0">
                <a:uFill>
                  <a:solidFill>
                    <a:srgbClr val="000000"/>
                  </a:solidFill>
                </a:uFill>
                <a:latin typeface="Arial"/>
                <a:cs typeface="Arial"/>
              </a:rPr>
              <a:t>:</a:t>
            </a:r>
            <a:r>
              <a:rPr sz="1400" u="heavy" spc="-15" dirty="0">
                <a:uFill>
                  <a:solidFill>
                    <a:srgbClr val="000000"/>
                  </a:solidFill>
                </a:uFill>
                <a:latin typeface="Arial"/>
                <a:cs typeface="Arial"/>
              </a:rPr>
              <a:t> </a:t>
            </a:r>
            <a:r>
              <a:rPr sz="1400" u="heavy" dirty="0">
                <a:uFill>
                  <a:solidFill>
                    <a:srgbClr val="000000"/>
                  </a:solidFill>
                </a:uFill>
                <a:latin typeface="Arial"/>
                <a:cs typeface="Arial"/>
              </a:rPr>
              <a:t>KháchHàng</a:t>
            </a:r>
            <a:endParaRPr sz="1400">
              <a:latin typeface="Arial"/>
              <a:cs typeface="Arial"/>
            </a:endParaRPr>
          </a:p>
        </p:txBody>
      </p:sp>
      <p:sp>
        <p:nvSpPr>
          <p:cNvPr id="8" name="object 8"/>
          <p:cNvSpPr/>
          <p:nvPr/>
        </p:nvSpPr>
        <p:spPr>
          <a:xfrm>
            <a:off x="6015990" y="1329690"/>
            <a:ext cx="48767" cy="5172983"/>
          </a:xfrm>
          <a:custGeom>
            <a:avLst/>
            <a:gdLst/>
            <a:ahLst/>
            <a:cxnLst/>
            <a:rect l="l" t="t" r="r" b="b"/>
            <a:pathLst>
              <a:path w="6350" h="5453380">
                <a:moveTo>
                  <a:pt x="6096" y="0"/>
                </a:moveTo>
                <a:lnTo>
                  <a:pt x="0" y="5452870"/>
                </a:lnTo>
              </a:path>
            </a:pathLst>
          </a:custGeom>
          <a:ln w="3175">
            <a:solidFill>
              <a:srgbClr val="000000"/>
            </a:solidFill>
            <a:prstDash val="sysDot"/>
          </a:ln>
        </p:spPr>
        <p:txBody>
          <a:bodyPr wrap="square" lIns="0" tIns="0" rIns="0" bIns="0" rtlCol="0"/>
          <a:lstStyle/>
          <a:p>
            <a:endParaRPr/>
          </a:p>
        </p:txBody>
      </p:sp>
      <p:sp>
        <p:nvSpPr>
          <p:cNvPr id="9" name="object 9"/>
          <p:cNvSpPr/>
          <p:nvPr/>
        </p:nvSpPr>
        <p:spPr>
          <a:xfrm>
            <a:off x="5964936" y="1545337"/>
            <a:ext cx="100965" cy="4871085"/>
          </a:xfrm>
          <a:custGeom>
            <a:avLst/>
            <a:gdLst/>
            <a:ahLst/>
            <a:cxnLst/>
            <a:rect l="l" t="t" r="r" b="b"/>
            <a:pathLst>
              <a:path w="100964" h="4871085">
                <a:moveTo>
                  <a:pt x="0" y="4870704"/>
                </a:moveTo>
                <a:lnTo>
                  <a:pt x="100584" y="4870704"/>
                </a:lnTo>
                <a:lnTo>
                  <a:pt x="100584" y="0"/>
                </a:lnTo>
                <a:lnTo>
                  <a:pt x="0" y="0"/>
                </a:lnTo>
                <a:lnTo>
                  <a:pt x="0" y="487070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0" name="object 10"/>
          <p:cNvSpPr txBox="1"/>
          <p:nvPr/>
        </p:nvSpPr>
        <p:spPr>
          <a:xfrm>
            <a:off x="7551421" y="984504"/>
            <a:ext cx="1108075" cy="233397"/>
          </a:xfrm>
          <a:prstGeom prst="rect">
            <a:avLst/>
          </a:prstGeom>
          <a:ln w="3175">
            <a:solidFill>
              <a:srgbClr val="000000"/>
            </a:solidFill>
          </a:ln>
        </p:spPr>
        <p:txBody>
          <a:bodyPr vert="horz" wrap="square" lIns="0" tIns="17780" rIns="0" bIns="0" rtlCol="0">
            <a:spAutoFit/>
          </a:bodyPr>
          <a:lstStyle/>
          <a:p>
            <a:pPr marL="250825">
              <a:spcBef>
                <a:spcPts val="140"/>
              </a:spcBef>
            </a:pPr>
            <a:r>
              <a:rPr sz="1400" u="heavy" dirty="0">
                <a:uFill>
                  <a:solidFill>
                    <a:srgbClr val="000000"/>
                  </a:solidFill>
                </a:uFill>
                <a:latin typeface="Arial"/>
                <a:cs typeface="Arial"/>
              </a:rPr>
              <a:t> :</a:t>
            </a:r>
            <a:r>
              <a:rPr sz="1400" u="heavy" spc="-65" dirty="0">
                <a:uFill>
                  <a:solidFill>
                    <a:srgbClr val="000000"/>
                  </a:solidFill>
                </a:uFill>
                <a:latin typeface="Arial"/>
                <a:cs typeface="Arial"/>
              </a:rPr>
              <a:t> </a:t>
            </a:r>
            <a:r>
              <a:rPr sz="1400" u="heavy" spc="-25" dirty="0">
                <a:uFill>
                  <a:solidFill>
                    <a:srgbClr val="000000"/>
                  </a:solidFill>
                </a:uFill>
                <a:latin typeface="Arial"/>
                <a:cs typeface="Arial"/>
              </a:rPr>
              <a:t>MáyATM</a:t>
            </a:r>
            <a:endParaRPr sz="1400">
              <a:latin typeface="Arial"/>
              <a:cs typeface="Arial"/>
            </a:endParaRPr>
          </a:p>
        </p:txBody>
      </p:sp>
      <p:sp>
        <p:nvSpPr>
          <p:cNvPr id="11" name="object 11"/>
          <p:cNvSpPr/>
          <p:nvPr/>
        </p:nvSpPr>
        <p:spPr>
          <a:xfrm>
            <a:off x="8111491" y="1329690"/>
            <a:ext cx="45719" cy="5172983"/>
          </a:xfrm>
          <a:custGeom>
            <a:avLst/>
            <a:gdLst/>
            <a:ahLst/>
            <a:cxnLst/>
            <a:rect l="l" t="t" r="r" b="b"/>
            <a:pathLst>
              <a:path w="45720" h="5453380">
                <a:moveTo>
                  <a:pt x="0" y="0"/>
                </a:moveTo>
                <a:lnTo>
                  <a:pt x="45719" y="5452870"/>
                </a:lnTo>
              </a:path>
            </a:pathLst>
          </a:custGeom>
          <a:ln w="3175">
            <a:solidFill>
              <a:srgbClr val="000000"/>
            </a:solidFill>
            <a:prstDash val="sysDot"/>
          </a:ln>
        </p:spPr>
        <p:txBody>
          <a:bodyPr wrap="square" lIns="0" tIns="0" rIns="0" bIns="0" rtlCol="0"/>
          <a:lstStyle/>
          <a:p>
            <a:endParaRPr/>
          </a:p>
        </p:txBody>
      </p:sp>
      <p:sp>
        <p:nvSpPr>
          <p:cNvPr id="12" name="object 12"/>
          <p:cNvSpPr/>
          <p:nvPr/>
        </p:nvSpPr>
        <p:spPr>
          <a:xfrm>
            <a:off x="8054341" y="1524001"/>
            <a:ext cx="102235" cy="4140835"/>
          </a:xfrm>
          <a:custGeom>
            <a:avLst/>
            <a:gdLst/>
            <a:ahLst/>
            <a:cxnLst/>
            <a:rect l="l" t="t" r="r" b="b"/>
            <a:pathLst>
              <a:path w="102234" h="4140835">
                <a:moveTo>
                  <a:pt x="0" y="4140708"/>
                </a:moveTo>
                <a:lnTo>
                  <a:pt x="102107" y="4140708"/>
                </a:lnTo>
                <a:lnTo>
                  <a:pt x="102107" y="0"/>
                </a:lnTo>
                <a:lnTo>
                  <a:pt x="0" y="0"/>
                </a:lnTo>
                <a:lnTo>
                  <a:pt x="0" y="414070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p:nvPr/>
        </p:nvSpPr>
        <p:spPr>
          <a:xfrm>
            <a:off x="8054341" y="2173223"/>
            <a:ext cx="102235" cy="2964180"/>
          </a:xfrm>
          <a:custGeom>
            <a:avLst/>
            <a:gdLst/>
            <a:ahLst/>
            <a:cxnLst/>
            <a:rect l="l" t="t" r="r" b="b"/>
            <a:pathLst>
              <a:path w="102234" h="2964179">
                <a:moveTo>
                  <a:pt x="0" y="2964180"/>
                </a:moveTo>
                <a:lnTo>
                  <a:pt x="102107" y="2964180"/>
                </a:lnTo>
                <a:lnTo>
                  <a:pt x="102107" y="0"/>
                </a:lnTo>
                <a:lnTo>
                  <a:pt x="0" y="0"/>
                </a:lnTo>
                <a:lnTo>
                  <a:pt x="0" y="296418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4" name="object 14"/>
          <p:cNvSpPr/>
          <p:nvPr/>
        </p:nvSpPr>
        <p:spPr>
          <a:xfrm>
            <a:off x="9284208" y="984503"/>
            <a:ext cx="1108075" cy="332740"/>
          </a:xfrm>
          <a:custGeom>
            <a:avLst/>
            <a:gdLst/>
            <a:ahLst/>
            <a:cxnLst/>
            <a:rect l="l" t="t" r="r" b="b"/>
            <a:pathLst>
              <a:path w="1108075" h="332740">
                <a:moveTo>
                  <a:pt x="0" y="332232"/>
                </a:moveTo>
                <a:lnTo>
                  <a:pt x="1107948" y="332232"/>
                </a:lnTo>
                <a:lnTo>
                  <a:pt x="1107948" y="0"/>
                </a:lnTo>
                <a:lnTo>
                  <a:pt x="0" y="0"/>
                </a:lnTo>
                <a:lnTo>
                  <a:pt x="0" y="332232"/>
                </a:lnTo>
                <a:close/>
              </a:path>
            </a:pathLst>
          </a:custGeom>
          <a:ln w="3175">
            <a:solidFill>
              <a:srgbClr val="000000"/>
            </a:solidFill>
          </a:ln>
        </p:spPr>
        <p:txBody>
          <a:bodyPr wrap="square" lIns="0" tIns="0" rIns="0" bIns="0" rtlCol="0"/>
          <a:lstStyle/>
          <a:p>
            <a:endParaRPr/>
          </a:p>
        </p:txBody>
      </p:sp>
      <p:sp>
        <p:nvSpPr>
          <p:cNvPr id="15" name="object 15"/>
          <p:cNvSpPr/>
          <p:nvPr/>
        </p:nvSpPr>
        <p:spPr>
          <a:xfrm>
            <a:off x="9482201" y="1205611"/>
            <a:ext cx="906780" cy="0"/>
          </a:xfrm>
          <a:custGeom>
            <a:avLst/>
            <a:gdLst/>
            <a:ahLst/>
            <a:cxnLst/>
            <a:rect l="l" t="t" r="r" b="b"/>
            <a:pathLst>
              <a:path w="906779">
                <a:moveTo>
                  <a:pt x="0" y="0"/>
                </a:moveTo>
                <a:lnTo>
                  <a:pt x="906779" y="0"/>
                </a:lnTo>
              </a:path>
            </a:pathLst>
          </a:custGeom>
          <a:ln w="1371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txBox="1"/>
          <p:nvPr/>
        </p:nvSpPr>
        <p:spPr>
          <a:xfrm>
            <a:off x="9519667" y="989153"/>
            <a:ext cx="883919" cy="228909"/>
          </a:xfrm>
          <a:prstGeom prst="rect">
            <a:avLst/>
          </a:prstGeom>
        </p:spPr>
        <p:txBody>
          <a:bodyPr vert="horz" wrap="square" lIns="0" tIns="13335" rIns="0" bIns="0" rtlCol="0">
            <a:spAutoFit/>
          </a:bodyPr>
          <a:lstStyle/>
          <a:p>
            <a:pPr marL="12700">
              <a:spcBef>
                <a:spcPts val="105"/>
              </a:spcBef>
            </a:pPr>
            <a:r>
              <a:rPr sz="1400" dirty="0">
                <a:latin typeface="Arial"/>
                <a:cs typeface="Arial"/>
              </a:rPr>
              <a:t>:</a:t>
            </a:r>
            <a:r>
              <a:rPr sz="1400" spc="-85" dirty="0">
                <a:latin typeface="Arial"/>
                <a:cs typeface="Arial"/>
              </a:rPr>
              <a:t> </a:t>
            </a:r>
            <a:r>
              <a:rPr sz="1400" spc="-5" dirty="0">
                <a:latin typeface="Arial"/>
                <a:cs typeface="Arial"/>
              </a:rPr>
              <a:t>TàiKhoản</a:t>
            </a:r>
            <a:endParaRPr sz="1400">
              <a:latin typeface="Arial"/>
              <a:cs typeface="Arial"/>
            </a:endParaRPr>
          </a:p>
        </p:txBody>
      </p:sp>
      <p:sp>
        <p:nvSpPr>
          <p:cNvPr id="17" name="object 17"/>
          <p:cNvSpPr/>
          <p:nvPr/>
        </p:nvSpPr>
        <p:spPr>
          <a:xfrm>
            <a:off x="9838181" y="1329690"/>
            <a:ext cx="45719" cy="5172983"/>
          </a:xfrm>
          <a:custGeom>
            <a:avLst/>
            <a:gdLst/>
            <a:ahLst/>
            <a:cxnLst/>
            <a:rect l="l" t="t" r="r" b="b"/>
            <a:pathLst>
              <a:path w="5079" h="5453380">
                <a:moveTo>
                  <a:pt x="4572" y="0"/>
                </a:moveTo>
                <a:lnTo>
                  <a:pt x="0" y="5452870"/>
                </a:lnTo>
              </a:path>
            </a:pathLst>
          </a:custGeom>
          <a:ln w="3175">
            <a:solidFill>
              <a:srgbClr val="000000"/>
            </a:solidFill>
            <a:prstDash val="sysDot"/>
          </a:ln>
        </p:spPr>
        <p:txBody>
          <a:bodyPr wrap="square" lIns="0" tIns="0" rIns="0" bIns="0" rtlCol="0"/>
          <a:lstStyle/>
          <a:p>
            <a:endParaRPr/>
          </a:p>
        </p:txBody>
      </p:sp>
      <p:sp>
        <p:nvSpPr>
          <p:cNvPr id="18" name="object 18"/>
          <p:cNvSpPr/>
          <p:nvPr/>
        </p:nvSpPr>
        <p:spPr>
          <a:xfrm>
            <a:off x="9787129" y="2465832"/>
            <a:ext cx="102235" cy="2489200"/>
          </a:xfrm>
          <a:custGeom>
            <a:avLst/>
            <a:gdLst/>
            <a:ahLst/>
            <a:cxnLst/>
            <a:rect l="l" t="t" r="r" b="b"/>
            <a:pathLst>
              <a:path w="102234" h="2489200">
                <a:moveTo>
                  <a:pt x="0" y="2488692"/>
                </a:moveTo>
                <a:lnTo>
                  <a:pt x="102107" y="2488692"/>
                </a:lnTo>
                <a:lnTo>
                  <a:pt x="102107" y="0"/>
                </a:lnTo>
                <a:lnTo>
                  <a:pt x="0" y="0"/>
                </a:lnTo>
                <a:lnTo>
                  <a:pt x="0" y="248869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6080760" y="1880616"/>
            <a:ext cx="1971039" cy="0"/>
          </a:xfrm>
          <a:custGeom>
            <a:avLst/>
            <a:gdLst/>
            <a:ahLst/>
            <a:cxnLst/>
            <a:rect l="l" t="t" r="r" b="b"/>
            <a:pathLst>
              <a:path w="1971040">
                <a:moveTo>
                  <a:pt x="1970532" y="0"/>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0" name="object 20"/>
          <p:cNvSpPr/>
          <p:nvPr/>
        </p:nvSpPr>
        <p:spPr>
          <a:xfrm>
            <a:off x="6080759" y="1880616"/>
            <a:ext cx="134620" cy="45720"/>
          </a:xfrm>
          <a:custGeom>
            <a:avLst/>
            <a:gdLst/>
            <a:ahLst/>
            <a:cxnLst/>
            <a:rect l="l" t="t" r="r" b="b"/>
            <a:pathLst>
              <a:path w="134620" h="45719">
                <a:moveTo>
                  <a:pt x="0" y="0"/>
                </a:moveTo>
                <a:lnTo>
                  <a:pt x="134112" y="4572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6080759" y="1834895"/>
            <a:ext cx="134620" cy="45720"/>
          </a:xfrm>
          <a:custGeom>
            <a:avLst/>
            <a:gdLst/>
            <a:ahLst/>
            <a:cxnLst/>
            <a:rect l="l" t="t" r="r" b="b"/>
            <a:pathLst>
              <a:path w="134620" h="45719">
                <a:moveTo>
                  <a:pt x="0" y="45719"/>
                </a:moveTo>
                <a:lnTo>
                  <a:pt x="134112"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txBox="1"/>
          <p:nvPr/>
        </p:nvSpPr>
        <p:spPr>
          <a:xfrm>
            <a:off x="6565139" y="1654811"/>
            <a:ext cx="1250315" cy="228909"/>
          </a:xfrm>
          <a:prstGeom prst="rect">
            <a:avLst/>
          </a:prstGeom>
        </p:spPr>
        <p:txBody>
          <a:bodyPr vert="horz" wrap="square" lIns="0" tIns="13335" rIns="0" bIns="0" rtlCol="0">
            <a:spAutoFit/>
          </a:bodyPr>
          <a:lstStyle/>
          <a:p>
            <a:pPr marL="12700">
              <a:spcBef>
                <a:spcPts val="105"/>
              </a:spcBef>
            </a:pPr>
            <a:r>
              <a:rPr sz="1400" spc="-5" dirty="0">
                <a:latin typeface="Times New Roman" panose="02020603050405020304" pitchFamily="18" charset="0"/>
                <a:cs typeface="Times New Roman" panose="02020603050405020304" pitchFamily="18" charset="0"/>
              </a:rPr>
              <a:t>Yêu </a:t>
            </a:r>
            <a:r>
              <a:rPr sz="1400" dirty="0">
                <a:latin typeface="Times New Roman" panose="02020603050405020304" pitchFamily="18" charset="0"/>
                <a:cs typeface="Times New Roman" panose="02020603050405020304" pitchFamily="18" charset="0"/>
              </a:rPr>
              <a:t>cầu số</a:t>
            </a:r>
            <a:r>
              <a:rPr sz="1400" spc="-11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tiền</a:t>
            </a:r>
            <a:endParaRPr sz="1400">
              <a:latin typeface="Times New Roman" panose="02020603050405020304" pitchFamily="18" charset="0"/>
              <a:cs typeface="Times New Roman" panose="02020603050405020304" pitchFamily="18" charset="0"/>
            </a:endParaRPr>
          </a:p>
        </p:txBody>
      </p:sp>
      <p:sp>
        <p:nvSpPr>
          <p:cNvPr id="23" name="object 23"/>
          <p:cNvSpPr/>
          <p:nvPr/>
        </p:nvSpPr>
        <p:spPr>
          <a:xfrm>
            <a:off x="6077711" y="2173223"/>
            <a:ext cx="1973580" cy="0"/>
          </a:xfrm>
          <a:custGeom>
            <a:avLst/>
            <a:gdLst/>
            <a:ahLst/>
            <a:cxnLst/>
            <a:rect l="l" t="t" r="r" b="b"/>
            <a:pathLst>
              <a:path w="1973579">
                <a:moveTo>
                  <a:pt x="0" y="0"/>
                </a:moveTo>
                <a:lnTo>
                  <a:pt x="197358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4" name="object 24"/>
          <p:cNvSpPr/>
          <p:nvPr/>
        </p:nvSpPr>
        <p:spPr>
          <a:xfrm>
            <a:off x="7917179" y="2173223"/>
            <a:ext cx="134620" cy="44450"/>
          </a:xfrm>
          <a:custGeom>
            <a:avLst/>
            <a:gdLst/>
            <a:ahLst/>
            <a:cxnLst/>
            <a:rect l="l" t="t" r="r" b="b"/>
            <a:pathLst>
              <a:path w="134620" h="44450">
                <a:moveTo>
                  <a:pt x="134112" y="0"/>
                </a:moveTo>
                <a:lnTo>
                  <a:pt x="0" y="44196"/>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5" name="object 25"/>
          <p:cNvSpPr/>
          <p:nvPr/>
        </p:nvSpPr>
        <p:spPr>
          <a:xfrm>
            <a:off x="7917179" y="2127504"/>
            <a:ext cx="134620" cy="45720"/>
          </a:xfrm>
          <a:custGeom>
            <a:avLst/>
            <a:gdLst/>
            <a:ahLst/>
            <a:cxnLst/>
            <a:rect l="l" t="t" r="r" b="b"/>
            <a:pathLst>
              <a:path w="134620" h="45719">
                <a:moveTo>
                  <a:pt x="134112" y="45720"/>
                </a:moveTo>
                <a:lnTo>
                  <a:pt x="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6" name="object 26"/>
          <p:cNvSpPr txBox="1"/>
          <p:nvPr/>
        </p:nvSpPr>
        <p:spPr>
          <a:xfrm>
            <a:off x="6046216" y="1947164"/>
            <a:ext cx="2006600" cy="228909"/>
          </a:xfrm>
          <a:prstGeom prst="rect">
            <a:avLst/>
          </a:prstGeom>
        </p:spPr>
        <p:txBody>
          <a:bodyPr vert="horz" wrap="square" lIns="0" tIns="13335" rIns="0" bIns="0" rtlCol="0">
            <a:spAutoFit/>
          </a:bodyPr>
          <a:lstStyle/>
          <a:p>
            <a:pPr marL="608965">
              <a:spcBef>
                <a:spcPts val="105"/>
              </a:spcBef>
            </a:pPr>
            <a:r>
              <a:rPr sz="1400" spc="-5" dirty="0">
                <a:latin typeface="Times New Roman" panose="02020603050405020304" pitchFamily="18" charset="0"/>
                <a:cs typeface="Times New Roman" panose="02020603050405020304" pitchFamily="18" charset="0"/>
              </a:rPr>
              <a:t>Nhập </a:t>
            </a:r>
            <a:r>
              <a:rPr sz="1400" dirty="0">
                <a:latin typeface="Times New Roman" panose="02020603050405020304" pitchFamily="18" charset="0"/>
                <a:cs typeface="Times New Roman" panose="02020603050405020304" pitchFamily="18" charset="0"/>
              </a:rPr>
              <a:t>số</a:t>
            </a:r>
            <a:r>
              <a:rPr sz="1400" spc="-4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tiền</a:t>
            </a:r>
            <a:endParaRPr sz="1400">
              <a:latin typeface="Times New Roman" panose="02020603050405020304" pitchFamily="18" charset="0"/>
              <a:cs typeface="Times New Roman" panose="02020603050405020304" pitchFamily="18" charset="0"/>
            </a:endParaRPr>
          </a:p>
        </p:txBody>
      </p:sp>
      <p:sp>
        <p:nvSpPr>
          <p:cNvPr id="27" name="object 27"/>
          <p:cNvSpPr/>
          <p:nvPr/>
        </p:nvSpPr>
        <p:spPr>
          <a:xfrm>
            <a:off x="8167117" y="2465832"/>
            <a:ext cx="1617345" cy="0"/>
          </a:xfrm>
          <a:custGeom>
            <a:avLst/>
            <a:gdLst/>
            <a:ahLst/>
            <a:cxnLst/>
            <a:rect l="l" t="t" r="r" b="b"/>
            <a:pathLst>
              <a:path w="1617345">
                <a:moveTo>
                  <a:pt x="0" y="0"/>
                </a:moveTo>
                <a:lnTo>
                  <a:pt x="1616963"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8" name="object 28"/>
          <p:cNvSpPr/>
          <p:nvPr/>
        </p:nvSpPr>
        <p:spPr>
          <a:xfrm>
            <a:off x="9648443" y="2465832"/>
            <a:ext cx="135890" cy="45720"/>
          </a:xfrm>
          <a:custGeom>
            <a:avLst/>
            <a:gdLst/>
            <a:ahLst/>
            <a:cxnLst/>
            <a:rect l="l" t="t" r="r" b="b"/>
            <a:pathLst>
              <a:path w="135890" h="45719">
                <a:moveTo>
                  <a:pt x="135635" y="0"/>
                </a:moveTo>
                <a:lnTo>
                  <a:pt x="0" y="45719"/>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9" name="object 29"/>
          <p:cNvSpPr/>
          <p:nvPr/>
        </p:nvSpPr>
        <p:spPr>
          <a:xfrm>
            <a:off x="9648443" y="2420111"/>
            <a:ext cx="135890" cy="45720"/>
          </a:xfrm>
          <a:custGeom>
            <a:avLst/>
            <a:gdLst/>
            <a:ahLst/>
            <a:cxnLst/>
            <a:rect l="l" t="t" r="r" b="b"/>
            <a:pathLst>
              <a:path w="135890" h="45719">
                <a:moveTo>
                  <a:pt x="135635" y="45720"/>
                </a:moveTo>
                <a:lnTo>
                  <a:pt x="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0" name="object 30"/>
          <p:cNvSpPr/>
          <p:nvPr/>
        </p:nvSpPr>
        <p:spPr>
          <a:xfrm>
            <a:off x="8170926" y="2807970"/>
            <a:ext cx="1614170" cy="0"/>
          </a:xfrm>
          <a:custGeom>
            <a:avLst/>
            <a:gdLst/>
            <a:ahLst/>
            <a:cxnLst/>
            <a:rect l="l" t="t" r="r" b="b"/>
            <a:pathLst>
              <a:path w="1614170">
                <a:moveTo>
                  <a:pt x="1613916" y="0"/>
                </a:moveTo>
                <a:lnTo>
                  <a:pt x="0" y="0"/>
                </a:lnTo>
              </a:path>
            </a:pathLst>
          </a:custGeom>
          <a:ln w="3175">
            <a:solidFill>
              <a:srgbClr val="000000"/>
            </a:solidFill>
            <a:prstDash val="sysDot"/>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1" name="object 31"/>
          <p:cNvSpPr/>
          <p:nvPr/>
        </p:nvSpPr>
        <p:spPr>
          <a:xfrm>
            <a:off x="8170164" y="2807207"/>
            <a:ext cx="135890" cy="45720"/>
          </a:xfrm>
          <a:custGeom>
            <a:avLst/>
            <a:gdLst/>
            <a:ahLst/>
            <a:cxnLst/>
            <a:rect l="l" t="t" r="r" b="b"/>
            <a:pathLst>
              <a:path w="135890" h="45719">
                <a:moveTo>
                  <a:pt x="0" y="0"/>
                </a:moveTo>
                <a:lnTo>
                  <a:pt x="135635" y="45719"/>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2" name="object 32"/>
          <p:cNvSpPr/>
          <p:nvPr/>
        </p:nvSpPr>
        <p:spPr>
          <a:xfrm>
            <a:off x="8170164" y="2759965"/>
            <a:ext cx="135890" cy="47625"/>
          </a:xfrm>
          <a:custGeom>
            <a:avLst/>
            <a:gdLst/>
            <a:ahLst/>
            <a:cxnLst/>
            <a:rect l="l" t="t" r="r" b="b"/>
            <a:pathLst>
              <a:path w="135890" h="47625">
                <a:moveTo>
                  <a:pt x="0" y="47244"/>
                </a:moveTo>
                <a:lnTo>
                  <a:pt x="135635"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3" name="object 33"/>
          <p:cNvSpPr txBox="1"/>
          <p:nvPr/>
        </p:nvSpPr>
        <p:spPr>
          <a:xfrm>
            <a:off x="8157971" y="2239138"/>
            <a:ext cx="1790064" cy="581025"/>
          </a:xfrm>
          <a:prstGeom prst="rect">
            <a:avLst/>
          </a:prstGeom>
        </p:spPr>
        <p:txBody>
          <a:bodyPr vert="horz" wrap="square" lIns="0" tIns="13335" rIns="0" bIns="0" rtlCol="0">
            <a:spAutoFit/>
          </a:bodyPr>
          <a:lstStyle/>
          <a:p>
            <a:pPr marL="211454" algn="ctr">
              <a:spcBef>
                <a:spcPts val="105"/>
              </a:spcBef>
            </a:pPr>
            <a:r>
              <a:rPr sz="1400" spc="5" dirty="0">
                <a:latin typeface="Times New Roman" panose="02020603050405020304" pitchFamily="18" charset="0"/>
                <a:cs typeface="Times New Roman" panose="02020603050405020304" pitchFamily="18" charset="0"/>
              </a:rPr>
              <a:t>Xử </a:t>
            </a:r>
            <a:r>
              <a:rPr sz="1400" spc="-5" dirty="0">
                <a:latin typeface="Times New Roman" panose="02020603050405020304" pitchFamily="18" charset="0"/>
                <a:cs typeface="Times New Roman" panose="02020603050405020304" pitchFamily="18" charset="0"/>
              </a:rPr>
              <a:t>lý giao </a:t>
            </a:r>
            <a:r>
              <a:rPr sz="1400" dirty="0">
                <a:latin typeface="Times New Roman" panose="02020603050405020304" pitchFamily="18" charset="0"/>
                <a:cs typeface="Times New Roman" panose="02020603050405020304" pitchFamily="18" charset="0"/>
              </a:rPr>
              <a:t>tác</a:t>
            </a:r>
            <a:r>
              <a:rPr sz="1400" spc="-105"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gửi</a:t>
            </a:r>
            <a:endParaRPr sz="1400">
              <a:latin typeface="Times New Roman" panose="02020603050405020304" pitchFamily="18" charset="0"/>
              <a:cs typeface="Times New Roman" panose="02020603050405020304" pitchFamily="18" charset="0"/>
            </a:endParaRPr>
          </a:p>
          <a:p>
            <a:pPr marL="172085" algn="ctr">
              <a:spcBef>
                <a:spcPts val="1005"/>
              </a:spcBef>
            </a:pPr>
            <a:r>
              <a:rPr sz="1400" dirty="0">
                <a:latin typeface="Times New Roman" panose="02020603050405020304" pitchFamily="18" charset="0"/>
                <a:cs typeface="Times New Roman" panose="02020603050405020304" pitchFamily="18" charset="0"/>
              </a:rPr>
              <a:t>Giao tác thành</a:t>
            </a:r>
            <a:r>
              <a:rPr sz="1400" spc="-114"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công</a:t>
            </a:r>
            <a:endParaRPr sz="1400">
              <a:latin typeface="Times New Roman" panose="02020603050405020304" pitchFamily="18" charset="0"/>
              <a:cs typeface="Times New Roman" panose="02020603050405020304" pitchFamily="18" charset="0"/>
            </a:endParaRPr>
          </a:p>
        </p:txBody>
      </p:sp>
      <p:sp>
        <p:nvSpPr>
          <p:cNvPr id="34" name="object 34"/>
          <p:cNvSpPr/>
          <p:nvPr/>
        </p:nvSpPr>
        <p:spPr>
          <a:xfrm>
            <a:off x="6080760" y="3244596"/>
            <a:ext cx="1971039" cy="1905"/>
          </a:xfrm>
          <a:custGeom>
            <a:avLst/>
            <a:gdLst/>
            <a:ahLst/>
            <a:cxnLst/>
            <a:rect l="l" t="t" r="r" b="b"/>
            <a:pathLst>
              <a:path w="1971040" h="1905">
                <a:moveTo>
                  <a:pt x="1970532" y="0"/>
                </a:moveTo>
                <a:lnTo>
                  <a:pt x="0" y="1524"/>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5" name="object 35"/>
          <p:cNvSpPr/>
          <p:nvPr/>
        </p:nvSpPr>
        <p:spPr>
          <a:xfrm>
            <a:off x="6080759" y="3244595"/>
            <a:ext cx="134620" cy="45720"/>
          </a:xfrm>
          <a:custGeom>
            <a:avLst/>
            <a:gdLst/>
            <a:ahLst/>
            <a:cxnLst/>
            <a:rect l="l" t="t" r="r" b="b"/>
            <a:pathLst>
              <a:path w="134620" h="45720">
                <a:moveTo>
                  <a:pt x="0" y="0"/>
                </a:moveTo>
                <a:lnTo>
                  <a:pt x="134112" y="45719"/>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6" name="object 36"/>
          <p:cNvSpPr/>
          <p:nvPr/>
        </p:nvSpPr>
        <p:spPr>
          <a:xfrm>
            <a:off x="6080759" y="3198876"/>
            <a:ext cx="134620" cy="45720"/>
          </a:xfrm>
          <a:custGeom>
            <a:avLst/>
            <a:gdLst/>
            <a:ahLst/>
            <a:cxnLst/>
            <a:rect l="l" t="t" r="r" b="b"/>
            <a:pathLst>
              <a:path w="134620" h="45719">
                <a:moveTo>
                  <a:pt x="0" y="45720"/>
                </a:moveTo>
                <a:lnTo>
                  <a:pt x="134112"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7" name="object 37"/>
          <p:cNvSpPr txBox="1"/>
          <p:nvPr/>
        </p:nvSpPr>
        <p:spPr>
          <a:xfrm>
            <a:off x="6046216" y="3018790"/>
            <a:ext cx="2006600" cy="228909"/>
          </a:xfrm>
          <a:prstGeom prst="rect">
            <a:avLst/>
          </a:prstGeom>
        </p:spPr>
        <p:txBody>
          <a:bodyPr vert="horz" wrap="square" lIns="0" tIns="13335" rIns="0" bIns="0" rtlCol="0">
            <a:spAutoFit/>
          </a:bodyPr>
          <a:lstStyle/>
          <a:p>
            <a:pPr marL="544195">
              <a:spcBef>
                <a:spcPts val="105"/>
              </a:spcBef>
            </a:pPr>
            <a:r>
              <a:rPr sz="1400" spc="-5" dirty="0">
                <a:latin typeface="Times New Roman" panose="02020603050405020304" pitchFamily="18" charset="0"/>
                <a:cs typeface="Times New Roman" panose="02020603050405020304" pitchFamily="18" charset="0"/>
              </a:rPr>
              <a:t>Yêu </a:t>
            </a:r>
            <a:r>
              <a:rPr sz="1400" dirty="0">
                <a:latin typeface="Times New Roman" panose="02020603050405020304" pitchFamily="18" charset="0"/>
                <a:cs typeface="Times New Roman" panose="02020603050405020304" pitchFamily="18" charset="0"/>
              </a:rPr>
              <a:t>cầu </a:t>
            </a:r>
            <a:r>
              <a:rPr sz="1400" spc="-5" dirty="0">
                <a:latin typeface="Times New Roman" panose="02020603050405020304" pitchFamily="18" charset="0"/>
                <a:cs typeface="Times New Roman" panose="02020603050405020304" pitchFamily="18" charset="0"/>
              </a:rPr>
              <a:t>lấy</a:t>
            </a:r>
            <a:r>
              <a:rPr sz="1400" spc="-60"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thẻ</a:t>
            </a:r>
            <a:endParaRPr sz="1400">
              <a:latin typeface="Times New Roman" panose="02020603050405020304" pitchFamily="18" charset="0"/>
              <a:cs typeface="Times New Roman" panose="02020603050405020304" pitchFamily="18" charset="0"/>
            </a:endParaRPr>
          </a:p>
        </p:txBody>
      </p:sp>
      <p:sp>
        <p:nvSpPr>
          <p:cNvPr id="38" name="object 38"/>
          <p:cNvSpPr/>
          <p:nvPr/>
        </p:nvSpPr>
        <p:spPr>
          <a:xfrm>
            <a:off x="6077711" y="3537204"/>
            <a:ext cx="1973580" cy="1905"/>
          </a:xfrm>
          <a:custGeom>
            <a:avLst/>
            <a:gdLst/>
            <a:ahLst/>
            <a:cxnLst/>
            <a:rect l="l" t="t" r="r" b="b"/>
            <a:pathLst>
              <a:path w="1973579" h="1904">
                <a:moveTo>
                  <a:pt x="0" y="0"/>
                </a:moveTo>
                <a:lnTo>
                  <a:pt x="1973580" y="1524"/>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9" name="object 39"/>
          <p:cNvSpPr/>
          <p:nvPr/>
        </p:nvSpPr>
        <p:spPr>
          <a:xfrm>
            <a:off x="7917179" y="3537203"/>
            <a:ext cx="134620" cy="45720"/>
          </a:xfrm>
          <a:custGeom>
            <a:avLst/>
            <a:gdLst/>
            <a:ahLst/>
            <a:cxnLst/>
            <a:rect l="l" t="t" r="r" b="b"/>
            <a:pathLst>
              <a:path w="134620" h="45720">
                <a:moveTo>
                  <a:pt x="134112" y="0"/>
                </a:moveTo>
                <a:lnTo>
                  <a:pt x="0" y="4572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0" name="object 40"/>
          <p:cNvSpPr/>
          <p:nvPr/>
        </p:nvSpPr>
        <p:spPr>
          <a:xfrm>
            <a:off x="7917179" y="3491484"/>
            <a:ext cx="134620" cy="45720"/>
          </a:xfrm>
          <a:custGeom>
            <a:avLst/>
            <a:gdLst/>
            <a:ahLst/>
            <a:cxnLst/>
            <a:rect l="l" t="t" r="r" b="b"/>
            <a:pathLst>
              <a:path w="134620" h="45720">
                <a:moveTo>
                  <a:pt x="134112" y="45719"/>
                </a:moveTo>
                <a:lnTo>
                  <a:pt x="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1" name="object 41"/>
          <p:cNvSpPr txBox="1"/>
          <p:nvPr/>
        </p:nvSpPr>
        <p:spPr>
          <a:xfrm>
            <a:off x="6046216" y="3312668"/>
            <a:ext cx="2006600" cy="228909"/>
          </a:xfrm>
          <a:prstGeom prst="rect">
            <a:avLst/>
          </a:prstGeom>
        </p:spPr>
        <p:txBody>
          <a:bodyPr vert="horz" wrap="square" lIns="0" tIns="13335" rIns="0" bIns="0" rtlCol="0">
            <a:spAutoFit/>
          </a:bodyPr>
          <a:lstStyle/>
          <a:p>
            <a:pPr marL="788670">
              <a:spcBef>
                <a:spcPts val="105"/>
              </a:spcBef>
            </a:pPr>
            <a:r>
              <a:rPr sz="1400" spc="-5" dirty="0">
                <a:latin typeface="Times New Roman" panose="02020603050405020304" pitchFamily="18" charset="0"/>
                <a:cs typeface="Times New Roman" panose="02020603050405020304" pitchFamily="18" charset="0"/>
              </a:rPr>
              <a:t>Lấy</a:t>
            </a:r>
            <a:r>
              <a:rPr sz="1400" spc="-25"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thẻ</a:t>
            </a:r>
            <a:endParaRPr sz="1400">
              <a:latin typeface="Times New Roman" panose="02020603050405020304" pitchFamily="18" charset="0"/>
              <a:cs typeface="Times New Roman" panose="02020603050405020304" pitchFamily="18" charset="0"/>
            </a:endParaRPr>
          </a:p>
        </p:txBody>
      </p:sp>
      <p:sp>
        <p:nvSpPr>
          <p:cNvPr id="42" name="object 42"/>
          <p:cNvSpPr/>
          <p:nvPr/>
        </p:nvSpPr>
        <p:spPr>
          <a:xfrm>
            <a:off x="6080760" y="3732276"/>
            <a:ext cx="1971039" cy="0"/>
          </a:xfrm>
          <a:custGeom>
            <a:avLst/>
            <a:gdLst/>
            <a:ahLst/>
            <a:cxnLst/>
            <a:rect l="l" t="t" r="r" b="b"/>
            <a:pathLst>
              <a:path w="1971040">
                <a:moveTo>
                  <a:pt x="1970532" y="0"/>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3" name="object 43"/>
          <p:cNvSpPr/>
          <p:nvPr/>
        </p:nvSpPr>
        <p:spPr>
          <a:xfrm>
            <a:off x="6080759" y="3732276"/>
            <a:ext cx="134620" cy="45720"/>
          </a:xfrm>
          <a:custGeom>
            <a:avLst/>
            <a:gdLst/>
            <a:ahLst/>
            <a:cxnLst/>
            <a:rect l="l" t="t" r="r" b="b"/>
            <a:pathLst>
              <a:path w="134620" h="45720">
                <a:moveTo>
                  <a:pt x="0" y="0"/>
                </a:moveTo>
                <a:lnTo>
                  <a:pt x="134112" y="45719"/>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4" name="object 44"/>
          <p:cNvSpPr/>
          <p:nvPr/>
        </p:nvSpPr>
        <p:spPr>
          <a:xfrm>
            <a:off x="6080759" y="3686555"/>
            <a:ext cx="134620" cy="45720"/>
          </a:xfrm>
          <a:custGeom>
            <a:avLst/>
            <a:gdLst/>
            <a:ahLst/>
            <a:cxnLst/>
            <a:rect l="l" t="t" r="r" b="b"/>
            <a:pathLst>
              <a:path w="134620" h="45720">
                <a:moveTo>
                  <a:pt x="0" y="45720"/>
                </a:moveTo>
                <a:lnTo>
                  <a:pt x="134112"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5" name="object 45"/>
          <p:cNvSpPr txBox="1"/>
          <p:nvPr/>
        </p:nvSpPr>
        <p:spPr>
          <a:xfrm>
            <a:off x="6046216" y="3507995"/>
            <a:ext cx="2006600" cy="228909"/>
          </a:xfrm>
          <a:prstGeom prst="rect">
            <a:avLst/>
          </a:prstGeom>
        </p:spPr>
        <p:txBody>
          <a:bodyPr vert="horz" wrap="square" lIns="0" tIns="13335" rIns="0" bIns="0" rtlCol="0">
            <a:spAutoFit/>
          </a:bodyPr>
          <a:lstStyle/>
          <a:p>
            <a:pPr marL="520065">
              <a:spcBef>
                <a:spcPts val="105"/>
              </a:spcBef>
            </a:pPr>
            <a:r>
              <a:rPr sz="1400" spc="-5" dirty="0">
                <a:latin typeface="Times New Roman" panose="02020603050405020304" pitchFamily="18" charset="0"/>
                <a:cs typeface="Times New Roman" panose="02020603050405020304" pitchFamily="18" charset="0"/>
              </a:rPr>
              <a:t>Yêu </a:t>
            </a:r>
            <a:r>
              <a:rPr sz="1400" dirty="0">
                <a:latin typeface="Times New Roman" panose="02020603050405020304" pitchFamily="18" charset="0"/>
                <a:cs typeface="Times New Roman" panose="02020603050405020304" pitchFamily="18" charset="0"/>
              </a:rPr>
              <a:t>cầu </a:t>
            </a:r>
            <a:r>
              <a:rPr sz="1400" spc="-5" dirty="0">
                <a:latin typeface="Times New Roman" panose="02020603050405020304" pitchFamily="18" charset="0"/>
                <a:cs typeface="Times New Roman" panose="02020603050405020304" pitchFamily="18" charset="0"/>
              </a:rPr>
              <a:t>tiếp</a:t>
            </a:r>
            <a:r>
              <a:rPr sz="1400" spc="-75"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tục</a:t>
            </a:r>
            <a:endParaRPr sz="1400">
              <a:latin typeface="Times New Roman" panose="02020603050405020304" pitchFamily="18" charset="0"/>
              <a:cs typeface="Times New Roman" panose="02020603050405020304" pitchFamily="18" charset="0"/>
            </a:endParaRPr>
          </a:p>
        </p:txBody>
      </p:sp>
      <p:sp>
        <p:nvSpPr>
          <p:cNvPr id="46" name="object 46"/>
          <p:cNvSpPr/>
          <p:nvPr/>
        </p:nvSpPr>
        <p:spPr>
          <a:xfrm>
            <a:off x="6077711" y="4024885"/>
            <a:ext cx="1973580" cy="1905"/>
          </a:xfrm>
          <a:custGeom>
            <a:avLst/>
            <a:gdLst/>
            <a:ahLst/>
            <a:cxnLst/>
            <a:rect l="l" t="t" r="r" b="b"/>
            <a:pathLst>
              <a:path w="1973579" h="1904">
                <a:moveTo>
                  <a:pt x="0" y="0"/>
                </a:moveTo>
                <a:lnTo>
                  <a:pt x="1973580" y="1524"/>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7" name="object 47"/>
          <p:cNvSpPr/>
          <p:nvPr/>
        </p:nvSpPr>
        <p:spPr>
          <a:xfrm>
            <a:off x="7917179" y="4024884"/>
            <a:ext cx="134620" cy="45720"/>
          </a:xfrm>
          <a:custGeom>
            <a:avLst/>
            <a:gdLst/>
            <a:ahLst/>
            <a:cxnLst/>
            <a:rect l="l" t="t" r="r" b="b"/>
            <a:pathLst>
              <a:path w="134620" h="45720">
                <a:moveTo>
                  <a:pt x="134112" y="0"/>
                </a:moveTo>
                <a:lnTo>
                  <a:pt x="0" y="4572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8" name="object 48"/>
          <p:cNvSpPr/>
          <p:nvPr/>
        </p:nvSpPr>
        <p:spPr>
          <a:xfrm>
            <a:off x="7917179" y="3979164"/>
            <a:ext cx="134620" cy="45720"/>
          </a:xfrm>
          <a:custGeom>
            <a:avLst/>
            <a:gdLst/>
            <a:ahLst/>
            <a:cxnLst/>
            <a:rect l="l" t="t" r="r" b="b"/>
            <a:pathLst>
              <a:path w="134620" h="45720">
                <a:moveTo>
                  <a:pt x="134112" y="45719"/>
                </a:moveTo>
                <a:lnTo>
                  <a:pt x="0"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9" name="object 49"/>
          <p:cNvSpPr txBox="1"/>
          <p:nvPr/>
        </p:nvSpPr>
        <p:spPr>
          <a:xfrm>
            <a:off x="6046216" y="3800094"/>
            <a:ext cx="2006600" cy="228268"/>
          </a:xfrm>
          <a:prstGeom prst="rect">
            <a:avLst/>
          </a:prstGeom>
        </p:spPr>
        <p:txBody>
          <a:bodyPr vert="horz" wrap="square" lIns="0" tIns="12700" rIns="0" bIns="0" rtlCol="0">
            <a:spAutoFit/>
          </a:bodyPr>
          <a:lstStyle/>
          <a:p>
            <a:pPr marL="760095">
              <a:spcBef>
                <a:spcPts val="100"/>
              </a:spcBef>
            </a:pPr>
            <a:r>
              <a:rPr sz="1400" dirty="0">
                <a:latin typeface="Times New Roman" panose="02020603050405020304" pitchFamily="18" charset="0"/>
                <a:cs typeface="Times New Roman" panose="02020603050405020304" pitchFamily="18" charset="0"/>
              </a:rPr>
              <a:t>Kết</a:t>
            </a:r>
            <a:r>
              <a:rPr sz="1400" spc="-25"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thúc</a:t>
            </a:r>
            <a:endParaRPr sz="1400">
              <a:latin typeface="Times New Roman" panose="02020603050405020304" pitchFamily="18" charset="0"/>
              <a:cs typeface="Times New Roman" panose="02020603050405020304" pitchFamily="18" charset="0"/>
            </a:endParaRPr>
          </a:p>
        </p:txBody>
      </p:sp>
      <p:sp>
        <p:nvSpPr>
          <p:cNvPr id="50" name="object 50"/>
          <p:cNvSpPr/>
          <p:nvPr/>
        </p:nvSpPr>
        <p:spPr>
          <a:xfrm>
            <a:off x="6080760" y="4415028"/>
            <a:ext cx="1971039" cy="0"/>
          </a:xfrm>
          <a:custGeom>
            <a:avLst/>
            <a:gdLst/>
            <a:ahLst/>
            <a:cxnLst/>
            <a:rect l="l" t="t" r="r" b="b"/>
            <a:pathLst>
              <a:path w="1971040">
                <a:moveTo>
                  <a:pt x="1970532" y="0"/>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1" name="object 51"/>
          <p:cNvSpPr/>
          <p:nvPr/>
        </p:nvSpPr>
        <p:spPr>
          <a:xfrm>
            <a:off x="6080759" y="4415028"/>
            <a:ext cx="134620" cy="45720"/>
          </a:xfrm>
          <a:custGeom>
            <a:avLst/>
            <a:gdLst/>
            <a:ahLst/>
            <a:cxnLst/>
            <a:rect l="l" t="t" r="r" b="b"/>
            <a:pathLst>
              <a:path w="134620" h="45720">
                <a:moveTo>
                  <a:pt x="0" y="0"/>
                </a:moveTo>
                <a:lnTo>
                  <a:pt x="134112" y="4572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2" name="object 52"/>
          <p:cNvSpPr/>
          <p:nvPr/>
        </p:nvSpPr>
        <p:spPr>
          <a:xfrm>
            <a:off x="6080759" y="4369308"/>
            <a:ext cx="134620" cy="45720"/>
          </a:xfrm>
          <a:custGeom>
            <a:avLst/>
            <a:gdLst/>
            <a:ahLst/>
            <a:cxnLst/>
            <a:rect l="l" t="t" r="r" b="b"/>
            <a:pathLst>
              <a:path w="134620" h="45720">
                <a:moveTo>
                  <a:pt x="0" y="45720"/>
                </a:moveTo>
                <a:lnTo>
                  <a:pt x="134112" y="0"/>
                </a:lnTo>
              </a:path>
            </a:pathLst>
          </a:custGeom>
          <a:ln w="914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3" name="object 53"/>
          <p:cNvSpPr txBox="1"/>
          <p:nvPr/>
        </p:nvSpPr>
        <p:spPr>
          <a:xfrm>
            <a:off x="6046216" y="4190746"/>
            <a:ext cx="2006600" cy="228268"/>
          </a:xfrm>
          <a:prstGeom prst="rect">
            <a:avLst/>
          </a:prstGeom>
        </p:spPr>
        <p:txBody>
          <a:bodyPr vert="horz" wrap="square" lIns="0" tIns="12700" rIns="0" bIns="0" rtlCol="0">
            <a:spAutoFit/>
          </a:bodyPr>
          <a:lstStyle/>
          <a:p>
            <a:pPr marL="683895">
              <a:spcBef>
                <a:spcPts val="100"/>
              </a:spcBef>
            </a:pPr>
            <a:r>
              <a:rPr sz="1400" dirty="0">
                <a:latin typeface="Times New Roman" panose="02020603050405020304" pitchFamily="18" charset="0"/>
                <a:cs typeface="Times New Roman" panose="02020603050405020304" pitchFamily="18" charset="0"/>
              </a:rPr>
              <a:t>In </a:t>
            </a:r>
            <a:r>
              <a:rPr sz="1400" spc="-5" dirty="0">
                <a:latin typeface="Times New Roman" panose="02020603050405020304" pitchFamily="18" charset="0"/>
                <a:cs typeface="Times New Roman" panose="02020603050405020304" pitchFamily="18" charset="0"/>
              </a:rPr>
              <a:t>hoá</a:t>
            </a:r>
            <a:r>
              <a:rPr sz="1400" spc="-55" dirty="0">
                <a:latin typeface="Times New Roman" panose="02020603050405020304" pitchFamily="18" charset="0"/>
                <a:cs typeface="Times New Roman" panose="02020603050405020304" pitchFamily="18" charset="0"/>
              </a:rPr>
              <a:t> </a:t>
            </a:r>
            <a:r>
              <a:rPr sz="1400" spc="-5" dirty="0">
                <a:latin typeface="Times New Roman" panose="02020603050405020304" pitchFamily="18" charset="0"/>
                <a:cs typeface="Times New Roman" panose="02020603050405020304" pitchFamily="18" charset="0"/>
              </a:rPr>
              <a:t>đơn</a:t>
            </a:r>
            <a:endParaRPr sz="1400">
              <a:latin typeface="Times New Roman" panose="02020603050405020304" pitchFamily="18" charset="0"/>
              <a:cs typeface="Times New Roman" panose="02020603050405020304" pitchFamily="18" charset="0"/>
            </a:endParaRPr>
          </a:p>
        </p:txBody>
      </p:sp>
      <p:sp>
        <p:nvSpPr>
          <p:cNvPr id="54" name="object 54"/>
          <p:cNvSpPr/>
          <p:nvPr/>
        </p:nvSpPr>
        <p:spPr>
          <a:xfrm>
            <a:off x="8077200" y="1970532"/>
            <a:ext cx="1981200" cy="1219200"/>
          </a:xfrm>
          <a:custGeom>
            <a:avLst/>
            <a:gdLst/>
            <a:ahLst/>
            <a:cxnLst/>
            <a:rect l="l" t="t" r="r" b="b"/>
            <a:pathLst>
              <a:path w="1981200" h="1219200">
                <a:moveTo>
                  <a:pt x="0" y="609600"/>
                </a:moveTo>
                <a:lnTo>
                  <a:pt x="6664" y="538506"/>
                </a:lnTo>
                <a:lnTo>
                  <a:pt x="26161" y="469822"/>
                </a:lnTo>
                <a:lnTo>
                  <a:pt x="57748" y="404005"/>
                </a:lnTo>
                <a:lnTo>
                  <a:pt x="100681" y="341511"/>
                </a:lnTo>
                <a:lnTo>
                  <a:pt x="126171" y="311653"/>
                </a:lnTo>
                <a:lnTo>
                  <a:pt x="154218" y="282798"/>
                </a:lnTo>
                <a:lnTo>
                  <a:pt x="184731" y="255003"/>
                </a:lnTo>
                <a:lnTo>
                  <a:pt x="217616" y="228324"/>
                </a:lnTo>
                <a:lnTo>
                  <a:pt x="252780" y="202819"/>
                </a:lnTo>
                <a:lnTo>
                  <a:pt x="290131" y="178546"/>
                </a:lnTo>
                <a:lnTo>
                  <a:pt x="329575" y="155560"/>
                </a:lnTo>
                <a:lnTo>
                  <a:pt x="371020" y="133920"/>
                </a:lnTo>
                <a:lnTo>
                  <a:pt x="414373" y="113683"/>
                </a:lnTo>
                <a:lnTo>
                  <a:pt x="459540" y="94906"/>
                </a:lnTo>
                <a:lnTo>
                  <a:pt x="506430" y="77645"/>
                </a:lnTo>
                <a:lnTo>
                  <a:pt x="554949" y="61959"/>
                </a:lnTo>
                <a:lnTo>
                  <a:pt x="605004" y="47904"/>
                </a:lnTo>
                <a:lnTo>
                  <a:pt x="656502" y="35538"/>
                </a:lnTo>
                <a:lnTo>
                  <a:pt x="709351" y="24917"/>
                </a:lnTo>
                <a:lnTo>
                  <a:pt x="763457" y="16099"/>
                </a:lnTo>
                <a:lnTo>
                  <a:pt x="818728" y="9141"/>
                </a:lnTo>
                <a:lnTo>
                  <a:pt x="875070" y="4101"/>
                </a:lnTo>
                <a:lnTo>
                  <a:pt x="932392" y="1034"/>
                </a:lnTo>
                <a:lnTo>
                  <a:pt x="990600" y="0"/>
                </a:lnTo>
                <a:lnTo>
                  <a:pt x="1048807" y="1034"/>
                </a:lnTo>
                <a:lnTo>
                  <a:pt x="1106129" y="4101"/>
                </a:lnTo>
                <a:lnTo>
                  <a:pt x="1162471" y="9141"/>
                </a:lnTo>
                <a:lnTo>
                  <a:pt x="1217742" y="16099"/>
                </a:lnTo>
                <a:lnTo>
                  <a:pt x="1271848" y="24917"/>
                </a:lnTo>
                <a:lnTo>
                  <a:pt x="1324697" y="35538"/>
                </a:lnTo>
                <a:lnTo>
                  <a:pt x="1376195" y="47904"/>
                </a:lnTo>
                <a:lnTo>
                  <a:pt x="1426250" y="61959"/>
                </a:lnTo>
                <a:lnTo>
                  <a:pt x="1474769" y="77645"/>
                </a:lnTo>
                <a:lnTo>
                  <a:pt x="1521659" y="94906"/>
                </a:lnTo>
                <a:lnTo>
                  <a:pt x="1566826" y="113683"/>
                </a:lnTo>
                <a:lnTo>
                  <a:pt x="1610179" y="133920"/>
                </a:lnTo>
                <a:lnTo>
                  <a:pt x="1651624" y="155560"/>
                </a:lnTo>
                <a:lnTo>
                  <a:pt x="1691068" y="178546"/>
                </a:lnTo>
                <a:lnTo>
                  <a:pt x="1728419" y="202819"/>
                </a:lnTo>
                <a:lnTo>
                  <a:pt x="1763583" y="228324"/>
                </a:lnTo>
                <a:lnTo>
                  <a:pt x="1796468" y="255003"/>
                </a:lnTo>
                <a:lnTo>
                  <a:pt x="1826981" y="282798"/>
                </a:lnTo>
                <a:lnTo>
                  <a:pt x="1855028" y="311653"/>
                </a:lnTo>
                <a:lnTo>
                  <a:pt x="1880518" y="341511"/>
                </a:lnTo>
                <a:lnTo>
                  <a:pt x="1903356" y="372314"/>
                </a:lnTo>
                <a:lnTo>
                  <a:pt x="1940710" y="436527"/>
                </a:lnTo>
                <a:lnTo>
                  <a:pt x="1966344" y="503835"/>
                </a:lnTo>
                <a:lnTo>
                  <a:pt x="1979518" y="573780"/>
                </a:lnTo>
                <a:lnTo>
                  <a:pt x="1981200" y="609600"/>
                </a:lnTo>
                <a:lnTo>
                  <a:pt x="1979518" y="645419"/>
                </a:lnTo>
                <a:lnTo>
                  <a:pt x="1966344" y="715364"/>
                </a:lnTo>
                <a:lnTo>
                  <a:pt x="1940710" y="782672"/>
                </a:lnTo>
                <a:lnTo>
                  <a:pt x="1903356" y="846885"/>
                </a:lnTo>
                <a:lnTo>
                  <a:pt x="1880518" y="877688"/>
                </a:lnTo>
                <a:lnTo>
                  <a:pt x="1855028" y="907546"/>
                </a:lnTo>
                <a:lnTo>
                  <a:pt x="1826981" y="936401"/>
                </a:lnTo>
                <a:lnTo>
                  <a:pt x="1796468" y="964196"/>
                </a:lnTo>
                <a:lnTo>
                  <a:pt x="1763583" y="990875"/>
                </a:lnTo>
                <a:lnTo>
                  <a:pt x="1728419" y="1016380"/>
                </a:lnTo>
                <a:lnTo>
                  <a:pt x="1691068" y="1040653"/>
                </a:lnTo>
                <a:lnTo>
                  <a:pt x="1651624" y="1063639"/>
                </a:lnTo>
                <a:lnTo>
                  <a:pt x="1610179" y="1085279"/>
                </a:lnTo>
                <a:lnTo>
                  <a:pt x="1566826" y="1105516"/>
                </a:lnTo>
                <a:lnTo>
                  <a:pt x="1521659" y="1124293"/>
                </a:lnTo>
                <a:lnTo>
                  <a:pt x="1474769" y="1141554"/>
                </a:lnTo>
                <a:lnTo>
                  <a:pt x="1426250" y="1157240"/>
                </a:lnTo>
                <a:lnTo>
                  <a:pt x="1376195" y="1171295"/>
                </a:lnTo>
                <a:lnTo>
                  <a:pt x="1324697" y="1183661"/>
                </a:lnTo>
                <a:lnTo>
                  <a:pt x="1271848" y="1194282"/>
                </a:lnTo>
                <a:lnTo>
                  <a:pt x="1217742" y="1203100"/>
                </a:lnTo>
                <a:lnTo>
                  <a:pt x="1162471" y="1210058"/>
                </a:lnTo>
                <a:lnTo>
                  <a:pt x="1106129" y="1215098"/>
                </a:lnTo>
                <a:lnTo>
                  <a:pt x="1048807" y="1218165"/>
                </a:lnTo>
                <a:lnTo>
                  <a:pt x="990600" y="1219200"/>
                </a:lnTo>
                <a:lnTo>
                  <a:pt x="932392" y="1218165"/>
                </a:lnTo>
                <a:lnTo>
                  <a:pt x="875070" y="1215098"/>
                </a:lnTo>
                <a:lnTo>
                  <a:pt x="818728" y="1210058"/>
                </a:lnTo>
                <a:lnTo>
                  <a:pt x="763457" y="1203100"/>
                </a:lnTo>
                <a:lnTo>
                  <a:pt x="709351" y="1194282"/>
                </a:lnTo>
                <a:lnTo>
                  <a:pt x="656502" y="1183661"/>
                </a:lnTo>
                <a:lnTo>
                  <a:pt x="605004" y="1171295"/>
                </a:lnTo>
                <a:lnTo>
                  <a:pt x="554949" y="1157240"/>
                </a:lnTo>
                <a:lnTo>
                  <a:pt x="506430" y="1141554"/>
                </a:lnTo>
                <a:lnTo>
                  <a:pt x="459540" y="1124293"/>
                </a:lnTo>
                <a:lnTo>
                  <a:pt x="414373" y="1105516"/>
                </a:lnTo>
                <a:lnTo>
                  <a:pt x="371020" y="1085279"/>
                </a:lnTo>
                <a:lnTo>
                  <a:pt x="329575" y="1063639"/>
                </a:lnTo>
                <a:lnTo>
                  <a:pt x="290131" y="1040653"/>
                </a:lnTo>
                <a:lnTo>
                  <a:pt x="252780" y="1016380"/>
                </a:lnTo>
                <a:lnTo>
                  <a:pt x="217616" y="990875"/>
                </a:lnTo>
                <a:lnTo>
                  <a:pt x="184731" y="964196"/>
                </a:lnTo>
                <a:lnTo>
                  <a:pt x="154218" y="936401"/>
                </a:lnTo>
                <a:lnTo>
                  <a:pt x="126171" y="907546"/>
                </a:lnTo>
                <a:lnTo>
                  <a:pt x="100681" y="877688"/>
                </a:lnTo>
                <a:lnTo>
                  <a:pt x="77843" y="846885"/>
                </a:lnTo>
                <a:lnTo>
                  <a:pt x="40489" y="782672"/>
                </a:lnTo>
                <a:lnTo>
                  <a:pt x="14855" y="715364"/>
                </a:lnTo>
                <a:lnTo>
                  <a:pt x="1681" y="645419"/>
                </a:lnTo>
                <a:lnTo>
                  <a:pt x="0" y="609600"/>
                </a:lnTo>
                <a:close/>
              </a:path>
            </a:pathLst>
          </a:custGeom>
          <a:ln w="9144">
            <a:solidFill>
              <a:srgbClr val="FF3300"/>
            </a:solidFill>
            <a:prstDash val="sysDash"/>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5" name="object 55"/>
          <p:cNvSpPr/>
          <p:nvPr/>
        </p:nvSpPr>
        <p:spPr>
          <a:xfrm>
            <a:off x="4398265" y="3042286"/>
            <a:ext cx="4138929" cy="1934845"/>
          </a:xfrm>
          <a:custGeom>
            <a:avLst/>
            <a:gdLst/>
            <a:ahLst/>
            <a:cxnLst/>
            <a:rect l="l" t="t" r="r" b="b"/>
            <a:pathLst>
              <a:path w="4138929" h="1934845">
                <a:moveTo>
                  <a:pt x="4133468" y="0"/>
                </a:moveTo>
                <a:lnTo>
                  <a:pt x="4087367" y="21462"/>
                </a:lnTo>
                <a:lnTo>
                  <a:pt x="4092829" y="32892"/>
                </a:lnTo>
                <a:lnTo>
                  <a:pt x="4138803" y="11429"/>
                </a:lnTo>
                <a:lnTo>
                  <a:pt x="4133468" y="0"/>
                </a:lnTo>
                <a:close/>
              </a:path>
              <a:path w="4138929" h="1934845">
                <a:moveTo>
                  <a:pt x="4052824" y="37464"/>
                </a:moveTo>
                <a:lnTo>
                  <a:pt x="4006850" y="58927"/>
                </a:lnTo>
                <a:lnTo>
                  <a:pt x="4012184" y="70485"/>
                </a:lnTo>
                <a:lnTo>
                  <a:pt x="4058285" y="49022"/>
                </a:lnTo>
                <a:lnTo>
                  <a:pt x="4052824" y="37464"/>
                </a:lnTo>
                <a:close/>
              </a:path>
              <a:path w="4138929" h="1934845">
                <a:moveTo>
                  <a:pt x="3972306" y="75056"/>
                </a:moveTo>
                <a:lnTo>
                  <a:pt x="3926205" y="96519"/>
                </a:lnTo>
                <a:lnTo>
                  <a:pt x="3931539" y="107950"/>
                </a:lnTo>
                <a:lnTo>
                  <a:pt x="3977640" y="86487"/>
                </a:lnTo>
                <a:lnTo>
                  <a:pt x="3972306" y="75056"/>
                </a:lnTo>
                <a:close/>
              </a:path>
              <a:path w="4138929" h="1934845">
                <a:moveTo>
                  <a:pt x="3891661" y="112522"/>
                </a:moveTo>
                <a:lnTo>
                  <a:pt x="3845687" y="133985"/>
                </a:lnTo>
                <a:lnTo>
                  <a:pt x="3851020" y="145541"/>
                </a:lnTo>
                <a:lnTo>
                  <a:pt x="3896994" y="124078"/>
                </a:lnTo>
                <a:lnTo>
                  <a:pt x="3891661" y="112522"/>
                </a:lnTo>
                <a:close/>
              </a:path>
              <a:path w="4138929" h="1934845">
                <a:moveTo>
                  <a:pt x="3811142" y="150113"/>
                </a:moveTo>
                <a:lnTo>
                  <a:pt x="3765041" y="171576"/>
                </a:lnTo>
                <a:lnTo>
                  <a:pt x="3770376" y="183006"/>
                </a:lnTo>
                <a:lnTo>
                  <a:pt x="3816477" y="161543"/>
                </a:lnTo>
                <a:lnTo>
                  <a:pt x="3811142" y="150113"/>
                </a:lnTo>
                <a:close/>
              </a:path>
              <a:path w="4138929" h="1934845">
                <a:moveTo>
                  <a:pt x="3730497" y="187578"/>
                </a:moveTo>
                <a:lnTo>
                  <a:pt x="3684524" y="209041"/>
                </a:lnTo>
                <a:lnTo>
                  <a:pt x="3689858" y="220599"/>
                </a:lnTo>
                <a:lnTo>
                  <a:pt x="3735832" y="199136"/>
                </a:lnTo>
                <a:lnTo>
                  <a:pt x="3730497" y="187578"/>
                </a:lnTo>
                <a:close/>
              </a:path>
              <a:path w="4138929" h="1934845">
                <a:moveTo>
                  <a:pt x="3649980" y="225170"/>
                </a:moveTo>
                <a:lnTo>
                  <a:pt x="3603879" y="246634"/>
                </a:lnTo>
                <a:lnTo>
                  <a:pt x="3609213" y="258063"/>
                </a:lnTo>
                <a:lnTo>
                  <a:pt x="3655314" y="236727"/>
                </a:lnTo>
                <a:lnTo>
                  <a:pt x="3649980" y="225170"/>
                </a:lnTo>
                <a:close/>
              </a:path>
              <a:path w="4138929" h="1934845">
                <a:moveTo>
                  <a:pt x="3569335" y="262636"/>
                </a:moveTo>
                <a:lnTo>
                  <a:pt x="3523234" y="284099"/>
                </a:lnTo>
                <a:lnTo>
                  <a:pt x="3528695" y="295655"/>
                </a:lnTo>
                <a:lnTo>
                  <a:pt x="3574669" y="274192"/>
                </a:lnTo>
                <a:lnTo>
                  <a:pt x="3569335" y="262636"/>
                </a:lnTo>
                <a:close/>
              </a:path>
              <a:path w="4138929" h="1934845">
                <a:moveTo>
                  <a:pt x="3488690" y="300227"/>
                </a:moveTo>
                <a:lnTo>
                  <a:pt x="3442716" y="321690"/>
                </a:lnTo>
                <a:lnTo>
                  <a:pt x="3448050" y="333120"/>
                </a:lnTo>
                <a:lnTo>
                  <a:pt x="3494151" y="311785"/>
                </a:lnTo>
                <a:lnTo>
                  <a:pt x="3488690" y="300227"/>
                </a:lnTo>
                <a:close/>
              </a:path>
              <a:path w="4138929" h="1934845">
                <a:moveTo>
                  <a:pt x="3408172" y="337692"/>
                </a:moveTo>
                <a:lnTo>
                  <a:pt x="3362071" y="359155"/>
                </a:lnTo>
                <a:lnTo>
                  <a:pt x="3367532" y="370713"/>
                </a:lnTo>
                <a:lnTo>
                  <a:pt x="3413506" y="349250"/>
                </a:lnTo>
                <a:lnTo>
                  <a:pt x="3408172" y="337692"/>
                </a:lnTo>
                <a:close/>
              </a:path>
              <a:path w="4138929" h="1934845">
                <a:moveTo>
                  <a:pt x="3327527" y="375285"/>
                </a:moveTo>
                <a:lnTo>
                  <a:pt x="3281553" y="396748"/>
                </a:lnTo>
                <a:lnTo>
                  <a:pt x="3286887" y="408304"/>
                </a:lnTo>
                <a:lnTo>
                  <a:pt x="3332988" y="386841"/>
                </a:lnTo>
                <a:lnTo>
                  <a:pt x="3327527" y="375285"/>
                </a:lnTo>
                <a:close/>
              </a:path>
              <a:path w="4138929" h="1934845">
                <a:moveTo>
                  <a:pt x="3247009" y="412876"/>
                </a:moveTo>
                <a:lnTo>
                  <a:pt x="3200908" y="434213"/>
                </a:lnTo>
                <a:lnTo>
                  <a:pt x="3206241" y="445769"/>
                </a:lnTo>
                <a:lnTo>
                  <a:pt x="3252343" y="424306"/>
                </a:lnTo>
                <a:lnTo>
                  <a:pt x="3247009" y="412876"/>
                </a:lnTo>
                <a:close/>
              </a:path>
              <a:path w="4138929" h="1934845">
                <a:moveTo>
                  <a:pt x="3166364" y="450341"/>
                </a:moveTo>
                <a:lnTo>
                  <a:pt x="3120390" y="471804"/>
                </a:lnTo>
                <a:lnTo>
                  <a:pt x="3125724" y="483362"/>
                </a:lnTo>
                <a:lnTo>
                  <a:pt x="3171698" y="461899"/>
                </a:lnTo>
                <a:lnTo>
                  <a:pt x="3166364" y="450341"/>
                </a:lnTo>
                <a:close/>
              </a:path>
              <a:path w="4138929" h="1934845">
                <a:moveTo>
                  <a:pt x="3085846" y="487934"/>
                </a:moveTo>
                <a:lnTo>
                  <a:pt x="3039745" y="509269"/>
                </a:lnTo>
                <a:lnTo>
                  <a:pt x="3045079" y="520826"/>
                </a:lnTo>
                <a:lnTo>
                  <a:pt x="3091180" y="499363"/>
                </a:lnTo>
                <a:lnTo>
                  <a:pt x="3085846" y="487934"/>
                </a:lnTo>
                <a:close/>
              </a:path>
              <a:path w="4138929" h="1934845">
                <a:moveTo>
                  <a:pt x="3005201" y="525399"/>
                </a:moveTo>
                <a:lnTo>
                  <a:pt x="2959227" y="546862"/>
                </a:lnTo>
                <a:lnTo>
                  <a:pt x="2964561" y="558418"/>
                </a:lnTo>
                <a:lnTo>
                  <a:pt x="3010535" y="536955"/>
                </a:lnTo>
                <a:lnTo>
                  <a:pt x="3005201" y="525399"/>
                </a:lnTo>
                <a:close/>
              </a:path>
              <a:path w="4138929" h="1934845">
                <a:moveTo>
                  <a:pt x="2924683" y="562990"/>
                </a:moveTo>
                <a:lnTo>
                  <a:pt x="2878582" y="584453"/>
                </a:lnTo>
                <a:lnTo>
                  <a:pt x="2883916" y="595883"/>
                </a:lnTo>
                <a:lnTo>
                  <a:pt x="2930016" y="574420"/>
                </a:lnTo>
                <a:lnTo>
                  <a:pt x="2924683" y="562990"/>
                </a:lnTo>
                <a:close/>
              </a:path>
              <a:path w="4138929" h="1934845">
                <a:moveTo>
                  <a:pt x="2844038" y="600456"/>
                </a:moveTo>
                <a:lnTo>
                  <a:pt x="2797937" y="621919"/>
                </a:lnTo>
                <a:lnTo>
                  <a:pt x="2803398" y="633476"/>
                </a:lnTo>
                <a:lnTo>
                  <a:pt x="2849372" y="612013"/>
                </a:lnTo>
                <a:lnTo>
                  <a:pt x="2844038" y="600456"/>
                </a:lnTo>
                <a:close/>
              </a:path>
              <a:path w="4138929" h="1934845">
                <a:moveTo>
                  <a:pt x="2763393" y="638047"/>
                </a:moveTo>
                <a:lnTo>
                  <a:pt x="2717419" y="659510"/>
                </a:lnTo>
                <a:lnTo>
                  <a:pt x="2722753" y="670940"/>
                </a:lnTo>
                <a:lnTo>
                  <a:pt x="2768854" y="649477"/>
                </a:lnTo>
                <a:lnTo>
                  <a:pt x="2763393" y="638047"/>
                </a:lnTo>
                <a:close/>
              </a:path>
              <a:path w="4138929" h="1934845">
                <a:moveTo>
                  <a:pt x="2682875" y="675513"/>
                </a:moveTo>
                <a:lnTo>
                  <a:pt x="2636774" y="696976"/>
                </a:lnTo>
                <a:lnTo>
                  <a:pt x="2642235" y="708532"/>
                </a:lnTo>
                <a:lnTo>
                  <a:pt x="2688209" y="687069"/>
                </a:lnTo>
                <a:lnTo>
                  <a:pt x="2682875" y="675513"/>
                </a:lnTo>
                <a:close/>
              </a:path>
              <a:path w="4138929" h="1934845">
                <a:moveTo>
                  <a:pt x="2602230" y="713104"/>
                </a:moveTo>
                <a:lnTo>
                  <a:pt x="2556256" y="734567"/>
                </a:lnTo>
                <a:lnTo>
                  <a:pt x="2561590" y="745997"/>
                </a:lnTo>
                <a:lnTo>
                  <a:pt x="2607691" y="724534"/>
                </a:lnTo>
                <a:lnTo>
                  <a:pt x="2602230" y="713104"/>
                </a:lnTo>
                <a:close/>
              </a:path>
              <a:path w="4138929" h="1934845">
                <a:moveTo>
                  <a:pt x="2521712" y="750569"/>
                </a:moveTo>
                <a:lnTo>
                  <a:pt x="2475611" y="772032"/>
                </a:lnTo>
                <a:lnTo>
                  <a:pt x="2480945" y="783589"/>
                </a:lnTo>
                <a:lnTo>
                  <a:pt x="2527046" y="762126"/>
                </a:lnTo>
                <a:lnTo>
                  <a:pt x="2521712" y="750569"/>
                </a:lnTo>
                <a:close/>
              </a:path>
              <a:path w="4138929" h="1934845">
                <a:moveTo>
                  <a:pt x="2441066" y="788162"/>
                </a:moveTo>
                <a:lnTo>
                  <a:pt x="2395093" y="809625"/>
                </a:lnTo>
                <a:lnTo>
                  <a:pt x="2400427" y="821054"/>
                </a:lnTo>
                <a:lnTo>
                  <a:pt x="2446401" y="799719"/>
                </a:lnTo>
                <a:lnTo>
                  <a:pt x="2441066" y="788162"/>
                </a:lnTo>
                <a:close/>
              </a:path>
              <a:path w="4138929" h="1934845">
                <a:moveTo>
                  <a:pt x="2360549" y="825626"/>
                </a:moveTo>
                <a:lnTo>
                  <a:pt x="2314448" y="847089"/>
                </a:lnTo>
                <a:lnTo>
                  <a:pt x="2319782" y="858646"/>
                </a:lnTo>
                <a:lnTo>
                  <a:pt x="2365883" y="837183"/>
                </a:lnTo>
                <a:lnTo>
                  <a:pt x="2360549" y="825626"/>
                </a:lnTo>
                <a:close/>
              </a:path>
              <a:path w="4138929" h="1934845">
                <a:moveTo>
                  <a:pt x="2279904" y="863219"/>
                </a:moveTo>
                <a:lnTo>
                  <a:pt x="2233930" y="884682"/>
                </a:lnTo>
                <a:lnTo>
                  <a:pt x="2239264" y="896112"/>
                </a:lnTo>
                <a:lnTo>
                  <a:pt x="2285238" y="874776"/>
                </a:lnTo>
                <a:lnTo>
                  <a:pt x="2279904" y="863219"/>
                </a:lnTo>
                <a:close/>
              </a:path>
              <a:path w="4138929" h="1934845">
                <a:moveTo>
                  <a:pt x="2199386" y="900683"/>
                </a:moveTo>
                <a:lnTo>
                  <a:pt x="2153285" y="922146"/>
                </a:lnTo>
                <a:lnTo>
                  <a:pt x="2158619" y="933703"/>
                </a:lnTo>
                <a:lnTo>
                  <a:pt x="2204720" y="912240"/>
                </a:lnTo>
                <a:lnTo>
                  <a:pt x="2199386" y="900683"/>
                </a:lnTo>
                <a:close/>
              </a:path>
              <a:path w="4138929" h="1934845">
                <a:moveTo>
                  <a:pt x="2118741" y="938276"/>
                </a:moveTo>
                <a:lnTo>
                  <a:pt x="2072639" y="959738"/>
                </a:lnTo>
                <a:lnTo>
                  <a:pt x="2078101" y="971295"/>
                </a:lnTo>
                <a:lnTo>
                  <a:pt x="2124075" y="949832"/>
                </a:lnTo>
                <a:lnTo>
                  <a:pt x="2118741" y="938276"/>
                </a:lnTo>
                <a:close/>
              </a:path>
              <a:path w="4138929" h="1934845">
                <a:moveTo>
                  <a:pt x="2038096" y="975867"/>
                </a:moveTo>
                <a:lnTo>
                  <a:pt x="1992122" y="997203"/>
                </a:lnTo>
                <a:lnTo>
                  <a:pt x="1997456" y="1008760"/>
                </a:lnTo>
                <a:lnTo>
                  <a:pt x="2043557" y="987297"/>
                </a:lnTo>
                <a:lnTo>
                  <a:pt x="2038096" y="975867"/>
                </a:lnTo>
                <a:close/>
              </a:path>
              <a:path w="4138929" h="1934845">
                <a:moveTo>
                  <a:pt x="1957577" y="1013332"/>
                </a:moveTo>
                <a:lnTo>
                  <a:pt x="1911477" y="1034795"/>
                </a:lnTo>
                <a:lnTo>
                  <a:pt x="1916938" y="1046352"/>
                </a:lnTo>
                <a:lnTo>
                  <a:pt x="1962912" y="1024889"/>
                </a:lnTo>
                <a:lnTo>
                  <a:pt x="1957577" y="1013332"/>
                </a:lnTo>
                <a:close/>
              </a:path>
              <a:path w="4138929" h="1934845">
                <a:moveTo>
                  <a:pt x="1876933" y="1050925"/>
                </a:moveTo>
                <a:lnTo>
                  <a:pt x="1830959" y="1072260"/>
                </a:lnTo>
                <a:lnTo>
                  <a:pt x="1836293" y="1083817"/>
                </a:lnTo>
                <a:lnTo>
                  <a:pt x="1882394" y="1062354"/>
                </a:lnTo>
                <a:lnTo>
                  <a:pt x="1876933" y="1050925"/>
                </a:lnTo>
                <a:close/>
              </a:path>
              <a:path w="4138929" h="1934845">
                <a:moveTo>
                  <a:pt x="1796414" y="1088389"/>
                </a:moveTo>
                <a:lnTo>
                  <a:pt x="1750314" y="1109852"/>
                </a:lnTo>
                <a:lnTo>
                  <a:pt x="1755648" y="1121409"/>
                </a:lnTo>
                <a:lnTo>
                  <a:pt x="1801749" y="1099946"/>
                </a:lnTo>
                <a:lnTo>
                  <a:pt x="1796414" y="1088389"/>
                </a:lnTo>
                <a:close/>
              </a:path>
              <a:path w="4138929" h="1934845">
                <a:moveTo>
                  <a:pt x="1715770" y="1125982"/>
                </a:moveTo>
                <a:lnTo>
                  <a:pt x="1669796" y="1147445"/>
                </a:lnTo>
                <a:lnTo>
                  <a:pt x="1675130" y="1158875"/>
                </a:lnTo>
                <a:lnTo>
                  <a:pt x="1721103" y="1137412"/>
                </a:lnTo>
                <a:lnTo>
                  <a:pt x="1715770" y="1125982"/>
                </a:lnTo>
                <a:close/>
              </a:path>
              <a:path w="4138929" h="1934845">
                <a:moveTo>
                  <a:pt x="1635252" y="1163446"/>
                </a:moveTo>
                <a:lnTo>
                  <a:pt x="1589151" y="1184909"/>
                </a:lnTo>
                <a:lnTo>
                  <a:pt x="1594485" y="1196466"/>
                </a:lnTo>
                <a:lnTo>
                  <a:pt x="1640586" y="1175003"/>
                </a:lnTo>
                <a:lnTo>
                  <a:pt x="1635252" y="1163446"/>
                </a:lnTo>
                <a:close/>
              </a:path>
              <a:path w="4138929" h="1934845">
                <a:moveTo>
                  <a:pt x="1554607" y="1201039"/>
                </a:moveTo>
                <a:lnTo>
                  <a:pt x="1508633" y="1222502"/>
                </a:lnTo>
                <a:lnTo>
                  <a:pt x="1513966" y="1233932"/>
                </a:lnTo>
                <a:lnTo>
                  <a:pt x="1559940" y="1212469"/>
                </a:lnTo>
                <a:lnTo>
                  <a:pt x="1554607" y="1201039"/>
                </a:lnTo>
                <a:close/>
              </a:path>
              <a:path w="4138929" h="1934845">
                <a:moveTo>
                  <a:pt x="1474089" y="1238503"/>
                </a:moveTo>
                <a:lnTo>
                  <a:pt x="1427988" y="1259966"/>
                </a:lnTo>
                <a:lnTo>
                  <a:pt x="1433322" y="1271523"/>
                </a:lnTo>
                <a:lnTo>
                  <a:pt x="1479423" y="1250060"/>
                </a:lnTo>
                <a:lnTo>
                  <a:pt x="1474089" y="1238503"/>
                </a:lnTo>
                <a:close/>
              </a:path>
              <a:path w="4138929" h="1934845">
                <a:moveTo>
                  <a:pt x="1393444" y="1276095"/>
                </a:moveTo>
                <a:lnTo>
                  <a:pt x="1347343" y="1297558"/>
                </a:lnTo>
                <a:lnTo>
                  <a:pt x="1352803" y="1308989"/>
                </a:lnTo>
                <a:lnTo>
                  <a:pt x="1398777" y="1287526"/>
                </a:lnTo>
                <a:lnTo>
                  <a:pt x="1393444" y="1276095"/>
                </a:lnTo>
                <a:close/>
              </a:path>
              <a:path w="4138929" h="1934845">
                <a:moveTo>
                  <a:pt x="1312926" y="1313560"/>
                </a:moveTo>
                <a:lnTo>
                  <a:pt x="1266825" y="1335023"/>
                </a:lnTo>
                <a:lnTo>
                  <a:pt x="1272159" y="1346581"/>
                </a:lnTo>
                <a:lnTo>
                  <a:pt x="1318260" y="1325117"/>
                </a:lnTo>
                <a:lnTo>
                  <a:pt x="1312926" y="1313560"/>
                </a:lnTo>
                <a:close/>
              </a:path>
              <a:path w="4138929" h="1934845">
                <a:moveTo>
                  <a:pt x="1232281" y="1351152"/>
                </a:moveTo>
                <a:lnTo>
                  <a:pt x="1186180" y="1372615"/>
                </a:lnTo>
                <a:lnTo>
                  <a:pt x="1191640" y="1384045"/>
                </a:lnTo>
                <a:lnTo>
                  <a:pt x="1237614" y="1362583"/>
                </a:lnTo>
                <a:lnTo>
                  <a:pt x="1232281" y="1351152"/>
                </a:lnTo>
                <a:close/>
              </a:path>
              <a:path w="4138929" h="1934845">
                <a:moveTo>
                  <a:pt x="1151636" y="1388617"/>
                </a:moveTo>
                <a:lnTo>
                  <a:pt x="1105662" y="1410081"/>
                </a:lnTo>
                <a:lnTo>
                  <a:pt x="1110996" y="1421638"/>
                </a:lnTo>
                <a:lnTo>
                  <a:pt x="1157097" y="1400175"/>
                </a:lnTo>
                <a:lnTo>
                  <a:pt x="1151636" y="1388617"/>
                </a:lnTo>
                <a:close/>
              </a:path>
              <a:path w="4138929" h="1934845">
                <a:moveTo>
                  <a:pt x="1071118" y="1426209"/>
                </a:moveTo>
                <a:lnTo>
                  <a:pt x="1025016" y="1447672"/>
                </a:lnTo>
                <a:lnTo>
                  <a:pt x="1030351" y="1459102"/>
                </a:lnTo>
                <a:lnTo>
                  <a:pt x="1076452" y="1437766"/>
                </a:lnTo>
                <a:lnTo>
                  <a:pt x="1071118" y="1426209"/>
                </a:lnTo>
                <a:close/>
              </a:path>
              <a:path w="4138929" h="1934845">
                <a:moveTo>
                  <a:pt x="990473" y="1463675"/>
                </a:moveTo>
                <a:lnTo>
                  <a:pt x="944499" y="1485138"/>
                </a:lnTo>
                <a:lnTo>
                  <a:pt x="949833" y="1496695"/>
                </a:lnTo>
                <a:lnTo>
                  <a:pt x="995807" y="1475232"/>
                </a:lnTo>
                <a:lnTo>
                  <a:pt x="990473" y="1463675"/>
                </a:lnTo>
                <a:close/>
              </a:path>
              <a:path w="4138929" h="1934845">
                <a:moveTo>
                  <a:pt x="909955" y="1501266"/>
                </a:moveTo>
                <a:lnTo>
                  <a:pt x="863853" y="1522729"/>
                </a:lnTo>
                <a:lnTo>
                  <a:pt x="869188" y="1534287"/>
                </a:lnTo>
                <a:lnTo>
                  <a:pt x="915288" y="1512823"/>
                </a:lnTo>
                <a:lnTo>
                  <a:pt x="909955" y="1501266"/>
                </a:lnTo>
                <a:close/>
              </a:path>
              <a:path w="4138929" h="1934845">
                <a:moveTo>
                  <a:pt x="829310" y="1538858"/>
                </a:moveTo>
                <a:lnTo>
                  <a:pt x="783336" y="1560195"/>
                </a:lnTo>
                <a:lnTo>
                  <a:pt x="788670" y="1571752"/>
                </a:lnTo>
                <a:lnTo>
                  <a:pt x="834644" y="1550289"/>
                </a:lnTo>
                <a:lnTo>
                  <a:pt x="829310" y="1538858"/>
                </a:lnTo>
                <a:close/>
              </a:path>
              <a:path w="4138929" h="1934845">
                <a:moveTo>
                  <a:pt x="748791" y="1576323"/>
                </a:moveTo>
                <a:lnTo>
                  <a:pt x="702690" y="1597787"/>
                </a:lnTo>
                <a:lnTo>
                  <a:pt x="708025" y="1609344"/>
                </a:lnTo>
                <a:lnTo>
                  <a:pt x="754126" y="1587881"/>
                </a:lnTo>
                <a:lnTo>
                  <a:pt x="748791" y="1576323"/>
                </a:lnTo>
                <a:close/>
              </a:path>
              <a:path w="4138929" h="1934845">
                <a:moveTo>
                  <a:pt x="668147" y="1613915"/>
                </a:moveTo>
                <a:lnTo>
                  <a:pt x="622046" y="1635252"/>
                </a:lnTo>
                <a:lnTo>
                  <a:pt x="627507" y="1646808"/>
                </a:lnTo>
                <a:lnTo>
                  <a:pt x="673481" y="1625345"/>
                </a:lnTo>
                <a:lnTo>
                  <a:pt x="668147" y="1613915"/>
                </a:lnTo>
                <a:close/>
              </a:path>
              <a:path w="4138929" h="1934845">
                <a:moveTo>
                  <a:pt x="587501" y="1651381"/>
                </a:moveTo>
                <a:lnTo>
                  <a:pt x="541527" y="1672844"/>
                </a:lnTo>
                <a:lnTo>
                  <a:pt x="546862" y="1684401"/>
                </a:lnTo>
                <a:lnTo>
                  <a:pt x="592963" y="1662938"/>
                </a:lnTo>
                <a:lnTo>
                  <a:pt x="587501" y="1651381"/>
                </a:lnTo>
                <a:close/>
              </a:path>
              <a:path w="4138929" h="1934845">
                <a:moveTo>
                  <a:pt x="506984" y="1688972"/>
                </a:moveTo>
                <a:lnTo>
                  <a:pt x="460883" y="1710435"/>
                </a:lnTo>
                <a:lnTo>
                  <a:pt x="466344" y="1721865"/>
                </a:lnTo>
                <a:lnTo>
                  <a:pt x="512318" y="1700402"/>
                </a:lnTo>
                <a:lnTo>
                  <a:pt x="506984" y="1688972"/>
                </a:lnTo>
                <a:close/>
              </a:path>
              <a:path w="4138929" h="1934845">
                <a:moveTo>
                  <a:pt x="426338" y="1726438"/>
                </a:moveTo>
                <a:lnTo>
                  <a:pt x="380364" y="1747901"/>
                </a:lnTo>
                <a:lnTo>
                  <a:pt x="385699" y="1759458"/>
                </a:lnTo>
                <a:lnTo>
                  <a:pt x="431800" y="1737995"/>
                </a:lnTo>
                <a:lnTo>
                  <a:pt x="426338" y="1726438"/>
                </a:lnTo>
                <a:close/>
              </a:path>
              <a:path w="4138929" h="1934845">
                <a:moveTo>
                  <a:pt x="345821" y="1764029"/>
                </a:moveTo>
                <a:lnTo>
                  <a:pt x="299719" y="1785492"/>
                </a:lnTo>
                <a:lnTo>
                  <a:pt x="305054" y="1796922"/>
                </a:lnTo>
                <a:lnTo>
                  <a:pt x="351155" y="1775459"/>
                </a:lnTo>
                <a:lnTo>
                  <a:pt x="345821" y="1764029"/>
                </a:lnTo>
                <a:close/>
              </a:path>
              <a:path w="4138929" h="1934845">
                <a:moveTo>
                  <a:pt x="265175" y="1801495"/>
                </a:moveTo>
                <a:lnTo>
                  <a:pt x="219202" y="1822958"/>
                </a:lnTo>
                <a:lnTo>
                  <a:pt x="224536" y="1834514"/>
                </a:lnTo>
                <a:lnTo>
                  <a:pt x="270510" y="1813052"/>
                </a:lnTo>
                <a:lnTo>
                  <a:pt x="265175" y="1801495"/>
                </a:lnTo>
                <a:close/>
              </a:path>
              <a:path w="4138929" h="1934845">
                <a:moveTo>
                  <a:pt x="184658" y="1839087"/>
                </a:moveTo>
                <a:lnTo>
                  <a:pt x="138556" y="1860550"/>
                </a:lnTo>
                <a:lnTo>
                  <a:pt x="143891" y="1871979"/>
                </a:lnTo>
                <a:lnTo>
                  <a:pt x="189992" y="1850516"/>
                </a:lnTo>
                <a:lnTo>
                  <a:pt x="184658" y="1839087"/>
                </a:lnTo>
                <a:close/>
              </a:path>
              <a:path w="4138929" h="1934845">
                <a:moveTo>
                  <a:pt x="52959" y="1865376"/>
                </a:moveTo>
                <a:lnTo>
                  <a:pt x="0" y="1932051"/>
                </a:lnTo>
                <a:lnTo>
                  <a:pt x="85217" y="1934464"/>
                </a:lnTo>
                <a:lnTo>
                  <a:pt x="73594" y="1909571"/>
                </a:lnTo>
                <a:lnTo>
                  <a:pt x="63373" y="1909571"/>
                </a:lnTo>
                <a:lnTo>
                  <a:pt x="58038" y="1898014"/>
                </a:lnTo>
                <a:lnTo>
                  <a:pt x="66380" y="1894120"/>
                </a:lnTo>
                <a:lnTo>
                  <a:pt x="52959" y="1865376"/>
                </a:lnTo>
                <a:close/>
              </a:path>
              <a:path w="4138929" h="1934845">
                <a:moveTo>
                  <a:pt x="66380" y="1894120"/>
                </a:moveTo>
                <a:lnTo>
                  <a:pt x="58038" y="1898014"/>
                </a:lnTo>
                <a:lnTo>
                  <a:pt x="63373" y="1909571"/>
                </a:lnTo>
                <a:lnTo>
                  <a:pt x="71765" y="1905654"/>
                </a:lnTo>
                <a:lnTo>
                  <a:pt x="66380" y="1894120"/>
                </a:lnTo>
                <a:close/>
              </a:path>
              <a:path w="4138929" h="1934845">
                <a:moveTo>
                  <a:pt x="71765" y="1905654"/>
                </a:moveTo>
                <a:lnTo>
                  <a:pt x="63373" y="1909571"/>
                </a:lnTo>
                <a:lnTo>
                  <a:pt x="73594" y="1909571"/>
                </a:lnTo>
                <a:lnTo>
                  <a:pt x="71765" y="1905654"/>
                </a:lnTo>
                <a:close/>
              </a:path>
              <a:path w="4138929" h="1934845">
                <a:moveTo>
                  <a:pt x="104012" y="1876552"/>
                </a:moveTo>
                <a:lnTo>
                  <a:pt x="66380" y="1894120"/>
                </a:lnTo>
                <a:lnTo>
                  <a:pt x="71765" y="1905654"/>
                </a:lnTo>
                <a:lnTo>
                  <a:pt x="109347" y="1888108"/>
                </a:lnTo>
                <a:lnTo>
                  <a:pt x="104012" y="1876552"/>
                </a:lnTo>
                <a:close/>
              </a:path>
            </a:pathLst>
          </a:custGeom>
          <a:solidFill>
            <a:srgbClr val="FF33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6" name="object 56"/>
          <p:cNvSpPr txBox="1"/>
          <p:nvPr/>
        </p:nvSpPr>
        <p:spPr>
          <a:xfrm>
            <a:off x="2957830" y="6212850"/>
            <a:ext cx="2407667" cy="289823"/>
          </a:xfrm>
          <a:prstGeom prst="rect">
            <a:avLst/>
          </a:prstGeom>
        </p:spPr>
        <p:txBody>
          <a:bodyPr vert="horz" wrap="square" lIns="0" tIns="12700" rIns="0" bIns="0" rtlCol="0">
            <a:spAutoFit/>
          </a:bodyPr>
          <a:lstStyle/>
          <a:p>
            <a:pPr marL="12700">
              <a:spcBef>
                <a:spcPts val="100"/>
              </a:spcBef>
            </a:pPr>
            <a:r>
              <a:rPr lang="en-US" b="1" spc="-5">
                <a:solidFill>
                  <a:srgbClr val="C00000"/>
                </a:solidFill>
                <a:latin typeface="Times New Roman" panose="02020603050405020304" pitchFamily="18" charset="0"/>
                <a:cs typeface="Times New Roman" panose="02020603050405020304" pitchFamily="18" charset="0"/>
              </a:rPr>
              <a:t>Use Case</a:t>
            </a:r>
            <a:r>
              <a:rPr b="1" spc="-5">
                <a:solidFill>
                  <a:srgbClr val="C00000"/>
                </a:solidFill>
                <a:latin typeface="Times New Roman" panose="02020603050405020304" pitchFamily="18" charset="0"/>
                <a:cs typeface="Times New Roman" panose="02020603050405020304" pitchFamily="18" charset="0"/>
              </a:rPr>
              <a:t> </a:t>
            </a:r>
            <a:r>
              <a:rPr b="1" spc="-5" dirty="0">
                <a:solidFill>
                  <a:srgbClr val="C00000"/>
                </a:solidFill>
                <a:latin typeface="Times New Roman" panose="02020603050405020304" pitchFamily="18" charset="0"/>
                <a:cs typeface="Times New Roman" panose="02020603050405020304" pitchFamily="18" charset="0"/>
              </a:rPr>
              <a:t>Rút</a:t>
            </a:r>
            <a:r>
              <a:rPr b="1" spc="-75" dirty="0">
                <a:solidFill>
                  <a:srgbClr val="C00000"/>
                </a:solidFill>
                <a:latin typeface="Times New Roman" panose="02020603050405020304" pitchFamily="18" charset="0"/>
                <a:cs typeface="Times New Roman" panose="02020603050405020304" pitchFamily="18" charset="0"/>
              </a:rPr>
              <a:t> </a:t>
            </a:r>
            <a:r>
              <a:rPr b="1" spc="-10" dirty="0">
                <a:solidFill>
                  <a:srgbClr val="C00000"/>
                </a:solidFill>
                <a:latin typeface="Times New Roman" panose="02020603050405020304" pitchFamily="18" charset="0"/>
                <a:cs typeface="Times New Roman" panose="02020603050405020304" pitchFamily="18" charset="0"/>
              </a:rPr>
              <a:t>Tiền</a:t>
            </a:r>
            <a:endParaRPr>
              <a:latin typeface="Times New Roman" panose="02020603050405020304" pitchFamily="18" charset="0"/>
              <a:cs typeface="Times New Roman" panose="02020603050405020304" pitchFamily="18" charset="0"/>
            </a:endParaRPr>
          </a:p>
        </p:txBody>
      </p:sp>
      <p:graphicFrame>
        <p:nvGraphicFramePr>
          <p:cNvPr id="57" name="object 57"/>
          <p:cNvGraphicFramePr>
            <a:graphicFrameLocks noGrp="1"/>
          </p:cNvGraphicFramePr>
          <p:nvPr>
            <p:extLst>
              <p:ext uri="{D42A27DB-BD31-4B8C-83A1-F6EECF244321}">
                <p14:modId xmlns:p14="http://schemas.microsoft.com/office/powerpoint/2010/main" val="3146523834"/>
              </p:ext>
            </p:extLst>
          </p:nvPr>
        </p:nvGraphicFramePr>
        <p:xfrm>
          <a:off x="3040380" y="4125467"/>
          <a:ext cx="1371600" cy="1772920"/>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20000"/>
                    </a:ext>
                  </a:extLst>
                </a:gridCol>
              </a:tblGrid>
              <a:tr h="234315">
                <a:tc>
                  <a:txBody>
                    <a:bodyPr/>
                    <a:lstStyle/>
                    <a:p>
                      <a:pPr marL="208279">
                        <a:lnSpc>
                          <a:spcPts val="1480"/>
                        </a:lnSpc>
                        <a:spcBef>
                          <a:spcPts val="265"/>
                        </a:spcBef>
                      </a:pPr>
                      <a:r>
                        <a:rPr sz="1400" b="1" spc="-5" dirty="0">
                          <a:latin typeface="Arial"/>
                          <a:cs typeface="Arial"/>
                        </a:rPr>
                        <a:t>TàiKhoản</a:t>
                      </a:r>
                      <a:endParaRPr sz="1400">
                        <a:latin typeface="Arial"/>
                        <a:cs typeface="Arial"/>
                      </a:endParaRPr>
                    </a:p>
                  </a:txBody>
                  <a:tcPr marL="0" marR="0" marT="3365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612140">
                <a:tc>
                  <a:txBody>
                    <a:bodyPr/>
                    <a:lstStyle/>
                    <a:p>
                      <a:pPr marL="45085" marR="278765">
                        <a:lnSpc>
                          <a:spcPct val="83000"/>
                        </a:lnSpc>
                        <a:spcBef>
                          <a:spcPts val="390"/>
                        </a:spcBef>
                      </a:pPr>
                      <a:r>
                        <a:rPr sz="1400" spc="-5">
                          <a:latin typeface="Arial"/>
                          <a:cs typeface="Arial"/>
                        </a:rPr>
                        <a:t>sốTàiKhoản</a:t>
                      </a:r>
                      <a:r>
                        <a:rPr lang="en-US" sz="1400" spc="-5">
                          <a:latin typeface="Arial"/>
                          <a:cs typeface="Arial"/>
                        </a:rPr>
                        <a:t> </a:t>
                      </a:r>
                      <a:r>
                        <a:rPr sz="1400" spc="-5">
                          <a:latin typeface="Arial"/>
                          <a:cs typeface="Arial"/>
                        </a:rPr>
                        <a:t>loại</a:t>
                      </a:r>
                      <a:r>
                        <a:rPr sz="1400" spc="-10">
                          <a:latin typeface="Arial"/>
                          <a:cs typeface="Arial"/>
                        </a:rPr>
                        <a:t>T</a:t>
                      </a:r>
                      <a:r>
                        <a:rPr sz="1400" spc="-5">
                          <a:latin typeface="Arial"/>
                          <a:cs typeface="Arial"/>
                        </a:rPr>
                        <a:t>àiKhoản</a:t>
                      </a:r>
                      <a:r>
                        <a:rPr lang="en-US" sz="1400" spc="-5">
                          <a:latin typeface="Arial"/>
                          <a:cs typeface="Arial"/>
                        </a:rPr>
                        <a:t> </a:t>
                      </a:r>
                      <a:r>
                        <a:rPr sz="1400" spc="-5">
                          <a:latin typeface="Arial"/>
                          <a:cs typeface="Arial"/>
                        </a:rPr>
                        <a:t>sốDư</a:t>
                      </a:r>
                      <a:endParaRPr sz="1400">
                        <a:latin typeface="Arial"/>
                        <a:cs typeface="Arial"/>
                      </a:endParaRPr>
                    </a:p>
                  </a:txBody>
                  <a:tcPr marL="0" marR="0" marT="4953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926465">
                <a:tc>
                  <a:txBody>
                    <a:bodyPr/>
                    <a:lstStyle/>
                    <a:p>
                      <a:pPr marL="78105" marR="635">
                        <a:lnSpc>
                          <a:spcPct val="112000"/>
                        </a:lnSpc>
                        <a:spcBef>
                          <a:spcPts val="265"/>
                        </a:spcBef>
                      </a:pPr>
                      <a:r>
                        <a:rPr sz="1400" b="1" spc="-5">
                          <a:latin typeface="Arial"/>
                          <a:cs typeface="Arial"/>
                        </a:rPr>
                        <a:t>rútTiền()</a:t>
                      </a:r>
                      <a:r>
                        <a:rPr lang="en-US" sz="1400" b="1" spc="-5">
                          <a:latin typeface="Arial"/>
                          <a:cs typeface="Arial"/>
                        </a:rPr>
                        <a:t> </a:t>
                      </a:r>
                      <a:r>
                        <a:rPr sz="1400" b="1" spc="-10">
                          <a:latin typeface="Arial"/>
                          <a:cs typeface="Arial"/>
                        </a:rPr>
                        <a:t>gửiTiền()</a:t>
                      </a:r>
                      <a:r>
                        <a:rPr lang="en-US" sz="1400" b="1" spc="-10">
                          <a:latin typeface="Arial"/>
                          <a:cs typeface="Arial"/>
                        </a:rPr>
                        <a:t> </a:t>
                      </a:r>
                      <a:r>
                        <a:rPr sz="1400" b="1" spc="-5">
                          <a:latin typeface="Arial"/>
                          <a:cs typeface="Arial"/>
                        </a:rPr>
                        <a:t>xem</a:t>
                      </a:r>
                      <a:r>
                        <a:rPr sz="1400" b="1" spc="-10">
                          <a:latin typeface="Arial"/>
                          <a:cs typeface="Arial"/>
                        </a:rPr>
                        <a:t>T</a:t>
                      </a:r>
                      <a:r>
                        <a:rPr sz="1400" b="1" spc="-5">
                          <a:latin typeface="Arial"/>
                          <a:cs typeface="Arial"/>
                        </a:rPr>
                        <a:t>à</a:t>
                      </a:r>
                      <a:r>
                        <a:rPr sz="1400" b="1">
                          <a:latin typeface="Arial"/>
                          <a:cs typeface="Arial"/>
                        </a:rPr>
                        <a:t>i</a:t>
                      </a:r>
                      <a:r>
                        <a:rPr sz="1400" b="1" spc="-10">
                          <a:latin typeface="Arial"/>
                          <a:cs typeface="Arial"/>
                        </a:rPr>
                        <a:t>Kho</a:t>
                      </a:r>
                      <a:r>
                        <a:rPr sz="1400" b="1" spc="-5">
                          <a:latin typeface="Arial"/>
                          <a:cs typeface="Arial"/>
                        </a:rPr>
                        <a:t>ả</a:t>
                      </a:r>
                      <a:r>
                        <a:rPr sz="1400" b="1" spc="-10">
                          <a:latin typeface="Arial"/>
                          <a:cs typeface="Arial"/>
                        </a:rPr>
                        <a:t>n</a:t>
                      </a:r>
                      <a:r>
                        <a:rPr sz="1400" b="1" dirty="0">
                          <a:latin typeface="Arial"/>
                          <a:cs typeface="Arial"/>
                        </a:rPr>
                        <a:t>()</a:t>
                      </a:r>
                      <a:endParaRPr sz="1400">
                        <a:latin typeface="Arial"/>
                        <a:cs typeface="Arial"/>
                      </a:endParaRPr>
                    </a:p>
                  </a:txBody>
                  <a:tcPr marL="0" marR="0" marT="3365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60" name="object 2"/>
          <p:cNvSpPr txBox="1">
            <a:spLocks noGrp="1"/>
          </p:cNvSpPr>
          <p:nvPr>
            <p:ph type="title"/>
          </p:nvPr>
        </p:nvSpPr>
        <p:spPr>
          <a:xfrm>
            <a:off x="3058919" y="111760"/>
            <a:ext cx="6264161" cy="574040"/>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a:t>
            </a:r>
            <a:r>
              <a:rPr>
                <a:latin typeface="Times New Roman" panose="02020603050405020304" pitchFamily="18" charset="0"/>
                <a:cs typeface="Times New Roman" panose="02020603050405020304" pitchFamily="18" charset="0"/>
              </a:rPr>
              <a:t>phương thức</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59"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4159517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7417309" y="5702484"/>
            <a:ext cx="1252855" cy="439420"/>
          </a:xfrm>
          <a:custGeom>
            <a:avLst/>
            <a:gdLst/>
            <a:ahLst/>
            <a:cxnLst/>
            <a:rect l="l" t="t" r="r" b="b"/>
            <a:pathLst>
              <a:path w="1252854" h="439420">
                <a:moveTo>
                  <a:pt x="0" y="438912"/>
                </a:moveTo>
                <a:lnTo>
                  <a:pt x="1252728" y="438912"/>
                </a:lnTo>
                <a:lnTo>
                  <a:pt x="1252728" y="0"/>
                </a:lnTo>
                <a:lnTo>
                  <a:pt x="0" y="0"/>
                </a:lnTo>
                <a:lnTo>
                  <a:pt x="0" y="43891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7509765" y="5776671"/>
            <a:ext cx="1035685"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GiaoDịchRút</a:t>
            </a:r>
            <a:endParaRPr sz="1400">
              <a:latin typeface="Times New Roman" panose="02020603050405020304" pitchFamily="18" charset="0"/>
              <a:cs typeface="Times New Roman" panose="02020603050405020304" pitchFamily="18" charset="0"/>
            </a:endParaRPr>
          </a:p>
        </p:txBody>
      </p:sp>
      <p:sp>
        <p:nvSpPr>
          <p:cNvPr id="6" name="object 6"/>
          <p:cNvSpPr/>
          <p:nvPr/>
        </p:nvSpPr>
        <p:spPr>
          <a:xfrm>
            <a:off x="7417308" y="6125192"/>
            <a:ext cx="1252855" cy="198120"/>
          </a:xfrm>
          <a:custGeom>
            <a:avLst/>
            <a:gdLst/>
            <a:ahLst/>
            <a:cxnLst/>
            <a:rect l="l" t="t" r="r" b="b"/>
            <a:pathLst>
              <a:path w="1252854" h="198120">
                <a:moveTo>
                  <a:pt x="0" y="198119"/>
                </a:moveTo>
                <a:lnTo>
                  <a:pt x="1252728" y="198119"/>
                </a:lnTo>
                <a:lnTo>
                  <a:pt x="1252728" y="0"/>
                </a:lnTo>
                <a:lnTo>
                  <a:pt x="0" y="0"/>
                </a:lnTo>
                <a:lnTo>
                  <a:pt x="0" y="19811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7417307" y="6306750"/>
            <a:ext cx="1252855" cy="111760"/>
          </a:xfrm>
          <a:custGeom>
            <a:avLst/>
            <a:gdLst/>
            <a:ahLst/>
            <a:cxnLst/>
            <a:rect l="l" t="t" r="r" b="b"/>
            <a:pathLst>
              <a:path w="1252854" h="111759">
                <a:moveTo>
                  <a:pt x="0" y="111251"/>
                </a:moveTo>
                <a:lnTo>
                  <a:pt x="1252728" y="111251"/>
                </a:lnTo>
                <a:lnTo>
                  <a:pt x="1252728" y="0"/>
                </a:lnTo>
                <a:lnTo>
                  <a:pt x="0" y="0"/>
                </a:lnTo>
                <a:lnTo>
                  <a:pt x="0" y="11125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9390267" y="5741669"/>
            <a:ext cx="1254760" cy="439420"/>
          </a:xfrm>
          <a:custGeom>
            <a:avLst/>
            <a:gdLst/>
            <a:ahLst/>
            <a:cxnLst/>
            <a:rect l="l" t="t" r="r" b="b"/>
            <a:pathLst>
              <a:path w="1254759" h="439420">
                <a:moveTo>
                  <a:pt x="0" y="438912"/>
                </a:moveTo>
                <a:lnTo>
                  <a:pt x="1254252" y="438912"/>
                </a:lnTo>
                <a:lnTo>
                  <a:pt x="1254252" y="0"/>
                </a:lnTo>
                <a:lnTo>
                  <a:pt x="0" y="0"/>
                </a:lnTo>
                <a:lnTo>
                  <a:pt x="0" y="438912"/>
                </a:lnTo>
                <a:close/>
              </a:path>
            </a:pathLst>
          </a:custGeom>
          <a:ln w="3175">
            <a:solidFill>
              <a:srgbClr val="000000"/>
            </a:solidFill>
          </a:ln>
        </p:spPr>
        <p:txBody>
          <a:bodyPr wrap="square" lIns="0" tIns="0" rIns="0" bIns="0" rtlCol="0"/>
          <a:lstStyle/>
          <a:p>
            <a:endParaRPr/>
          </a:p>
        </p:txBody>
      </p:sp>
      <p:sp>
        <p:nvSpPr>
          <p:cNvPr id="9" name="object 9"/>
          <p:cNvSpPr txBox="1"/>
          <p:nvPr/>
        </p:nvSpPr>
        <p:spPr>
          <a:xfrm>
            <a:off x="9510521" y="5776671"/>
            <a:ext cx="1054100"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GiaoDịchGởi</a:t>
            </a:r>
            <a:endParaRPr sz="1400">
              <a:latin typeface="Times New Roman" panose="02020603050405020304" pitchFamily="18" charset="0"/>
              <a:cs typeface="Times New Roman" panose="02020603050405020304" pitchFamily="18" charset="0"/>
            </a:endParaRPr>
          </a:p>
        </p:txBody>
      </p:sp>
      <p:sp>
        <p:nvSpPr>
          <p:cNvPr id="10" name="object 10"/>
          <p:cNvSpPr/>
          <p:nvPr/>
        </p:nvSpPr>
        <p:spPr>
          <a:xfrm>
            <a:off x="9390267" y="6164541"/>
            <a:ext cx="1254760" cy="198120"/>
          </a:xfrm>
          <a:custGeom>
            <a:avLst/>
            <a:gdLst/>
            <a:ahLst/>
            <a:cxnLst/>
            <a:rect l="l" t="t" r="r" b="b"/>
            <a:pathLst>
              <a:path w="1254759" h="198120">
                <a:moveTo>
                  <a:pt x="0" y="198119"/>
                </a:moveTo>
                <a:lnTo>
                  <a:pt x="1254252" y="198119"/>
                </a:lnTo>
                <a:lnTo>
                  <a:pt x="1254252" y="0"/>
                </a:lnTo>
                <a:lnTo>
                  <a:pt x="0" y="0"/>
                </a:lnTo>
                <a:lnTo>
                  <a:pt x="0" y="198119"/>
                </a:lnTo>
                <a:close/>
              </a:path>
            </a:pathLst>
          </a:custGeom>
          <a:ln w="3175">
            <a:solidFill>
              <a:srgbClr val="000000"/>
            </a:solidFill>
          </a:ln>
        </p:spPr>
        <p:txBody>
          <a:bodyPr wrap="square" lIns="0" tIns="0" rIns="0" bIns="0" rtlCol="0"/>
          <a:lstStyle/>
          <a:p>
            <a:endParaRPr/>
          </a:p>
        </p:txBody>
      </p:sp>
      <p:sp>
        <p:nvSpPr>
          <p:cNvPr id="11" name="object 11"/>
          <p:cNvSpPr/>
          <p:nvPr/>
        </p:nvSpPr>
        <p:spPr>
          <a:xfrm>
            <a:off x="9390267" y="6374733"/>
            <a:ext cx="1254760" cy="111760"/>
          </a:xfrm>
          <a:custGeom>
            <a:avLst/>
            <a:gdLst/>
            <a:ahLst/>
            <a:cxnLst/>
            <a:rect l="l" t="t" r="r" b="b"/>
            <a:pathLst>
              <a:path w="1254759" h="111759">
                <a:moveTo>
                  <a:pt x="0" y="111251"/>
                </a:moveTo>
                <a:lnTo>
                  <a:pt x="1254252" y="111251"/>
                </a:lnTo>
                <a:lnTo>
                  <a:pt x="1254252" y="0"/>
                </a:lnTo>
                <a:lnTo>
                  <a:pt x="0" y="0"/>
                </a:lnTo>
                <a:lnTo>
                  <a:pt x="0" y="111251"/>
                </a:lnTo>
                <a:close/>
              </a:path>
            </a:pathLst>
          </a:custGeom>
          <a:ln w="3175">
            <a:solidFill>
              <a:srgbClr val="000000"/>
            </a:solidFill>
          </a:ln>
        </p:spPr>
        <p:txBody>
          <a:bodyPr wrap="square" lIns="0" tIns="0" rIns="0" bIns="0" rtlCol="0"/>
          <a:lstStyle/>
          <a:p>
            <a:endParaRPr/>
          </a:p>
        </p:txBody>
      </p:sp>
      <p:sp>
        <p:nvSpPr>
          <p:cNvPr id="12" name="object 12"/>
          <p:cNvSpPr/>
          <p:nvPr/>
        </p:nvSpPr>
        <p:spPr>
          <a:xfrm>
            <a:off x="4244339" y="1523618"/>
            <a:ext cx="1600200" cy="1374775"/>
          </a:xfrm>
          <a:custGeom>
            <a:avLst/>
            <a:gdLst/>
            <a:ahLst/>
            <a:cxnLst/>
            <a:rect l="l" t="t" r="r" b="b"/>
            <a:pathLst>
              <a:path w="1600200" h="1374775">
                <a:moveTo>
                  <a:pt x="0" y="1374648"/>
                </a:moveTo>
                <a:lnTo>
                  <a:pt x="1600200" y="1374648"/>
                </a:lnTo>
                <a:lnTo>
                  <a:pt x="1600200" y="0"/>
                </a:lnTo>
                <a:lnTo>
                  <a:pt x="0" y="0"/>
                </a:lnTo>
                <a:lnTo>
                  <a:pt x="0" y="1374648"/>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3" name="object 13"/>
          <p:cNvSpPr txBox="1"/>
          <p:nvPr/>
        </p:nvSpPr>
        <p:spPr>
          <a:xfrm>
            <a:off x="4550155" y="1543177"/>
            <a:ext cx="956944" cy="228909"/>
          </a:xfrm>
          <a:prstGeom prst="rect">
            <a:avLst/>
          </a:prstGeom>
        </p:spPr>
        <p:txBody>
          <a:bodyPr vert="horz" wrap="square" lIns="0" tIns="13335" rIns="0" bIns="0" rtlCol="0">
            <a:spAutoFit/>
          </a:bodyPr>
          <a:lstStyle/>
          <a:p>
            <a:pPr marL="12700">
              <a:spcBef>
                <a:spcPts val="105"/>
              </a:spcBef>
            </a:pPr>
            <a:r>
              <a:rPr sz="1400" dirty="0">
                <a:latin typeface="Times New Roman" panose="02020603050405020304" pitchFamily="18" charset="0"/>
                <a:cs typeface="Times New Roman" panose="02020603050405020304" pitchFamily="18" charset="0"/>
              </a:rPr>
              <a:t>Khách</a:t>
            </a:r>
            <a:r>
              <a:rPr sz="1400" spc="-10" dirty="0">
                <a:latin typeface="Times New Roman" panose="02020603050405020304" pitchFamily="18" charset="0"/>
                <a:cs typeface="Times New Roman" panose="02020603050405020304" pitchFamily="18" charset="0"/>
              </a:rPr>
              <a:t>H</a:t>
            </a:r>
            <a:r>
              <a:rPr sz="1400" dirty="0">
                <a:latin typeface="Times New Roman" panose="02020603050405020304" pitchFamily="18" charset="0"/>
                <a:cs typeface="Times New Roman" panose="02020603050405020304" pitchFamily="18" charset="0"/>
              </a:rPr>
              <a:t>àng</a:t>
            </a:r>
            <a:endParaRPr sz="1400">
              <a:latin typeface="Times New Roman" panose="02020603050405020304" pitchFamily="18" charset="0"/>
              <a:cs typeface="Times New Roman" panose="02020603050405020304" pitchFamily="18" charset="0"/>
            </a:endParaRPr>
          </a:p>
        </p:txBody>
      </p:sp>
      <p:sp>
        <p:nvSpPr>
          <p:cNvPr id="14" name="object 14"/>
          <p:cNvSpPr/>
          <p:nvPr/>
        </p:nvSpPr>
        <p:spPr>
          <a:xfrm>
            <a:off x="4244339" y="1762885"/>
            <a:ext cx="1600200" cy="1135380"/>
          </a:xfrm>
          <a:custGeom>
            <a:avLst/>
            <a:gdLst/>
            <a:ahLst/>
            <a:cxnLst/>
            <a:rect l="l" t="t" r="r" b="b"/>
            <a:pathLst>
              <a:path w="1600200" h="1135379">
                <a:moveTo>
                  <a:pt x="0" y="1135379"/>
                </a:moveTo>
                <a:lnTo>
                  <a:pt x="1600200" y="1135379"/>
                </a:lnTo>
                <a:lnTo>
                  <a:pt x="1600200" y="0"/>
                </a:lnTo>
                <a:lnTo>
                  <a:pt x="0" y="0"/>
                </a:lnTo>
                <a:lnTo>
                  <a:pt x="0" y="1135379"/>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5" name="object 15"/>
          <p:cNvSpPr/>
          <p:nvPr/>
        </p:nvSpPr>
        <p:spPr>
          <a:xfrm>
            <a:off x="4244339" y="2572129"/>
            <a:ext cx="1600200" cy="326390"/>
          </a:xfrm>
          <a:custGeom>
            <a:avLst/>
            <a:gdLst/>
            <a:ahLst/>
            <a:cxnLst/>
            <a:rect l="l" t="t" r="r" b="b"/>
            <a:pathLst>
              <a:path w="1600200" h="326389">
                <a:moveTo>
                  <a:pt x="0" y="326136"/>
                </a:moveTo>
                <a:lnTo>
                  <a:pt x="1600200" y="326136"/>
                </a:lnTo>
                <a:lnTo>
                  <a:pt x="1600200" y="0"/>
                </a:lnTo>
                <a:lnTo>
                  <a:pt x="0" y="0"/>
                </a:lnTo>
                <a:lnTo>
                  <a:pt x="0" y="326136"/>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6" name="object 16"/>
          <p:cNvSpPr txBox="1"/>
          <p:nvPr/>
        </p:nvSpPr>
        <p:spPr>
          <a:xfrm>
            <a:off x="4274057" y="1765122"/>
            <a:ext cx="1203960" cy="780415"/>
          </a:xfrm>
          <a:prstGeom prst="rect">
            <a:avLst/>
          </a:prstGeom>
        </p:spPr>
        <p:txBody>
          <a:bodyPr vert="horz" wrap="square" lIns="0" tIns="46355" rIns="0" bIns="0" rtlCol="0">
            <a:spAutoFit/>
          </a:bodyPr>
          <a:lstStyle/>
          <a:p>
            <a:pPr marL="12700" marR="5080" algn="just">
              <a:lnSpc>
                <a:spcPct val="84500"/>
              </a:lnSpc>
              <a:spcBef>
                <a:spcPts val="365"/>
              </a:spcBef>
            </a:pPr>
            <a:r>
              <a:rPr sz="1400">
                <a:latin typeface="Times New Roman" panose="02020603050405020304" pitchFamily="18" charset="0"/>
                <a:cs typeface="Times New Roman" panose="02020603050405020304" pitchFamily="18" charset="0"/>
              </a:rPr>
              <a:t>tên</a:t>
            </a:r>
            <a:r>
              <a:rPr sz="1400" spc="-10">
                <a:latin typeface="Times New Roman" panose="02020603050405020304" pitchFamily="18" charset="0"/>
                <a:cs typeface="Times New Roman" panose="02020603050405020304" pitchFamily="18" charset="0"/>
              </a:rPr>
              <a:t>K</a:t>
            </a:r>
            <a:r>
              <a:rPr sz="1400">
                <a:latin typeface="Times New Roman" panose="02020603050405020304" pitchFamily="18" charset="0"/>
                <a:cs typeface="Times New Roman" panose="02020603050405020304" pitchFamily="18" charset="0"/>
              </a:rPr>
              <a:t>hách</a:t>
            </a:r>
            <a:r>
              <a:rPr sz="1400" spc="-10">
                <a:latin typeface="Times New Roman" panose="02020603050405020304" pitchFamily="18" charset="0"/>
                <a:cs typeface="Times New Roman" panose="02020603050405020304" pitchFamily="18" charset="0"/>
              </a:rPr>
              <a:t>H</a:t>
            </a:r>
            <a:r>
              <a:rPr sz="1400">
                <a:latin typeface="Times New Roman" panose="02020603050405020304" pitchFamily="18" charset="0"/>
                <a:cs typeface="Times New Roman" panose="02020603050405020304" pitchFamily="18" charset="0"/>
              </a:rPr>
              <a:t>à</a:t>
            </a:r>
            <a:r>
              <a:rPr sz="1400" spc="-20">
                <a:latin typeface="Times New Roman" panose="02020603050405020304" pitchFamily="18" charset="0"/>
                <a:cs typeface="Times New Roman" panose="02020603050405020304" pitchFamily="18" charset="0"/>
              </a:rPr>
              <a:t>n</a:t>
            </a:r>
            <a:r>
              <a:rPr sz="1400">
                <a:latin typeface="Times New Roman" panose="02020603050405020304" pitchFamily="18" charset="0"/>
                <a:cs typeface="Times New Roman" panose="02020603050405020304" pitchFamily="18" charset="0"/>
              </a:rPr>
              <a:t>g</a:t>
            </a:r>
            <a:r>
              <a:rPr lang="en-US" sz="1400">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họKháchHàng</a:t>
            </a:r>
            <a:r>
              <a:rPr lang="en-US" sz="1400" spc="-5">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mãPIN</a:t>
            </a:r>
          </a:p>
          <a:p>
            <a:pPr marL="12700" algn="just">
              <a:lnSpc>
                <a:spcPts val="1415"/>
              </a:lnSpc>
            </a:pPr>
            <a:r>
              <a:rPr sz="1400" spc="-5" dirty="0">
                <a:latin typeface="Times New Roman" panose="02020603050405020304" pitchFamily="18" charset="0"/>
                <a:cs typeface="Times New Roman" panose="02020603050405020304" pitchFamily="18" charset="0"/>
              </a:rPr>
              <a:t>sốThẻ</a:t>
            </a:r>
            <a:endParaRPr sz="1400">
              <a:latin typeface="Times New Roman" panose="02020603050405020304" pitchFamily="18" charset="0"/>
              <a:cs typeface="Times New Roman" panose="02020603050405020304" pitchFamily="18" charset="0"/>
            </a:endParaRPr>
          </a:p>
        </p:txBody>
      </p:sp>
      <p:sp>
        <p:nvSpPr>
          <p:cNvPr id="17" name="object 17"/>
          <p:cNvSpPr txBox="1"/>
          <p:nvPr/>
        </p:nvSpPr>
        <p:spPr>
          <a:xfrm>
            <a:off x="4274058" y="2664333"/>
            <a:ext cx="1491615" cy="228909"/>
          </a:xfrm>
          <a:prstGeom prst="rect">
            <a:avLst/>
          </a:prstGeom>
        </p:spPr>
        <p:txBody>
          <a:bodyPr vert="horz" wrap="square" lIns="0" tIns="13335" rIns="0" bIns="0" rtlCol="0">
            <a:spAutoFit/>
          </a:bodyPr>
          <a:lstStyle/>
          <a:p>
            <a:pPr marL="12700">
              <a:spcBef>
                <a:spcPts val="105"/>
              </a:spcBef>
            </a:pPr>
            <a:r>
              <a:rPr sz="1400" spc="-10" dirty="0">
                <a:solidFill>
                  <a:srgbClr val="33CCFF"/>
                </a:solidFill>
                <a:latin typeface="Times New Roman" panose="02020603050405020304" pitchFamily="18" charset="0"/>
                <a:cs typeface="Times New Roman" panose="02020603050405020304" pitchFamily="18" charset="0"/>
              </a:rPr>
              <a:t>kiểmTraMậtKhẩu()</a:t>
            </a:r>
            <a:endParaRPr sz="1400">
              <a:latin typeface="Times New Roman" panose="02020603050405020304" pitchFamily="18" charset="0"/>
              <a:cs typeface="Times New Roman" panose="02020603050405020304" pitchFamily="18" charset="0"/>
            </a:endParaRPr>
          </a:p>
        </p:txBody>
      </p:sp>
      <p:sp>
        <p:nvSpPr>
          <p:cNvPr id="18" name="object 18"/>
          <p:cNvSpPr/>
          <p:nvPr/>
        </p:nvSpPr>
        <p:spPr>
          <a:xfrm>
            <a:off x="8154923" y="3515486"/>
            <a:ext cx="1620520" cy="1559560"/>
          </a:xfrm>
          <a:custGeom>
            <a:avLst/>
            <a:gdLst/>
            <a:ahLst/>
            <a:cxnLst/>
            <a:rect l="l" t="t" r="r" b="b"/>
            <a:pathLst>
              <a:path w="1620520" h="1559560">
                <a:moveTo>
                  <a:pt x="0" y="1559051"/>
                </a:moveTo>
                <a:lnTo>
                  <a:pt x="1620012" y="1559051"/>
                </a:lnTo>
                <a:lnTo>
                  <a:pt x="1620012" y="0"/>
                </a:lnTo>
                <a:lnTo>
                  <a:pt x="0" y="0"/>
                </a:lnTo>
                <a:lnTo>
                  <a:pt x="0" y="1559051"/>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txBox="1"/>
          <p:nvPr/>
        </p:nvSpPr>
        <p:spPr>
          <a:xfrm>
            <a:off x="8576819" y="3536060"/>
            <a:ext cx="758825" cy="228268"/>
          </a:xfrm>
          <a:prstGeom prst="rect">
            <a:avLst/>
          </a:prstGeom>
        </p:spPr>
        <p:txBody>
          <a:bodyPr vert="horz" wrap="square" lIns="0" tIns="12700" rIns="0" bIns="0" rtlCol="0">
            <a:spAutoFit/>
          </a:bodyPr>
          <a:lstStyle/>
          <a:p>
            <a:pPr marL="12700">
              <a:spcBef>
                <a:spcPts val="100"/>
              </a:spcBef>
            </a:pPr>
            <a:r>
              <a:rPr sz="1400" dirty="0">
                <a:latin typeface="Times New Roman" panose="02020603050405020304" pitchFamily="18" charset="0"/>
                <a:cs typeface="Times New Roman" panose="02020603050405020304" pitchFamily="18" charset="0"/>
              </a:rPr>
              <a:t>Giao</a:t>
            </a:r>
            <a:r>
              <a:rPr sz="1400" spc="-10" dirty="0">
                <a:latin typeface="Times New Roman" panose="02020603050405020304" pitchFamily="18" charset="0"/>
                <a:cs typeface="Times New Roman" panose="02020603050405020304" pitchFamily="18" charset="0"/>
              </a:rPr>
              <a:t>D</a:t>
            </a:r>
            <a:r>
              <a:rPr sz="1400" spc="-5" dirty="0">
                <a:latin typeface="Times New Roman" panose="02020603050405020304" pitchFamily="18" charset="0"/>
                <a:cs typeface="Times New Roman" panose="02020603050405020304" pitchFamily="18" charset="0"/>
              </a:rPr>
              <a:t>ị</a:t>
            </a:r>
            <a:r>
              <a:rPr sz="1400" dirty="0">
                <a:latin typeface="Times New Roman" panose="02020603050405020304" pitchFamily="18" charset="0"/>
                <a:cs typeface="Times New Roman" panose="02020603050405020304" pitchFamily="18" charset="0"/>
              </a:rPr>
              <a:t>ch</a:t>
            </a:r>
            <a:endParaRPr sz="1400">
              <a:latin typeface="Times New Roman" panose="02020603050405020304" pitchFamily="18" charset="0"/>
              <a:cs typeface="Times New Roman" panose="02020603050405020304" pitchFamily="18" charset="0"/>
            </a:endParaRPr>
          </a:p>
        </p:txBody>
      </p:sp>
      <p:sp>
        <p:nvSpPr>
          <p:cNvPr id="20" name="object 20"/>
          <p:cNvSpPr/>
          <p:nvPr/>
        </p:nvSpPr>
        <p:spPr>
          <a:xfrm>
            <a:off x="8154923" y="3754755"/>
            <a:ext cx="1620520" cy="1320165"/>
          </a:xfrm>
          <a:custGeom>
            <a:avLst/>
            <a:gdLst/>
            <a:ahLst/>
            <a:cxnLst/>
            <a:rect l="l" t="t" r="r" b="b"/>
            <a:pathLst>
              <a:path w="1620520" h="1320164">
                <a:moveTo>
                  <a:pt x="0" y="1319784"/>
                </a:moveTo>
                <a:lnTo>
                  <a:pt x="1620012" y="1319784"/>
                </a:lnTo>
                <a:lnTo>
                  <a:pt x="1620012" y="0"/>
                </a:lnTo>
                <a:lnTo>
                  <a:pt x="0" y="0"/>
                </a:lnTo>
                <a:lnTo>
                  <a:pt x="0" y="131978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p:nvPr/>
        </p:nvSpPr>
        <p:spPr>
          <a:xfrm>
            <a:off x="8154923" y="4923661"/>
            <a:ext cx="1620520" cy="151130"/>
          </a:xfrm>
          <a:custGeom>
            <a:avLst/>
            <a:gdLst/>
            <a:ahLst/>
            <a:cxnLst/>
            <a:rect l="l" t="t" r="r" b="b"/>
            <a:pathLst>
              <a:path w="1620520" h="151129">
                <a:moveTo>
                  <a:pt x="0" y="150875"/>
                </a:moveTo>
                <a:lnTo>
                  <a:pt x="1620012" y="150875"/>
                </a:lnTo>
                <a:lnTo>
                  <a:pt x="1620012" y="0"/>
                </a:lnTo>
                <a:lnTo>
                  <a:pt x="0" y="0"/>
                </a:lnTo>
                <a:lnTo>
                  <a:pt x="0" y="15087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2" name="object 22"/>
          <p:cNvSpPr txBox="1"/>
          <p:nvPr/>
        </p:nvSpPr>
        <p:spPr>
          <a:xfrm>
            <a:off x="8187944" y="3758183"/>
            <a:ext cx="1438275" cy="1139825"/>
          </a:xfrm>
          <a:prstGeom prst="rect">
            <a:avLst/>
          </a:prstGeom>
        </p:spPr>
        <p:txBody>
          <a:bodyPr vert="horz" wrap="square" lIns="0" tIns="46355" rIns="0" bIns="0" rtlCol="0">
            <a:spAutoFit/>
          </a:bodyPr>
          <a:lstStyle/>
          <a:p>
            <a:pPr marL="12700" marR="5080">
              <a:lnSpc>
                <a:spcPct val="84500"/>
              </a:lnSpc>
              <a:spcBef>
                <a:spcPts val="365"/>
              </a:spcBef>
            </a:pPr>
            <a:r>
              <a:rPr sz="1400" spc="-5">
                <a:latin typeface="Times New Roman" panose="02020603050405020304" pitchFamily="18" charset="0"/>
                <a:cs typeface="Times New Roman" panose="02020603050405020304" pitchFamily="18" charset="0"/>
              </a:rPr>
              <a:t>giaoDịchID</a:t>
            </a: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ngàyGiaoDịch</a:t>
            </a:r>
            <a:r>
              <a:rPr lang="en-US" sz="1400" spc="-5">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t</a:t>
            </a:r>
            <a:r>
              <a:rPr sz="1400" spc="-5">
                <a:latin typeface="Times New Roman" panose="02020603050405020304" pitchFamily="18" charset="0"/>
                <a:cs typeface="Times New Roman" panose="02020603050405020304" pitchFamily="18" charset="0"/>
              </a:rPr>
              <a:t>hờiGian</a:t>
            </a:r>
            <a:r>
              <a:rPr sz="1400" spc="-15">
                <a:latin typeface="Times New Roman" panose="02020603050405020304" pitchFamily="18" charset="0"/>
                <a:cs typeface="Times New Roman" panose="02020603050405020304" pitchFamily="18" charset="0"/>
              </a:rPr>
              <a:t>G</a:t>
            </a:r>
            <a:r>
              <a:rPr sz="1400" spc="-5">
                <a:latin typeface="Times New Roman" panose="02020603050405020304" pitchFamily="18" charset="0"/>
                <a:cs typeface="Times New Roman" panose="02020603050405020304" pitchFamily="18" charset="0"/>
              </a:rPr>
              <a:t>iao</a:t>
            </a:r>
            <a:r>
              <a:rPr sz="1400" spc="-10">
                <a:latin typeface="Times New Roman" panose="02020603050405020304" pitchFamily="18" charset="0"/>
                <a:cs typeface="Times New Roman" panose="02020603050405020304" pitchFamily="18" charset="0"/>
              </a:rPr>
              <a:t>D</a:t>
            </a:r>
            <a:r>
              <a:rPr sz="1400" spc="-5">
                <a:latin typeface="Times New Roman" panose="02020603050405020304" pitchFamily="18" charset="0"/>
                <a:cs typeface="Times New Roman" panose="02020603050405020304" pitchFamily="18" charset="0"/>
              </a:rPr>
              <a:t>ị</a:t>
            </a:r>
            <a:r>
              <a:rPr sz="1400" spc="-10">
                <a:latin typeface="Times New Roman" panose="02020603050405020304" pitchFamily="18" charset="0"/>
                <a:cs typeface="Times New Roman" panose="02020603050405020304" pitchFamily="18" charset="0"/>
              </a:rPr>
              <a:t>c</a:t>
            </a:r>
            <a:r>
              <a:rPr sz="1400">
                <a:latin typeface="Times New Roman" panose="02020603050405020304" pitchFamily="18" charset="0"/>
                <a:cs typeface="Times New Roman" panose="02020603050405020304" pitchFamily="18" charset="0"/>
              </a:rPr>
              <a:t>h</a:t>
            </a:r>
            <a:r>
              <a:rPr lang="en-US" sz="1400">
                <a:latin typeface="Times New Roman" panose="02020603050405020304" pitchFamily="18" charset="0"/>
                <a:cs typeface="Times New Roman" panose="02020603050405020304" pitchFamily="18" charset="0"/>
              </a:rPr>
              <a:t> </a:t>
            </a:r>
            <a:r>
              <a:rPr sz="1400">
                <a:latin typeface="Times New Roman" panose="02020603050405020304" pitchFamily="18" charset="0"/>
                <a:cs typeface="Times New Roman" panose="02020603050405020304" pitchFamily="18" charset="0"/>
              </a:rPr>
              <a:t>loạiGiaoDịch</a:t>
            </a:r>
            <a:r>
              <a:rPr lang="en-US" sz="1400">
                <a:latin typeface="Times New Roman" panose="02020603050405020304" pitchFamily="18" charset="0"/>
                <a:cs typeface="Times New Roman" panose="02020603050405020304" pitchFamily="18" charset="0"/>
              </a:rPr>
              <a:t> </a:t>
            </a:r>
            <a:r>
              <a:rPr sz="1400" spc="-15">
                <a:latin typeface="Times New Roman" panose="02020603050405020304" pitchFamily="18" charset="0"/>
                <a:cs typeface="Times New Roman" panose="02020603050405020304" pitchFamily="18" charset="0"/>
              </a:rPr>
              <a:t>sốTiền</a:t>
            </a:r>
            <a:endParaRPr sz="1400">
              <a:latin typeface="Times New Roman" panose="02020603050405020304" pitchFamily="18" charset="0"/>
              <a:cs typeface="Times New Roman" panose="02020603050405020304" pitchFamily="18" charset="0"/>
            </a:endParaRPr>
          </a:p>
          <a:p>
            <a:pPr marL="12700">
              <a:lnSpc>
                <a:spcPts val="1415"/>
              </a:lnSpc>
            </a:pPr>
            <a:r>
              <a:rPr sz="1400" spc="-5" dirty="0">
                <a:latin typeface="Times New Roman" panose="02020603050405020304" pitchFamily="18" charset="0"/>
                <a:cs typeface="Times New Roman" panose="02020603050405020304" pitchFamily="18" charset="0"/>
              </a:rPr>
              <a:t>sốDư</a:t>
            </a:r>
            <a:endParaRPr sz="1400">
              <a:latin typeface="Times New Roman" panose="02020603050405020304" pitchFamily="18" charset="0"/>
              <a:cs typeface="Times New Roman" panose="02020603050405020304" pitchFamily="18" charset="0"/>
            </a:endParaRPr>
          </a:p>
        </p:txBody>
      </p:sp>
      <p:sp>
        <p:nvSpPr>
          <p:cNvPr id="23" name="object 23"/>
          <p:cNvSpPr/>
          <p:nvPr/>
        </p:nvSpPr>
        <p:spPr>
          <a:xfrm>
            <a:off x="8977883" y="5085206"/>
            <a:ext cx="0" cy="422275"/>
          </a:xfrm>
          <a:custGeom>
            <a:avLst/>
            <a:gdLst/>
            <a:ahLst/>
            <a:cxnLst/>
            <a:rect l="l" t="t" r="r" b="b"/>
            <a:pathLst>
              <a:path h="422275">
                <a:moveTo>
                  <a:pt x="0" y="422148"/>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4" name="object 24"/>
          <p:cNvSpPr/>
          <p:nvPr/>
        </p:nvSpPr>
        <p:spPr>
          <a:xfrm>
            <a:off x="8246364" y="5507354"/>
            <a:ext cx="1772920" cy="0"/>
          </a:xfrm>
          <a:custGeom>
            <a:avLst/>
            <a:gdLst/>
            <a:ahLst/>
            <a:cxnLst/>
            <a:rect l="l" t="t" r="r" b="b"/>
            <a:pathLst>
              <a:path w="1772920">
                <a:moveTo>
                  <a:pt x="0" y="0"/>
                </a:moveTo>
                <a:lnTo>
                  <a:pt x="1772411"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5" name="object 25"/>
          <p:cNvSpPr/>
          <p:nvPr/>
        </p:nvSpPr>
        <p:spPr>
          <a:xfrm>
            <a:off x="8869680" y="5083681"/>
            <a:ext cx="213360" cy="233172"/>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6" name="object 26"/>
          <p:cNvSpPr/>
          <p:nvPr/>
        </p:nvSpPr>
        <p:spPr>
          <a:xfrm>
            <a:off x="8246364" y="5507354"/>
            <a:ext cx="0" cy="279400"/>
          </a:xfrm>
          <a:custGeom>
            <a:avLst/>
            <a:gdLst/>
            <a:ahLst/>
            <a:cxnLst/>
            <a:rect l="l" t="t" r="r" b="b"/>
            <a:pathLst>
              <a:path h="279400">
                <a:moveTo>
                  <a:pt x="0" y="278892"/>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7" name="object 27"/>
          <p:cNvSpPr/>
          <p:nvPr/>
        </p:nvSpPr>
        <p:spPr>
          <a:xfrm>
            <a:off x="10018777" y="5507355"/>
            <a:ext cx="1905" cy="283845"/>
          </a:xfrm>
          <a:custGeom>
            <a:avLst/>
            <a:gdLst/>
            <a:ahLst/>
            <a:cxnLst/>
            <a:rect l="l" t="t" r="r" b="b"/>
            <a:pathLst>
              <a:path w="1904" h="283845">
                <a:moveTo>
                  <a:pt x="0" y="283464"/>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8" name="object 28"/>
          <p:cNvSpPr/>
          <p:nvPr/>
        </p:nvSpPr>
        <p:spPr>
          <a:xfrm>
            <a:off x="4451604" y="3608449"/>
            <a:ext cx="1324610" cy="1536700"/>
          </a:xfrm>
          <a:custGeom>
            <a:avLst/>
            <a:gdLst/>
            <a:ahLst/>
            <a:cxnLst/>
            <a:rect l="l" t="t" r="r" b="b"/>
            <a:pathLst>
              <a:path w="1324610" h="1536700">
                <a:moveTo>
                  <a:pt x="0" y="1536192"/>
                </a:moveTo>
                <a:lnTo>
                  <a:pt x="1324356" y="1536192"/>
                </a:lnTo>
                <a:lnTo>
                  <a:pt x="1324356" y="0"/>
                </a:lnTo>
                <a:lnTo>
                  <a:pt x="0" y="0"/>
                </a:lnTo>
                <a:lnTo>
                  <a:pt x="0" y="153619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9" name="object 29"/>
          <p:cNvSpPr txBox="1"/>
          <p:nvPr/>
        </p:nvSpPr>
        <p:spPr>
          <a:xfrm>
            <a:off x="4639183" y="3628007"/>
            <a:ext cx="788035" cy="228268"/>
          </a:xfrm>
          <a:prstGeom prst="rect">
            <a:avLst/>
          </a:prstGeom>
        </p:spPr>
        <p:txBody>
          <a:bodyPr vert="horz" wrap="square" lIns="0" tIns="12700" rIns="0" bIns="0" rtlCol="0">
            <a:spAutoFit/>
          </a:bodyPr>
          <a:lstStyle/>
          <a:p>
            <a:pPr marL="12700">
              <a:spcBef>
                <a:spcPts val="100"/>
              </a:spcBef>
            </a:pPr>
            <a:r>
              <a:rPr sz="1400" spc="-5" dirty="0">
                <a:latin typeface="Times New Roman" panose="02020603050405020304" pitchFamily="18" charset="0"/>
                <a:cs typeface="Times New Roman" panose="02020603050405020304" pitchFamily="18" charset="0"/>
              </a:rPr>
              <a:t>TàiKhoản</a:t>
            </a:r>
            <a:endParaRPr sz="1400">
              <a:latin typeface="Times New Roman" panose="02020603050405020304" pitchFamily="18" charset="0"/>
              <a:cs typeface="Times New Roman" panose="02020603050405020304" pitchFamily="18" charset="0"/>
            </a:endParaRPr>
          </a:p>
        </p:txBody>
      </p:sp>
      <p:sp>
        <p:nvSpPr>
          <p:cNvPr id="30" name="object 30"/>
          <p:cNvSpPr/>
          <p:nvPr/>
        </p:nvSpPr>
        <p:spPr>
          <a:xfrm>
            <a:off x="4451604" y="3847719"/>
            <a:ext cx="1324610" cy="1297305"/>
          </a:xfrm>
          <a:custGeom>
            <a:avLst/>
            <a:gdLst/>
            <a:ahLst/>
            <a:cxnLst/>
            <a:rect l="l" t="t" r="r" b="b"/>
            <a:pathLst>
              <a:path w="1324610" h="1297304">
                <a:moveTo>
                  <a:pt x="0" y="1296924"/>
                </a:moveTo>
                <a:lnTo>
                  <a:pt x="1324356" y="1296924"/>
                </a:lnTo>
                <a:lnTo>
                  <a:pt x="1324356" y="0"/>
                </a:lnTo>
                <a:lnTo>
                  <a:pt x="0" y="0"/>
                </a:lnTo>
                <a:lnTo>
                  <a:pt x="0" y="1296924"/>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1" name="object 31"/>
          <p:cNvSpPr/>
          <p:nvPr/>
        </p:nvSpPr>
        <p:spPr>
          <a:xfrm>
            <a:off x="4451604" y="4475605"/>
            <a:ext cx="1324610" cy="669290"/>
          </a:xfrm>
          <a:custGeom>
            <a:avLst/>
            <a:gdLst/>
            <a:ahLst/>
            <a:cxnLst/>
            <a:rect l="l" t="t" r="r" b="b"/>
            <a:pathLst>
              <a:path w="1324610" h="669289">
                <a:moveTo>
                  <a:pt x="0" y="669035"/>
                </a:moveTo>
                <a:lnTo>
                  <a:pt x="1324356" y="669035"/>
                </a:lnTo>
                <a:lnTo>
                  <a:pt x="1324356" y="0"/>
                </a:lnTo>
                <a:lnTo>
                  <a:pt x="0" y="0"/>
                </a:lnTo>
                <a:lnTo>
                  <a:pt x="0" y="669035"/>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2" name="object 32"/>
          <p:cNvSpPr txBox="1"/>
          <p:nvPr/>
        </p:nvSpPr>
        <p:spPr>
          <a:xfrm>
            <a:off x="4481829" y="3850258"/>
            <a:ext cx="1065530" cy="600075"/>
          </a:xfrm>
          <a:prstGeom prst="rect">
            <a:avLst/>
          </a:prstGeom>
        </p:spPr>
        <p:txBody>
          <a:bodyPr vert="horz" wrap="square" lIns="0" tIns="46355" rIns="0" bIns="0" rtlCol="0">
            <a:spAutoFit/>
          </a:bodyPr>
          <a:lstStyle/>
          <a:p>
            <a:pPr marL="12700" marR="5080">
              <a:lnSpc>
                <a:spcPct val="84500"/>
              </a:lnSpc>
              <a:spcBef>
                <a:spcPts val="365"/>
              </a:spcBef>
            </a:pPr>
            <a:r>
              <a:rPr sz="1400" spc="-5">
                <a:latin typeface="Times New Roman" panose="02020603050405020304" pitchFamily="18" charset="0"/>
                <a:cs typeface="Times New Roman" panose="02020603050405020304" pitchFamily="18" charset="0"/>
              </a:rPr>
              <a:t>sốTàiKhoản</a:t>
            </a: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loại</a:t>
            </a:r>
            <a:r>
              <a:rPr sz="1400" spc="-10">
                <a:latin typeface="Times New Roman" panose="02020603050405020304" pitchFamily="18" charset="0"/>
                <a:cs typeface="Times New Roman" panose="02020603050405020304" pitchFamily="18" charset="0"/>
              </a:rPr>
              <a:t>T</a:t>
            </a:r>
            <a:r>
              <a:rPr sz="1400" spc="-5">
                <a:latin typeface="Times New Roman" panose="02020603050405020304" pitchFamily="18" charset="0"/>
                <a:cs typeface="Times New Roman" panose="02020603050405020304" pitchFamily="18" charset="0"/>
              </a:rPr>
              <a:t>àiKhoản</a:t>
            </a:r>
            <a:r>
              <a:rPr lang="en-US" sz="1400" spc="-5">
                <a:latin typeface="Times New Roman" panose="02020603050405020304" pitchFamily="18" charset="0"/>
                <a:cs typeface="Times New Roman" panose="02020603050405020304" pitchFamily="18" charset="0"/>
              </a:rPr>
              <a:t> </a:t>
            </a:r>
            <a:r>
              <a:rPr sz="1400" spc="-5">
                <a:latin typeface="Times New Roman" panose="02020603050405020304" pitchFamily="18" charset="0"/>
                <a:cs typeface="Times New Roman" panose="02020603050405020304" pitchFamily="18" charset="0"/>
              </a:rPr>
              <a:t>sốDư</a:t>
            </a:r>
            <a:endParaRPr sz="1400">
              <a:latin typeface="Times New Roman" panose="02020603050405020304" pitchFamily="18" charset="0"/>
              <a:cs typeface="Times New Roman" panose="02020603050405020304" pitchFamily="18" charset="0"/>
            </a:endParaRPr>
          </a:p>
        </p:txBody>
      </p:sp>
      <p:sp>
        <p:nvSpPr>
          <p:cNvPr id="33" name="object 33"/>
          <p:cNvSpPr/>
          <p:nvPr/>
        </p:nvSpPr>
        <p:spPr>
          <a:xfrm>
            <a:off x="5052060" y="3253357"/>
            <a:ext cx="1905" cy="349250"/>
          </a:xfrm>
          <a:custGeom>
            <a:avLst/>
            <a:gdLst/>
            <a:ahLst/>
            <a:cxnLst/>
            <a:rect l="l" t="t" r="r" b="b"/>
            <a:pathLst>
              <a:path w="1904" h="349250">
                <a:moveTo>
                  <a:pt x="0" y="0"/>
                </a:moveTo>
                <a:lnTo>
                  <a:pt x="1524" y="348995"/>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4" name="object 34"/>
          <p:cNvSpPr/>
          <p:nvPr/>
        </p:nvSpPr>
        <p:spPr>
          <a:xfrm>
            <a:off x="5052060" y="2908935"/>
            <a:ext cx="1905" cy="344805"/>
          </a:xfrm>
          <a:custGeom>
            <a:avLst/>
            <a:gdLst/>
            <a:ahLst/>
            <a:cxnLst/>
            <a:rect l="l" t="t" r="r" b="b"/>
            <a:pathLst>
              <a:path w="1904" h="344804">
                <a:moveTo>
                  <a:pt x="0" y="344423"/>
                </a:moveTo>
                <a:lnTo>
                  <a:pt x="1524"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5" name="object 35"/>
          <p:cNvSpPr txBox="1"/>
          <p:nvPr/>
        </p:nvSpPr>
        <p:spPr>
          <a:xfrm>
            <a:off x="5101209" y="2719551"/>
            <a:ext cx="313690" cy="692150"/>
          </a:xfrm>
          <a:prstGeom prst="rect">
            <a:avLst/>
          </a:prstGeom>
        </p:spPr>
        <p:txBody>
          <a:bodyPr vert="horz" wrap="square" lIns="0" tIns="132715" rIns="0" bIns="0" rtlCol="0">
            <a:spAutoFit/>
          </a:bodyPr>
          <a:lstStyle/>
          <a:p>
            <a:pPr marL="102870" algn="ctr">
              <a:spcBef>
                <a:spcPts val="1045"/>
              </a:spcBef>
            </a:pPr>
            <a:r>
              <a:rPr sz="1400"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a:p>
            <a:pPr algn="ctr">
              <a:spcBef>
                <a:spcPts val="945"/>
              </a:spcBef>
            </a:pPr>
            <a:r>
              <a:rPr sz="1400" i="1" dirty="0">
                <a:latin typeface="Times New Roman" panose="02020603050405020304" pitchFamily="18" charset="0"/>
                <a:cs typeface="Times New Roman" panose="02020603050405020304" pitchFamily="18" charset="0"/>
              </a:rPr>
              <a:t>c</a:t>
            </a:r>
            <a:r>
              <a:rPr sz="1400" i="1" spc="-5" dirty="0">
                <a:latin typeface="Times New Roman" panose="02020603050405020304" pitchFamily="18" charset="0"/>
                <a:cs typeface="Times New Roman" panose="02020603050405020304" pitchFamily="18" charset="0"/>
              </a:rPr>
              <a:t>ủa</a:t>
            </a:r>
            <a:endParaRPr sz="1400">
              <a:latin typeface="Times New Roman" panose="02020603050405020304" pitchFamily="18" charset="0"/>
              <a:cs typeface="Times New Roman" panose="02020603050405020304" pitchFamily="18" charset="0"/>
            </a:endParaRPr>
          </a:p>
        </p:txBody>
      </p:sp>
      <p:sp>
        <p:nvSpPr>
          <p:cNvPr id="36" name="object 36"/>
          <p:cNvSpPr/>
          <p:nvPr/>
        </p:nvSpPr>
        <p:spPr>
          <a:xfrm>
            <a:off x="5775960" y="4280535"/>
            <a:ext cx="2403475" cy="1905"/>
          </a:xfrm>
          <a:custGeom>
            <a:avLst/>
            <a:gdLst/>
            <a:ahLst/>
            <a:cxnLst/>
            <a:rect l="l" t="t" r="r" b="b"/>
            <a:pathLst>
              <a:path w="2403475" h="1904">
                <a:moveTo>
                  <a:pt x="0" y="0"/>
                </a:moveTo>
                <a:lnTo>
                  <a:pt x="2403347" y="1523"/>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7" name="object 37"/>
          <p:cNvSpPr txBox="1"/>
          <p:nvPr/>
        </p:nvSpPr>
        <p:spPr>
          <a:xfrm>
            <a:off x="7746239" y="4472381"/>
            <a:ext cx="324485" cy="228909"/>
          </a:xfrm>
          <a:prstGeom prst="rect">
            <a:avLst/>
          </a:prstGeom>
        </p:spPr>
        <p:txBody>
          <a:bodyPr vert="horz" wrap="square" lIns="0" tIns="13335" rIns="0" bIns="0" rtlCol="0">
            <a:spAutoFit/>
          </a:bodyPr>
          <a:lstStyle/>
          <a:p>
            <a:pPr marL="12700">
              <a:spcBef>
                <a:spcPts val="105"/>
              </a:spcBef>
            </a:pPr>
            <a:r>
              <a:rPr sz="1400" dirty="0">
                <a:latin typeface="Times New Roman" panose="02020603050405020304" pitchFamily="18" charset="0"/>
                <a:cs typeface="Times New Roman" panose="02020603050405020304" pitchFamily="18" charset="0"/>
              </a:rPr>
              <a:t>0..n</a:t>
            </a:r>
            <a:endParaRPr sz="1400">
              <a:latin typeface="Times New Roman" panose="02020603050405020304" pitchFamily="18" charset="0"/>
              <a:cs typeface="Times New Roman" panose="02020603050405020304" pitchFamily="18" charset="0"/>
            </a:endParaRPr>
          </a:p>
        </p:txBody>
      </p:sp>
      <p:sp>
        <p:nvSpPr>
          <p:cNvPr id="38" name="object 38"/>
          <p:cNvSpPr txBox="1"/>
          <p:nvPr/>
        </p:nvSpPr>
        <p:spPr>
          <a:xfrm>
            <a:off x="5883910" y="4404054"/>
            <a:ext cx="125095" cy="228909"/>
          </a:xfrm>
          <a:prstGeom prst="rect">
            <a:avLst/>
          </a:prstGeom>
        </p:spPr>
        <p:txBody>
          <a:bodyPr vert="horz" wrap="square" lIns="0" tIns="13335" rIns="0" bIns="0" rtlCol="0">
            <a:spAutoFit/>
          </a:bodyPr>
          <a:lstStyle/>
          <a:p>
            <a:pPr marL="12700">
              <a:spcBef>
                <a:spcPts val="105"/>
              </a:spcBef>
            </a:pPr>
            <a:r>
              <a:rPr sz="1400" dirty="0">
                <a:latin typeface="Times New Roman" panose="02020603050405020304" pitchFamily="18" charset="0"/>
                <a:cs typeface="Times New Roman" panose="02020603050405020304" pitchFamily="18" charset="0"/>
              </a:rPr>
              <a:t>1</a:t>
            </a:r>
            <a:endParaRPr sz="1400">
              <a:latin typeface="Times New Roman" panose="02020603050405020304" pitchFamily="18" charset="0"/>
              <a:cs typeface="Times New Roman" panose="02020603050405020304" pitchFamily="18" charset="0"/>
            </a:endParaRPr>
          </a:p>
        </p:txBody>
      </p:sp>
      <p:sp>
        <p:nvSpPr>
          <p:cNvPr id="39" name="object 39"/>
          <p:cNvSpPr txBox="1"/>
          <p:nvPr/>
        </p:nvSpPr>
        <p:spPr>
          <a:xfrm>
            <a:off x="7670038" y="1805304"/>
            <a:ext cx="215900" cy="228909"/>
          </a:xfrm>
          <a:prstGeom prst="rect">
            <a:avLst/>
          </a:prstGeom>
        </p:spPr>
        <p:txBody>
          <a:bodyPr vert="horz" wrap="square" lIns="0" tIns="13335" rIns="0" bIns="0" rtlCol="0">
            <a:spAutoFit/>
          </a:bodyPr>
          <a:lstStyle/>
          <a:p>
            <a:pPr marL="12700">
              <a:spcBef>
                <a:spcPts val="105"/>
              </a:spcBef>
            </a:pPr>
            <a:r>
              <a:rPr sz="1400" i="1" spc="5" dirty="0">
                <a:latin typeface="Times New Roman" panose="02020603050405020304" pitchFamily="18" charset="0"/>
                <a:cs typeface="Times New Roman" panose="02020603050405020304" pitchFamily="18" charset="0"/>
              </a:rPr>
              <a:t>có</a:t>
            </a:r>
            <a:endParaRPr sz="1400">
              <a:latin typeface="Times New Roman" panose="02020603050405020304" pitchFamily="18" charset="0"/>
              <a:cs typeface="Times New Roman" panose="02020603050405020304" pitchFamily="18" charset="0"/>
            </a:endParaRPr>
          </a:p>
        </p:txBody>
      </p:sp>
      <p:sp>
        <p:nvSpPr>
          <p:cNvPr id="40" name="object 40"/>
          <p:cNvSpPr/>
          <p:nvPr/>
        </p:nvSpPr>
        <p:spPr>
          <a:xfrm>
            <a:off x="6291071" y="914400"/>
            <a:ext cx="1196340" cy="439420"/>
          </a:xfrm>
          <a:custGeom>
            <a:avLst/>
            <a:gdLst/>
            <a:ahLst/>
            <a:cxnLst/>
            <a:rect l="l" t="t" r="r" b="b"/>
            <a:pathLst>
              <a:path w="1196339" h="439419">
                <a:moveTo>
                  <a:pt x="0" y="438912"/>
                </a:moveTo>
                <a:lnTo>
                  <a:pt x="1196339" y="438912"/>
                </a:lnTo>
                <a:lnTo>
                  <a:pt x="1196339" y="0"/>
                </a:lnTo>
                <a:lnTo>
                  <a:pt x="0" y="0"/>
                </a:lnTo>
                <a:lnTo>
                  <a:pt x="0" y="438912"/>
                </a:lnTo>
                <a:close/>
              </a:path>
            </a:pathLst>
          </a:custGeom>
          <a:ln w="3175">
            <a:solidFill>
              <a:srgbClr val="000000"/>
            </a:solidFill>
          </a:ln>
        </p:spPr>
        <p:txBody>
          <a:bodyPr wrap="square" lIns="0" tIns="0" rIns="0" bIns="0" rtlCol="0"/>
          <a:lstStyle/>
          <a:p>
            <a:endParaRPr/>
          </a:p>
        </p:txBody>
      </p:sp>
      <p:sp>
        <p:nvSpPr>
          <p:cNvPr id="41" name="object 41"/>
          <p:cNvSpPr txBox="1"/>
          <p:nvPr/>
        </p:nvSpPr>
        <p:spPr>
          <a:xfrm>
            <a:off x="6435090" y="933704"/>
            <a:ext cx="876300" cy="228909"/>
          </a:xfrm>
          <a:prstGeom prst="rect">
            <a:avLst/>
          </a:prstGeom>
        </p:spPr>
        <p:txBody>
          <a:bodyPr vert="horz" wrap="square" lIns="0" tIns="13335" rIns="0" bIns="0" rtlCol="0">
            <a:spAutoFit/>
          </a:bodyPr>
          <a:lstStyle/>
          <a:p>
            <a:pPr marL="12700">
              <a:spcBef>
                <a:spcPts val="105"/>
              </a:spcBef>
            </a:pPr>
            <a:r>
              <a:rPr sz="1400" spc="-5" dirty="0">
                <a:latin typeface="Arial"/>
                <a:cs typeface="Arial"/>
              </a:rPr>
              <a:t>NgânHàng</a:t>
            </a:r>
            <a:endParaRPr sz="1400">
              <a:latin typeface="Arial"/>
              <a:cs typeface="Arial"/>
            </a:endParaRPr>
          </a:p>
        </p:txBody>
      </p:sp>
      <p:sp>
        <p:nvSpPr>
          <p:cNvPr id="42" name="object 42"/>
          <p:cNvSpPr/>
          <p:nvPr/>
        </p:nvSpPr>
        <p:spPr>
          <a:xfrm>
            <a:off x="6291071" y="1189862"/>
            <a:ext cx="1196340" cy="198120"/>
          </a:xfrm>
          <a:custGeom>
            <a:avLst/>
            <a:gdLst/>
            <a:ahLst/>
            <a:cxnLst/>
            <a:rect l="l" t="t" r="r" b="b"/>
            <a:pathLst>
              <a:path w="1196339" h="198119">
                <a:moveTo>
                  <a:pt x="0" y="198120"/>
                </a:moveTo>
                <a:lnTo>
                  <a:pt x="1196339" y="198120"/>
                </a:lnTo>
                <a:lnTo>
                  <a:pt x="1196339" y="0"/>
                </a:lnTo>
                <a:lnTo>
                  <a:pt x="0" y="0"/>
                </a:lnTo>
                <a:lnTo>
                  <a:pt x="0" y="19812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3" name="object 43"/>
          <p:cNvSpPr/>
          <p:nvPr/>
        </p:nvSpPr>
        <p:spPr>
          <a:xfrm>
            <a:off x="6291071" y="1276729"/>
            <a:ext cx="1196340" cy="111760"/>
          </a:xfrm>
          <a:custGeom>
            <a:avLst/>
            <a:gdLst/>
            <a:ahLst/>
            <a:cxnLst/>
            <a:rect l="l" t="t" r="r" b="b"/>
            <a:pathLst>
              <a:path w="1196339" h="111760">
                <a:moveTo>
                  <a:pt x="0" y="111252"/>
                </a:moveTo>
                <a:lnTo>
                  <a:pt x="1196339" y="111252"/>
                </a:lnTo>
                <a:lnTo>
                  <a:pt x="1196339" y="0"/>
                </a:lnTo>
                <a:lnTo>
                  <a:pt x="0" y="0"/>
                </a:lnTo>
                <a:lnTo>
                  <a:pt x="0" y="11125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4" name="object 44"/>
          <p:cNvSpPr/>
          <p:nvPr/>
        </p:nvSpPr>
        <p:spPr>
          <a:xfrm>
            <a:off x="7882128" y="1686685"/>
            <a:ext cx="547370" cy="288290"/>
          </a:xfrm>
          <a:custGeom>
            <a:avLst/>
            <a:gdLst/>
            <a:ahLst/>
            <a:cxnLst/>
            <a:rect l="l" t="t" r="r" b="b"/>
            <a:pathLst>
              <a:path w="547370" h="288289">
                <a:moveTo>
                  <a:pt x="0" y="0"/>
                </a:moveTo>
                <a:lnTo>
                  <a:pt x="547116" y="288036"/>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5" name="object 45"/>
          <p:cNvSpPr/>
          <p:nvPr/>
        </p:nvSpPr>
        <p:spPr>
          <a:xfrm>
            <a:off x="7487411" y="1500408"/>
            <a:ext cx="394970" cy="186785"/>
          </a:xfrm>
          <a:custGeom>
            <a:avLst/>
            <a:gdLst/>
            <a:ahLst/>
            <a:cxnLst/>
            <a:rect l="l" t="t" r="r" b="b"/>
            <a:pathLst>
              <a:path w="547370" h="287019">
                <a:moveTo>
                  <a:pt x="547115" y="286512"/>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6" name="object 46"/>
          <p:cNvSpPr/>
          <p:nvPr/>
        </p:nvSpPr>
        <p:spPr>
          <a:xfrm>
            <a:off x="7272147" y="1398841"/>
            <a:ext cx="215265" cy="116205"/>
          </a:xfrm>
          <a:custGeom>
            <a:avLst/>
            <a:gdLst/>
            <a:ahLst/>
            <a:cxnLst/>
            <a:rect l="l" t="t" r="r" b="b"/>
            <a:pathLst>
              <a:path w="215264" h="116205">
                <a:moveTo>
                  <a:pt x="0" y="0"/>
                </a:moveTo>
                <a:lnTo>
                  <a:pt x="148209" y="8000"/>
                </a:lnTo>
                <a:lnTo>
                  <a:pt x="214884" y="115824"/>
                </a:lnTo>
                <a:lnTo>
                  <a:pt x="71627" y="107823"/>
                </a:lnTo>
                <a:lnTo>
                  <a:pt x="0" y="0"/>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7" name="object 47"/>
          <p:cNvSpPr/>
          <p:nvPr/>
        </p:nvSpPr>
        <p:spPr>
          <a:xfrm>
            <a:off x="3962400" y="1993011"/>
            <a:ext cx="485140" cy="2295525"/>
          </a:xfrm>
          <a:custGeom>
            <a:avLst/>
            <a:gdLst/>
            <a:ahLst/>
            <a:cxnLst/>
            <a:rect l="l" t="t" r="r" b="b"/>
            <a:pathLst>
              <a:path w="485139" h="2295525">
                <a:moveTo>
                  <a:pt x="0" y="0"/>
                </a:moveTo>
                <a:lnTo>
                  <a:pt x="0" y="2295143"/>
                </a:lnTo>
                <a:lnTo>
                  <a:pt x="484631" y="2295143"/>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8" name="object 48"/>
          <p:cNvSpPr/>
          <p:nvPr/>
        </p:nvSpPr>
        <p:spPr>
          <a:xfrm>
            <a:off x="3962400" y="1165478"/>
            <a:ext cx="2324100" cy="828040"/>
          </a:xfrm>
          <a:custGeom>
            <a:avLst/>
            <a:gdLst/>
            <a:ahLst/>
            <a:cxnLst/>
            <a:rect l="l" t="t" r="r" b="b"/>
            <a:pathLst>
              <a:path w="2324100" h="828039">
                <a:moveTo>
                  <a:pt x="0" y="827532"/>
                </a:moveTo>
                <a:lnTo>
                  <a:pt x="0" y="0"/>
                </a:lnTo>
                <a:lnTo>
                  <a:pt x="2324100" y="381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9" name="object 49"/>
          <p:cNvSpPr/>
          <p:nvPr/>
        </p:nvSpPr>
        <p:spPr>
          <a:xfrm>
            <a:off x="6027421" y="1112139"/>
            <a:ext cx="259079" cy="116205"/>
          </a:xfrm>
          <a:custGeom>
            <a:avLst/>
            <a:gdLst/>
            <a:ahLst/>
            <a:cxnLst/>
            <a:rect l="l" t="t" r="r" b="b"/>
            <a:pathLst>
              <a:path w="259079" h="116205">
                <a:moveTo>
                  <a:pt x="129031" y="0"/>
                </a:moveTo>
                <a:lnTo>
                  <a:pt x="0" y="57912"/>
                </a:lnTo>
                <a:lnTo>
                  <a:pt x="129031" y="115824"/>
                </a:lnTo>
                <a:lnTo>
                  <a:pt x="259079" y="57912"/>
                </a:lnTo>
                <a:lnTo>
                  <a:pt x="129031" y="0"/>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0" name="object 50"/>
          <p:cNvSpPr/>
          <p:nvPr/>
        </p:nvSpPr>
        <p:spPr>
          <a:xfrm>
            <a:off x="6027421" y="1112139"/>
            <a:ext cx="259079" cy="116205"/>
          </a:xfrm>
          <a:custGeom>
            <a:avLst/>
            <a:gdLst/>
            <a:ahLst/>
            <a:cxnLst/>
            <a:rect l="l" t="t" r="r" b="b"/>
            <a:pathLst>
              <a:path w="259079" h="116205">
                <a:moveTo>
                  <a:pt x="259079" y="57912"/>
                </a:moveTo>
                <a:lnTo>
                  <a:pt x="129031" y="0"/>
                </a:lnTo>
                <a:lnTo>
                  <a:pt x="0" y="57912"/>
                </a:lnTo>
                <a:lnTo>
                  <a:pt x="129031" y="115824"/>
                </a:lnTo>
                <a:lnTo>
                  <a:pt x="259079" y="57912"/>
                </a:lnTo>
                <a:close/>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1" name="object 51"/>
          <p:cNvSpPr txBox="1"/>
          <p:nvPr/>
        </p:nvSpPr>
        <p:spPr>
          <a:xfrm>
            <a:off x="9577298" y="2414904"/>
            <a:ext cx="85090" cy="228909"/>
          </a:xfrm>
          <a:prstGeom prst="rect">
            <a:avLst/>
          </a:prstGeom>
        </p:spPr>
        <p:txBody>
          <a:bodyPr vert="horz" wrap="square" lIns="0" tIns="13335" rIns="0" bIns="0" rtlCol="0">
            <a:spAutoFit/>
          </a:bodyPr>
          <a:lstStyle/>
          <a:p>
            <a:pPr marL="12700">
              <a:spcBef>
                <a:spcPts val="105"/>
              </a:spcBef>
            </a:pPr>
            <a:r>
              <a:rPr sz="1400" dirty="0">
                <a:solidFill>
                  <a:srgbClr val="33CCFF"/>
                </a:solidFill>
                <a:latin typeface="Times New Roman" panose="02020603050405020304" pitchFamily="18" charset="0"/>
                <a:cs typeface="Times New Roman" panose="02020603050405020304" pitchFamily="18" charset="0"/>
              </a:rPr>
              <a:t>)</a:t>
            </a:r>
            <a:endParaRPr sz="1400">
              <a:latin typeface="Times New Roman" panose="02020603050405020304" pitchFamily="18" charset="0"/>
              <a:cs typeface="Times New Roman" panose="02020603050405020304" pitchFamily="18" charset="0"/>
            </a:endParaRPr>
          </a:p>
        </p:txBody>
      </p:sp>
      <p:graphicFrame>
        <p:nvGraphicFramePr>
          <p:cNvPr id="52" name="object 52"/>
          <p:cNvGraphicFramePr>
            <a:graphicFrameLocks noGrp="1"/>
          </p:cNvGraphicFramePr>
          <p:nvPr>
            <p:extLst>
              <p:ext uri="{D42A27DB-BD31-4B8C-83A1-F6EECF244321}">
                <p14:modId xmlns:p14="http://schemas.microsoft.com/office/powerpoint/2010/main" val="2790448309"/>
              </p:ext>
            </p:extLst>
          </p:nvPr>
        </p:nvGraphicFramePr>
        <p:xfrm>
          <a:off x="8418577" y="1482469"/>
          <a:ext cx="1207135" cy="1357630"/>
        </p:xfrm>
        <a:graphic>
          <a:graphicData uri="http://schemas.openxmlformats.org/drawingml/2006/table">
            <a:tbl>
              <a:tblPr firstRow="1" bandRow="1">
                <a:tableStyleId>{2D5ABB26-0587-4C30-8999-92F81FD0307C}</a:tableStyleId>
              </a:tblPr>
              <a:tblGrid>
                <a:gridCol w="1207135">
                  <a:extLst>
                    <a:ext uri="{9D8B030D-6E8A-4147-A177-3AD203B41FA5}">
                      <a16:colId xmlns:a16="http://schemas.microsoft.com/office/drawing/2014/main" val="20000"/>
                    </a:ext>
                  </a:extLst>
                </a:gridCol>
              </a:tblGrid>
              <a:tr h="240665">
                <a:tc>
                  <a:txBody>
                    <a:bodyPr/>
                    <a:lstStyle/>
                    <a:p>
                      <a:pPr marL="154940">
                        <a:lnSpc>
                          <a:spcPts val="1540"/>
                        </a:lnSpc>
                        <a:spcBef>
                          <a:spcPts val="254"/>
                        </a:spcBef>
                      </a:pPr>
                      <a:r>
                        <a:rPr sz="1400" spc="-25" dirty="0">
                          <a:latin typeface="Arial"/>
                          <a:cs typeface="Arial"/>
                        </a:rPr>
                        <a:t>MáyATM</a:t>
                      </a:r>
                      <a:endParaRPr sz="1400">
                        <a:latin typeface="Arial"/>
                        <a:cs typeface="Arial"/>
                      </a:endParaRPr>
                    </a:p>
                  </a:txBody>
                  <a:tcPr marL="0" marR="0" marT="32384"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r h="685800">
                <a:tc>
                  <a:txBody>
                    <a:bodyPr/>
                    <a:lstStyle/>
                    <a:p>
                      <a:pPr marL="6985" marR="50800" indent="36195">
                        <a:lnSpc>
                          <a:spcPct val="87900"/>
                        </a:lnSpc>
                        <a:spcBef>
                          <a:spcPts val="315"/>
                        </a:spcBef>
                      </a:pPr>
                      <a:r>
                        <a:rPr sz="1400" spc="-5">
                          <a:latin typeface="Arial"/>
                          <a:cs typeface="Arial"/>
                        </a:rPr>
                        <a:t>địaChỉ</a:t>
                      </a:r>
                      <a:r>
                        <a:rPr lang="en-US" sz="1400" spc="-5">
                          <a:latin typeface="Arial"/>
                          <a:cs typeface="Arial"/>
                        </a:rPr>
                        <a:t> </a:t>
                      </a:r>
                      <a:r>
                        <a:rPr sz="1400" spc="-5">
                          <a:latin typeface="Arial"/>
                          <a:cs typeface="Arial"/>
                        </a:rPr>
                        <a:t>trạngThái</a:t>
                      </a:r>
                      <a:r>
                        <a:rPr lang="en-US" sz="1400" spc="-5">
                          <a:latin typeface="Arial"/>
                          <a:cs typeface="Arial"/>
                        </a:rPr>
                        <a:t> </a:t>
                      </a:r>
                      <a:r>
                        <a:rPr sz="1400">
                          <a:latin typeface="Arial"/>
                          <a:cs typeface="Arial"/>
                        </a:rPr>
                        <a:t>s</a:t>
                      </a:r>
                      <a:r>
                        <a:rPr sz="1400" spc="-5">
                          <a:latin typeface="Arial"/>
                          <a:cs typeface="Arial"/>
                        </a:rPr>
                        <a:t>ố</a:t>
                      </a:r>
                      <a:r>
                        <a:rPr sz="1400" spc="-55">
                          <a:latin typeface="Arial"/>
                          <a:cs typeface="Arial"/>
                        </a:rPr>
                        <a:t>T</a:t>
                      </a:r>
                      <a:r>
                        <a:rPr sz="1400" spc="-5">
                          <a:latin typeface="Arial"/>
                          <a:cs typeface="Arial"/>
                        </a:rPr>
                        <a:t>iền</a:t>
                      </a:r>
                      <a:r>
                        <a:rPr sz="1400" spc="-10">
                          <a:latin typeface="Arial"/>
                          <a:cs typeface="Arial"/>
                        </a:rPr>
                        <a:t>H</a:t>
                      </a:r>
                      <a:r>
                        <a:rPr sz="1400" spc="-5">
                          <a:latin typeface="Arial"/>
                          <a:cs typeface="Arial"/>
                        </a:rPr>
                        <a:t>iện</a:t>
                      </a:r>
                      <a:r>
                        <a:rPr sz="1400" spc="-10">
                          <a:latin typeface="Arial"/>
                          <a:cs typeface="Arial"/>
                        </a:rPr>
                        <a:t>T</a:t>
                      </a:r>
                      <a:r>
                        <a:rPr sz="1400" spc="-5">
                          <a:latin typeface="Arial"/>
                          <a:cs typeface="Arial"/>
                        </a:rPr>
                        <a:t>ại</a:t>
                      </a:r>
                      <a:endParaRPr sz="1400">
                        <a:latin typeface="Arial"/>
                        <a:cs typeface="Arial"/>
                      </a:endParaRPr>
                    </a:p>
                  </a:txBody>
                  <a:tcPr marL="0" marR="0" marT="4000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431165">
                <a:tc>
                  <a:txBody>
                    <a:bodyPr/>
                    <a:lstStyle/>
                    <a:p>
                      <a:pPr marL="2540" marR="27940" indent="4445">
                        <a:lnSpc>
                          <a:spcPts val="1400"/>
                        </a:lnSpc>
                        <a:spcBef>
                          <a:spcPts val="415"/>
                        </a:spcBef>
                      </a:pPr>
                      <a:r>
                        <a:rPr sz="1400">
                          <a:solidFill>
                            <a:srgbClr val="33CCFF"/>
                          </a:solidFill>
                          <a:latin typeface="Arial"/>
                          <a:cs typeface="Arial"/>
                        </a:rPr>
                        <a:t>k</a:t>
                      </a:r>
                      <a:r>
                        <a:rPr sz="1400" spc="-5">
                          <a:solidFill>
                            <a:srgbClr val="33CCFF"/>
                          </a:solidFill>
                          <a:latin typeface="Arial"/>
                          <a:cs typeface="Arial"/>
                        </a:rPr>
                        <a:t>hởiĐộng</a:t>
                      </a:r>
                      <a:r>
                        <a:rPr sz="1400" spc="-10">
                          <a:solidFill>
                            <a:srgbClr val="33CCFF"/>
                          </a:solidFill>
                          <a:latin typeface="Arial"/>
                          <a:cs typeface="Arial"/>
                        </a:rPr>
                        <a:t>M</a:t>
                      </a:r>
                      <a:r>
                        <a:rPr sz="1400" spc="-5">
                          <a:solidFill>
                            <a:srgbClr val="33CCFF"/>
                          </a:solidFill>
                          <a:latin typeface="Arial"/>
                          <a:cs typeface="Arial"/>
                        </a:rPr>
                        <a:t>á</a:t>
                      </a:r>
                      <a:r>
                        <a:rPr sz="1400" spc="-20">
                          <a:solidFill>
                            <a:srgbClr val="33CCFF"/>
                          </a:solidFill>
                          <a:latin typeface="Arial"/>
                          <a:cs typeface="Arial"/>
                        </a:rPr>
                        <a:t>y</a:t>
                      </a:r>
                      <a:r>
                        <a:rPr sz="1400">
                          <a:solidFill>
                            <a:srgbClr val="33CCFF"/>
                          </a:solidFill>
                          <a:latin typeface="Arial"/>
                          <a:cs typeface="Arial"/>
                        </a:rPr>
                        <a:t>(</a:t>
                      </a:r>
                      <a:r>
                        <a:rPr lang="en-US" sz="1400">
                          <a:solidFill>
                            <a:srgbClr val="33CCFF"/>
                          </a:solidFill>
                          <a:latin typeface="Arial"/>
                          <a:cs typeface="Arial"/>
                        </a:rPr>
                        <a:t> </a:t>
                      </a:r>
                      <a:r>
                        <a:rPr sz="1400" spc="-5">
                          <a:solidFill>
                            <a:srgbClr val="33CCFF"/>
                          </a:solidFill>
                          <a:latin typeface="Arial"/>
                          <a:cs typeface="Arial"/>
                        </a:rPr>
                        <a:t>đóngMáy</a:t>
                      </a:r>
                      <a:r>
                        <a:rPr sz="1400" spc="-5" dirty="0">
                          <a:solidFill>
                            <a:srgbClr val="33CCFF"/>
                          </a:solidFill>
                          <a:latin typeface="Arial"/>
                          <a:cs typeface="Arial"/>
                        </a:rPr>
                        <a:t>()</a:t>
                      </a:r>
                      <a:endParaRPr sz="1400">
                        <a:latin typeface="Arial"/>
                        <a:cs typeface="Arial"/>
                      </a:endParaRPr>
                    </a:p>
                  </a:txBody>
                  <a:tcPr marL="0" marR="0" marT="5270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2"/>
                  </a:ext>
                </a:extLst>
              </a:tr>
            </a:tbl>
          </a:graphicData>
        </a:graphic>
      </p:graphicFrame>
      <p:sp>
        <p:nvSpPr>
          <p:cNvPr id="53" name="object 53"/>
          <p:cNvSpPr txBox="1"/>
          <p:nvPr/>
        </p:nvSpPr>
        <p:spPr>
          <a:xfrm>
            <a:off x="4481830" y="4569586"/>
            <a:ext cx="1243965" cy="589280"/>
          </a:xfrm>
          <a:prstGeom prst="rect">
            <a:avLst/>
          </a:prstGeom>
        </p:spPr>
        <p:txBody>
          <a:bodyPr vert="horz" wrap="square" lIns="0" tIns="51435" rIns="0" bIns="0" rtlCol="0">
            <a:spAutoFit/>
          </a:bodyPr>
          <a:lstStyle/>
          <a:p>
            <a:pPr marL="12700" marR="5080">
              <a:lnSpc>
                <a:spcPct val="81900"/>
              </a:lnSpc>
              <a:spcBef>
                <a:spcPts val="405"/>
              </a:spcBef>
            </a:pPr>
            <a:r>
              <a:rPr sz="1400" spc="-10">
                <a:solidFill>
                  <a:srgbClr val="33CCFF"/>
                </a:solidFill>
                <a:latin typeface="Times New Roman" panose="02020603050405020304" pitchFamily="18" charset="0"/>
                <a:cs typeface="Times New Roman" panose="02020603050405020304" pitchFamily="18" charset="0"/>
              </a:rPr>
              <a:t>rútTiền()</a:t>
            </a:r>
            <a:r>
              <a:rPr lang="en-US" sz="1400" spc="-10">
                <a:solidFill>
                  <a:srgbClr val="33CCFF"/>
                </a:solidFill>
                <a:latin typeface="Times New Roman" panose="02020603050405020304" pitchFamily="18" charset="0"/>
                <a:cs typeface="Times New Roman" panose="02020603050405020304" pitchFamily="18" charset="0"/>
              </a:rPr>
              <a:t> </a:t>
            </a:r>
            <a:r>
              <a:rPr sz="1400" spc="-10">
                <a:solidFill>
                  <a:srgbClr val="33CCFF"/>
                </a:solidFill>
                <a:latin typeface="Times New Roman" panose="02020603050405020304" pitchFamily="18" charset="0"/>
                <a:cs typeface="Times New Roman" panose="02020603050405020304" pitchFamily="18" charset="0"/>
              </a:rPr>
              <a:t>gởiTiền()</a:t>
            </a:r>
            <a:r>
              <a:rPr lang="en-US" sz="1400" spc="-10">
                <a:solidFill>
                  <a:srgbClr val="33CCFF"/>
                </a:solidFill>
                <a:latin typeface="Times New Roman" panose="02020603050405020304" pitchFamily="18" charset="0"/>
                <a:cs typeface="Times New Roman" panose="02020603050405020304" pitchFamily="18" charset="0"/>
              </a:rPr>
              <a:t> </a:t>
            </a:r>
            <a:r>
              <a:rPr sz="1400" spc="-20">
                <a:solidFill>
                  <a:srgbClr val="33CCFF"/>
                </a:solidFill>
                <a:latin typeface="Times New Roman" panose="02020603050405020304" pitchFamily="18" charset="0"/>
                <a:cs typeface="Times New Roman" panose="02020603050405020304" pitchFamily="18" charset="0"/>
              </a:rPr>
              <a:t>x</a:t>
            </a:r>
            <a:r>
              <a:rPr sz="1400" spc="-5">
                <a:solidFill>
                  <a:srgbClr val="33CCFF"/>
                </a:solidFill>
                <a:latin typeface="Times New Roman" panose="02020603050405020304" pitchFamily="18" charset="0"/>
                <a:cs typeface="Times New Roman" panose="02020603050405020304" pitchFamily="18" charset="0"/>
              </a:rPr>
              <a:t>e</a:t>
            </a:r>
            <a:r>
              <a:rPr sz="1400" spc="-10">
                <a:solidFill>
                  <a:srgbClr val="33CCFF"/>
                </a:solidFill>
                <a:latin typeface="Times New Roman" panose="02020603050405020304" pitchFamily="18" charset="0"/>
                <a:cs typeface="Times New Roman" panose="02020603050405020304" pitchFamily="18" charset="0"/>
              </a:rPr>
              <a:t>mT</a:t>
            </a:r>
            <a:r>
              <a:rPr sz="1400" spc="-5">
                <a:solidFill>
                  <a:srgbClr val="33CCFF"/>
                </a:solidFill>
                <a:latin typeface="Times New Roman" panose="02020603050405020304" pitchFamily="18" charset="0"/>
                <a:cs typeface="Times New Roman" panose="02020603050405020304" pitchFamily="18" charset="0"/>
              </a:rPr>
              <a:t>àiKhoản</a:t>
            </a:r>
            <a:r>
              <a:rPr sz="1400" spc="-5" dirty="0">
                <a:solidFill>
                  <a:srgbClr val="33CCFF"/>
                </a:solidFill>
                <a:latin typeface="Times New Roman" panose="02020603050405020304" pitchFamily="18" charset="0"/>
                <a:cs typeface="Times New Roman" panose="02020603050405020304" pitchFamily="18" charset="0"/>
              </a:rPr>
              <a:t>()</a:t>
            </a:r>
            <a:endParaRPr sz="1400">
              <a:latin typeface="Times New Roman" panose="02020603050405020304" pitchFamily="18" charset="0"/>
              <a:cs typeface="Times New Roman" panose="02020603050405020304" pitchFamily="18" charset="0"/>
            </a:endParaRPr>
          </a:p>
        </p:txBody>
      </p:sp>
      <p:sp>
        <p:nvSpPr>
          <p:cNvPr id="54" name="object 54"/>
          <p:cNvSpPr txBox="1"/>
          <p:nvPr/>
        </p:nvSpPr>
        <p:spPr>
          <a:xfrm>
            <a:off x="5170424" y="3372357"/>
            <a:ext cx="151765" cy="299720"/>
          </a:xfrm>
          <a:prstGeom prst="rect">
            <a:avLst/>
          </a:prstGeom>
        </p:spPr>
        <p:txBody>
          <a:bodyPr vert="horz" wrap="square" lIns="0" tIns="12700" rIns="0" bIns="0" rtlCol="0">
            <a:spAutoFit/>
          </a:bodyPr>
          <a:lstStyle/>
          <a:p>
            <a:pPr marL="12700">
              <a:spcBef>
                <a:spcPts val="100"/>
              </a:spcBef>
            </a:pPr>
            <a:r>
              <a:rPr spc="-10" dirty="0">
                <a:latin typeface="Times New Roman" panose="02020603050405020304" pitchFamily="18" charset="0"/>
                <a:cs typeface="Times New Roman" panose="02020603050405020304" pitchFamily="18" charset="0"/>
              </a:rPr>
              <a:t>1</a:t>
            </a:r>
            <a:endParaRPr>
              <a:latin typeface="Times New Roman" panose="02020603050405020304" pitchFamily="18" charset="0"/>
              <a:cs typeface="Times New Roman" panose="02020603050405020304" pitchFamily="18" charset="0"/>
            </a:endParaRPr>
          </a:p>
        </p:txBody>
      </p:sp>
      <p:sp>
        <p:nvSpPr>
          <p:cNvPr id="55" name="object 55"/>
          <p:cNvSpPr txBox="1"/>
          <p:nvPr/>
        </p:nvSpPr>
        <p:spPr>
          <a:xfrm>
            <a:off x="130173" y="5568193"/>
            <a:ext cx="6863335" cy="751488"/>
          </a:xfrm>
          <a:prstGeom prst="rect">
            <a:avLst/>
          </a:prstGeom>
        </p:spPr>
        <p:txBody>
          <a:bodyPr vert="horz" wrap="square" lIns="0" tIns="12700" rIns="0" bIns="0" rtlCol="0">
            <a:spAutoFit/>
          </a:bodyPr>
          <a:lstStyle/>
          <a:p>
            <a:pPr marL="12700">
              <a:spcBef>
                <a:spcPts val="100"/>
              </a:spcBef>
            </a:pPr>
            <a:r>
              <a:rPr sz="2400" b="1" spc="-5" dirty="0">
                <a:solidFill>
                  <a:srgbClr val="00B050"/>
                </a:solidFill>
                <a:uFill>
                  <a:solidFill>
                    <a:srgbClr val="FF0066"/>
                  </a:solidFill>
                </a:uFill>
                <a:latin typeface="Times New Roman" panose="02020603050405020304" pitchFamily="18" charset="0"/>
                <a:cs typeface="Times New Roman" panose="02020603050405020304" pitchFamily="18" charset="0"/>
              </a:rPr>
              <a:t>Ghi chú</a:t>
            </a:r>
            <a:r>
              <a:rPr sz="2400" b="1" spc="-5" dirty="0">
                <a:solidFill>
                  <a:srgbClr val="00B050"/>
                </a:solidFill>
                <a:latin typeface="Times New Roman" panose="02020603050405020304" pitchFamily="18" charset="0"/>
                <a:cs typeface="Times New Roman" panose="02020603050405020304" pitchFamily="18" charset="0"/>
              </a:rPr>
              <a:t>: </a:t>
            </a:r>
            <a:r>
              <a:rPr sz="2400" b="1" dirty="0">
                <a:solidFill>
                  <a:srgbClr val="00B050"/>
                </a:solidFill>
                <a:latin typeface="Times New Roman" panose="02020603050405020304" pitchFamily="18" charset="0"/>
                <a:cs typeface="Times New Roman" panose="02020603050405020304" pitchFamily="18" charset="0"/>
              </a:rPr>
              <a:t>các </a:t>
            </a:r>
            <a:r>
              <a:rPr sz="2400" b="1" spc="-10" dirty="0">
                <a:solidFill>
                  <a:srgbClr val="00B050"/>
                </a:solidFill>
                <a:latin typeface="Times New Roman" panose="02020603050405020304" pitchFamily="18" charset="0"/>
                <a:cs typeface="Times New Roman" panose="02020603050405020304" pitchFamily="18" charset="0"/>
              </a:rPr>
              <a:t>phương </a:t>
            </a:r>
            <a:r>
              <a:rPr sz="2400" b="1" spc="-5" dirty="0">
                <a:solidFill>
                  <a:srgbClr val="00B050"/>
                </a:solidFill>
                <a:latin typeface="Times New Roman" panose="02020603050405020304" pitchFamily="18" charset="0"/>
                <a:cs typeface="Times New Roman" panose="02020603050405020304" pitchFamily="18" charset="0"/>
              </a:rPr>
              <a:t>thức </a:t>
            </a:r>
            <a:r>
              <a:rPr sz="2400" b="1" spc="-10" dirty="0">
                <a:solidFill>
                  <a:srgbClr val="00B050"/>
                </a:solidFill>
                <a:latin typeface="Times New Roman" panose="02020603050405020304" pitchFamily="18" charset="0"/>
                <a:cs typeface="Times New Roman" panose="02020603050405020304" pitchFamily="18" charset="0"/>
              </a:rPr>
              <a:t>được </a:t>
            </a:r>
            <a:r>
              <a:rPr sz="2400" b="1" spc="-5" dirty="0">
                <a:solidFill>
                  <a:srgbClr val="00B050"/>
                </a:solidFill>
                <a:latin typeface="Times New Roman" panose="02020603050405020304" pitchFamily="18" charset="0"/>
                <a:cs typeface="Times New Roman" panose="02020603050405020304" pitchFamily="18" charset="0"/>
              </a:rPr>
              <a:t>phát </a:t>
            </a:r>
            <a:r>
              <a:rPr sz="2400" b="1" spc="-5">
                <a:solidFill>
                  <a:srgbClr val="00B050"/>
                </a:solidFill>
                <a:latin typeface="Times New Roman" panose="02020603050405020304" pitchFamily="18" charset="0"/>
                <a:cs typeface="Times New Roman" panose="02020603050405020304" pitchFamily="18" charset="0"/>
              </a:rPr>
              <a:t>hiện</a:t>
            </a:r>
            <a:r>
              <a:rPr sz="2400" b="1" spc="40">
                <a:solidFill>
                  <a:srgbClr val="00B050"/>
                </a:solidFill>
                <a:latin typeface="Times New Roman" panose="02020603050405020304" pitchFamily="18" charset="0"/>
                <a:cs typeface="Times New Roman" panose="02020603050405020304" pitchFamily="18" charset="0"/>
              </a:rPr>
              <a:t> </a:t>
            </a:r>
            <a:r>
              <a:rPr sz="2400" b="1" spc="-5">
                <a:solidFill>
                  <a:srgbClr val="00B050"/>
                </a:solidFill>
                <a:latin typeface="Times New Roman" panose="02020603050405020304" pitchFamily="18" charset="0"/>
                <a:cs typeface="Times New Roman" panose="02020603050405020304" pitchFamily="18" charset="0"/>
              </a:rPr>
              <a:t>trong</a:t>
            </a:r>
            <a:r>
              <a:rPr lang="en-US" sz="2400" b="1" spc="-5">
                <a:solidFill>
                  <a:srgbClr val="00B050"/>
                </a:solidFill>
                <a:latin typeface="Times New Roman" panose="02020603050405020304" pitchFamily="18" charset="0"/>
                <a:cs typeface="Times New Roman" panose="02020603050405020304" pitchFamily="18" charset="0"/>
              </a:rPr>
              <a:t> </a:t>
            </a:r>
            <a:r>
              <a:rPr lang="vi-VN" sz="2400" b="1" spc="-5">
                <a:solidFill>
                  <a:srgbClr val="00B050"/>
                </a:solidFill>
                <a:latin typeface="Times New Roman" panose="02020603050405020304" pitchFamily="18" charset="0"/>
                <a:cs typeface="Times New Roman" panose="02020603050405020304" pitchFamily="18" charset="0"/>
              </a:rPr>
              <a:t>giai </a:t>
            </a:r>
            <a:r>
              <a:rPr lang="vi-VN" sz="2400" b="1" spc="-10">
                <a:solidFill>
                  <a:srgbClr val="00B050"/>
                </a:solidFill>
                <a:latin typeface="Times New Roman" panose="02020603050405020304" pitchFamily="18" charset="0"/>
                <a:cs typeface="Times New Roman" panose="02020603050405020304" pitchFamily="18" charset="0"/>
              </a:rPr>
              <a:t>đoạn </a:t>
            </a:r>
            <a:r>
              <a:rPr lang="vi-VN" sz="2400" b="1" spc="-5">
                <a:solidFill>
                  <a:srgbClr val="00B050"/>
                </a:solidFill>
                <a:latin typeface="Times New Roman" panose="02020603050405020304" pitchFamily="18" charset="0"/>
                <a:cs typeface="Times New Roman" panose="02020603050405020304" pitchFamily="18" charset="0"/>
              </a:rPr>
              <a:t>này thường </a:t>
            </a:r>
            <a:r>
              <a:rPr lang="vi-VN" sz="2400" b="1" spc="-10">
                <a:solidFill>
                  <a:srgbClr val="00B050"/>
                </a:solidFill>
                <a:latin typeface="Times New Roman" panose="02020603050405020304" pitchFamily="18" charset="0"/>
                <a:cs typeface="Times New Roman" panose="02020603050405020304" pitchFamily="18" charset="0"/>
              </a:rPr>
              <a:t>đại </a:t>
            </a:r>
            <a:r>
              <a:rPr lang="vi-VN" sz="2400" b="1" spc="-5">
                <a:solidFill>
                  <a:srgbClr val="00B050"/>
                </a:solidFill>
                <a:latin typeface="Times New Roman" panose="02020603050405020304" pitchFamily="18" charset="0"/>
                <a:cs typeface="Times New Roman" panose="02020603050405020304" pitchFamily="18" charset="0"/>
              </a:rPr>
              <a:t>diện </a:t>
            </a:r>
            <a:r>
              <a:rPr lang="vi-VN" sz="2400" b="1" spc="-10">
                <a:solidFill>
                  <a:srgbClr val="00B050"/>
                </a:solidFill>
                <a:latin typeface="Times New Roman" panose="02020603050405020304" pitchFamily="18" charset="0"/>
                <a:cs typeface="Times New Roman" panose="02020603050405020304" pitchFamily="18" charset="0"/>
              </a:rPr>
              <a:t>xử </a:t>
            </a:r>
            <a:r>
              <a:rPr lang="vi-VN" sz="2400" b="1" spc="-5">
                <a:solidFill>
                  <a:srgbClr val="00B050"/>
                </a:solidFill>
                <a:latin typeface="Times New Roman" panose="02020603050405020304" pitchFamily="18" charset="0"/>
                <a:cs typeface="Times New Roman" panose="02020603050405020304" pitchFamily="18" charset="0"/>
              </a:rPr>
              <a:t>lý cho </a:t>
            </a:r>
            <a:r>
              <a:rPr lang="vi-VN" sz="2400" b="1">
                <a:solidFill>
                  <a:srgbClr val="00B050"/>
                </a:solidFill>
                <a:latin typeface="Times New Roman" panose="02020603050405020304" pitchFamily="18" charset="0"/>
                <a:cs typeface="Times New Roman" panose="02020603050405020304" pitchFamily="18" charset="0"/>
              </a:rPr>
              <a:t>một</a:t>
            </a:r>
            <a:r>
              <a:rPr lang="vi-VN" sz="2400" b="1" spc="70">
                <a:solidFill>
                  <a:srgbClr val="00B050"/>
                </a:solidFill>
                <a:latin typeface="Times New Roman" panose="02020603050405020304" pitchFamily="18" charset="0"/>
                <a:cs typeface="Times New Roman" panose="02020603050405020304" pitchFamily="18" charset="0"/>
              </a:rPr>
              <a:t> </a:t>
            </a:r>
            <a:r>
              <a:rPr lang="vi-VN" sz="2400" b="1" spc="-5">
                <a:solidFill>
                  <a:srgbClr val="00B050"/>
                </a:solidFill>
                <a:latin typeface="Times New Roman" panose="02020603050405020304" pitchFamily="18" charset="0"/>
                <a:cs typeface="Times New Roman" panose="02020603050405020304" pitchFamily="18" charset="0"/>
              </a:rPr>
              <a:t>Use Case</a:t>
            </a:r>
            <a:endParaRPr lang="vi-VN" sz="2400" b="1">
              <a:solidFill>
                <a:srgbClr val="00B050"/>
              </a:solidFill>
              <a:latin typeface="Times New Roman" panose="02020603050405020304" pitchFamily="18" charset="0"/>
              <a:cs typeface="Times New Roman" panose="02020603050405020304" pitchFamily="18" charset="0"/>
            </a:endParaRPr>
          </a:p>
        </p:txBody>
      </p:sp>
      <p:sp>
        <p:nvSpPr>
          <p:cNvPr id="59" name="object 2"/>
          <p:cNvSpPr txBox="1">
            <a:spLocks noGrp="1"/>
          </p:cNvSpPr>
          <p:nvPr>
            <p:ph type="title"/>
          </p:nvPr>
        </p:nvSpPr>
        <p:spPr>
          <a:xfrm>
            <a:off x="3058919" y="111760"/>
            <a:ext cx="6264161" cy="574040"/>
          </a:xfrm>
          <a:prstGeom prst="rect">
            <a:avLst/>
          </a:prstGeom>
        </p:spPr>
        <p:txBody>
          <a:bodyPr vert="horz" wrap="square" lIns="0" tIns="12700" rIns="0" bIns="0" numCol="1" rtlCol="0" anchor="ctr" anchorCtr="0" compatLnSpc="1">
            <a:prstTxWarp prst="textNoShape">
              <a:avLst/>
            </a:prstTxWarp>
            <a:spAutoFit/>
          </a:bodyPr>
          <a:lstStyle/>
          <a:p>
            <a:pPr marL="12700">
              <a:spcBef>
                <a:spcPts val="100"/>
              </a:spcBef>
            </a:pPr>
            <a:r>
              <a:rPr dirty="0">
                <a:latin typeface="Times New Roman" panose="02020603050405020304" pitchFamily="18" charset="0"/>
                <a:cs typeface="Times New Roman" panose="02020603050405020304" pitchFamily="18" charset="0"/>
              </a:rPr>
              <a:t>Xác định </a:t>
            </a:r>
            <a:r>
              <a:rPr>
                <a:latin typeface="Times New Roman" panose="02020603050405020304" pitchFamily="18" charset="0"/>
                <a:cs typeface="Times New Roman" panose="02020603050405020304" pitchFamily="18" charset="0"/>
              </a:rPr>
              <a:t>phương thức</a:t>
            </a:r>
            <a:r>
              <a:rPr lang="en-US">
                <a:latin typeface="Times New Roman" panose="02020603050405020304" pitchFamily="18" charset="0"/>
                <a:cs typeface="Times New Roman" panose="02020603050405020304" pitchFamily="18" charset="0"/>
              </a:rPr>
              <a:t> (tt)</a:t>
            </a:r>
            <a:endParaRPr dirty="0">
              <a:latin typeface="Times New Roman" panose="02020603050405020304" pitchFamily="18" charset="0"/>
              <a:cs typeface="Times New Roman" panose="02020603050405020304" pitchFamily="18" charset="0"/>
            </a:endParaRPr>
          </a:p>
        </p:txBody>
      </p:sp>
      <p:sp>
        <p:nvSpPr>
          <p:cNvPr id="58" name="Footer Placeholder 1"/>
          <p:cNvSpPr>
            <a:spLocks noGrp="1"/>
          </p:cNvSpPr>
          <p:nvPr>
            <p:ph type="ftr" sz="quarter" idx="10"/>
          </p:nvPr>
        </p:nvSpPr>
        <p:spPr>
          <a:xfrm>
            <a:off x="9296400" y="6567488"/>
            <a:ext cx="2895600" cy="276224"/>
          </a:xfrm>
        </p:spPr>
        <p:txBody>
          <a:bodyPr/>
          <a:lstStyle/>
          <a:p>
            <a:r>
              <a:rPr lang="en-US" dirty="0"/>
              <a:t>Lê </a:t>
            </a:r>
            <a:r>
              <a:rPr lang="en-US" dirty="0" err="1"/>
              <a:t>Huỳnh</a:t>
            </a:r>
            <a:r>
              <a:rPr lang="en-US" dirty="0"/>
              <a:t> Long - </a:t>
            </a:r>
            <a:r>
              <a:rPr lang="en-US" dirty="0" err="1"/>
              <a:t>Viện</a:t>
            </a:r>
            <a:r>
              <a:rPr lang="en-US" dirty="0"/>
              <a:t> CNTT </a:t>
            </a:r>
            <a:r>
              <a:rPr lang="en-US" dirty="0" err="1"/>
              <a:t>và</a:t>
            </a:r>
            <a:r>
              <a:rPr lang="en-US" dirty="0"/>
              <a:t> </a:t>
            </a:r>
            <a:r>
              <a:rPr lang="en-US" dirty="0" err="1"/>
              <a:t>Điện</a:t>
            </a:r>
            <a:r>
              <a:rPr lang="en-US" dirty="0"/>
              <a:t>, </a:t>
            </a:r>
            <a:r>
              <a:rPr lang="en-US" dirty="0" err="1"/>
              <a:t>điện</a:t>
            </a:r>
            <a:r>
              <a:rPr lang="en-US" dirty="0"/>
              <a:t> </a:t>
            </a:r>
            <a:r>
              <a:rPr lang="en-US" dirty="0" err="1"/>
              <a:t>tử</a:t>
            </a:r>
            <a:endParaRPr lang="en-US" dirty="0"/>
          </a:p>
        </p:txBody>
      </p:sp>
    </p:spTree>
    <p:extLst>
      <p:ext uri="{BB962C8B-B14F-4D97-AF65-F5344CB8AC3E}">
        <p14:creationId xmlns:p14="http://schemas.microsoft.com/office/powerpoint/2010/main" val="2214186033"/>
      </p:ext>
    </p:extLst>
  </p:cSld>
  <p:clrMapOvr>
    <a:masterClrMapping/>
  </p:clrMapOvr>
</p:sld>
</file>

<file path=ppt/theme/theme1.xml><?xml version="1.0" encoding="utf-8"?>
<a:theme xmlns:a="http://schemas.openxmlformats.org/drawingml/2006/main" name="Chuong 1 CSDL PTAN">
  <a:themeElements>
    <a:clrScheme name="sample 3">
      <a:dk1>
        <a:srgbClr val="000066"/>
      </a:dk1>
      <a:lt1>
        <a:srgbClr val="FFFFFF"/>
      </a:lt1>
      <a:dk2>
        <a:srgbClr val="50A834"/>
      </a:dk2>
      <a:lt2>
        <a:srgbClr val="B2B2B2"/>
      </a:lt2>
      <a:accent1>
        <a:srgbClr val="2045AE"/>
      </a:accent1>
      <a:accent2>
        <a:srgbClr val="FF9933"/>
      </a:accent2>
      <a:accent3>
        <a:srgbClr val="FFFFFF"/>
      </a:accent3>
      <a:accent4>
        <a:srgbClr val="000056"/>
      </a:accent4>
      <a:accent5>
        <a:srgbClr val="ABB0D3"/>
      </a:accent5>
      <a:accent6>
        <a:srgbClr val="E78A2D"/>
      </a:accent6>
      <a:hlink>
        <a:srgbClr val="3DC5C5"/>
      </a:hlink>
      <a:folHlink>
        <a:srgbClr val="6B41BF"/>
      </a:folHlink>
    </a:clrScheme>
    <a:fontScheme name="sampl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4C1A37"/>
        </a:dk1>
        <a:lt1>
          <a:srgbClr val="FFFFFF"/>
        </a:lt1>
        <a:dk2>
          <a:srgbClr val="FFFFE7"/>
        </a:dk2>
        <a:lt2>
          <a:srgbClr val="B2B2B2"/>
        </a:lt2>
        <a:accent1>
          <a:srgbClr val="C06C98"/>
        </a:accent1>
        <a:accent2>
          <a:srgbClr val="FF9966"/>
        </a:accent2>
        <a:accent3>
          <a:srgbClr val="FFFFFF"/>
        </a:accent3>
        <a:accent4>
          <a:srgbClr val="40142D"/>
        </a:accent4>
        <a:accent5>
          <a:srgbClr val="DCBACA"/>
        </a:accent5>
        <a:accent6>
          <a:srgbClr val="E78A5C"/>
        </a:accent6>
        <a:hlink>
          <a:srgbClr val="BD6D45"/>
        </a:hlink>
        <a:folHlink>
          <a:srgbClr val="3AABC6"/>
        </a:folHlink>
      </a:clrScheme>
      <a:clrMap bg1="lt1" tx1="dk1" bg2="lt2" tx2="dk2" accent1="accent1" accent2="accent2" accent3="accent3" accent4="accent4" accent5="accent5" accent6="accent6" hlink="hlink" folHlink="folHlink"/>
    </a:extraClrScheme>
    <a:extraClrScheme>
      <a:clrScheme name="sample 2">
        <a:dk1>
          <a:srgbClr val="003366"/>
        </a:dk1>
        <a:lt1>
          <a:srgbClr val="FFFFFF"/>
        </a:lt1>
        <a:dk2>
          <a:srgbClr val="FFFFFF"/>
        </a:dk2>
        <a:lt2>
          <a:srgbClr val="B2B2B2"/>
        </a:lt2>
        <a:accent1>
          <a:srgbClr val="2879B0"/>
        </a:accent1>
        <a:accent2>
          <a:srgbClr val="0099CC"/>
        </a:accent2>
        <a:accent3>
          <a:srgbClr val="FFFFFF"/>
        </a:accent3>
        <a:accent4>
          <a:srgbClr val="002A56"/>
        </a:accent4>
        <a:accent5>
          <a:srgbClr val="ACBED4"/>
        </a:accent5>
        <a:accent6>
          <a:srgbClr val="008AB9"/>
        </a:accent6>
        <a:hlink>
          <a:srgbClr val="A9683B"/>
        </a:hlink>
        <a:folHlink>
          <a:srgbClr val="166A84"/>
        </a:folHlink>
      </a:clrScheme>
      <a:clrMap bg1="lt1" tx1="dk1" bg2="lt2" tx2="dk2" accent1="accent1" accent2="accent2" accent3="accent3" accent4="accent4" accent5="accent5" accent6="accent6" hlink="hlink" folHlink="folHlink"/>
    </a:extraClrScheme>
    <a:extraClrScheme>
      <a:clrScheme name="sample 3">
        <a:dk1>
          <a:srgbClr val="000066"/>
        </a:dk1>
        <a:lt1>
          <a:srgbClr val="FFFFFF"/>
        </a:lt1>
        <a:dk2>
          <a:srgbClr val="50A834"/>
        </a:dk2>
        <a:lt2>
          <a:srgbClr val="B2B2B2"/>
        </a:lt2>
        <a:accent1>
          <a:srgbClr val="2045AE"/>
        </a:accent1>
        <a:accent2>
          <a:srgbClr val="FF9933"/>
        </a:accent2>
        <a:accent3>
          <a:srgbClr val="FFFFFF"/>
        </a:accent3>
        <a:accent4>
          <a:srgbClr val="000056"/>
        </a:accent4>
        <a:accent5>
          <a:srgbClr val="ABB0D3"/>
        </a:accent5>
        <a:accent6>
          <a:srgbClr val="E78A2D"/>
        </a:accent6>
        <a:hlink>
          <a:srgbClr val="3DC5C5"/>
        </a:hlink>
        <a:folHlink>
          <a:srgbClr val="6B41B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Chuong 1 CSDL PTAN</Template>
  <TotalTime>0</TotalTime>
  <Words>6576</Words>
  <Application>Microsoft Office PowerPoint</Application>
  <PresentationFormat>Widescreen</PresentationFormat>
  <Paragraphs>954</Paragraphs>
  <Slides>80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Arial</vt:lpstr>
      <vt:lpstr>Calibri</vt:lpstr>
      <vt:lpstr>Tahoma</vt:lpstr>
      <vt:lpstr>Times New Roman</vt:lpstr>
      <vt:lpstr>Trebuchet MS</vt:lpstr>
      <vt:lpstr>Verdana</vt:lpstr>
      <vt:lpstr>Wingdings</vt:lpstr>
      <vt:lpstr>Chuong 1 CSDL PTAN</vt:lpstr>
      <vt:lpstr>Chương 3.  PHÂN TÍCH HỆ THỐNG</vt:lpstr>
      <vt:lpstr>PowerPoint Presentation</vt:lpstr>
      <vt:lpstr>Mô hình hóa cấu trúc</vt:lpstr>
      <vt:lpstr>Ý nghĩa Class diagram </vt:lpstr>
      <vt:lpstr>Các thành phần trong Class diagram </vt:lpstr>
      <vt:lpstr>Lớp</vt:lpstr>
      <vt:lpstr>Lớp (tt)</vt:lpstr>
      <vt:lpstr>Lớp (tt)</vt:lpstr>
      <vt:lpstr>Attributes</vt:lpstr>
      <vt:lpstr>Attributes (tt)</vt:lpstr>
      <vt:lpstr>Operations</vt:lpstr>
      <vt:lpstr>Phạm vi truy cập attributes/ operations</vt:lpstr>
      <vt:lpstr>PowerPoint Presentation</vt:lpstr>
      <vt:lpstr>Bản số quan hệ giữa các đối tượng</vt:lpstr>
      <vt:lpstr>Mối quan hệ - Association</vt:lpstr>
      <vt:lpstr>Mối quan hệ - Association</vt:lpstr>
      <vt:lpstr>Lớp kết hợp - Association Class </vt:lpstr>
      <vt:lpstr>Tổng hợp - Aggregation</vt:lpstr>
      <vt:lpstr>Tổng hợp - Aggregation (tt)</vt:lpstr>
      <vt:lpstr>Thành phần (Composition)</vt:lpstr>
      <vt:lpstr>Quan hệ tổng quát hóa (Generalization)</vt:lpstr>
      <vt:lpstr>Quan hệ tổng quát hóa (Generalization)</vt:lpstr>
      <vt:lpstr>Các phương pháp xác định lớp</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Các phương pháp xác định lớp đối tượng (tt)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Xác định mối quan hệ</vt:lpstr>
      <vt:lpstr>Xác định mối quan hệ (tt)</vt:lpstr>
      <vt:lpstr>Xác định mối quan hệ (tt)</vt:lpstr>
      <vt:lpstr>Xác định mối quan hệ (tt)</vt:lpstr>
      <vt:lpstr>Xác định thuộc tính</vt:lpstr>
      <vt:lpstr>Xác định thuộc tính (tt)</vt:lpstr>
      <vt:lpstr>Xác định thuộc tính (tt)</vt:lpstr>
      <vt:lpstr>Xác định phương thức (tt)</vt:lpstr>
      <vt:lpstr>Xác định phương thức (tt)</vt:lpstr>
      <vt:lpstr>Xác định phương thức (tt)</vt:lpstr>
      <vt:lpstr>Xác định phương thức (tt)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2024-10-16T12:50:36Z</dcterms:created>
  <dcterms:modified xsi:type="dcterms:W3CDTF">2025-10-26T04:20:31Z</dcterms:modified>
</cp:coreProperties>
</file>